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ESTRÉS DEL HOGAR DOMINICANO TIENE DIRECCIÓN: CASI LA MITAD DEL PAÍS SEÑALA LA ECONOMÍA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ANTES QUE LA VIOLENCIA, LA CRIANZA O EL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43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47.8%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43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nombra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“Economía”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como factor #1 de estrés en la vida familiar.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43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P26 multi-select · Base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87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28.4%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87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“Realidad económica” suma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28.4% adicional;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“Inseguridad” llega a 21.8% y “Crianza” a 16.2%.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87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P26 multi-select · Base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336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0">
                <a:solidFill>
                  <a:srgbClr val="AAAAAA"/>
                </a:solidFill>
                <a:latin typeface="Poppins"/>
              </a:rPr>
              <a:t>CONSUMER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103932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 spc="0">
                <a:solidFill>
                  <a:srgbClr val="FFFFFF"/>
                </a:solidFill>
                <a:latin typeface="Instrument Serif"/>
              </a:rPr>
              <a:t>“Como lo dijo una compañera acá ahorita: el dinero. Tú no podés resolver tal vez algo que se te presente. Eso es frustra, eso no es fácil.”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80000"/>
            <a:ext cx="1039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AAAAAA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LO ECONÓMICO NO COMPITE CON LOS DEMÁS ESTRESORES DEL HOGAR DOMINICANO.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LOS SUPERA EN CONJUNTO.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6600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76.2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6600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puntos de peso relativo suman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“Economía” + “Realidad económica”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(47.8% + 28.4%) vs 74.8 pts distribuidos entre los cuatro estresores restantes.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6600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P26 multi-select · Base 500 · Nota: peso relativo, no % de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336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Source: Código Casa — Estudio cuantitativo 2025 · P26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0">
                <a:solidFill>
                  <a:srgbClr val="AAAAAA"/>
                </a:solidFill>
                <a:latin typeface="Poppins"/>
              </a:rPr>
              <a:t>CONSUMER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103932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 spc="0">
                <a:solidFill>
                  <a:srgbClr val="FFFFFF"/>
                </a:solidFill>
                <a:latin typeface="Instrument Serif"/>
              </a:rPr>
              <a:t>“No tengo paciencia cuando no tengo dinero. Cuando no tengo dinero, que no sé de qué voy a hacer con los compromisos y todo eso, entonces yo como que pienso, le doy vuelta a la cosa, un estrés.”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80000"/>
            <a:ext cx="1039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AAAAAA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H03A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AUTOCUIDADO EXISTE COMO ASPIRACIÓN.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LA PRIMERA RESPUESTA DEL PAÍS ES NO HACER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43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42.6%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43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responde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“No realizo ninguna actividad para cuidar mi salud mental y física”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— la opción más mencionada.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43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P27 single-select · Base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87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34.8%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87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El ejercicio regular llega a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34.8%, segunda respuesta;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la terapia queda en 3.0% y la meditación en 9.0%.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87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P27 single-select · Base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336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0">
                <a:solidFill>
                  <a:srgbClr val="AAAAAA"/>
                </a:solidFill>
                <a:latin typeface="Poppins"/>
              </a:rPr>
              <a:t>CONSUMER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103932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 spc="0">
                <a:solidFill>
                  <a:srgbClr val="FFFFFF"/>
                </a:solidFill>
                <a:latin typeface="Instrument Serif"/>
              </a:rPr>
              <a:t>“Estar un poquito más estable en todos los sentidos. He estado con mucho estrés. Sí. Para entonces poder ir a la gimnasia y comprar alimentos que debo de comer.”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80000"/>
            <a:ext cx="1039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AAAAAA"/>
                </a:solidFill>
                <a:latin typeface="Poppins"/>
              </a:rPr>
              <a:t>— Grupo Monoparental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AUTOCUIDADO TIENE GÉNERO EN RD: ÉL SE EJERCITA,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ELLA NO HACE NADA. Y A MENOR NSE, MÁS INACCIÓN.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43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43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Entre las mujeres, la respuesta más frecuente es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“No realizo ninguna actividad” (48.5%).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Entre los hombres, es “Me ejercito con regularidad” (43.1%).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43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P27 × D2 sexo · Base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8799" y="2700000"/>
            <a:ext cx="2700000" cy="64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0" b="0" i="1" spc="0">
                <a:solidFill>
                  <a:srgbClr val="FFFFFF"/>
                </a:solidFill>
                <a:latin typeface="Instrument Serif"/>
              </a:rPr>
              <a:t>60.0%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08799" y="3384000"/>
            <a:ext cx="27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FFFFFF"/>
                </a:solidFill>
                <a:latin typeface="Poppins"/>
              </a:rPr>
              <a:t>La inacción se concentra en </a:t>
            </a:r>
            <a:r>
              <a:rPr sz="1100" b="1" i="0" spc="0">
                <a:solidFill>
                  <a:srgbClr val="FFFFFF"/>
                </a:solidFill>
                <a:latin typeface="Poppins"/>
              </a:rPr>
              <a:t>estrato D (51.2%) y en el grupo 18–24 años (60.0%).</a:t>
            </a:r>
            <a:r>
              <a:rPr sz="1100" b="0" i="0" spc="0">
                <a:solidFill>
                  <a:srgbClr val="FFFFFF"/>
                </a:solidFill>
                <a:latin typeface="Poppins"/>
              </a:rPr>
              <a:t> En NSE AB y C, la respuesta dominante es el ejercicio regular (39.1% y 38.5%).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8799" y="3852000"/>
            <a:ext cx="27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 spc="0">
                <a:solidFill>
                  <a:srgbClr val="AAAAAA"/>
                </a:solidFill>
                <a:latin typeface="Poppins"/>
              </a:rPr>
              <a:t>P27 × D7 NSE × D3 edad · Base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336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Source: Código Casa — Estudio cuantitativo 2025 · P27, D2, D7, D3 · Base 500.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0">
                <a:solidFill>
                  <a:srgbClr val="AAAAAA"/>
                </a:solidFill>
                <a:latin typeface="Poppins"/>
              </a:rPr>
              <a:t>CONSUMER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260000"/>
            <a:ext cx="10393200" cy="39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 spc="0">
                <a:solidFill>
                  <a:srgbClr val="FFFFFF"/>
                </a:solidFill>
                <a:latin typeface="Instrument Serif"/>
              </a:rPr>
              <a:t>“Mi esposo va al gimnasio, yo camino diario menos los domingos hago pilates, tenemos una… tratamos de tener una buena.”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5580000"/>
            <a:ext cx="10393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 spc="0">
                <a:solidFill>
                  <a:srgbClr val="AAAAAA"/>
                </a:solidFill>
                <a:latin typeface="Poppins"/>
              </a:rPr>
              <a:t>— Grupo Biparental Hijos Pequeños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44000"/>
            <a:ext cx="36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0">
                <a:solidFill>
                  <a:srgbClr val="777777"/>
                </a:solidFill>
                <a:latin typeface="Poppins"/>
              </a:rPr>
              <a:t>CÓDIGO CASA — BIENESTAR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40000" y="144000"/>
            <a:ext cx="7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0">
                <a:solidFill>
                  <a:srgbClr val="555555"/>
                </a:solidFill>
                <a:latin typeface="Poppins"/>
              </a:rPr>
              <a:t>H05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432000"/>
            <a:ext cx="114732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0" i="0" spc="0">
                <a:solidFill>
                  <a:srgbClr val="FFFFFF"/>
                </a:solidFill>
                <a:latin typeface="Instrument Serif"/>
              </a:rPr>
              <a:t>EL DIAGNÓSTICO DEL SISTEMA DE SALUD PÚBLICA NO LLEGA EN LISTA. </a:t>
            </a:r>
            <a:r>
              <a:rPr sz="3000" b="0" i="1" spc="0">
                <a:solidFill>
                  <a:srgbClr val="FFFFFF"/>
                </a:solidFill>
                <a:latin typeface="Instrument Serif"/>
              </a:rPr>
              <a:t>LLEGA COMO QUEJA TOTAL: CALIDAD, COSTO Y ACCESO SE REFUERZAN ENTRE SÍ.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3300" y="1980000"/>
            <a:ext cx="3420000" cy="3600000"/>
          </a:xfrm>
          <a:prstGeom prst="roundRect">
            <a:avLst>
              <a:gd name="adj" fmla="val 8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299" y="2160000"/>
            <a:ext cx="3168001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0">
                <a:solidFill>
                  <a:srgbClr val="FFFFFF"/>
                </a:solidFill>
                <a:latin typeface="Poppins"/>
              </a:rPr>
              <a:t>“El sistema de salud pública no sirve. Es un caos. En mi caso no me ha tocado, gracias a Dios; siempre tuve un empleo que me ha tenido un pago seguro y puedo ir a cualquier clínica tranquilamente. Pero la persona que no tiene un seguro médico hace mucho trabajo, mucho trabajo.”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299" y="5148000"/>
            <a:ext cx="3168001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— Grupo Extendido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6600" y="1980000"/>
            <a:ext cx="3420000" cy="3600000"/>
          </a:xfrm>
          <a:prstGeom prst="roundRect">
            <a:avLst>
              <a:gd name="adj" fmla="val 8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2599" y="2160000"/>
            <a:ext cx="3168001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0">
                <a:solidFill>
                  <a:srgbClr val="FFFFFF"/>
                </a:solidFill>
                <a:latin typeface="Poppins"/>
              </a:rPr>
              <a:t>“De farmacia… si esto te cuesta 500 pesos y te cura, te ponen [medicamento] que vale 5 mil porque se alió a tu farmacia, a tu laboratorio.”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2599" y="5148000"/>
            <a:ext cx="3168001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— Grupo Biparental Hijos Adultos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9900" y="1980000"/>
            <a:ext cx="3420000" cy="3600000"/>
          </a:xfrm>
          <a:prstGeom prst="roundRect">
            <a:avLst>
              <a:gd name="adj" fmla="val 8000"/>
            </a:avLst>
          </a:prstGeom>
          <a:solidFill>
            <a:srgbClr val="000000">
              <a:alpha val="45000"/>
            </a:srgbClr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5899" y="2160000"/>
            <a:ext cx="3168001" cy="30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 spc="0">
                <a:solidFill>
                  <a:srgbClr val="FFFFFF"/>
                </a:solidFill>
                <a:latin typeface="Poppins"/>
              </a:rPr>
              <a:t>“Yo fui a visitar a alguien ahí en el Marcelo Rivas… eso parece un hotel y las atenciones son enormes, lo que pasa es que la demanda de personas es mucha.”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5899" y="5148000"/>
            <a:ext cx="3168001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— Grupo Extendido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5832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spc="0">
                <a:solidFill>
                  <a:srgbClr val="888888"/>
                </a:solidFill>
                <a:latin typeface="Poppins"/>
              </a:rPr>
              <a:t>Convergencia cualitativa — datos cuantitativos pendientes de re-tabulación (P28).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336000"/>
            <a:ext cx="114732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 spc="0">
                <a:solidFill>
                  <a:srgbClr val="AAAAAA"/>
                </a:solidFill>
                <a:latin typeface="Poppins"/>
              </a:rPr>
              <a:t>Source: Código Casa — Estudio cualitativo 2025 · P28 · Evidencia cualitativa convergente.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