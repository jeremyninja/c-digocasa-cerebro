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C - White.png"/>
          <p:cNvPicPr>
            <a:picLocks noChangeAspect="1"/>
          </p:cNvPicPr>
          <p:nvPr/>
        </p:nvPicPr>
        <p:blipFill>
          <a:blip r:embed="rId2"/>
          <a:stretch>
            <a:fillRect/>
          </a:stretch>
        </p:blipFill>
        <p:spPr>
          <a:xfrm>
            <a:off x="10820095" y="274320"/>
            <a:ext cx="2713353" cy="457200"/>
          </a:xfrm>
          <a:prstGeom prst="rect">
            <a:avLst/>
          </a:prstGeom>
        </p:spPr>
      </p:pic>
      <p:sp>
        <p:nvSpPr>
          <p:cNvPr id="3" name="TextBox 2"/>
          <p:cNvSpPr txBox="1"/>
          <p:nvPr/>
        </p:nvSpPr>
        <p:spPr>
          <a:xfrm>
            <a:off x="914400" y="2011680"/>
            <a:ext cx="10332720" cy="365760"/>
          </a:xfrm>
          <a:prstGeom prst="rect">
            <a:avLst/>
          </a:prstGeom>
          <a:noFill/>
        </p:spPr>
        <p:txBody>
          <a:bodyPr wrap="none">
            <a:spAutoFit/>
          </a:bodyPr>
          <a:lstStyle/>
          <a:p>
            <a:pPr algn="ctr"/>
            <a:r>
              <a:rPr sz="1000">
                <a:solidFill>
                  <a:srgbClr val="B8FF4D"/>
                </a:solidFill>
                <a:latin typeface="Poppins"/>
              </a:rPr>
              <a:t>CÓDIGO CASA — NINJA</a:t>
            </a:r>
          </a:p>
        </p:txBody>
      </p:sp>
      <p:sp>
        <p:nvSpPr>
          <p:cNvPr id="4" name="TextBox 3"/>
          <p:cNvSpPr txBox="1"/>
          <p:nvPr/>
        </p:nvSpPr>
        <p:spPr>
          <a:xfrm>
            <a:off x="731520" y="2468880"/>
            <a:ext cx="10698480" cy="1828800"/>
          </a:xfrm>
          <a:prstGeom prst="rect">
            <a:avLst/>
          </a:prstGeom>
          <a:noFill/>
        </p:spPr>
        <p:txBody>
          <a:bodyPr wrap="square">
            <a:spAutoFit/>
          </a:bodyPr>
          <a:lstStyle/>
          <a:p>
            <a:pPr algn="ctr"/>
            <a:r>
              <a:rPr sz="4400" i="0">
                <a:solidFill>
                  <a:srgbClr val="FFFFFF"/>
                </a:solidFill>
                <a:latin typeface="Instrument Serif"/>
              </a:rPr>
              <a:t>PILAR BIENESTAR: </a:t>
            </a:r>
            <a:r>
              <a:rPr sz="4400" i="1">
                <a:solidFill>
                  <a:srgbClr val="FFFFFF"/>
                </a:solidFill>
                <a:latin typeface="Instrument Serif"/>
              </a:rPr>
              <a:t>PRUEBA DE HUMO</a:t>
            </a:r>
          </a:p>
        </p:txBody>
      </p:sp>
      <p:sp>
        <p:nvSpPr>
          <p:cNvPr id="5" name="TextBox 4"/>
          <p:cNvSpPr txBox="1"/>
          <p:nvPr/>
        </p:nvSpPr>
        <p:spPr>
          <a:xfrm>
            <a:off x="914400" y="4480560"/>
            <a:ext cx="10332720" cy="457200"/>
          </a:xfrm>
          <a:prstGeom prst="rect">
            <a:avLst/>
          </a:prstGeom>
          <a:noFill/>
        </p:spPr>
        <p:txBody>
          <a:bodyPr wrap="none">
            <a:spAutoFit/>
          </a:bodyPr>
          <a:lstStyle/>
          <a:p>
            <a:pPr algn="ctr"/>
            <a:r>
              <a:rPr sz="1200" i="1">
                <a:solidFill>
                  <a:srgbClr val="888888"/>
                </a:solidFill>
                <a:latin typeface="Poppins"/>
              </a:rPr>
              <a:t>5 hallazgos — Estudio cuantitativo y cualitativo 2025</a:t>
            </a:r>
          </a:p>
        </p:txBody>
      </p:sp>
      <p:sp>
        <p:nvSpPr>
          <p:cNvPr id="6" name="TextBox 5"/>
          <p:cNvSpPr txBox="1"/>
          <p:nvPr/>
        </p:nvSpPr>
        <p:spPr>
          <a:xfrm>
            <a:off x="914400" y="5029200"/>
            <a:ext cx="10332720" cy="365760"/>
          </a:xfrm>
          <a:prstGeom prst="rect">
            <a:avLst/>
          </a:prstGeom>
          <a:noFill/>
        </p:spPr>
        <p:txBody>
          <a:bodyPr wrap="none">
            <a:spAutoFit/>
          </a:bodyPr>
          <a:lstStyle/>
          <a:p>
            <a:pPr algn="ctr"/>
            <a:r>
              <a:rPr sz="1000">
                <a:solidFill>
                  <a:srgbClr val="888888"/>
                </a:solidFill>
                <a:latin typeface="Poppins"/>
              </a:rPr>
              <a:t>Mayo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C - White.png"/>
          <p:cNvPicPr>
            <a:picLocks noChangeAspect="1"/>
          </p:cNvPicPr>
          <p:nvPr/>
        </p:nvPicPr>
        <p:blipFill>
          <a:blip r:embed="rId2"/>
          <a:stretch>
            <a:fillRect/>
          </a:stretch>
        </p:blipFill>
        <p:spPr>
          <a:xfrm>
            <a:off x="11130991" y="201168"/>
            <a:ext cx="2062148" cy="347472"/>
          </a:xfrm>
          <a:prstGeom prst="rect">
            <a:avLst/>
          </a:prstGeom>
        </p:spPr>
      </p:pic>
      <p:sp>
        <p:nvSpPr>
          <p:cNvPr id="3" name="TextBox 2"/>
          <p:cNvSpPr txBox="1"/>
          <p:nvPr/>
        </p:nvSpPr>
        <p:spPr>
          <a:xfrm>
            <a:off x="502920" y="182880"/>
            <a:ext cx="640080" cy="365760"/>
          </a:xfrm>
          <a:prstGeom prst="rect">
            <a:avLst/>
          </a:prstGeom>
          <a:noFill/>
        </p:spPr>
        <p:txBody>
          <a:bodyPr wrap="none">
            <a:spAutoFit/>
          </a:bodyPr>
          <a:lstStyle/>
          <a:p>
            <a:pPr algn="l"/>
            <a:r>
              <a:rPr sz="900">
                <a:solidFill>
                  <a:srgbClr val="B8FF4D"/>
                </a:solidFill>
                <a:latin typeface="Poppins"/>
              </a:rPr>
              <a:t>01</a:t>
            </a:r>
          </a:p>
        </p:txBody>
      </p:sp>
      <p:sp>
        <p:nvSpPr>
          <p:cNvPr id="4" name="TextBox 3"/>
          <p:cNvSpPr txBox="1"/>
          <p:nvPr/>
        </p:nvSpPr>
        <p:spPr>
          <a:xfrm>
            <a:off x="502920" y="502920"/>
            <a:ext cx="11185855" cy="1691640"/>
          </a:xfrm>
          <a:prstGeom prst="rect">
            <a:avLst/>
          </a:prstGeom>
          <a:noFill/>
        </p:spPr>
        <p:txBody>
          <a:bodyPr wrap="square">
            <a:spAutoFit/>
          </a:bodyPr>
          <a:lstStyle/>
          <a:p>
            <a:pPr algn="ctr"/>
            <a:r>
              <a:rPr sz="2600" i="0">
                <a:solidFill>
                  <a:srgbClr val="FFFFFF"/>
                </a:solidFill>
                <a:latin typeface="Instrument Serif"/>
              </a:rPr>
              <a:t>EL DINERO ES LA PRESIÓN DOMINANTE EN EL HOGAR DOMINICANO. </a:t>
            </a:r>
            <a:r>
              <a:rPr sz="2600" i="1">
                <a:solidFill>
                  <a:srgbClr val="FFFFFF"/>
                </a:solidFill>
                <a:latin typeface="Instrument Serif"/>
              </a:rPr>
              <a:t>47.8% LO NOMBRA PRIMERO, CASI EL DOBLE DE LO QUE PESA LA INSEGURIDAD.</a:t>
            </a:r>
          </a:p>
        </p:txBody>
      </p:sp>
      <p:cxnSp>
        <p:nvCxnSpPr>
          <p:cNvPr id="5" name="Connector 4"/>
          <p:cNvCxnSpPr/>
          <p:nvPr/>
        </p:nvCxnSpPr>
        <p:spPr>
          <a:xfrm>
            <a:off x="502920" y="2176272"/>
            <a:ext cx="11185855" cy="0"/>
          </a:xfrm>
          <a:prstGeom prst="line">
            <a:avLst/>
          </a:prstGeom>
          <a:ln w="9525">
            <a:solidFill>
              <a:srgbClr val="2E2E2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2286000"/>
            <a:ext cx="7402372" cy="3291840"/>
          </a:xfrm>
          <a:prstGeom prst="rect">
            <a:avLst/>
          </a:prstGeom>
          <a:solidFill>
            <a:srgbClr val="2E2E2E"/>
          </a:solidFill>
        </p:spPr>
        <p:txBody>
          <a:bodyPr wrap="none">
            <a:spAutoFit/>
          </a:bodyPr>
          <a:lstStyle/>
          <a:p/>
        </p:txBody>
      </p:sp>
      <p:sp>
        <p:nvSpPr>
          <p:cNvPr id="7" name="TextBox 6"/>
          <p:cNvSpPr txBox="1"/>
          <p:nvPr/>
        </p:nvSpPr>
        <p:spPr>
          <a:xfrm>
            <a:off x="667512" y="2450592"/>
            <a:ext cx="7073188" cy="640080"/>
          </a:xfrm>
          <a:prstGeom prst="rect">
            <a:avLst/>
          </a:prstGeom>
          <a:noFill/>
        </p:spPr>
        <p:txBody>
          <a:bodyPr wrap="none">
            <a:spAutoFit/>
          </a:bodyPr>
          <a:lstStyle/>
          <a:p>
            <a:pPr algn="l"/>
            <a:r>
              <a:rPr sz="3800" i="1">
                <a:solidFill>
                  <a:srgbClr val="B8FF4D"/>
                </a:solidFill>
                <a:latin typeface="Instrument Serif"/>
              </a:rPr>
              <a:t>48%</a:t>
            </a:r>
          </a:p>
        </p:txBody>
      </p:sp>
      <p:sp>
        <p:nvSpPr>
          <p:cNvPr id="8" name="TextBox 7"/>
          <p:cNvSpPr txBox="1"/>
          <p:nvPr/>
        </p:nvSpPr>
        <p:spPr>
          <a:xfrm>
            <a:off x="667512" y="3108960"/>
            <a:ext cx="7073188" cy="109728"/>
          </a:xfrm>
          <a:prstGeom prst="rect">
            <a:avLst/>
          </a:prstGeom>
          <a:noFill/>
        </p:spPr>
        <p:txBody>
          <a:bodyPr wrap="square">
            <a:spAutoFit/>
          </a:bodyPr>
          <a:lstStyle/>
          <a:p>
            <a:pPr algn="l"/>
            <a:r>
              <a:rPr sz="950" b="0" i="0">
                <a:solidFill>
                  <a:srgbClr val="FFFFFF"/>
                </a:solidFill>
                <a:latin typeface="Poppins"/>
              </a:rPr>
              <a:t>nombra la economía como factor #1 de estrés familiar</a:t>
            </a:r>
            <a:r>
              <a:rPr sz="950" b="1" i="0">
                <a:solidFill>
                  <a:srgbClr val="FFFFFF"/>
                </a:solidFill>
                <a:latin typeface="Poppins"/>
              </a:rPr>
              <a:t> — por encima de inseguridad (21.8%) y crianza (16.2%).</a:t>
            </a:r>
            <a:r>
              <a:rPr sz="950" b="0" i="0">
                <a:solidFill>
                  <a:srgbClr val="888888"/>
                </a:solidFill>
                <a:latin typeface="Poppins"/>
              </a:rPr>
              <a:t> · P26 · Base 500</a:t>
            </a:r>
          </a:p>
        </p:txBody>
      </p:sp>
      <p:cxnSp>
        <p:nvCxnSpPr>
          <p:cNvPr id="9" name="Connector 8"/>
          <p:cNvCxnSpPr/>
          <p:nvPr/>
        </p:nvCxnSpPr>
        <p:spPr>
          <a:xfrm>
            <a:off x="640080.0" y="3337560.0"/>
            <a:ext cx="7128052.666666667" cy="0.0"/>
          </a:xfrm>
          <a:prstGeom prst="line">
            <a:avLst/>
          </a:prstGeom>
          <a:ln w="9525">
            <a:solidFill>
              <a:srgbClr val="55555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67512" y="3547872"/>
            <a:ext cx="7073188" cy="640080"/>
          </a:xfrm>
          <a:prstGeom prst="rect">
            <a:avLst/>
          </a:prstGeom>
          <a:noFill/>
        </p:spPr>
        <p:txBody>
          <a:bodyPr wrap="none">
            <a:spAutoFit/>
          </a:bodyPr>
          <a:lstStyle/>
          <a:p>
            <a:pPr algn="l"/>
            <a:r>
              <a:rPr sz="3800" i="1">
                <a:solidFill>
                  <a:srgbClr val="B8FF4D"/>
                </a:solidFill>
                <a:latin typeface="Instrument Serif"/>
              </a:rPr>
              <a:t>28%</a:t>
            </a:r>
          </a:p>
        </p:txBody>
      </p:sp>
      <p:sp>
        <p:nvSpPr>
          <p:cNvPr id="11" name="TextBox 10"/>
          <p:cNvSpPr txBox="1"/>
          <p:nvPr/>
        </p:nvSpPr>
        <p:spPr>
          <a:xfrm>
            <a:off x="667512" y="4206240"/>
            <a:ext cx="7073188" cy="109728"/>
          </a:xfrm>
          <a:prstGeom prst="rect">
            <a:avLst/>
          </a:prstGeom>
          <a:noFill/>
        </p:spPr>
        <p:txBody>
          <a:bodyPr wrap="square">
            <a:spAutoFit/>
          </a:bodyPr>
          <a:lstStyle/>
          <a:p>
            <a:pPr algn="l"/>
            <a:r>
              <a:rPr sz="950" b="0" i="0">
                <a:solidFill>
                  <a:srgbClr val="FFFFFF"/>
                </a:solidFill>
                <a:latin typeface="Poppins"/>
              </a:rPr>
              <a:t>adicional menciona </a:t>
            </a:r>
            <a:r>
              <a:rPr sz="950" b="1" i="0">
                <a:solidFill>
                  <a:srgbClr val="FFFFFF"/>
                </a:solidFill>
                <a:latin typeface="Poppins"/>
              </a:rPr>
              <a:t>realidad económica</a:t>
            </a:r>
            <a:r>
              <a:rPr sz="950" b="0" i="0">
                <a:solidFill>
                  <a:srgbClr val="FFFFFF"/>
                </a:solidFill>
                <a:latin typeface="Poppins"/>
              </a:rPr>
              <a:t> como segunda causa financiera. Sumados ambos campos financieros, ningúna otra causa se acerca.</a:t>
            </a:r>
            <a:r>
              <a:rPr sz="950" b="0" i="0">
                <a:solidFill>
                  <a:srgbClr val="888888"/>
                </a:solidFill>
                <a:latin typeface="Poppins"/>
              </a:rPr>
              <a:t> · P26 · Base 500</a:t>
            </a:r>
          </a:p>
        </p:txBody>
      </p:sp>
      <p:cxnSp>
        <p:nvCxnSpPr>
          <p:cNvPr id="12" name="Connector 11"/>
          <p:cNvCxnSpPr/>
          <p:nvPr/>
        </p:nvCxnSpPr>
        <p:spPr>
          <a:xfrm>
            <a:off x="640080.0" y="4434840.0"/>
            <a:ext cx="7128052.666666667" cy="0.0"/>
          </a:xfrm>
          <a:prstGeom prst="line">
            <a:avLst/>
          </a:prstGeom>
          <a:ln w="9525">
            <a:solidFill>
              <a:srgbClr val="55555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67512" y="4645152"/>
            <a:ext cx="7073188" cy="640080"/>
          </a:xfrm>
          <a:prstGeom prst="rect">
            <a:avLst/>
          </a:prstGeom>
          <a:noFill/>
        </p:spPr>
        <p:txBody>
          <a:bodyPr wrap="none">
            <a:spAutoFit/>
          </a:bodyPr>
          <a:lstStyle/>
          <a:p>
            <a:pPr algn="l"/>
            <a:r>
              <a:rPr sz="3800" i="1">
                <a:solidFill>
                  <a:srgbClr val="B8FF4D"/>
                </a:solidFill>
                <a:latin typeface="Instrument Serif"/>
              </a:rPr>
              <a:t>22%</a:t>
            </a:r>
          </a:p>
        </p:txBody>
      </p:sp>
      <p:sp>
        <p:nvSpPr>
          <p:cNvPr id="14" name="TextBox 13"/>
          <p:cNvSpPr txBox="1"/>
          <p:nvPr/>
        </p:nvSpPr>
        <p:spPr>
          <a:xfrm>
            <a:off x="667512" y="5303520"/>
            <a:ext cx="7073188" cy="109728"/>
          </a:xfrm>
          <a:prstGeom prst="rect">
            <a:avLst/>
          </a:prstGeom>
          <a:noFill/>
        </p:spPr>
        <p:txBody>
          <a:bodyPr wrap="square">
            <a:spAutoFit/>
          </a:bodyPr>
          <a:lstStyle/>
          <a:p>
            <a:pPr algn="l"/>
            <a:r>
              <a:rPr sz="950" b="0" i="0">
                <a:solidFill>
                  <a:srgbClr val="FFFFFF"/>
                </a:solidFill>
                <a:latin typeface="Poppins"/>
              </a:rPr>
              <a:t>identifica la </a:t>
            </a:r>
            <a:r>
              <a:rPr sz="950" b="1" i="0">
                <a:solidFill>
                  <a:srgbClr val="FFFFFF"/>
                </a:solidFill>
                <a:latin typeface="Poppins"/>
              </a:rPr>
              <a:t>inseguridad</a:t>
            </a:r>
            <a:r>
              <a:rPr sz="950" b="0" i="0">
                <a:solidFill>
                  <a:srgbClr val="FFFFFF"/>
                </a:solidFill>
                <a:latin typeface="Poppins"/>
              </a:rPr>
              <a:t> como segunda fuente de estrés — menos de la mitad del peso que carga la economía.</a:t>
            </a:r>
            <a:r>
              <a:rPr sz="950" b="0" i="0">
                <a:solidFill>
                  <a:srgbClr val="888888"/>
                </a:solidFill>
                <a:latin typeface="Poppins"/>
              </a:rPr>
              <a:t> · P26 · Base 500</a:t>
            </a:r>
          </a:p>
        </p:txBody>
      </p:sp>
      <p:sp>
        <p:nvSpPr>
          <p:cNvPr id="15" name="TextBox 14"/>
          <p:cNvSpPr txBox="1"/>
          <p:nvPr/>
        </p:nvSpPr>
        <p:spPr>
          <a:xfrm>
            <a:off x="8069884" y="2286000"/>
            <a:ext cx="3618890" cy="1371600"/>
          </a:xfrm>
          <a:prstGeom prst="rect">
            <a:avLst/>
          </a:prstGeom>
          <a:solidFill>
            <a:srgbClr val="2E2E2E"/>
          </a:solidFill>
        </p:spPr>
        <p:txBody>
          <a:bodyPr wrap="square">
            <a:spAutoFit/>
          </a:bodyPr>
          <a:lstStyle/>
          <a:p>
            <a:pPr algn="l"/>
            <a:r>
              <a:rPr sz="1000" i="1">
                <a:solidFill>
                  <a:srgbClr val="FFFFFF"/>
                </a:solidFill>
                <a:latin typeface="Poppins"/>
              </a:rPr>
              <a:t>El estrés financiero no compite con las demás presiones del hogar: las duplica.</a:t>
            </a:r>
          </a:p>
        </p:txBody>
      </p:sp>
      <p:sp>
        <p:nvSpPr>
          <p:cNvPr id="16" name="TextBox 15"/>
          <p:cNvSpPr txBox="1"/>
          <p:nvPr/>
        </p:nvSpPr>
        <p:spPr>
          <a:xfrm>
            <a:off x="8069884" y="3794760"/>
            <a:ext cx="3618890" cy="1783080"/>
          </a:xfrm>
          <a:prstGeom prst="rect">
            <a:avLst/>
          </a:prstGeom>
          <a:solidFill>
            <a:srgbClr val="000000"/>
          </a:solidFill>
        </p:spPr>
        <p:txBody>
          <a:bodyPr wrap="square">
            <a:spAutoFit/>
          </a:bodyPr>
          <a:lstStyle/>
          <a:p>
            <a:pPr algn="l"/>
            <a:r>
              <a:rPr sz="950" i="1">
                <a:solidFill>
                  <a:srgbClr val="FFFFFF"/>
                </a:solidFill>
                <a:latin typeface="Instrument Serif"/>
              </a:rPr>
              <a:t>“Porque la mayor parte del problema hoy en dia es el dinero, todo lo resuelve el dinero aunque la gente no lo quiera admitir, eso es, por ahí es que la gente se jode en su salud mental, el dinero.”</a:t>
            </a:r>
          </a:p>
          <a:p>
            <a:pPr algn="l">
              <a:spcBef>
                <a:spcPts val="600"/>
              </a:spcBef>
            </a:pPr>
            <a:r>
              <a:rPr sz="850">
                <a:solidFill>
                  <a:srgbClr val="888888"/>
                </a:solidFill>
                <a:latin typeface="Poppins"/>
              </a:rPr>
              <a:t>— Grupo Monoparental</a:t>
            </a:r>
          </a:p>
        </p:txBody>
      </p:sp>
      <p:sp>
        <p:nvSpPr>
          <p:cNvPr id="17" name="TextBox 16"/>
          <p:cNvSpPr txBox="1"/>
          <p:nvPr/>
        </p:nvSpPr>
        <p:spPr>
          <a:xfrm>
            <a:off x="502920" y="6309360"/>
            <a:ext cx="11185855" cy="411480"/>
          </a:xfrm>
          <a:prstGeom prst="rect">
            <a:avLst/>
          </a:prstGeom>
          <a:noFill/>
        </p:spPr>
        <p:txBody>
          <a:bodyPr wrap="none">
            <a:spAutoFit/>
          </a:bodyPr>
          <a:lstStyle/>
          <a:p>
            <a:pPr algn="l"/>
            <a:r>
              <a:rPr sz="800" i="1">
                <a:solidFill>
                  <a:srgbClr val="888888"/>
                </a:solidFill>
                <a:latin typeface="Poppins"/>
              </a:rPr>
              <a:t>Source: Código Casa - Estudio cuantitativo 2025 · P26 · Base 500.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C - White.png"/>
          <p:cNvPicPr>
            <a:picLocks noChangeAspect="1"/>
          </p:cNvPicPr>
          <p:nvPr/>
        </p:nvPicPr>
        <p:blipFill>
          <a:blip r:embed="rId2"/>
          <a:stretch>
            <a:fillRect/>
          </a:stretch>
        </p:blipFill>
        <p:spPr>
          <a:xfrm>
            <a:off x="11130991" y="201168"/>
            <a:ext cx="2062148" cy="347472"/>
          </a:xfrm>
          <a:prstGeom prst="rect">
            <a:avLst/>
          </a:prstGeom>
        </p:spPr>
      </p:pic>
      <p:sp>
        <p:nvSpPr>
          <p:cNvPr id="3" name="TextBox 2"/>
          <p:cNvSpPr txBox="1"/>
          <p:nvPr/>
        </p:nvSpPr>
        <p:spPr>
          <a:xfrm>
            <a:off x="502920" y="182880"/>
            <a:ext cx="640080" cy="365760"/>
          </a:xfrm>
          <a:prstGeom prst="rect">
            <a:avLst/>
          </a:prstGeom>
          <a:noFill/>
        </p:spPr>
        <p:txBody>
          <a:bodyPr wrap="none">
            <a:spAutoFit/>
          </a:bodyPr>
          <a:lstStyle/>
          <a:p>
            <a:pPr algn="l"/>
            <a:r>
              <a:rPr sz="900">
                <a:solidFill>
                  <a:srgbClr val="B8FF4D"/>
                </a:solidFill>
                <a:latin typeface="Poppins"/>
              </a:rPr>
              <a:t>02</a:t>
            </a:r>
          </a:p>
        </p:txBody>
      </p:sp>
      <p:sp>
        <p:nvSpPr>
          <p:cNvPr id="4" name="TextBox 3"/>
          <p:cNvSpPr txBox="1"/>
          <p:nvPr/>
        </p:nvSpPr>
        <p:spPr>
          <a:xfrm>
            <a:off x="502920" y="502920"/>
            <a:ext cx="11185855" cy="1691640"/>
          </a:xfrm>
          <a:prstGeom prst="rect">
            <a:avLst/>
          </a:prstGeom>
          <a:noFill/>
        </p:spPr>
        <p:txBody>
          <a:bodyPr wrap="square">
            <a:spAutoFit/>
          </a:bodyPr>
          <a:lstStyle/>
          <a:p>
            <a:pPr algn="ctr"/>
            <a:r>
              <a:rPr sz="2600" i="0">
                <a:solidFill>
                  <a:srgbClr val="FFFFFF"/>
                </a:solidFill>
                <a:latin typeface="Instrument Serif"/>
              </a:rPr>
              <a:t>4 DE CADA 10 DOMINICANOS NO HACE NADA POR SU SALUD MENTAL NI FÍSICA. </a:t>
            </a:r>
            <a:r>
              <a:rPr sz="2600" i="1">
                <a:solidFill>
                  <a:srgbClr val="FFFFFF"/>
                </a:solidFill>
                <a:latin typeface="Instrument Serif"/>
              </a:rPr>
              <a:t>LA INACCIÓN ES LA RESPUESTA MAS FRECUENTE DEL PAIS.</a:t>
            </a:r>
          </a:p>
        </p:txBody>
      </p:sp>
      <p:cxnSp>
        <p:nvCxnSpPr>
          <p:cNvPr id="5" name="Connector 4"/>
          <p:cNvCxnSpPr/>
          <p:nvPr/>
        </p:nvCxnSpPr>
        <p:spPr>
          <a:xfrm>
            <a:off x="502920" y="2176272"/>
            <a:ext cx="11185855" cy="0"/>
          </a:xfrm>
          <a:prstGeom prst="line">
            <a:avLst/>
          </a:prstGeom>
          <a:ln w="9525">
            <a:solidFill>
              <a:srgbClr val="2E2E2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2286000"/>
            <a:ext cx="7402372" cy="3291840"/>
          </a:xfrm>
          <a:prstGeom prst="rect">
            <a:avLst/>
          </a:prstGeom>
          <a:solidFill>
            <a:srgbClr val="2E2E2E"/>
          </a:solidFill>
        </p:spPr>
        <p:txBody>
          <a:bodyPr wrap="none">
            <a:spAutoFit/>
          </a:bodyPr>
          <a:lstStyle/>
          <a:p/>
        </p:txBody>
      </p:sp>
      <p:sp>
        <p:nvSpPr>
          <p:cNvPr id="7" name="TextBox 6"/>
          <p:cNvSpPr txBox="1"/>
          <p:nvPr/>
        </p:nvSpPr>
        <p:spPr>
          <a:xfrm>
            <a:off x="667512" y="2450592"/>
            <a:ext cx="7073188" cy="640080"/>
          </a:xfrm>
          <a:prstGeom prst="rect">
            <a:avLst/>
          </a:prstGeom>
          <a:noFill/>
        </p:spPr>
        <p:txBody>
          <a:bodyPr wrap="none">
            <a:spAutoFit/>
          </a:bodyPr>
          <a:lstStyle/>
          <a:p>
            <a:pPr algn="l"/>
            <a:r>
              <a:rPr sz="3800" i="1">
                <a:solidFill>
                  <a:srgbClr val="B8FF4D"/>
                </a:solidFill>
                <a:latin typeface="Instrument Serif"/>
              </a:rPr>
              <a:t>43%</a:t>
            </a:r>
          </a:p>
        </p:txBody>
      </p:sp>
      <p:sp>
        <p:nvSpPr>
          <p:cNvPr id="8" name="TextBox 7"/>
          <p:cNvSpPr txBox="1"/>
          <p:nvPr/>
        </p:nvSpPr>
        <p:spPr>
          <a:xfrm>
            <a:off x="667512" y="3108960"/>
            <a:ext cx="7073188" cy="109728"/>
          </a:xfrm>
          <a:prstGeom prst="rect">
            <a:avLst/>
          </a:prstGeom>
          <a:noFill/>
        </p:spPr>
        <p:txBody>
          <a:bodyPr wrap="square">
            <a:spAutoFit/>
          </a:bodyPr>
          <a:lstStyle/>
          <a:p>
            <a:pPr algn="l"/>
            <a:r>
              <a:rPr sz="950" b="0" i="0">
                <a:solidFill>
                  <a:srgbClr val="FFFFFF"/>
                </a:solidFill>
                <a:latin typeface="Poppins"/>
              </a:rPr>
              <a:t>declara que </a:t>
            </a:r>
            <a:r>
              <a:rPr sz="950" b="1" i="0">
                <a:solidFill>
                  <a:srgbClr val="FFFFFF"/>
                </a:solidFill>
                <a:latin typeface="Poppins"/>
              </a:rPr>
              <a:t>no realiza ningúna actividad</a:t>
            </a:r>
            <a:r>
              <a:rPr sz="950" b="0" i="0">
                <a:solidFill>
                  <a:srgbClr val="FFFFFF"/>
                </a:solidFill>
                <a:latin typeface="Poppins"/>
              </a:rPr>
              <a:t> para cuidar su salud mental y fisica — primera opcion del ranking, por encima de ejercitarse (34.8%).</a:t>
            </a:r>
            <a:r>
              <a:rPr sz="950" b="0" i="0">
                <a:solidFill>
                  <a:srgbClr val="888888"/>
                </a:solidFill>
                <a:latin typeface="Poppins"/>
              </a:rPr>
              <a:t> · P27 · Base 500</a:t>
            </a:r>
          </a:p>
        </p:txBody>
      </p:sp>
      <p:cxnSp>
        <p:nvCxnSpPr>
          <p:cNvPr id="9" name="Connector 8"/>
          <p:cNvCxnSpPr/>
          <p:nvPr/>
        </p:nvCxnSpPr>
        <p:spPr>
          <a:xfrm>
            <a:off x="640080.0" y="3337560.0"/>
            <a:ext cx="7128052.666666667" cy="0.0"/>
          </a:xfrm>
          <a:prstGeom prst="line">
            <a:avLst/>
          </a:prstGeom>
          <a:ln w="9525">
            <a:solidFill>
              <a:srgbClr val="55555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67512" y="3547872"/>
            <a:ext cx="7073188" cy="640080"/>
          </a:xfrm>
          <a:prstGeom prst="rect">
            <a:avLst/>
          </a:prstGeom>
          <a:noFill/>
        </p:spPr>
        <p:txBody>
          <a:bodyPr wrap="none">
            <a:spAutoFit/>
          </a:bodyPr>
          <a:lstStyle/>
          <a:p>
            <a:pPr algn="l"/>
            <a:r>
              <a:rPr sz="3800" i="1">
                <a:solidFill>
                  <a:srgbClr val="B8FF4D"/>
                </a:solidFill>
                <a:latin typeface="Instrument Serif"/>
              </a:rPr>
              <a:t>3%</a:t>
            </a:r>
          </a:p>
        </p:txBody>
      </p:sp>
      <p:sp>
        <p:nvSpPr>
          <p:cNvPr id="11" name="TextBox 10"/>
          <p:cNvSpPr txBox="1"/>
          <p:nvPr/>
        </p:nvSpPr>
        <p:spPr>
          <a:xfrm>
            <a:off x="667512" y="4206240"/>
            <a:ext cx="7073188" cy="109728"/>
          </a:xfrm>
          <a:prstGeom prst="rect">
            <a:avLst/>
          </a:prstGeom>
          <a:noFill/>
        </p:spPr>
        <p:txBody>
          <a:bodyPr wrap="square">
            <a:spAutoFit/>
          </a:bodyPr>
          <a:lstStyle/>
          <a:p>
            <a:pPr algn="l"/>
            <a:r>
              <a:rPr sz="950" b="0" i="0">
                <a:solidFill>
                  <a:srgbClr val="FFFFFF"/>
                </a:solidFill>
                <a:latin typeface="Poppins"/>
              </a:rPr>
              <a:t>reporta ir a </a:t>
            </a:r>
            <a:r>
              <a:rPr sz="950" b="1" i="0">
                <a:solidFill>
                  <a:srgbClr val="FFFFFF"/>
                </a:solidFill>
                <a:latin typeface="Poppins"/>
              </a:rPr>
              <a:t>terapia.</a:t>
            </a:r>
            <a:r>
              <a:rPr sz="950" b="0" i="0">
                <a:solidFill>
                  <a:srgbClr val="FFFFFF"/>
                </a:solidFill>
                <a:latin typeface="Poppins"/>
              </a:rPr>
              <a:t> 9% práctica meditación. El apoyo profesional de salud mental es marginal en el pais.</a:t>
            </a:r>
            <a:r>
              <a:rPr sz="950" b="0" i="0">
                <a:solidFill>
                  <a:srgbClr val="888888"/>
                </a:solidFill>
                <a:latin typeface="Poppins"/>
              </a:rPr>
              <a:t> · P27 · Base 500</a:t>
            </a:r>
          </a:p>
        </p:txBody>
      </p:sp>
      <p:cxnSp>
        <p:nvCxnSpPr>
          <p:cNvPr id="12" name="Connector 11"/>
          <p:cNvCxnSpPr/>
          <p:nvPr/>
        </p:nvCxnSpPr>
        <p:spPr>
          <a:xfrm>
            <a:off x="640080.0" y="4434840.0"/>
            <a:ext cx="7128052.666666667" cy="0.0"/>
          </a:xfrm>
          <a:prstGeom prst="line">
            <a:avLst/>
          </a:prstGeom>
          <a:ln w="9525">
            <a:solidFill>
              <a:srgbClr val="55555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67512" y="4645152"/>
            <a:ext cx="7073188" cy="640080"/>
          </a:xfrm>
          <a:prstGeom prst="rect">
            <a:avLst/>
          </a:prstGeom>
          <a:noFill/>
        </p:spPr>
        <p:txBody>
          <a:bodyPr wrap="none">
            <a:spAutoFit/>
          </a:bodyPr>
          <a:lstStyle/>
          <a:p>
            <a:pPr algn="l"/>
            <a:r>
              <a:rPr sz="3800" i="1">
                <a:solidFill>
                  <a:srgbClr val="B8FF4D"/>
                </a:solidFill>
                <a:latin typeface="Instrument Serif"/>
              </a:rPr>
              <a:t>35%</a:t>
            </a:r>
          </a:p>
        </p:txBody>
      </p:sp>
      <p:sp>
        <p:nvSpPr>
          <p:cNvPr id="14" name="TextBox 13"/>
          <p:cNvSpPr txBox="1"/>
          <p:nvPr/>
        </p:nvSpPr>
        <p:spPr>
          <a:xfrm>
            <a:off x="667512" y="5303520"/>
            <a:ext cx="7073188" cy="109728"/>
          </a:xfrm>
          <a:prstGeom prst="rect">
            <a:avLst/>
          </a:prstGeom>
          <a:noFill/>
        </p:spPr>
        <p:txBody>
          <a:bodyPr wrap="square">
            <a:spAutoFit/>
          </a:bodyPr>
          <a:lstStyle/>
          <a:p>
            <a:pPr algn="l"/>
            <a:r>
              <a:rPr sz="950" b="0" i="0">
                <a:solidFill>
                  <a:srgbClr val="FFFFFF"/>
                </a:solidFill>
                <a:latin typeface="Poppins"/>
              </a:rPr>
              <a:t>se </a:t>
            </a:r>
            <a:r>
              <a:rPr sz="950" b="1" i="0">
                <a:solidFill>
                  <a:srgbClr val="FFFFFF"/>
                </a:solidFill>
                <a:latin typeface="Poppins"/>
              </a:rPr>
              <a:t>ejercita</a:t>
            </a:r>
            <a:r>
              <a:rPr sz="950" b="0" i="0">
                <a:solidFill>
                  <a:srgbClr val="FFFFFF"/>
                </a:solidFill>
                <a:latin typeface="Poppins"/>
              </a:rPr>
              <a:t> con regularidad — segunda opcion del ranking, pero a 8 puntos de la inacción.</a:t>
            </a:r>
            <a:r>
              <a:rPr sz="950" b="0" i="0">
                <a:solidFill>
                  <a:srgbClr val="888888"/>
                </a:solidFill>
                <a:latin typeface="Poppins"/>
              </a:rPr>
              <a:t> · P27 · Base 500</a:t>
            </a:r>
          </a:p>
        </p:txBody>
      </p:sp>
      <p:sp>
        <p:nvSpPr>
          <p:cNvPr id="15" name="TextBox 14"/>
          <p:cNvSpPr txBox="1"/>
          <p:nvPr/>
        </p:nvSpPr>
        <p:spPr>
          <a:xfrm>
            <a:off x="8069884" y="2286000"/>
            <a:ext cx="3618890" cy="1371600"/>
          </a:xfrm>
          <a:prstGeom prst="rect">
            <a:avLst/>
          </a:prstGeom>
          <a:solidFill>
            <a:srgbClr val="2E2E2E"/>
          </a:solidFill>
        </p:spPr>
        <p:txBody>
          <a:bodyPr wrap="square">
            <a:spAutoFit/>
          </a:bodyPr>
          <a:lstStyle/>
          <a:p>
            <a:pPr algn="l"/>
            <a:r>
              <a:rPr sz="1000" i="1">
                <a:solidFill>
                  <a:srgbClr val="FFFFFF"/>
                </a:solidFill>
                <a:latin typeface="Poppins"/>
              </a:rPr>
              <a:t>El primer lugar del ranking no es una práctica de cuidado — es su ausencia.</a:t>
            </a:r>
          </a:p>
        </p:txBody>
      </p:sp>
      <p:sp>
        <p:nvSpPr>
          <p:cNvPr id="16" name="TextBox 15"/>
          <p:cNvSpPr txBox="1"/>
          <p:nvPr/>
        </p:nvSpPr>
        <p:spPr>
          <a:xfrm>
            <a:off x="8069884" y="3794760"/>
            <a:ext cx="3618890" cy="1783080"/>
          </a:xfrm>
          <a:prstGeom prst="rect">
            <a:avLst/>
          </a:prstGeom>
          <a:solidFill>
            <a:srgbClr val="000000"/>
          </a:solidFill>
        </p:spPr>
        <p:txBody>
          <a:bodyPr wrap="square">
            <a:spAutoFit/>
          </a:bodyPr>
          <a:lstStyle/>
          <a:p>
            <a:pPr algn="l"/>
            <a:r>
              <a:rPr sz="950" i="1">
                <a:solidFill>
                  <a:srgbClr val="FFFFFF"/>
                </a:solidFill>
                <a:latin typeface="Instrument Serif"/>
              </a:rPr>
              <a:t>“Yo para lo físico no estoy haciendo nada, no hago ejercicio, me como todo lo que quiera y a la hora que quiera. Bueno, para la salud mental, a veces uno tiene que hacerse loco en ciertas cosas, porque si uno le da mucha mente a la cosa, uno se va a volver loco.”</a:t>
            </a:r>
          </a:p>
          <a:p>
            <a:pPr algn="l">
              <a:spcBef>
                <a:spcPts val="600"/>
              </a:spcBef>
            </a:pPr>
            <a:r>
              <a:rPr sz="850">
                <a:solidFill>
                  <a:srgbClr val="888888"/>
                </a:solidFill>
                <a:latin typeface="Poppins"/>
              </a:rPr>
              <a:t>— Grupo Biparental Hijos Adultos</a:t>
            </a:r>
          </a:p>
        </p:txBody>
      </p:sp>
      <p:sp>
        <p:nvSpPr>
          <p:cNvPr id="17" name="TextBox 16"/>
          <p:cNvSpPr txBox="1"/>
          <p:nvPr/>
        </p:nvSpPr>
        <p:spPr>
          <a:xfrm>
            <a:off x="502920" y="6309360"/>
            <a:ext cx="11185855" cy="411480"/>
          </a:xfrm>
          <a:prstGeom prst="rect">
            <a:avLst/>
          </a:prstGeom>
          <a:noFill/>
        </p:spPr>
        <p:txBody>
          <a:bodyPr wrap="none">
            <a:spAutoFit/>
          </a:bodyPr>
          <a:lstStyle/>
          <a:p>
            <a:pPr algn="l"/>
            <a:r>
              <a:rPr sz="800" i="1">
                <a:solidFill>
                  <a:srgbClr val="888888"/>
                </a:solidFill>
                <a:latin typeface="Poppins"/>
              </a:rPr>
              <a:t>Source: Código Casa - Estudio cuantitativo 2025 · P27 · Base 500.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C - White.png"/>
          <p:cNvPicPr>
            <a:picLocks noChangeAspect="1"/>
          </p:cNvPicPr>
          <p:nvPr/>
        </p:nvPicPr>
        <p:blipFill>
          <a:blip r:embed="rId2"/>
          <a:stretch>
            <a:fillRect/>
          </a:stretch>
        </p:blipFill>
        <p:spPr>
          <a:xfrm>
            <a:off x="11130991" y="201168"/>
            <a:ext cx="2062148" cy="347472"/>
          </a:xfrm>
          <a:prstGeom prst="rect">
            <a:avLst/>
          </a:prstGeom>
        </p:spPr>
      </p:pic>
      <p:sp>
        <p:nvSpPr>
          <p:cNvPr id="3" name="TextBox 2"/>
          <p:cNvSpPr txBox="1"/>
          <p:nvPr/>
        </p:nvSpPr>
        <p:spPr>
          <a:xfrm>
            <a:off x="502920" y="182880"/>
            <a:ext cx="640080" cy="365760"/>
          </a:xfrm>
          <a:prstGeom prst="rect">
            <a:avLst/>
          </a:prstGeom>
          <a:noFill/>
        </p:spPr>
        <p:txBody>
          <a:bodyPr wrap="none">
            <a:spAutoFit/>
          </a:bodyPr>
          <a:lstStyle/>
          <a:p>
            <a:pPr algn="l"/>
            <a:r>
              <a:rPr sz="900">
                <a:solidFill>
                  <a:srgbClr val="B8FF4D"/>
                </a:solidFill>
                <a:latin typeface="Poppins"/>
              </a:rPr>
              <a:t>03</a:t>
            </a:r>
          </a:p>
        </p:txBody>
      </p:sp>
      <p:sp>
        <p:nvSpPr>
          <p:cNvPr id="4" name="TextBox 3"/>
          <p:cNvSpPr txBox="1"/>
          <p:nvPr/>
        </p:nvSpPr>
        <p:spPr>
          <a:xfrm>
            <a:off x="502920" y="502920"/>
            <a:ext cx="11185855" cy="1691640"/>
          </a:xfrm>
          <a:prstGeom prst="rect">
            <a:avLst/>
          </a:prstGeom>
          <a:noFill/>
        </p:spPr>
        <p:txBody>
          <a:bodyPr wrap="square">
            <a:spAutoFit/>
          </a:bodyPr>
          <a:lstStyle/>
          <a:p>
            <a:pPr algn="ctr"/>
            <a:r>
              <a:rPr sz="2600" i="0">
                <a:solidFill>
                  <a:srgbClr val="FFFFFF"/>
                </a:solidFill>
                <a:latin typeface="Instrument Serif"/>
              </a:rPr>
              <a:t>CASI LA MITAD DE LAS MUJERES NO HACE NADA POR SU SALUD. LOS HOMBRES VAN AL GIMNASIO. </a:t>
            </a:r>
            <a:r>
              <a:rPr sz="2600" i="1">
                <a:solidFill>
                  <a:srgbClr val="FFFFFF"/>
                </a:solidFill>
                <a:latin typeface="Instrument Serif"/>
              </a:rPr>
              <a:t>CUIDAN COSAS DISTINTAS — O NO CUIDAN LO MISMO.</a:t>
            </a:r>
          </a:p>
        </p:txBody>
      </p:sp>
      <p:cxnSp>
        <p:nvCxnSpPr>
          <p:cNvPr id="5" name="Connector 4"/>
          <p:cNvCxnSpPr/>
          <p:nvPr/>
        </p:nvCxnSpPr>
        <p:spPr>
          <a:xfrm>
            <a:off x="502920" y="2176272"/>
            <a:ext cx="11185855" cy="0"/>
          </a:xfrm>
          <a:prstGeom prst="line">
            <a:avLst/>
          </a:prstGeom>
          <a:ln w="9525">
            <a:solidFill>
              <a:srgbClr val="2E2E2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2286000"/>
            <a:ext cx="7402372" cy="3291840"/>
          </a:xfrm>
          <a:prstGeom prst="rect">
            <a:avLst/>
          </a:prstGeom>
          <a:solidFill>
            <a:srgbClr val="2E2E2E"/>
          </a:solidFill>
        </p:spPr>
        <p:txBody>
          <a:bodyPr wrap="none">
            <a:spAutoFit/>
          </a:bodyPr>
          <a:lstStyle/>
          <a:p/>
        </p:txBody>
      </p:sp>
      <p:sp>
        <p:nvSpPr>
          <p:cNvPr id="7" name="TextBox 6"/>
          <p:cNvSpPr txBox="1"/>
          <p:nvPr/>
        </p:nvSpPr>
        <p:spPr>
          <a:xfrm>
            <a:off x="667512" y="2450592"/>
            <a:ext cx="7073188" cy="640080"/>
          </a:xfrm>
          <a:prstGeom prst="rect">
            <a:avLst/>
          </a:prstGeom>
          <a:noFill/>
        </p:spPr>
        <p:txBody>
          <a:bodyPr wrap="none">
            <a:spAutoFit/>
          </a:bodyPr>
          <a:lstStyle/>
          <a:p>
            <a:pPr algn="l"/>
            <a:r>
              <a:rPr sz="3800" i="1">
                <a:solidFill>
                  <a:srgbClr val="B8FF4D"/>
                </a:solidFill>
                <a:latin typeface="Instrument Serif"/>
              </a:rPr>
              <a:t>49%</a:t>
            </a:r>
            <a:r>
              <a:rPr sz="1000">
                <a:solidFill>
                  <a:srgbClr val="888888"/>
                </a:solidFill>
                <a:latin typeface="Poppins"/>
              </a:rPr>
              <a:t>  mujeres</a:t>
            </a:r>
          </a:p>
        </p:txBody>
      </p:sp>
      <p:sp>
        <p:nvSpPr>
          <p:cNvPr id="8" name="TextBox 7"/>
          <p:cNvSpPr txBox="1"/>
          <p:nvPr/>
        </p:nvSpPr>
        <p:spPr>
          <a:xfrm>
            <a:off x="667512" y="3108960"/>
            <a:ext cx="7073188" cy="109728"/>
          </a:xfrm>
          <a:prstGeom prst="rect">
            <a:avLst/>
          </a:prstGeom>
          <a:noFill/>
        </p:spPr>
        <p:txBody>
          <a:bodyPr wrap="square">
            <a:spAutoFit/>
          </a:bodyPr>
          <a:lstStyle/>
          <a:p>
            <a:pPr algn="l"/>
            <a:r>
              <a:rPr sz="950" b="0" i="0">
                <a:solidFill>
                  <a:srgbClr val="FFFFFF"/>
                </a:solidFill>
                <a:latin typeface="Poppins"/>
              </a:rPr>
              <a:t>declara que </a:t>
            </a:r>
            <a:r>
              <a:rPr sz="950" b="1" i="0">
                <a:solidFill>
                  <a:srgbClr val="FFFFFF"/>
                </a:solidFill>
                <a:latin typeface="Poppins"/>
              </a:rPr>
              <a:t>no realiza ningúna actividad</a:t>
            </a:r>
            <a:r>
              <a:rPr sz="950" b="0" i="0">
                <a:solidFill>
                  <a:srgbClr val="FFFFFF"/>
                </a:solidFill>
                <a:latin typeface="Poppins"/>
              </a:rPr>
              <a:t> para cuidar su salud. Respuesta más frecuente del subgrupo femenino.</a:t>
            </a:r>
            <a:r>
              <a:rPr sz="950" b="0" i="0">
                <a:solidFill>
                  <a:srgbClr val="888888"/>
                </a:solidFill>
                <a:latin typeface="Poppins"/>
              </a:rPr>
              <a:t> · P27 x D2 · Subset fem. n=305</a:t>
            </a:r>
          </a:p>
        </p:txBody>
      </p:sp>
      <p:cxnSp>
        <p:nvCxnSpPr>
          <p:cNvPr id="9" name="Connector 8"/>
          <p:cNvCxnSpPr/>
          <p:nvPr/>
        </p:nvCxnSpPr>
        <p:spPr>
          <a:xfrm>
            <a:off x="640080.0" y="3337560.0"/>
            <a:ext cx="7128052.666666667" cy="0.0"/>
          </a:xfrm>
          <a:prstGeom prst="line">
            <a:avLst/>
          </a:prstGeom>
          <a:ln w="9525">
            <a:solidFill>
              <a:srgbClr val="55555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67512" y="3547872"/>
            <a:ext cx="7073188" cy="640080"/>
          </a:xfrm>
          <a:prstGeom prst="rect">
            <a:avLst/>
          </a:prstGeom>
          <a:noFill/>
        </p:spPr>
        <p:txBody>
          <a:bodyPr wrap="none">
            <a:spAutoFit/>
          </a:bodyPr>
          <a:lstStyle/>
          <a:p>
            <a:pPr algn="l"/>
            <a:r>
              <a:rPr sz="3800" i="1">
                <a:solidFill>
                  <a:srgbClr val="B8FF4D"/>
                </a:solidFill>
                <a:latin typeface="Instrument Serif"/>
              </a:rPr>
              <a:t>43%</a:t>
            </a:r>
            <a:r>
              <a:rPr sz="1000">
                <a:solidFill>
                  <a:srgbClr val="888888"/>
                </a:solidFill>
                <a:latin typeface="Poppins"/>
              </a:rPr>
              <a:t>  hombres</a:t>
            </a:r>
          </a:p>
        </p:txBody>
      </p:sp>
      <p:sp>
        <p:nvSpPr>
          <p:cNvPr id="11" name="TextBox 10"/>
          <p:cNvSpPr txBox="1"/>
          <p:nvPr/>
        </p:nvSpPr>
        <p:spPr>
          <a:xfrm>
            <a:off x="667512" y="4206240"/>
            <a:ext cx="7073188" cy="109728"/>
          </a:xfrm>
          <a:prstGeom prst="rect">
            <a:avLst/>
          </a:prstGeom>
          <a:noFill/>
        </p:spPr>
        <p:txBody>
          <a:bodyPr wrap="square">
            <a:spAutoFit/>
          </a:bodyPr>
          <a:lstStyle/>
          <a:p>
            <a:pPr algn="l"/>
            <a:r>
              <a:rPr sz="950" b="0" i="0">
                <a:solidFill>
                  <a:srgbClr val="FFFFFF"/>
                </a:solidFill>
                <a:latin typeface="Poppins"/>
              </a:rPr>
              <a:t>reporta </a:t>
            </a:r>
            <a:r>
              <a:rPr sz="950" b="1" i="0">
                <a:solidFill>
                  <a:srgbClr val="FFFFFF"/>
                </a:solidFill>
                <a:latin typeface="Poppins"/>
              </a:rPr>
              <a:t>ejercitarse con regularidad</a:t>
            </a:r>
            <a:r>
              <a:rPr sz="950" b="0" i="0">
                <a:solidFill>
                  <a:srgbClr val="FFFFFF"/>
                </a:solidFill>
                <a:latin typeface="Poppins"/>
              </a:rPr>
              <a:t> como principal práctica de autocuidado. Primer lugar del subgrupo masculino.</a:t>
            </a:r>
            <a:r>
              <a:rPr sz="950" b="0" i="0">
                <a:solidFill>
                  <a:srgbClr val="888888"/>
                </a:solidFill>
                <a:latin typeface="Poppins"/>
              </a:rPr>
              <a:t> · P27 x D2 · Subset masc. n=195</a:t>
            </a:r>
          </a:p>
        </p:txBody>
      </p:sp>
      <p:cxnSp>
        <p:nvCxnSpPr>
          <p:cNvPr id="12" name="Connector 11"/>
          <p:cNvCxnSpPr/>
          <p:nvPr/>
        </p:nvCxnSpPr>
        <p:spPr>
          <a:xfrm>
            <a:off x="640080.0" y="4434840.0"/>
            <a:ext cx="7128052.666666667" cy="0.0"/>
          </a:xfrm>
          <a:prstGeom prst="line">
            <a:avLst/>
          </a:prstGeom>
          <a:ln w="9525">
            <a:solidFill>
              <a:srgbClr val="55555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67512" y="4645152"/>
            <a:ext cx="7073188" cy="640080"/>
          </a:xfrm>
          <a:prstGeom prst="rect">
            <a:avLst/>
          </a:prstGeom>
          <a:noFill/>
        </p:spPr>
        <p:txBody>
          <a:bodyPr wrap="none">
            <a:spAutoFit/>
          </a:bodyPr>
          <a:lstStyle/>
          <a:p>
            <a:pPr algn="l"/>
            <a:r>
              <a:rPr sz="3800" i="1">
                <a:solidFill>
                  <a:srgbClr val="B8FF4D"/>
                </a:solidFill>
                <a:latin typeface="Instrument Serif"/>
              </a:rPr>
              <a:t>6 pt</a:t>
            </a:r>
          </a:p>
        </p:txBody>
      </p:sp>
      <p:sp>
        <p:nvSpPr>
          <p:cNvPr id="14" name="TextBox 13"/>
          <p:cNvSpPr txBox="1"/>
          <p:nvPr/>
        </p:nvSpPr>
        <p:spPr>
          <a:xfrm>
            <a:off x="667512" y="5303520"/>
            <a:ext cx="7073188" cy="109728"/>
          </a:xfrm>
          <a:prstGeom prst="rect">
            <a:avLst/>
          </a:prstGeom>
          <a:noFill/>
        </p:spPr>
        <p:txBody>
          <a:bodyPr wrap="square">
            <a:spAutoFit/>
          </a:bodyPr>
          <a:lstStyle/>
          <a:p>
            <a:pPr algn="l"/>
            <a:r>
              <a:rPr sz="950" b="0" i="0">
                <a:solidFill>
                  <a:srgbClr val="FFFFFF"/>
                </a:solidFill>
                <a:latin typeface="Poppins"/>
              </a:rPr>
              <a:t>de diferencia entre la </a:t>
            </a:r>
            <a:r>
              <a:rPr sz="950" b="1" i="0">
                <a:solidFill>
                  <a:srgbClr val="FFFFFF"/>
                </a:solidFill>
                <a:latin typeface="Poppins"/>
              </a:rPr>
              <a:t>inacción femenina (48.5%)</a:t>
            </a:r>
            <a:r>
              <a:rPr sz="950" b="0" i="0">
                <a:solidFill>
                  <a:srgbClr val="FFFFFF"/>
                </a:solidFill>
                <a:latin typeface="Poppins"/>
              </a:rPr>
              <a:t> y la masculina (42.5%). La brecha existe, y el tipo de práctica diverge aún más.</a:t>
            </a:r>
            <a:r>
              <a:rPr sz="950" b="0" i="0">
                <a:solidFill>
                  <a:srgbClr val="888888"/>
                </a:solidFill>
                <a:latin typeface="Poppins"/>
              </a:rPr>
              <a:t> · P27 x D2</a:t>
            </a:r>
          </a:p>
        </p:txBody>
      </p:sp>
      <p:sp>
        <p:nvSpPr>
          <p:cNvPr id="15" name="TextBox 14"/>
          <p:cNvSpPr txBox="1"/>
          <p:nvPr/>
        </p:nvSpPr>
        <p:spPr>
          <a:xfrm>
            <a:off x="8069884" y="2286000"/>
            <a:ext cx="3618890" cy="1371600"/>
          </a:xfrm>
          <a:prstGeom prst="rect">
            <a:avLst/>
          </a:prstGeom>
          <a:solidFill>
            <a:srgbClr val="2E2E2E"/>
          </a:solidFill>
        </p:spPr>
        <p:txBody>
          <a:bodyPr wrap="square">
            <a:spAutoFit/>
          </a:bodyPr>
          <a:lstStyle/>
          <a:p>
            <a:pPr algn="l"/>
            <a:r>
              <a:rPr sz="1000" i="1">
                <a:solidFill>
                  <a:srgbClr val="FFFFFF"/>
                </a:solidFill>
                <a:latin typeface="Poppins"/>
              </a:rPr>
              <a:t>Los hombres mueven el cuerpo. Las mujeres, en mayoría, no tienen espacio ni para eso.</a:t>
            </a:r>
          </a:p>
        </p:txBody>
      </p:sp>
      <p:sp>
        <p:nvSpPr>
          <p:cNvPr id="16" name="TextBox 15"/>
          <p:cNvSpPr txBox="1"/>
          <p:nvPr/>
        </p:nvSpPr>
        <p:spPr>
          <a:xfrm>
            <a:off x="8069884" y="3794760"/>
            <a:ext cx="3618890" cy="1783080"/>
          </a:xfrm>
          <a:prstGeom prst="rect">
            <a:avLst/>
          </a:prstGeom>
          <a:solidFill>
            <a:srgbClr val="000000"/>
          </a:solidFill>
        </p:spPr>
        <p:txBody>
          <a:bodyPr wrap="square">
            <a:spAutoFit/>
          </a:bodyPr>
          <a:lstStyle/>
          <a:p>
            <a:pPr algn="l"/>
            <a:r>
              <a:rPr sz="950" i="1">
                <a:solidFill>
                  <a:srgbClr val="FFFFFF"/>
                </a:solidFill>
                <a:latin typeface="Instrument Serif"/>
              </a:rPr>
              <a:t>“Bueno, la ansiedad, como te dije, a mi me da mucho, el tema de la ansiedad, y aumenté muchísimo de peso. Me hizo una barriada, pero yo me frustro porque hice tantas cosas, gasté tantos cuartos, estoy volviendo a guardar porque sigo mi vida igualita de desorden.”</a:t>
            </a:r>
          </a:p>
          <a:p>
            <a:pPr algn="l">
              <a:spcBef>
                <a:spcPts val="600"/>
              </a:spcBef>
            </a:pPr>
            <a:r>
              <a:rPr sz="850">
                <a:solidFill>
                  <a:srgbClr val="888888"/>
                </a:solidFill>
                <a:latin typeface="Poppins"/>
              </a:rPr>
              <a:t>— Grupo Biparental Hijos Pequeños (mujer)</a:t>
            </a:r>
          </a:p>
          <a:p>
            <a:pPr algn="l">
              <a:spcBef>
                <a:spcPts val="500"/>
              </a:spcBef>
            </a:pPr>
            <a:r>
              <a:rPr sz="750" i="1">
                <a:solidFill>
                  <a:srgbClr val="888888"/>
                </a:solidFill>
                <a:latin typeface="Poppins"/>
              </a:rPr>
              <a:t>* "barriada" = impacto físico severo. "cuartos" = dinero. "volviendo a guardar" = recuperando peso.</a:t>
            </a:r>
          </a:p>
        </p:txBody>
      </p:sp>
      <p:sp>
        <p:nvSpPr>
          <p:cNvPr id="17" name="TextBox 16"/>
          <p:cNvSpPr txBox="1"/>
          <p:nvPr/>
        </p:nvSpPr>
        <p:spPr>
          <a:xfrm>
            <a:off x="502920" y="6309360"/>
            <a:ext cx="11185855" cy="411480"/>
          </a:xfrm>
          <a:prstGeom prst="rect">
            <a:avLst/>
          </a:prstGeom>
          <a:noFill/>
        </p:spPr>
        <p:txBody>
          <a:bodyPr wrap="none">
            <a:spAutoFit/>
          </a:bodyPr>
          <a:lstStyle/>
          <a:p>
            <a:pPr algn="l"/>
            <a:r>
              <a:rPr sz="800" i="1">
                <a:solidFill>
                  <a:srgbClr val="888888"/>
                </a:solidFill>
                <a:latin typeface="Poppins"/>
              </a:rPr>
              <a:t>Source: Código Casa - Estudio cuantitativo 2025 · P27 x D2 · Base 500.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C - White.png"/>
          <p:cNvPicPr>
            <a:picLocks noChangeAspect="1"/>
          </p:cNvPicPr>
          <p:nvPr/>
        </p:nvPicPr>
        <p:blipFill>
          <a:blip r:embed="rId2"/>
          <a:stretch>
            <a:fillRect/>
          </a:stretch>
        </p:blipFill>
        <p:spPr>
          <a:xfrm>
            <a:off x="11130991" y="201168"/>
            <a:ext cx="2062148" cy="347472"/>
          </a:xfrm>
          <a:prstGeom prst="rect">
            <a:avLst/>
          </a:prstGeom>
        </p:spPr>
      </p:pic>
      <p:sp>
        <p:nvSpPr>
          <p:cNvPr id="3" name="TextBox 2"/>
          <p:cNvSpPr txBox="1"/>
          <p:nvPr/>
        </p:nvSpPr>
        <p:spPr>
          <a:xfrm>
            <a:off x="502920" y="182880"/>
            <a:ext cx="640080" cy="365760"/>
          </a:xfrm>
          <a:prstGeom prst="rect">
            <a:avLst/>
          </a:prstGeom>
          <a:noFill/>
        </p:spPr>
        <p:txBody>
          <a:bodyPr wrap="none">
            <a:spAutoFit/>
          </a:bodyPr>
          <a:lstStyle/>
          <a:p>
            <a:pPr algn="l"/>
            <a:r>
              <a:rPr sz="900">
                <a:solidFill>
                  <a:srgbClr val="B8FF4D"/>
                </a:solidFill>
                <a:latin typeface="Poppins"/>
              </a:rPr>
              <a:t>04</a:t>
            </a:r>
          </a:p>
        </p:txBody>
      </p:sp>
      <p:sp>
        <p:nvSpPr>
          <p:cNvPr id="4" name="TextBox 3"/>
          <p:cNvSpPr txBox="1"/>
          <p:nvPr/>
        </p:nvSpPr>
        <p:spPr>
          <a:xfrm>
            <a:off x="502920" y="502920"/>
            <a:ext cx="11185855" cy="1691640"/>
          </a:xfrm>
          <a:prstGeom prst="rect">
            <a:avLst/>
          </a:prstGeom>
          <a:noFill/>
        </p:spPr>
        <p:txBody>
          <a:bodyPr wrap="square">
            <a:spAutoFit/>
          </a:bodyPr>
          <a:lstStyle/>
          <a:p>
            <a:pPr algn="ctr"/>
            <a:r>
              <a:rPr sz="2600" i="0">
                <a:solidFill>
                  <a:srgbClr val="FFFFFF"/>
                </a:solidFill>
                <a:latin typeface="Instrument Serif"/>
              </a:rPr>
              <a:t>EL SISTEMA DE SALUD PÚBLICA FALLA EN TODO. </a:t>
            </a:r>
            <a:r>
              <a:rPr sz="2600" i="1">
                <a:solidFill>
                  <a:srgbClr val="FFFFFF"/>
                </a:solidFill>
                <a:latin typeface="Instrument Serif"/>
              </a:rPr>
              <a:t>LA QUEJA NO VARÍA POR NIVEL SOCIAL, TIPO DE SEGURO NI PUNTO DE ENTRADA.</a:t>
            </a:r>
          </a:p>
        </p:txBody>
      </p:sp>
      <p:cxnSp>
        <p:nvCxnSpPr>
          <p:cNvPr id="5" name="Connector 4"/>
          <p:cNvCxnSpPr/>
          <p:nvPr/>
        </p:nvCxnSpPr>
        <p:spPr>
          <a:xfrm>
            <a:off x="502920" y="2176272"/>
            <a:ext cx="11185855" cy="0"/>
          </a:xfrm>
          <a:prstGeom prst="line">
            <a:avLst/>
          </a:prstGeom>
          <a:ln w="9525">
            <a:solidFill>
              <a:srgbClr val="2E2E2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2286000"/>
            <a:ext cx="7402372" cy="3291840"/>
          </a:xfrm>
          <a:prstGeom prst="rect">
            <a:avLst/>
          </a:prstGeom>
          <a:solidFill>
            <a:srgbClr val="2E2E2E"/>
          </a:solidFill>
        </p:spPr>
        <p:txBody>
          <a:bodyPr wrap="square">
            <a:spAutoFit/>
          </a:bodyPr>
          <a:lstStyle/>
          <a:p>
            <a:pPr algn="l"/>
            <a:r>
              <a:rPr sz="800" b="1">
                <a:solidFill>
                  <a:srgbClr val="B8FF4D"/>
                </a:solidFill>
                <a:latin typeface="Poppins"/>
              </a:rPr>
              <a:t>CONVERGENCIA CUALITATIVA</a:t>
            </a:r>
          </a:p>
          <a:p>
            <a:pPr algn="l">
              <a:spcBef>
                <a:spcPts val="1000"/>
              </a:spcBef>
            </a:pPr>
            <a:r>
              <a:rPr sz="800" b="1">
                <a:solidFill>
                  <a:srgbClr val="FFFFFF"/>
                </a:solidFill>
                <a:latin typeface="Poppins"/>
              </a:rPr>
              <a:t>TRABAJADORA DEL SISTEMA PÚBLICO</a:t>
            </a:r>
          </a:p>
          <a:p>
            <a:pPr algn="l"/>
            <a:r>
              <a:rPr sz="850" i="1">
                <a:solidFill>
                  <a:srgbClr val="FFFFFF"/>
                </a:solidFill>
                <a:latin typeface="Instrument Serif"/>
              </a:rPr>
              <a:t>“Pésimo. Yo trabajo en un hospital, pésimo. Todo está mal: no hay cama, no hay insumos, los hospitales no les pagan a los servidores. Todo está mal.”</a:t>
            </a:r>
          </a:p>
          <a:p>
            <a:pPr algn="l"/>
            <a:r>
              <a:rPr sz="750">
                <a:solidFill>
                  <a:srgbClr val="888888"/>
                </a:solidFill>
                <a:latin typeface="Poppins"/>
              </a:rPr>
              <a:t>— Grupo Biparental Hijos Pequeños</a:t>
            </a:r>
          </a:p>
          <a:p>
            <a:pPr algn="l">
              <a:spcBef>
                <a:spcPts val="1000"/>
              </a:spcBef>
            </a:pPr>
            <a:r>
              <a:rPr sz="800" b="1">
                <a:solidFill>
                  <a:srgbClr val="FFFFFF"/>
                </a:solidFill>
                <a:latin typeface="Poppins"/>
              </a:rPr>
              <a:t>USUARIA DE SEGURO PRIVADO</a:t>
            </a:r>
          </a:p>
          <a:p>
            <a:pPr algn="l"/>
            <a:r>
              <a:rPr sz="850" i="1">
                <a:solidFill>
                  <a:srgbClr val="FFFFFF"/>
                </a:solidFill>
                <a:latin typeface="Instrument Serif"/>
              </a:rPr>
              <a:t>“Depende del seguro, y el trato se une: si tu no tienes seguro, tienes que hacer un avance de 30 mil pesos para atras antes de que ni siquiera te atiendan en una clínica privada.”</a:t>
            </a:r>
          </a:p>
          <a:p>
            <a:pPr algn="l"/>
            <a:r>
              <a:rPr sz="750">
                <a:solidFill>
                  <a:srgbClr val="888888"/>
                </a:solidFill>
                <a:latin typeface="Poppins"/>
              </a:rPr>
              <a:t>— Grupo Homoparental</a:t>
            </a:r>
          </a:p>
          <a:p>
            <a:pPr algn="l">
              <a:spcBef>
                <a:spcPts val="1000"/>
              </a:spcBef>
            </a:pPr>
            <a:r>
              <a:rPr sz="800" b="1">
                <a:solidFill>
                  <a:srgbClr val="FFFFFF"/>
                </a:solidFill>
                <a:latin typeface="Poppins"/>
              </a:rPr>
              <a:t>SOBREVIVIENTE DE CÁNCER</a:t>
            </a:r>
          </a:p>
          <a:p>
            <a:pPr algn="l"/>
            <a:r>
              <a:rPr sz="850" i="1">
                <a:solidFill>
                  <a:srgbClr val="FFFFFF"/>
                </a:solidFill>
                <a:latin typeface="Instrument Serif"/>
              </a:rPr>
              <a:t>“Aqui el sistema de salud es horrible, no importa si tienes seguro médico o no. Aqui el médico que le interesaba el paciente se murió. No existe.”</a:t>
            </a:r>
          </a:p>
          <a:p>
            <a:pPr algn="l"/>
            <a:r>
              <a:rPr sz="750">
                <a:solidFill>
                  <a:srgbClr val="888888"/>
                </a:solidFill>
                <a:latin typeface="Poppins"/>
              </a:rPr>
              <a:t>— Grupo Mixto</a:t>
            </a:r>
          </a:p>
        </p:txBody>
      </p:sp>
      <p:sp>
        <p:nvSpPr>
          <p:cNvPr id="7" name="TextBox 6"/>
          <p:cNvSpPr txBox="1"/>
          <p:nvPr/>
        </p:nvSpPr>
        <p:spPr>
          <a:xfrm>
            <a:off x="8069884" y="2286000"/>
            <a:ext cx="3618890" cy="2286000"/>
          </a:xfrm>
          <a:prstGeom prst="rect">
            <a:avLst/>
          </a:prstGeom>
          <a:solidFill>
            <a:srgbClr val="2E2E2E"/>
          </a:solidFill>
        </p:spPr>
        <p:txBody>
          <a:bodyPr wrap="square">
            <a:spAutoFit/>
          </a:bodyPr>
          <a:lstStyle/>
          <a:p>
            <a:pPr algn="l"/>
            <a:r>
              <a:rPr sz="1000" i="1">
                <a:solidFill>
                  <a:srgbClr val="FFFFFF"/>
                </a:solidFill>
                <a:latin typeface="Poppins"/>
              </a:rPr>
              <a:t>La salud pública falla desde adentro y desde afuera: lo dice quien trabaja en el sistema, quien paga seguro privado, y quien sobrevivió un proceso de cáncer dentro de el.</a:t>
            </a:r>
          </a:p>
        </p:txBody>
      </p:sp>
      <p:sp>
        <p:nvSpPr>
          <p:cNvPr id="8" name="TextBox 7"/>
          <p:cNvSpPr txBox="1"/>
          <p:nvPr/>
        </p:nvSpPr>
        <p:spPr>
          <a:xfrm>
            <a:off x="502920" y="6016752"/>
            <a:ext cx="11185855" cy="274320"/>
          </a:xfrm>
          <a:prstGeom prst="rect">
            <a:avLst/>
          </a:prstGeom>
          <a:noFill/>
        </p:spPr>
        <p:txBody>
          <a:bodyPr wrap="none">
            <a:spAutoFit/>
          </a:bodyPr>
          <a:lstStyle/>
          <a:p>
            <a:pPr algn="l"/>
            <a:r>
              <a:rPr sz="800" b="1">
                <a:solidFill>
                  <a:srgbClr val="FF4444"/>
                </a:solidFill>
                <a:latin typeface="Poppins"/>
              </a:rPr>
              <a:t>! Evidencia cualitativa convergente — Datos cuantitativos pendientes de re-tabulación (P28)</a:t>
            </a:r>
          </a:p>
        </p:txBody>
      </p:sp>
      <p:sp>
        <p:nvSpPr>
          <p:cNvPr id="9" name="TextBox 8"/>
          <p:cNvSpPr txBox="1"/>
          <p:nvPr/>
        </p:nvSpPr>
        <p:spPr>
          <a:xfrm>
            <a:off x="502920" y="6309360"/>
            <a:ext cx="11185855" cy="411480"/>
          </a:xfrm>
          <a:prstGeom prst="rect">
            <a:avLst/>
          </a:prstGeom>
          <a:noFill/>
        </p:spPr>
        <p:txBody>
          <a:bodyPr wrap="none">
            <a:spAutoFit/>
          </a:bodyPr>
          <a:lstStyle/>
          <a:p>
            <a:pPr algn="l"/>
            <a:r>
              <a:rPr sz="800" i="1">
                <a:solidFill>
                  <a:srgbClr val="888888"/>
                </a:solidFill>
                <a:latin typeface="Poppins"/>
              </a:rPr>
              <a:t>Source: Código Casa - Estudio cualitativo 2025 · P28 · Evidencia cualitativa convergente — cifra cuantitativa pendiente de re-tabulación.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C - White.png"/>
          <p:cNvPicPr>
            <a:picLocks noChangeAspect="1"/>
          </p:cNvPicPr>
          <p:nvPr/>
        </p:nvPicPr>
        <p:blipFill>
          <a:blip r:embed="rId2"/>
          <a:stretch>
            <a:fillRect/>
          </a:stretch>
        </p:blipFill>
        <p:spPr>
          <a:xfrm>
            <a:off x="11130991" y="201168"/>
            <a:ext cx="2062148" cy="347472"/>
          </a:xfrm>
          <a:prstGeom prst="rect">
            <a:avLst/>
          </a:prstGeom>
        </p:spPr>
      </p:pic>
      <p:sp>
        <p:nvSpPr>
          <p:cNvPr id="3" name="TextBox 2"/>
          <p:cNvSpPr txBox="1"/>
          <p:nvPr/>
        </p:nvSpPr>
        <p:spPr>
          <a:xfrm>
            <a:off x="502920" y="182880"/>
            <a:ext cx="640080" cy="365760"/>
          </a:xfrm>
          <a:prstGeom prst="rect">
            <a:avLst/>
          </a:prstGeom>
          <a:noFill/>
        </p:spPr>
        <p:txBody>
          <a:bodyPr wrap="none">
            <a:spAutoFit/>
          </a:bodyPr>
          <a:lstStyle/>
          <a:p>
            <a:pPr algn="l"/>
            <a:r>
              <a:rPr sz="900">
                <a:solidFill>
                  <a:srgbClr val="B8FF4D"/>
                </a:solidFill>
                <a:latin typeface="Poppins"/>
              </a:rPr>
              <a:t>05</a:t>
            </a:r>
          </a:p>
        </p:txBody>
      </p:sp>
      <p:sp>
        <p:nvSpPr>
          <p:cNvPr id="4" name="TextBox 3"/>
          <p:cNvSpPr txBox="1"/>
          <p:nvPr/>
        </p:nvSpPr>
        <p:spPr>
          <a:xfrm>
            <a:off x="502920" y="502920"/>
            <a:ext cx="11185855" cy="1691640"/>
          </a:xfrm>
          <a:prstGeom prst="rect">
            <a:avLst/>
          </a:prstGeom>
          <a:noFill/>
        </p:spPr>
        <p:txBody>
          <a:bodyPr wrap="square">
            <a:spAutoFit/>
          </a:bodyPr>
          <a:lstStyle/>
          <a:p>
            <a:pPr algn="ctr"/>
            <a:r>
              <a:rPr sz="2600" i="0">
                <a:solidFill>
                  <a:srgbClr val="FFFFFF"/>
                </a:solidFill>
                <a:latin typeface="Instrument Serif"/>
              </a:rPr>
              <a:t>SOLO 11.6% RECONOCE QUE ALGÚN HIJO SUYO VIVIÓ BULLYING. </a:t>
            </a:r>
            <a:r>
              <a:rPr sz="2600" i="1">
                <a:solidFill>
                  <a:srgbClr val="FFFFFF"/>
                </a:solidFill>
                <a:latin typeface="Instrument Serif"/>
              </a:rPr>
              <a:t>EN LOS GRUPOS, EL BULLYING APARECE COMO UN MIEDO PARENTAL DE FONDO PERMANENTE.</a:t>
            </a:r>
          </a:p>
        </p:txBody>
      </p:sp>
      <p:cxnSp>
        <p:nvCxnSpPr>
          <p:cNvPr id="5" name="Connector 4"/>
          <p:cNvCxnSpPr/>
          <p:nvPr/>
        </p:nvCxnSpPr>
        <p:spPr>
          <a:xfrm>
            <a:off x="502920" y="2176272"/>
            <a:ext cx="11185855" cy="0"/>
          </a:xfrm>
          <a:prstGeom prst="line">
            <a:avLst/>
          </a:prstGeom>
          <a:ln w="9525">
            <a:solidFill>
              <a:srgbClr val="2E2E2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2286000"/>
            <a:ext cx="7402372" cy="3291840"/>
          </a:xfrm>
          <a:prstGeom prst="rect">
            <a:avLst/>
          </a:prstGeom>
          <a:solidFill>
            <a:srgbClr val="2E2E2E"/>
          </a:solidFill>
        </p:spPr>
        <p:txBody>
          <a:bodyPr wrap="none">
            <a:spAutoFit/>
          </a:bodyPr>
          <a:lstStyle/>
          <a:p/>
        </p:txBody>
      </p:sp>
      <p:sp>
        <p:nvSpPr>
          <p:cNvPr id="7" name="TextBox 6"/>
          <p:cNvSpPr txBox="1"/>
          <p:nvPr/>
        </p:nvSpPr>
        <p:spPr>
          <a:xfrm>
            <a:off x="667512" y="2450592"/>
            <a:ext cx="7073188" cy="640080"/>
          </a:xfrm>
          <a:prstGeom prst="rect">
            <a:avLst/>
          </a:prstGeom>
          <a:noFill/>
        </p:spPr>
        <p:txBody>
          <a:bodyPr wrap="none">
            <a:spAutoFit/>
          </a:bodyPr>
          <a:lstStyle/>
          <a:p>
            <a:pPr algn="l"/>
            <a:r>
              <a:rPr sz="3800" i="1">
                <a:solidFill>
                  <a:srgbClr val="B8FF4D"/>
                </a:solidFill>
                <a:latin typeface="Instrument Serif"/>
              </a:rPr>
              <a:t>12%</a:t>
            </a:r>
          </a:p>
        </p:txBody>
      </p:sp>
      <p:sp>
        <p:nvSpPr>
          <p:cNvPr id="8" name="TextBox 7"/>
          <p:cNvSpPr txBox="1"/>
          <p:nvPr/>
        </p:nvSpPr>
        <p:spPr>
          <a:xfrm>
            <a:off x="667512" y="3108960"/>
            <a:ext cx="7073188" cy="109728"/>
          </a:xfrm>
          <a:prstGeom prst="rect">
            <a:avLst/>
          </a:prstGeom>
          <a:noFill/>
        </p:spPr>
        <p:txBody>
          <a:bodyPr wrap="square">
            <a:spAutoFit/>
          </a:bodyPr>
          <a:lstStyle/>
          <a:p>
            <a:pPr algn="l"/>
            <a:r>
              <a:rPr sz="950" b="0" i="0">
                <a:solidFill>
                  <a:srgbClr val="FFFFFF"/>
                </a:solidFill>
                <a:latin typeface="Poppins"/>
              </a:rPr>
              <a:t>de la base reconoce que algún hijo ha vivido </a:t>
            </a:r>
            <a:r>
              <a:rPr sz="950" b="1" i="0">
                <a:solidFill>
                  <a:srgbClr val="FFFFFF"/>
                </a:solidFill>
                <a:latin typeface="Poppins"/>
              </a:rPr>
              <a:t>acoso o bullying</a:t>
            </a:r>
            <a:r>
              <a:rPr sz="950" b="0" i="0">
                <a:solidFill>
                  <a:srgbClr val="FFFFFF"/>
                </a:solidFill>
                <a:latin typeface="Poppins"/>
              </a:rPr>
              <a:t>, escolar o digital. Base efectiva n=58.</a:t>
            </a:r>
            <a:r>
              <a:rPr sz="950" b="0" i="0">
                <a:solidFill>
                  <a:srgbClr val="888888"/>
                </a:solidFill>
                <a:latin typeface="Poppins"/>
              </a:rPr>
              <a:t> · P75 · Base 500</a:t>
            </a:r>
          </a:p>
        </p:txBody>
      </p:sp>
      <p:cxnSp>
        <p:nvCxnSpPr>
          <p:cNvPr id="9" name="Connector 8"/>
          <p:cNvCxnSpPr/>
          <p:nvPr/>
        </p:nvCxnSpPr>
        <p:spPr>
          <a:xfrm>
            <a:off x="640080.0" y="3337560.0"/>
            <a:ext cx="7128052.666666667" cy="0.0"/>
          </a:xfrm>
          <a:prstGeom prst="line">
            <a:avLst/>
          </a:prstGeom>
          <a:ln w="9525">
            <a:solidFill>
              <a:srgbClr val="55555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67512" y="3547872"/>
            <a:ext cx="7073188" cy="640080"/>
          </a:xfrm>
          <a:prstGeom prst="rect">
            <a:avLst/>
          </a:prstGeom>
          <a:noFill/>
        </p:spPr>
        <p:txBody>
          <a:bodyPr wrap="none">
            <a:spAutoFit/>
          </a:bodyPr>
          <a:lstStyle/>
          <a:p>
            <a:pPr algn="l"/>
            <a:r>
              <a:rPr sz="3800" i="1">
                <a:solidFill>
                  <a:srgbClr val="B8FF4D"/>
                </a:solidFill>
                <a:latin typeface="Instrument Serif"/>
              </a:rPr>
              <a:t>75%</a:t>
            </a:r>
          </a:p>
        </p:txBody>
      </p:sp>
      <p:sp>
        <p:nvSpPr>
          <p:cNvPr id="11" name="TextBox 10"/>
          <p:cNvSpPr txBox="1"/>
          <p:nvPr/>
        </p:nvSpPr>
        <p:spPr>
          <a:xfrm>
            <a:off x="667512" y="4206240"/>
            <a:ext cx="7073188" cy="109728"/>
          </a:xfrm>
          <a:prstGeom prst="rect">
            <a:avLst/>
          </a:prstGeom>
          <a:noFill/>
        </p:spPr>
        <p:txBody>
          <a:bodyPr wrap="square">
            <a:spAutoFit/>
          </a:bodyPr>
          <a:lstStyle/>
          <a:p>
            <a:pPr algn="l"/>
            <a:r>
              <a:rPr sz="950" b="0" i="0">
                <a:solidFill>
                  <a:srgbClr val="FFFFFF"/>
                </a:solidFill>
                <a:latin typeface="Poppins"/>
              </a:rPr>
              <a:t>responde </a:t>
            </a:r>
            <a:r>
              <a:rPr sz="950" b="1" i="0">
                <a:solidFill>
                  <a:srgbClr val="FFFFFF"/>
                </a:solidFill>
                <a:latin typeface="Poppins"/>
              </a:rPr>
              <a:t>No</a:t>
            </a:r>
            <a:r>
              <a:rPr sz="950" b="0" i="0">
                <a:solidFill>
                  <a:srgbClr val="FFFFFF"/>
                </a:solidFill>
                <a:latin typeface="Poppins"/>
              </a:rPr>
              <a:t> — cifra que, a la luz del cualitativo, refleja subreporte más que ausencia real del fenomeno.</a:t>
            </a:r>
            <a:r>
              <a:rPr sz="950" b="0" i="0">
                <a:solidFill>
                  <a:srgbClr val="888888"/>
                </a:solidFill>
                <a:latin typeface="Poppins"/>
              </a:rPr>
              <a:t> · P75 · Base 500</a:t>
            </a:r>
          </a:p>
        </p:txBody>
      </p:sp>
      <p:cxnSp>
        <p:nvCxnSpPr>
          <p:cNvPr id="12" name="Connector 11"/>
          <p:cNvCxnSpPr/>
          <p:nvPr/>
        </p:nvCxnSpPr>
        <p:spPr>
          <a:xfrm>
            <a:off x="640080.0" y="4434840.0"/>
            <a:ext cx="7128052.666666667" cy="0.0"/>
          </a:xfrm>
          <a:prstGeom prst="line">
            <a:avLst/>
          </a:prstGeom>
          <a:ln w="9525">
            <a:solidFill>
              <a:srgbClr val="55555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67512" y="4645152"/>
            <a:ext cx="7073188" cy="640080"/>
          </a:xfrm>
          <a:prstGeom prst="rect">
            <a:avLst/>
          </a:prstGeom>
          <a:noFill/>
        </p:spPr>
        <p:txBody>
          <a:bodyPr wrap="none">
            <a:spAutoFit/>
          </a:bodyPr>
          <a:lstStyle/>
          <a:p>
            <a:pPr algn="l"/>
            <a:r>
              <a:rPr sz="3800" i="1">
                <a:solidFill>
                  <a:srgbClr val="B8FF4D"/>
                </a:solidFill>
                <a:latin typeface="Instrument Serif"/>
              </a:rPr>
              <a:t>13%</a:t>
            </a:r>
          </a:p>
        </p:txBody>
      </p:sp>
      <p:sp>
        <p:nvSpPr>
          <p:cNvPr id="14" name="TextBox 13"/>
          <p:cNvSpPr txBox="1"/>
          <p:nvPr/>
        </p:nvSpPr>
        <p:spPr>
          <a:xfrm>
            <a:off x="667512" y="5303520"/>
            <a:ext cx="7073188" cy="109728"/>
          </a:xfrm>
          <a:prstGeom prst="rect">
            <a:avLst/>
          </a:prstGeom>
          <a:noFill/>
        </p:spPr>
        <p:txBody>
          <a:bodyPr wrap="square">
            <a:spAutoFit/>
          </a:bodyPr>
          <a:lstStyle/>
          <a:p>
            <a:pPr algn="l"/>
            <a:r>
              <a:rPr sz="950" b="0" i="0">
                <a:solidFill>
                  <a:srgbClr val="FFFFFF"/>
                </a:solidFill>
                <a:latin typeface="Poppins"/>
              </a:rPr>
              <a:t>no tiene hijos (NS/NR). El </a:t>
            </a:r>
            <a:r>
              <a:rPr sz="950" b="1" i="0">
                <a:solidFill>
                  <a:srgbClr val="FFFFFF"/>
                </a:solidFill>
                <a:latin typeface="Poppins"/>
              </a:rPr>
              <a:t>universo parental efectivo</a:t>
            </a:r>
            <a:r>
              <a:rPr sz="950" b="0" i="0">
                <a:solidFill>
                  <a:srgbClr val="FFFFFF"/>
                </a:solidFill>
                <a:latin typeface="Poppins"/>
              </a:rPr>
              <a:t> hace que el 11.6% represente una base de 58 respondientes.</a:t>
            </a:r>
            <a:r>
              <a:rPr sz="950" b="0" i="0">
                <a:solidFill>
                  <a:srgbClr val="888888"/>
                </a:solidFill>
                <a:latin typeface="Poppins"/>
              </a:rPr>
              <a:t> · P75 · Base 500</a:t>
            </a:r>
          </a:p>
        </p:txBody>
      </p:sp>
      <p:sp>
        <p:nvSpPr>
          <p:cNvPr id="15" name="TextBox 14"/>
          <p:cNvSpPr txBox="1"/>
          <p:nvPr/>
        </p:nvSpPr>
        <p:spPr>
          <a:xfrm>
            <a:off x="8069884" y="2286000"/>
            <a:ext cx="3618890" cy="1371600"/>
          </a:xfrm>
          <a:prstGeom prst="rect">
            <a:avLst/>
          </a:prstGeom>
          <a:solidFill>
            <a:srgbClr val="2E2E2E"/>
          </a:solidFill>
        </p:spPr>
        <p:txBody>
          <a:bodyPr wrap="square">
            <a:spAutoFit/>
          </a:bodyPr>
          <a:lstStyle/>
          <a:p>
            <a:pPr algn="l"/>
            <a:r>
              <a:rPr sz="1000" i="1">
                <a:solidFill>
                  <a:srgbClr val="FFFFFF"/>
                </a:solidFill>
                <a:latin typeface="Poppins"/>
              </a:rPr>
              <a:t>La cifra de reconocimiento es baja. El cualitativo muestra que el bullying no es un evento puntual sino una alerta que los padres ya llevan encendida.</a:t>
            </a:r>
          </a:p>
        </p:txBody>
      </p:sp>
      <p:sp>
        <p:nvSpPr>
          <p:cNvPr id="16" name="TextBox 15"/>
          <p:cNvSpPr txBox="1"/>
          <p:nvPr/>
        </p:nvSpPr>
        <p:spPr>
          <a:xfrm>
            <a:off x="8069884" y="3794760"/>
            <a:ext cx="3618890" cy="1783080"/>
          </a:xfrm>
          <a:prstGeom prst="rect">
            <a:avLst/>
          </a:prstGeom>
          <a:solidFill>
            <a:srgbClr val="000000"/>
          </a:solidFill>
        </p:spPr>
        <p:txBody>
          <a:bodyPr wrap="square">
            <a:spAutoFit/>
          </a:bodyPr>
          <a:lstStyle/>
          <a:p>
            <a:pPr algn="l"/>
            <a:r>
              <a:rPr sz="950" i="1">
                <a:solidFill>
                  <a:srgbClr val="FFFFFF"/>
                </a:solidFill>
                <a:latin typeface="Instrument Serif"/>
              </a:rPr>
              <a:t>“Bueno, tuve al principio del año escolar un momento de tensión porque le estaban haciendo bullying a las niñas, y las niñas, que les gustaba su colegio, ya no querían ir. Eso fue una señal de alerta para mi.”</a:t>
            </a:r>
          </a:p>
          <a:p>
            <a:pPr algn="l">
              <a:spcBef>
                <a:spcPts val="600"/>
              </a:spcBef>
            </a:pPr>
            <a:r>
              <a:rPr sz="850">
                <a:solidFill>
                  <a:srgbClr val="888888"/>
                </a:solidFill>
                <a:latin typeface="Poppins"/>
              </a:rPr>
              <a:t>— Grupo Extendido</a:t>
            </a:r>
          </a:p>
        </p:txBody>
      </p:sp>
      <p:sp>
        <p:nvSpPr>
          <p:cNvPr id="17" name="TextBox 16"/>
          <p:cNvSpPr txBox="1"/>
          <p:nvPr/>
        </p:nvSpPr>
        <p:spPr>
          <a:xfrm>
            <a:off x="502920" y="6309360"/>
            <a:ext cx="11185855" cy="411480"/>
          </a:xfrm>
          <a:prstGeom prst="rect">
            <a:avLst/>
          </a:prstGeom>
          <a:noFill/>
        </p:spPr>
        <p:txBody>
          <a:bodyPr wrap="none">
            <a:spAutoFit/>
          </a:bodyPr>
          <a:lstStyle/>
          <a:p>
            <a:pPr algn="l"/>
            <a:r>
              <a:rPr sz="800" i="1">
                <a:solidFill>
                  <a:srgbClr val="888888"/>
                </a:solidFill>
                <a:latin typeface="Poppins"/>
              </a:rPr>
              <a:t>Source: Código Casa - Estudio cuantitativo 2025 · P75 · Base 500. Cruce NSE AB (n=23) excluido por base débil; disponible en nota tecnica.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