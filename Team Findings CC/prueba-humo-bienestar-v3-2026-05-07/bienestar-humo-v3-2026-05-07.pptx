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3112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 spc="0">
                <a:solidFill>
                  <a:srgbClr val="555555"/>
                </a:solidFill>
                <a:latin typeface="Poppins"/>
              </a:rPr>
              <a:t>H01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DICEN QUE EL DINERO NO LO ES TODO, PERO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47.8% NOMBRA LA ECONOMÍA COMO SU PRINCIPAL FUENTE DE ESTRÉS — DOBLANDO A LA INSEGURIDAD Y A LA CRIANZA.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824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47.8%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980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nombra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"Economía"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 como factor #1 de estrés en la vida familiar, por encima de todos los demás factores evaluados. · P26 · Base 500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8126" y="2428240"/>
            <a:ext cx="9525" cy="23774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6" y="242824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28.4%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347980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spc="0">
                <a:solidFill>
                  <a:srgbClr val="FFFFFF"/>
                </a:solidFill>
                <a:latin typeface="Poppins"/>
              </a:rPr>
              <a:t>"Realidad económica"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 adicional — el bloque financiero casi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duplica al resto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 (Inseguridad 21.8%, Crianza 16.2%). · P26 · Base 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9712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7332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spc="0">
                <a:solidFill>
                  <a:srgbClr val="FFFFFF"/>
                </a:solidFill>
                <a:latin typeface="Poppins"/>
              </a:rPr>
              <a:t>El estrés del hogar dominicano tiene dirección: casi la mitad del país señala la economía antes que la violencia, la crianza o el tiempo.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613400"/>
            <a:ext cx="10908792" cy="109728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750560"/>
            <a:ext cx="10451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spc="0">
                <a:solidFill>
                  <a:srgbClr val="FFFFFF"/>
                </a:solidFill>
                <a:latin typeface="Poppins"/>
              </a:rPr>
              <a:t>“Como lo dijo una compañera acá ahorita: el dinero. Tú no podés resolver tal vez algo que se te presente. Eso es frustra, eso no es fácil.”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90640"/>
            <a:ext cx="10451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1" spc="0">
                <a:solidFill>
                  <a:srgbClr val="FFFFFF"/>
                </a:solidFill>
                <a:latin typeface="Poppins"/>
              </a:rPr>
              <a:t>— Grupo Monoparental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08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 spc="0">
                <a:solidFill>
                  <a:srgbClr val="999999"/>
                </a:solidFill>
                <a:latin typeface="Poppins"/>
              </a:rPr>
              <a:t>Source: Código Casa — Estudio cuantitativo 2025 · P26 · Base 500.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3112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 spc="0">
                <a:solidFill>
                  <a:srgbClr val="555555"/>
                </a:solidFill>
                <a:latin typeface="Poppins"/>
              </a:rPr>
              <a:t>H02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EL BLOQUE FINANCIERO PESA MÁS QUE TODOS LOS DEMÁS FACTORES DE ESTRÉS JUNTOS.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76.2 PUNTOS VS 74.8 REPARTIDOS ENTRE INSEGURIDAD, TIEMPO, CRIANZA Y HOGAR.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824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76.2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980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puntos de peso relativo: Economía (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47.8%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) + Realidad económica (28.4%). · P26 · Base 500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8126" y="2428240"/>
            <a:ext cx="9525" cy="23774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6" y="242824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74.8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347980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puntos distribuidos entre: Inseguridad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21.8%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, Falta de tiempo 20.6%, Crianza 16.2%, Responsabilidades del hogar 16.2%. · P26 · Base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7120"/>
            <a:ext cx="109087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 spc="0">
                <a:solidFill>
                  <a:srgbClr val="888888"/>
                </a:solidFill>
                <a:latin typeface="Poppins"/>
              </a:rPr>
              <a:t>Nota técnica: 76.2 y 74.8 son pesos relativos de dimensión, no porcentajes de personas.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7144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24764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spc="0">
                <a:solidFill>
                  <a:srgbClr val="FFFFFF"/>
                </a:solidFill>
                <a:latin typeface="Poppins"/>
              </a:rPr>
              <a:t>En la escala de presiones del hogar dominicano, lo económico no compite con los demás factores — los supera en conjunto.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887720"/>
            <a:ext cx="10908792" cy="109728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6024880"/>
            <a:ext cx="10451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spc="0">
                <a:solidFill>
                  <a:srgbClr val="FFFFFF"/>
                </a:solidFill>
                <a:latin typeface="Poppins"/>
              </a:rPr>
              <a:t>“No tengo paciencia cuando no tengo dinero. Cuando no tengo dinero, que no sé de qué voy a hacer con los compromisos y todo eso, entonces yo como que pienso, le doy vuelta a la cosa, un estrés.”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664960"/>
            <a:ext cx="10451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1" spc="0">
                <a:solidFill>
                  <a:srgbClr val="FFFFFF"/>
                </a:solidFill>
                <a:latin typeface="Poppins"/>
              </a:rPr>
              <a:t>— Grupo Monoparental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08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 spc="0">
                <a:solidFill>
                  <a:srgbClr val="999999"/>
                </a:solidFill>
                <a:latin typeface="Poppins"/>
              </a:rPr>
              <a:t>Source: Código Casa — Estudio cuantitativo 2025 · P26 · Base 500.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3112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 spc="0">
                <a:solidFill>
                  <a:srgbClr val="555555"/>
                </a:solidFill>
                <a:latin typeface="Poppins"/>
              </a:rPr>
              <a:t>H03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EL AUTOCUIDADO EXISTE COMO ASPIRACIÓN.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LA PRIMERA RESPUESTA DEL PAÍS ES NO HACER NADA.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824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42.6%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980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responde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"No realizo ninguna actividad"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 para cuidar su salud mental y física — la opción más mencionada de todas. · P27 · Base 500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8126" y="2428240"/>
            <a:ext cx="9525" cy="23774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6" y="242824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34.8%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347980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hace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ejercicio regular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, la segunda respuesta. Terapia llega a 3.0% y meditación a 9.0% — el autocuidado activo es la excepción. · P27 · Base 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9712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7332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spc="0">
                <a:solidFill>
                  <a:srgbClr val="FFFFFF"/>
                </a:solidFill>
                <a:latin typeface="Poppins"/>
              </a:rPr>
              <a:t>Antes que el ejercicio o la terapia, la inacción es el hábito de salud más extendido en el hogar dominicano.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613400"/>
            <a:ext cx="10908792" cy="109728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750560"/>
            <a:ext cx="10451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spc="0">
                <a:solidFill>
                  <a:srgbClr val="FFFFFF"/>
                </a:solidFill>
                <a:latin typeface="Poppins"/>
              </a:rPr>
              <a:t>“Estar un poquito más estable en todos los sentidos. He estado con mucho estrés. Sí. Para entonces poder ir a la gimnasia y comprar alimentos que debo de comer.”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90640"/>
            <a:ext cx="10451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1" spc="0">
                <a:solidFill>
                  <a:srgbClr val="FFFFFF"/>
                </a:solidFill>
                <a:latin typeface="Poppins"/>
              </a:rPr>
              <a:t>— Grupo Monoparental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08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 spc="0">
                <a:solidFill>
                  <a:srgbClr val="999999"/>
                </a:solidFill>
                <a:latin typeface="Poppins"/>
              </a:rPr>
              <a:t>Source: Código Casa — Estudio cuantitativo 2025 · P27 · Base 500.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3112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 spc="0">
                <a:solidFill>
                  <a:srgbClr val="555555"/>
                </a:solidFill>
                <a:latin typeface="Poppins"/>
              </a:rPr>
              <a:t>H04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 spc="0">
                <a:solidFill>
                  <a:srgbClr val="FFFFFF"/>
                </a:solidFill>
                <a:latin typeface="Instrument Serif"/>
              </a:rPr>
              <a:t>EL AUTOCUIDADO TIENE GÉNERO EN RD: ÉL SE EJERCITA, </a:t>
            </a:r>
            <a:r>
              <a:rPr sz="3600" b="0" i="1" spc="0">
                <a:solidFill>
                  <a:srgbClr val="FFFFFF"/>
                </a:solidFill>
                <a:latin typeface="Instrument Serif"/>
              </a:rPr>
              <a:t>ELLA NO HACE NADA.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4536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48.5%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692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de las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mujeres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 dice "No realizo ninguna actividad". Entre los hombres, la respuesta dominante es ejercicio regular (43.1%). · P27×D2 · Base 500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8126" y="2245360"/>
            <a:ext cx="9525" cy="23774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85916" y="2245360"/>
            <a:ext cx="527151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0" i="1" spc="0">
                <a:solidFill>
                  <a:srgbClr val="FFFFFF"/>
                </a:solidFill>
                <a:latin typeface="Instrument Serif"/>
              </a:rPr>
              <a:t>60.0%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3296920"/>
            <a:ext cx="52715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spc="0">
                <a:solidFill>
                  <a:srgbClr val="FFFFFF"/>
                </a:solidFill>
                <a:latin typeface="Poppins"/>
              </a:rPr>
              <a:t>de inacción en el grupo </a:t>
            </a:r>
            <a:r>
              <a:rPr sz="1000" b="1" i="0" spc="0">
                <a:solidFill>
                  <a:srgbClr val="FFFFFF"/>
                </a:solidFill>
                <a:latin typeface="Poppins"/>
              </a:rPr>
              <a:t>18–24 años</a:t>
            </a:r>
            <a:r>
              <a:rPr sz="1000" b="0" i="0" spc="0">
                <a:solidFill>
                  <a:srgbClr val="FFFFFF"/>
                </a:solidFill>
                <a:latin typeface="Poppins"/>
              </a:rPr>
              <a:t>. Estrato D: 51.2%. En NSE AB y C el ejercicio regular domina (39.1% y 38.5%). · P27×D7×D3 · Base 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1424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9044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spc="0">
                <a:solidFill>
                  <a:srgbClr val="FFFFFF"/>
                </a:solidFill>
                <a:latin typeface="Poppins"/>
              </a:rPr>
              <a:t>La brecha no es solo de género — el autocuidado activo es privilegio de estrato: a menor NSE, mayor inacción.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430520"/>
            <a:ext cx="10908792" cy="109728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67680"/>
            <a:ext cx="10451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spc="0">
                <a:solidFill>
                  <a:srgbClr val="FFFFFF"/>
                </a:solidFill>
                <a:latin typeface="Poppins"/>
              </a:rPr>
              <a:t>“Mi esposo va al gimnasio, yo camino diario menos los domingos hago pilates, tenemos una… tratamos de tener una buena.”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207760"/>
            <a:ext cx="10451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1" spc="0">
                <a:solidFill>
                  <a:srgbClr val="FFFFFF"/>
                </a:solidFill>
                <a:latin typeface="Poppins"/>
              </a:rPr>
              <a:t>— Grupo Biparental Hijos Pequeños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10908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 spc="0">
                <a:solidFill>
                  <a:srgbClr val="999999"/>
                </a:solidFill>
                <a:latin typeface="Poppins"/>
              </a:rPr>
              <a:t>Source: Código Casa — Estudio cuantitativo 2025 · P27, D2, D7, D3 · Base 500.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83112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 spc="0">
                <a:solidFill>
                  <a:srgbClr val="555555"/>
                </a:solidFill>
                <a:latin typeface="Poppins"/>
              </a:rPr>
              <a:t>H05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087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EL SISTEMA DE SALUD PÚBLICA SE CRITICA POR CALIDAD, COSTO Y ACCESO.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LOS TRES PROBLEMAS LLEGAN JUNTOS, NO EN ORDEN.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428240"/>
            <a:ext cx="10908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 spc="0">
                <a:solidFill>
                  <a:srgbClr val="AAAAAA"/>
                </a:solidFill>
                <a:latin typeface="Poppins"/>
              </a:rPr>
              <a:t>CONVERGENCIA CUALITATIVA — Datos cuantitativos pendientes de re-tabulación (P28)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48280"/>
            <a:ext cx="3544824" cy="1417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58008"/>
            <a:ext cx="3361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spc="0">
                <a:solidFill>
                  <a:srgbClr val="FFFFFF"/>
                </a:solidFill>
                <a:latin typeface="Poppins"/>
              </a:rPr>
              <a:t>“El sistema de salud pública no sirve. Es un caos. En mi caso no me ha tocado, gracias a Dios; siempre tuve un empleo que me ha tenido un pago seguro y puedo ir a cualquier clínica tranquilamente. Pero la persona que no tiene un seguro médico hace mucho trabajo, mucho trabajo.”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45560"/>
            <a:ext cx="33619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1" spc="0">
                <a:solidFill>
                  <a:srgbClr val="FFFFFF"/>
                </a:solidFill>
                <a:latin typeface="Poppins"/>
              </a:rPr>
              <a:t>— Grupo Extendido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064" y="2748280"/>
            <a:ext cx="3544824" cy="1417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3504" y="2858008"/>
            <a:ext cx="3361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spc="0">
                <a:solidFill>
                  <a:srgbClr val="FFFFFF"/>
                </a:solidFill>
                <a:latin typeface="Poppins"/>
              </a:rPr>
              <a:t>“De farmacia… si esto te cuesta 500 pesos y te cura, te ponen [medicamento] que vale 5 mil porque se alió a tu farmacia, a tu laboratorio.”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3504" y="3845560"/>
            <a:ext cx="33619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1" spc="0">
                <a:solidFill>
                  <a:srgbClr val="FFFFFF"/>
                </a:solidFill>
                <a:latin typeface="Poppins"/>
              </a:rPr>
              <a:t>— Grupo Biparental Hijos Adultos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8328" y="2748280"/>
            <a:ext cx="3544824" cy="141732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9768" y="2858008"/>
            <a:ext cx="3361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spc="0">
                <a:solidFill>
                  <a:srgbClr val="FFFFFF"/>
                </a:solidFill>
                <a:latin typeface="Poppins"/>
              </a:rPr>
              <a:t>“Yo fui a visitar a alguien ahí en el Marcelo Rivas… eso parece un hotel y las atenciones son enormes, lo que pasa es que la demanda de personas es mucha.”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9768" y="3845560"/>
            <a:ext cx="33619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1" spc="0">
                <a:solidFill>
                  <a:srgbClr val="FFFFFF"/>
                </a:solidFill>
                <a:latin typeface="Poppins"/>
              </a:rPr>
              <a:t>— Grupo Extendido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8480"/>
            <a:ext cx="10908792" cy="952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2468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spc="0">
                <a:solidFill>
                  <a:srgbClr val="FFFFFF"/>
                </a:solidFill>
                <a:latin typeface="Poppins"/>
              </a:rPr>
              <a:t>El diagnóstico del sistema de salud pública no aparece como lista ordenada — aparece como queja total, donde calidad, costo y acceso se refuerzan entre sí.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0908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 spc="0">
                <a:solidFill>
                  <a:srgbClr val="999999"/>
                </a:solidFill>
                <a:latin typeface="Poppins"/>
              </a:rPr>
              <a:t>Source: Código Casa — Estudio cualitativo 2025 · P28 · Evidencia cualitativa convergente — cifra cuantitativa pendiente de re-tabulación.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