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762000"/>
          </a:xfrm>
          <a:prstGeom prst="rect">
            <a:avLst/>
          </a:prstGeom>
          <a:noFill/>
        </p:spPr>
        <p:txBody>
          <a:bodyPr wrap="square" lIns="0" rIns="0" tIns="0" bIns="0">
            <a:spAutoFit/>
          </a:bodyPr>
          <a:lstStyle/>
          <a:p>
            <a:pPr algn="ctr"/>
            <a:r>
              <a:rPr sz="1800" b="0" i="0" kern="0" spc="0">
                <a:solidFill>
                  <a:srgbClr val="9B9B9B"/>
                </a:solidFill>
                <a:latin typeface="Poppins"/>
              </a:rPr>
              <a:t>TENSIÓN 01</a:t>
            </a:r>
          </a:p>
        </p:txBody>
      </p:sp>
      <p:sp>
        <p:nvSpPr>
          <p:cNvPr id="3" name="TextBox 2"/>
          <p:cNvSpPr txBox="1"/>
          <p:nvPr/>
        </p:nvSpPr>
        <p:spPr>
          <a:xfrm>
            <a:off x="952500" y="30480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CARGA INVISIBLE</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Crianza, tareas domésticas y el autocuidado que se pospone para siempre.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49.5% DE LAS MUJERES DICE QUE LA MADRE ES LA PRINCIPAL RESPONSABLE DE LA CRIANZA. </a:t>
            </a:r>
            <a:r>
              <a:rPr sz="5000" b="0" i="1" kern="0" spc="0">
                <a:solidFill>
                  <a:srgbClr val="FFFFFF"/>
                </a:solidFill>
                <a:latin typeface="Instrument Serif"/>
              </a:rPr>
              <a:t>SOLO EL HOMBRE DISTRIBUYE LA CARGA — ELLA YA LA TIENE ASIGNADA.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42%</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total cree que la mayor responsabilidad de la crianza recae en la </a:t>
            </a:r>
            <a:r>
              <a:rPr sz="1300" b="1" i="0" kern="0" spc="0">
                <a:solidFill>
                  <a:srgbClr val="FFFFFF"/>
                </a:solidFill>
                <a:latin typeface="Poppins"/>
              </a:rPr>
              <a:t>madre</a:t>
            </a:r>
            <a:r>
              <a:rPr sz="1300" b="0" i="0" kern="0" spc="0">
                <a:solidFill>
                  <a:srgbClr val="FFFFFF"/>
                </a:solidFill>
                <a:latin typeface="Poppins"/>
              </a:rPr>
              <a:t>; 41.2% dice "ambos padres" y solo 15.8% señala al padre.</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49.5%</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responde "Madre" como principal responsable, frente a 45.6% del masculino que responde "Ambos padres". La mujer se adjudica la carga que el hombre distribuye.</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57%</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hogares </a:t>
            </a:r>
            <a:r>
              <a:rPr sz="1300" b="1" i="0" kern="0" spc="0">
                <a:solidFill>
                  <a:srgbClr val="FFFFFF"/>
                </a:solidFill>
                <a:latin typeface="Poppins"/>
              </a:rPr>
              <a:t>monoparentales</a:t>
            </a:r>
            <a:r>
              <a:rPr sz="1300" b="0" i="0" kern="0" spc="0">
                <a:solidFill>
                  <a:srgbClr val="FFFFFF"/>
                </a:solidFill>
                <a:latin typeface="Poppins"/>
              </a:rPr>
              <a:t> y 59.4% del estrato E responden "Madre". La carga se concentra donde no hay con quién repartirla.</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Q054 · Base 500.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«Yo tengo un papá que es el papá bueno, el papá consentidor, el papá que dice vete suave, vete en paz. Pero no es el que está con ella todos los días. No es el que tiene que regañarla por las tareas, porque tiene que ir a impulsar los deberes de la casa.»</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Q054 · Base 500.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COCINAR, LAVAR Y LIMPIAR SIGUEN SIENDO TERRITORIO DE ELLA. </a:t>
            </a:r>
            <a:r>
              <a:rPr sz="5000" b="0" i="1" kern="0" spc="0">
                <a:solidFill>
                  <a:srgbClr val="FFFFFF"/>
                </a:solidFill>
                <a:latin typeface="Instrument Serif"/>
              </a:rPr>
              <a:t>EL ÚNICO REPARTO EQUITATIVO LLEGA CUANDO HAY QUE PAGAR O IR AL SUPERMERCADO.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67%</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reporta que </a:t>
            </a:r>
            <a:r>
              <a:rPr sz="1300" b="1" i="0" kern="0" spc="0">
                <a:solidFill>
                  <a:srgbClr val="FFFFFF"/>
                </a:solidFill>
                <a:latin typeface="Poppins"/>
              </a:rPr>
              <a:t>cocinar</a:t>
            </a:r>
            <a:r>
              <a:rPr sz="1300" b="0" i="0" kern="0" spc="0">
                <a:solidFill>
                  <a:srgbClr val="FFFFFF"/>
                </a:solidFill>
                <a:latin typeface="Poppins"/>
              </a:rPr>
              <a:t> lo hace "más la mujer"; lavar la ropa 63.0%; limpiar y organizar 59.6%.</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48%</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dice que el </a:t>
            </a:r>
            <a:r>
              <a:rPr sz="1300" b="1" i="0" kern="0" spc="0">
                <a:solidFill>
                  <a:srgbClr val="FFFFFF"/>
                </a:solidFill>
                <a:latin typeface="Poppins"/>
              </a:rPr>
              <a:t>supermercado</a:t>
            </a:r>
            <a:r>
              <a:rPr sz="1300" b="0" i="0" kern="0" spc="0">
                <a:solidFill>
                  <a:srgbClr val="FFFFFF"/>
                </a:solidFill>
                <a:latin typeface="Poppins"/>
              </a:rPr>
              <a:t> lo hacen "ambos por igual". Manejo del dinero del hogar: 51.0%. Las tareas de dinero sí se reparten.</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45%</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acompañar a </a:t>
            </a:r>
            <a:r>
              <a:rPr sz="1300" b="1" i="0" kern="0" spc="0">
                <a:solidFill>
                  <a:srgbClr val="FFFFFF"/>
                </a:solidFill>
                <a:latin typeface="Poppins"/>
              </a:rPr>
              <a:t>citas médicas o escolares</a:t>
            </a:r>
            <a:r>
              <a:rPr sz="1300" b="0" i="0" kern="0" spc="0">
                <a:solidFill>
                  <a:srgbClr val="FFFFFF"/>
                </a:solidFill>
                <a:latin typeface="Poppins"/>
              </a:rPr>
              <a:t> lo hace "más la mujer". El cuidado logístico de los hijos tampoco se reparte.</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Q056 · Base 500.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«Como mujer, bueno, no sabía cocinar y tuve que hacerlo. Obligada, aprendí a mamá, pero... no me gusta, pero tengo que hacerlo.»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Q056 · Base 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48.5% DE LAS MUJERES NO HACE NADA POR SU SALUD MENTAL NI FÍSICA. </a:t>
            </a:r>
            <a:r>
              <a:rPr sz="5000" b="0" i="1" kern="0" spc="0">
                <a:solidFill>
                  <a:srgbClr val="FFFFFF"/>
                </a:solidFill>
                <a:latin typeface="Instrument Serif"/>
              </a:rPr>
              <a:t>EL HOMBRE SE EJERCITA. ELLA NO TIENE ESPACIO NI PARA ESO.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48.5%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responde "No realizo ninguna actividad". El masculino lidera en ejercicio (43.1%).</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43%</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total</a:t>
            </a:r>
            <a:r>
              <a:rPr sz="1300" b="0" i="0" kern="0" spc="0">
                <a:solidFill>
                  <a:srgbClr val="FFFFFF"/>
                </a:solidFill>
                <a:latin typeface="Poppins"/>
              </a:rPr>
              <a:t> no hace ninguna actividad de autocuidado; solo 3.0% va a terapia.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60%</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a:t>
            </a:r>
            <a:r>
              <a:rPr sz="1300" b="1" i="0" kern="0" spc="0">
                <a:solidFill>
                  <a:srgbClr val="FFFFFF"/>
                </a:solidFill>
                <a:latin typeface="Poppins"/>
              </a:rPr>
              <a:t>mujeres 18-24</a:t>
            </a:r>
            <a:r>
              <a:rPr sz="1300" b="0" i="0" kern="0" spc="0">
                <a:solidFill>
                  <a:srgbClr val="FFFFFF"/>
                </a:solidFill>
                <a:latin typeface="Poppins"/>
              </a:rPr>
              <a:t> no realiza ninguna actividad de autocuidado. El abandono es mayor en las más jóvenes.</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Q060 · Base 500.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«Ese tema de que dependa de mí 24-7 lo que se vaya a hacer te da un poco de estrés.»</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Mixta</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Q060 · Base 500.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762000"/>
          </a:xfrm>
          <a:prstGeom prst="rect">
            <a:avLst/>
          </a:prstGeom>
          <a:noFill/>
        </p:spPr>
        <p:txBody>
          <a:bodyPr wrap="square" lIns="0" rIns="0" tIns="0" bIns="0">
            <a:spAutoFit/>
          </a:bodyPr>
          <a:lstStyle/>
          <a:p>
            <a:pPr algn="ctr"/>
            <a:r>
              <a:rPr sz="1800" b="0" i="0" kern="0" spc="0">
                <a:solidFill>
                  <a:srgbClr val="9B9B9B"/>
                </a:solidFill>
                <a:latin typeface="Poppins"/>
              </a:rPr>
              <a:t>TENSIÓN 02</a:t>
            </a:r>
          </a:p>
        </p:txBody>
      </p:sp>
      <p:sp>
        <p:nvSpPr>
          <p:cNvPr id="3" name="TextBox 2"/>
          <p:cNvSpPr txBox="1"/>
          <p:nvPr/>
        </p:nvSpPr>
        <p:spPr>
          <a:xfrm>
            <a:off x="952500" y="30480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DISCURSO DEL CAMBIO VS. EL REPARTO REAL</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74.8% dice que los roles cambiaron mucho. Las tareas domésticas siguieron siendo de ella.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74.8% DICE QUE EL ROL DE GÉNERO CAMBIÓ MUCHO. LA COCINA, EL LAVADO Y LA LIMPIEZA SIGUIERON SIENDO DE ELLA. </a:t>
            </a:r>
            <a:r>
              <a:rPr sz="5000" b="0" i="1" kern="0" spc="0">
                <a:solidFill>
                  <a:srgbClr val="FFFFFF"/>
                </a:solidFill>
                <a:latin typeface="Instrument Serif"/>
              </a:rPr>
              <a:t>EL DISCURSO AVANZÓ; EL REPARTO, NO.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"5 = Mucho" a cuánto cambió el rol del hombre y la mujer en la familia. </a:t>
            </a:r>
            <a:r>
              <a:rPr sz="1300" b="1" i="0" kern="0" spc="0">
                <a:solidFill>
                  <a:srgbClr val="FFFFFF"/>
                </a:solidFill>
                <a:latin typeface="Poppins"/>
              </a:rPr>
              <a:t>85%</a:t>
            </a:r>
            <a:r>
              <a:rPr sz="1300" b="0" i="0" kern="0" spc="0">
                <a:solidFill>
                  <a:srgbClr val="FFFFFF"/>
                </a:solidFill>
                <a:latin typeface="Poppins"/>
              </a:rPr>
              <a:t> en el top-2 (4+5).</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77%</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percibe el cambio como "Mucho" vs 71.8% del masculino. Las mujeres ven más el cambio que no cambia.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67%</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reporta cocinar </a:t>
            </a:r>
            <a:r>
              <a:rPr sz="1300" b="1" i="0" kern="0" spc="0">
                <a:solidFill>
                  <a:srgbClr val="FFFFFF"/>
                </a:solidFill>
                <a:latin typeface="Poppins"/>
              </a:rPr>
              <a:t>"más la mujer"</a:t>
            </a:r>
            <a:r>
              <a:rPr sz="1300" b="0" i="0" kern="0" spc="0">
                <a:solidFill>
                  <a:srgbClr val="FFFFFF"/>
                </a:solidFill>
                <a:latin typeface="Poppins"/>
              </a:rPr>
              <a:t> (Q056). Convive con la percepción de cambio (Q057). El reparto material no acompaña la percepción.</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Q057, Q056 · Base 500.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«Las que salimos a echar para adelante, a trabajar, a luchar, la que ya no dependemos de un hombre para salir adelante. Y yo en mi caso, que aunque esté casada, trabajo igualito como si no, hago y lucho y no tengo que depender como tiempo atrás que las mujeres dominicanas nos creaban como que era para depender del hombre.»</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Preferente Roles de Liderazgo</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Q057, Q056 · Base 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47.8% DE LAS MUJERES NOMBRA LA ECONOMÍA COMO SU MAYOR FUENTE DE ESTRÉS. </a:t>
            </a:r>
            <a:r>
              <a:rPr sz="5000" b="0" i="1" kern="0" spc="0">
                <a:solidFill>
                  <a:srgbClr val="FFFFFF"/>
                </a:solidFill>
                <a:latin typeface="Instrument Serif"/>
              </a:rPr>
              <a:t>LA CRIANZA Y EL HOGAR NO SE ACERCAN: EL MIEDO MÁS GRANDE ES LA PLATA.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48%</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menciona "</a:t>
            </a:r>
            <a:r>
              <a:rPr sz="1300" b="1" i="0" kern="0" spc="0">
                <a:solidFill>
                  <a:srgbClr val="FFFFFF"/>
                </a:solidFill>
                <a:latin typeface="Poppins"/>
              </a:rPr>
              <a:t>Economía</a:t>
            </a:r>
            <a:r>
              <a:rPr sz="1300" b="0" i="0" kern="0" spc="0">
                <a:solidFill>
                  <a:srgbClr val="FFFFFF"/>
                </a:solidFill>
                <a:latin typeface="Poppins"/>
              </a:rPr>
              <a:t>" como factor que más estrés genera. Sumada a "Realidad económica" (28.4%), lo económico domina el ranking.</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21%</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nombra explícitamente "</a:t>
            </a:r>
            <a:r>
              <a:rPr sz="1300" b="1" i="0" kern="0" spc="0">
                <a:solidFill>
                  <a:srgbClr val="FFFFFF"/>
                </a:solidFill>
                <a:latin typeface="Poppins"/>
              </a:rPr>
              <a:t>Falta de tiempo personal</a:t>
            </a:r>
            <a:r>
              <a:rPr sz="1300" b="0" i="0" kern="0" spc="0">
                <a:solidFill>
                  <a:srgbClr val="FFFFFF"/>
                </a:solidFill>
                <a:latin typeface="Poppins"/>
              </a:rPr>
              <a:t>" como fuente de estrés. Un quinto de las mujeres pone nombre a la ausencia de tiempo propio.</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16%</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Crianza de los hijos</a:t>
            </a:r>
            <a:r>
              <a:rPr sz="1300" b="0" i="0" kern="0" spc="0">
                <a:solidFill>
                  <a:srgbClr val="FFFFFF"/>
                </a:solidFill>
                <a:latin typeface="Poppins"/>
              </a:rPr>
              <a:t>" 16.2% y "Responsabilidades del hogar" 16.2%. El trabajo de cuidado estresa menos que el dinero.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Q059 · Base 500.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«No tengo paciencia cuando no tengo dinero. Cuando no tengo dinero, que no sé qué voy a hacer con los compromisos, entonces yo pienso, le doy vuelta a la cosa, un estrés. La mayor parte del problema hoy en día es el dinero, todo lo resuelve el dinero aunque la gente no lo quiera admitir.»</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Q059 · Base 500.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762000"/>
          </a:xfrm>
          <a:prstGeom prst="rect">
            <a:avLst/>
          </a:prstGeom>
          <a:noFill/>
        </p:spPr>
        <p:txBody>
          <a:bodyPr wrap="square" lIns="0" rIns="0" tIns="0" bIns="0">
            <a:spAutoFit/>
          </a:bodyPr>
          <a:lstStyle/>
          <a:p>
            <a:pPr algn="ctr"/>
            <a:r>
              <a:rPr sz="1800" b="0" i="0" kern="0" spc="0">
                <a:solidFill>
                  <a:srgbClr val="9B9B9B"/>
                </a:solidFill>
                <a:latin typeface="Poppins"/>
              </a:rPr>
              <a:t>TENSIÓN 03</a:t>
            </a:r>
          </a:p>
        </p:txBody>
      </p:sp>
      <p:sp>
        <p:nvSpPr>
          <p:cNvPr id="3" name="TextBox 2"/>
          <p:cNvSpPr txBox="1"/>
          <p:nvPr/>
        </p:nvSpPr>
        <p:spPr>
          <a:xfrm>
            <a:off x="952500" y="30480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AUTORIDAD Y PODER</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La mujer decide qué se come y también quién provee. El discurso social tarda en reconocerlo.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89.5% DE LAS MUJERES DECIDE SIEMPRE QUÉ SE COMPRA DE COMER. </a:t>
            </a:r>
            <a:r>
              <a:rPr sz="5000" b="0" i="1" kern="0" spc="0">
                <a:solidFill>
                  <a:srgbClr val="FFFFFF"/>
                </a:solidFill>
                <a:latin typeface="Instrument Serif"/>
              </a:rPr>
              <a:t>LA NUTRICIÓN FAMILIAR ES UN PODER CASI EXCLUSIVO DE ELLA, NO COMPARTIDO.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90%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subset </a:t>
            </a:r>
            <a:r>
              <a:rPr sz="1300" b="1" i="0" kern="0" spc="0">
                <a:solidFill>
                  <a:srgbClr val="FFFFFF"/>
                </a:solidFill>
                <a:latin typeface="Poppins"/>
              </a:rPr>
              <a:t>femenino</a:t>
            </a:r>
            <a:r>
              <a:rPr sz="1300" b="0" i="0" kern="0" spc="0">
                <a:solidFill>
                  <a:srgbClr val="FFFFFF"/>
                </a:solidFill>
                <a:latin typeface="Poppins"/>
              </a:rPr>
              <a:t> responde "5 = Siempre" a si toma la decisión principal sobre la compra de alimentos, frente a 77.9% del masculino.</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85%</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total</a:t>
            </a:r>
            <a:r>
              <a:rPr sz="1300" b="0" i="0" kern="0" spc="0">
                <a:solidFill>
                  <a:srgbClr val="FFFFFF"/>
                </a:solidFill>
                <a:latin typeface="Poppins"/>
              </a:rPr>
              <a:t> responde "5 = Siempre". Es la decisión menos disputada de toda la matriz de roles.</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89%</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en </a:t>
            </a:r>
            <a:r>
              <a:rPr sz="1300" b="1" i="0" kern="0" spc="0">
                <a:solidFill>
                  <a:srgbClr val="FFFFFF"/>
                </a:solidFill>
                <a:latin typeface="Poppins"/>
              </a:rPr>
              <a:t>NSE D</a:t>
            </a:r>
            <a:r>
              <a:rPr sz="1300" b="0" i="0" kern="0" spc="0">
                <a:solidFill>
                  <a:srgbClr val="FFFFFF"/>
                </a:solidFill>
                <a:latin typeface="Poppins"/>
              </a:rPr>
              <a:t> y 87.5% en NSE E responden "Siempre", frente a 52.2% en NSE AB. [AB n≈23: contraste, no cifra robusta.]</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Q058 · Base 500.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«Yo considero saludable la comida que yo cocino, ese tipo de ingredientes que le estoy echando, y también las porciones. Lo que tú cocinas en tu casa.»</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Pilar Mujer · Q058 · Base 500.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40% DE LAS MUJERES ES LA PRINCIPAL PROVEEDORA DE SU HOGAR. </a:t>
            </a:r>
            <a:r>
              <a:rPr sz="5000" b="0" i="1" kern="0" spc="0">
                <a:solidFill>
                  <a:srgbClr val="FFFFFF"/>
                </a:solidFill>
                <a:latin typeface="Instrument Serif"/>
              </a:rPr>
              <a:t>40% PROVEE. EL ROL QUE SE LE ATRIBUYE AL HOMBRE LO OCUPA ELLA.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que sí es la </a:t>
            </a:r>
            <a:r>
              <a:rPr sz="1300" b="1" i="0" kern="0" spc="0">
                <a:solidFill>
                  <a:srgbClr val="FFFFFF"/>
                </a:solidFill>
                <a:latin typeface="Poppins"/>
              </a:rPr>
              <a:t>principal proveedora</a:t>
            </a:r>
            <a:r>
              <a:rPr sz="1300" b="0" i="0" kern="0" spc="0">
                <a:solidFill>
                  <a:srgbClr val="FFFFFF"/>
                </a:solidFill>
                <a:latin typeface="Poppins"/>
              </a:rPr>
              <a:t> de su hogar. [FW — perfil: jóvenes, jefas de hogar, líderes, emprendedoras. No proyectable a población general.]</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68%</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tiene </a:t>
            </a:r>
            <a:r>
              <a:rPr sz="1300" b="1" i="0" kern="0" spc="0">
                <a:solidFill>
                  <a:srgbClr val="FFFFFF"/>
                </a:solidFill>
                <a:latin typeface="Poppins"/>
              </a:rPr>
              <a:t>trabajo formal</a:t>
            </a:r>
            <a:r>
              <a:rPr sz="1300" b="0" i="0" kern="0" spc="0">
                <a:solidFill>
                  <a:srgbClr val="FFFFFF"/>
                </a:solidFill>
                <a:latin typeface="Poppins"/>
              </a:rPr>
              <a:t>; 13.9% informal o emprendimiento; solo 4.2% se declara ama de casa. La mujer del estudio FW está mayoritariamente vinculada al ingreso.</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43%</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Las tomo yo sola</a:t>
            </a:r>
            <a:r>
              <a:rPr sz="1300" b="0" i="0" kern="0" spc="0">
                <a:solidFill>
                  <a:srgbClr val="FFFFFF"/>
                </a:solidFill>
                <a:latin typeface="Poppins"/>
              </a:rPr>
              <a:t>" es la frase con mayor acuerdo top-2 en decisiones financieras (μ=3.01). "No las tomo yo, lo hace mi esposo" tiene el mayor desacuerdo (bottom-2 79.6%).</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M8, M5, M17 · Mujeres n=240.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DISCURSO DEL PROVEEDOR NO CEDIÓ. </a:t>
            </a:r>
            <a:r>
              <a:rPr sz="5000" b="0" i="1" kern="0" spc="0">
                <a:solidFill>
                  <a:srgbClr val="FFFFFF"/>
                </a:solidFill>
                <a:latin typeface="Instrument Serif"/>
              </a:rPr>
              <a:t>ELLAS PROVEEN, EL ROL SIGUE SIENDO DEL HOMBRE EN EL CUENTO SOCIAL.</a:t>
            </a:r>
          </a:p>
        </p:txBody>
      </p:sp>
      <p:sp>
        <p:nvSpPr>
          <p:cNvPr id="3" name="Rounded Rectangle 2"/>
          <p:cNvSpPr/>
          <p:nvPr/>
        </p:nvSpPr>
        <p:spPr>
          <a:xfrm>
            <a:off x="3362325"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«No, por tu trabajo tú eres proveedor. Pero se supone que el rol del proveedor siempre ha sido el hombre.»</a:t>
            </a:r>
          </a:p>
          <a:p>
            <a:pPr algn="ctr">
              <a:spcBef>
                <a:spcPts val="800"/>
              </a:spcBef>
            </a:pPr>
            <a:r>
              <a:rPr sz="1200" i="1" b="0" kern="0" spc="0">
                <a:solidFill>
                  <a:srgbClr val="FFFFFF"/>
                </a:solidFill>
                <a:latin typeface="Poppins"/>
              </a:rPr>
              <a:t>— Familia Masivo Jefas de Hogar</a:t>
            </a:r>
          </a:p>
        </p:txBody>
      </p:sp>
      <p:sp>
        <p:nvSpPr>
          <p:cNvPr id="5" name="Rounded Rectangle 4"/>
          <p:cNvSpPr/>
          <p:nvPr/>
        </p:nvSpPr>
        <p:spPr>
          <a:xfrm>
            <a:off x="9525000"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«Yo no resuelvo de nadie. Mi esposo es la madre. [Modismo: ella ocupa el rol de proveedor que culturalmente se le asigna al hombre.]»</a:t>
            </a:r>
          </a:p>
          <a:p>
            <a:pPr algn="ctr">
              <a:spcBef>
                <a:spcPts val="800"/>
              </a:spcBef>
            </a:pPr>
            <a:r>
              <a:rPr sz="1200" i="1" b="0" kern="0" spc="0">
                <a:solidFill>
                  <a:srgbClr val="FFFFFF"/>
                </a:solidFill>
                <a:latin typeface="Poppins"/>
              </a:rPr>
              <a:t>— Familia Masivo Jefas de Hogar</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M8, M5, M17 · Mujeres n=240.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762000"/>
          </a:xfrm>
          <a:prstGeom prst="rect">
            <a:avLst/>
          </a:prstGeom>
          <a:noFill/>
        </p:spPr>
        <p:txBody>
          <a:bodyPr wrap="square" lIns="0" rIns="0" tIns="0" bIns="0">
            <a:spAutoFit/>
          </a:bodyPr>
          <a:lstStyle/>
          <a:p>
            <a:pPr algn="ctr"/>
            <a:r>
              <a:rPr sz="1800" b="0" i="0" kern="0" spc="0">
                <a:solidFill>
                  <a:srgbClr val="9B9B9B"/>
                </a:solidFill>
                <a:latin typeface="Poppins"/>
              </a:rPr>
              <a:t>TENSIÓN 04</a:t>
            </a:r>
          </a:p>
        </p:txBody>
      </p:sp>
      <p:sp>
        <p:nvSpPr>
          <p:cNvPr id="3" name="TextBox 2"/>
          <p:cNvSpPr txBox="1"/>
          <p:nvPr/>
        </p:nvSpPr>
        <p:spPr>
          <a:xfrm>
            <a:off x="952500" y="30480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MUJER Y EL DINERO</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Sueña con un techo propio, planifica mejor que el estereotipo, y carga con un prejuicio que dice lo contrario.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META FINANCIERA #1 DE LA MUJER DOMINICANA ES UN TECHO PROPIO. </a:t>
            </a:r>
            <a:r>
              <a:rPr sz="5000" b="0" i="1" kern="0" spc="0">
                <a:solidFill>
                  <a:srgbClr val="FFFFFF"/>
                </a:solidFill>
                <a:latin typeface="Instrument Serif"/>
              </a:rPr>
              <a:t>EL SUEÑO ES NO DEPENDER DEL PRÓXIMO SUELDO.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elige "</a:t>
            </a:r>
            <a:r>
              <a:rPr sz="1300" b="1" i="0" kern="0" spc="0">
                <a:solidFill>
                  <a:srgbClr val="FFFFFF"/>
                </a:solidFill>
                <a:latin typeface="Poppins"/>
              </a:rPr>
              <a:t>Comprar vivienda</a:t>
            </a:r>
            <a:r>
              <a:rPr sz="1300" b="0" i="0" kern="0" spc="0">
                <a:solidFill>
                  <a:srgbClr val="FFFFFF"/>
                </a:solidFill>
                <a:latin typeface="Poppins"/>
              </a:rPr>
              <a:t>" como meta financiera actual (1ª selección); 50.8% "Lograr estabilidad"; 48.3% "Emprender / Invertir".</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48%</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Comprar vivienda</a:t>
            </a:r>
            <a:r>
              <a:rPr sz="1300" b="0" i="0" kern="0" spc="0">
                <a:solidFill>
                  <a:srgbClr val="FFFFFF"/>
                </a:solidFill>
                <a:latin typeface="Poppins"/>
              </a:rPr>
              <a:t>" se repite como #1 en la segunda selección (47.9%) y "Salir de deudas" sube a #2 (32.1%).</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14%</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Mejorar imagen personal</a:t>
            </a:r>
            <a:r>
              <a:rPr sz="1300" b="0" i="0" kern="0" spc="0">
                <a:solidFill>
                  <a:srgbClr val="FFFFFF"/>
                </a:solidFill>
                <a:latin typeface="Poppins"/>
              </a:rPr>
              <a:t>" queda último o penúltimo en ambas selecciones (13.8% y 2.1%). El prejuicio de la mujer que sueña con consumo estético no aguanta la data.</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M20, M21 · Mujeres n=240.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«Siempre ha sido mi sueño, siempre ha sido como que pagar mi cosa yo, si yo pudiera pagar todo, o sea, todo lo mío yo.»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Preferente Jóvenes</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M20, M21 · Mujeres n=240.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74.9% SIENTE QUE ALGO LE BLOQUEA EL SUEÑO FINANCIERO. </a:t>
            </a:r>
            <a:r>
              <a:rPr sz="5000" b="0" i="1" kern="0" spc="0">
                <a:solidFill>
                  <a:srgbClr val="FFFFFF"/>
                </a:solidFill>
                <a:latin typeface="Instrument Serif"/>
              </a:rPr>
              <a:t>87.1% APUNTA A LO MISMO: FALTA PLATA.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75%</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"Sí" a si siente que hay algo que le impide lograr su </a:t>
            </a:r>
            <a:r>
              <a:rPr sz="1300" b="1" i="0" kern="0" spc="0">
                <a:solidFill>
                  <a:srgbClr val="FFFFFF"/>
                </a:solidFill>
                <a:latin typeface="Poppins"/>
              </a:rPr>
              <a:t>sueño financiero</a:t>
            </a:r>
            <a:r>
              <a:rPr sz="1300" b="0" i="0" kern="0" spc="0">
                <a:solidFill>
                  <a:srgbClr val="FFFFFF"/>
                </a:solidFill>
                <a:latin typeface="Poppins"/>
              </a:rPr>
              <a:t>.</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87%</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que sienten un bloqueo señala "</a:t>
            </a:r>
            <a:r>
              <a:rPr sz="1300" b="1" i="0" kern="0" spc="0">
                <a:solidFill>
                  <a:srgbClr val="FFFFFF"/>
                </a:solidFill>
                <a:latin typeface="Poppins"/>
              </a:rPr>
              <a:t>Falta de ingresos</a:t>
            </a:r>
            <a:r>
              <a:rPr sz="1300" b="0" i="0" kern="0" spc="0">
                <a:solidFill>
                  <a:srgbClr val="FFFFFF"/>
                </a:solidFill>
                <a:latin typeface="Poppins"/>
              </a:rPr>
              <a:t>" como impedimento; muy por encima de "Falta de hábitos" (44.9%) o "Falta de educación financiera" (35.4%).</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60%</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todas las mujeres nombra "</a:t>
            </a:r>
            <a:r>
              <a:rPr sz="1300" b="1" i="0" kern="0" spc="0">
                <a:solidFill>
                  <a:srgbClr val="FFFFFF"/>
                </a:solidFill>
                <a:latin typeface="Poppins"/>
              </a:rPr>
              <a:t>Falta de ingresos</a:t>
            </a:r>
            <a:r>
              <a:rPr sz="1300" b="0" i="0" kern="0" spc="0">
                <a:solidFill>
                  <a:srgbClr val="FFFFFF"/>
                </a:solidFill>
                <a:latin typeface="Poppins"/>
              </a:rPr>
              <a:t>" como lo que le impide tomar mejores decisiones financieras hoy.</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M23, M24, M54 · Mujeres n=240.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«Comparado con un año atrás que yo no tenía libertad financiera, tenía que depender de otro y es difícil, porque aunque el otro quiera, a veces uno quiere hacer algo y no puede. Ahora como yo tengo mi negocio, si quiero comprar algo lo compro, si le quiero comprar algo a mis hijos no tengo que esperar que otro me dé.»</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Emprendedoras</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M23, M24, M54 · Mujeres n=240.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74.2% TIENE PRESUPUESTO, 74.1% PLANIFICA SIEMPRE O CASI SIEMPRE, 78.7% REVISA SUS CUENTAS CADA SEMANA O CADA DÍA. </a:t>
            </a:r>
            <a:r>
              <a:rPr sz="5000" b="0" i="1" kern="0" spc="0">
                <a:solidFill>
                  <a:srgbClr val="FFFFFF"/>
                </a:solidFill>
                <a:latin typeface="Instrument Serif"/>
              </a:rPr>
              <a:t>LA ADMINISTRADORA ES LA NORMA, NO LA EXCEPCIÓN.</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74%</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tiene un </a:t>
            </a:r>
            <a:r>
              <a:rPr sz="1300" b="1" i="0" kern="0" spc="0">
                <a:solidFill>
                  <a:srgbClr val="FFFFFF"/>
                </a:solidFill>
                <a:latin typeface="Poppins"/>
              </a:rPr>
              <a:t>presupuesto mensual</a:t>
            </a:r>
            <a:r>
              <a:rPr sz="1300" b="0" i="0" kern="0" spc="0">
                <a:solidFill>
                  <a:srgbClr val="FFFFFF"/>
                </a:solidFill>
                <a:latin typeface="Poppins"/>
              </a:rPr>
              <a:t>. Y 74.1% planifica sus gastos "Siempre" (42.1%) o "Casi siempre" (32.1%).</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79%</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revisa sus cuentas a </a:t>
            </a:r>
            <a:r>
              <a:rPr sz="1300" b="1" i="0" kern="0" spc="0">
                <a:solidFill>
                  <a:srgbClr val="FFFFFF"/>
                </a:solidFill>
                <a:latin typeface="Poppins"/>
              </a:rPr>
              <a:t>diario (44.2%) o semanalmente (34.6%)</a:t>
            </a:r>
            <a:r>
              <a:rPr sz="1300" b="0" i="0" kern="0" spc="0">
                <a:solidFill>
                  <a:srgbClr val="FFFFFF"/>
                </a:solidFill>
                <a:latin typeface="Poppins"/>
              </a:rPr>
              <a:t>. Control financiero activo como práctica cotidiana.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43%</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describe como "</a:t>
            </a:r>
            <a:r>
              <a:rPr sz="1300" b="1" i="0" kern="0" spc="0">
                <a:solidFill>
                  <a:srgbClr val="FFFFFF"/>
                </a:solidFill>
                <a:latin typeface="Poppins"/>
              </a:rPr>
              <a:t>Cuidadosa</a:t>
            </a:r>
            <a:r>
              <a:rPr sz="1300" b="0" i="0" kern="0" spc="0">
                <a:solidFill>
                  <a:srgbClr val="FFFFFF"/>
                </a:solidFill>
                <a:latin typeface="Poppins"/>
              </a:rPr>
              <a:t>" con el dinero y 20% como "Práctica"; solo 6.7% se define "Libre". La autopercepción es de control, no de derroche.</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M16, M28, M32, M60 · Mujeres n=240.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«Hay mujeres que no, que son ocultas, que si se presenta un caso, ellas siempre están ahí tapando la falta del esposo. Hay mujeres que son muy honradas con el dinero.»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Jefas de Hogar</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M16, M28, M32, M60 · Mujeres n=240.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39.2% SIENTE QUE SE ESPERA ALGO DISTINTO DE ELLA EN DINERO POR SER MUJER. </a:t>
            </a:r>
            <a:r>
              <a:rPr sz="5000" b="0" i="1" kern="0" spc="0">
                <a:solidFill>
                  <a:srgbClr val="FFFFFF"/>
                </a:solidFill>
                <a:latin typeface="Instrument Serif"/>
              </a:rPr>
              <a:t>LA ESPERAN DERROCHADORA Y A LA VEZ LE EXIGEN SER LA ADMINISTRADORA PERFECTA DEL HOGAR.</a:t>
            </a:r>
          </a:p>
        </p:txBody>
      </p:sp>
      <p:sp>
        <p:nvSpPr>
          <p:cNvPr id="3" name="TextBox 2"/>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39%</a:t>
            </a:r>
          </a:p>
        </p:txBody>
      </p:sp>
      <p:sp>
        <p:nvSpPr>
          <p:cNvPr id="4" name="TextBox 3"/>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"Sí" a si siente que se espera algo distinto de ella en temas de </a:t>
            </a:r>
            <a:r>
              <a:rPr sz="1300" b="1" i="0" kern="0" spc="0">
                <a:solidFill>
                  <a:srgbClr val="FFFFFF"/>
                </a:solidFill>
                <a:latin typeface="Poppins"/>
              </a:rPr>
              <a:t>dinero por ser mujer</a:t>
            </a:r>
            <a:r>
              <a:rPr sz="1300" b="0" i="0" kern="0" spc="0">
                <a:solidFill>
                  <a:srgbClr val="FFFFFF"/>
                </a:solidFill>
                <a:latin typeface="Poppins"/>
              </a:rPr>
              <a:t>; 31.7% dice "No" y 29.2% "No estoy segura". La mayoría no descarta la presión.</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M45, M45b · Mujeres n=240.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DOS PREJUICIOS, UNA MUJER: </a:t>
            </a:r>
            <a:r>
              <a:rPr sz="5000" b="0" i="1" kern="0" spc="0">
                <a:solidFill>
                  <a:srgbClr val="FFFFFF"/>
                </a:solidFill>
                <a:latin typeface="Instrument Serif"/>
              </a:rPr>
              <a:t>DERROCHADORA Y MALA ADMINISTRADORA AL MISMO TIEMPO.</a:t>
            </a:r>
          </a:p>
        </p:txBody>
      </p:sp>
      <p:sp>
        <p:nvSpPr>
          <p:cNvPr id="3" name="Rounded Rectangle 2"/>
          <p:cNvSpPr/>
          <p:nvPr/>
        </p:nvSpPr>
        <p:spPr>
          <a:xfrm>
            <a:off x="3362325"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«Algunas personas tienen la mentalidad que las mujeres son derrochadoras. El otro extremo es que la mujer siempre siempre debe guardar. Ambos extremos son malos.»</a:t>
            </a:r>
          </a:p>
          <a:p>
            <a:pPr algn="ctr">
              <a:spcBef>
                <a:spcPts val="800"/>
              </a:spcBef>
            </a:pPr>
            <a:r>
              <a:rPr sz="1200" i="1" b="0" kern="0" spc="0">
                <a:solidFill>
                  <a:srgbClr val="FFFFFF"/>
                </a:solidFill>
                <a:latin typeface="Poppins"/>
              </a:rPr>
              <a:t>— Respuesta abierta M45b · FW</a:t>
            </a:r>
          </a:p>
        </p:txBody>
      </p:sp>
      <p:sp>
        <p:nvSpPr>
          <p:cNvPr id="5" name="Rounded Rectangle 4"/>
          <p:cNvSpPr/>
          <p:nvPr/>
        </p:nvSpPr>
        <p:spPr>
          <a:xfrm>
            <a:off x="9525000"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«Que al no ser proveedoras no somos buenas administradoras.»</a:t>
            </a:r>
          </a:p>
          <a:p>
            <a:pPr algn="ctr">
              <a:spcBef>
                <a:spcPts val="800"/>
              </a:spcBef>
            </a:pPr>
            <a:r>
              <a:rPr sz="1200" i="1" b="0" kern="0" spc="0">
                <a:solidFill>
                  <a:srgbClr val="FFFFFF"/>
                </a:solidFill>
                <a:latin typeface="Poppins"/>
              </a:rPr>
              <a:t>— Familia Masivo Jefas de Hogar</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M45, M45b · Mujeres n=240.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905000"/>
            <a:ext cx="18288000" cy="762000"/>
          </a:xfrm>
          <a:prstGeom prst="rect">
            <a:avLst/>
          </a:prstGeom>
          <a:noFill/>
        </p:spPr>
        <p:txBody>
          <a:bodyPr wrap="square" lIns="0" rIns="0" tIns="0" bIns="0">
            <a:spAutoFit/>
          </a:bodyPr>
          <a:lstStyle/>
          <a:p>
            <a:pPr algn="ctr"/>
            <a:r>
              <a:rPr sz="1800" b="0" i="0" kern="0" spc="0">
                <a:solidFill>
                  <a:srgbClr val="9B9B9B"/>
                </a:solidFill>
                <a:latin typeface="Poppins"/>
              </a:rPr>
              <a:t>TENSIÓN 05</a:t>
            </a:r>
          </a:p>
        </p:txBody>
      </p:sp>
      <p:sp>
        <p:nvSpPr>
          <p:cNvPr id="3" name="TextBox 2"/>
          <p:cNvSpPr txBox="1"/>
          <p:nvPr/>
        </p:nvSpPr>
        <p:spPr>
          <a:xfrm>
            <a:off x="952500" y="30480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AHORRO, CONSUMO Y AUTONOMÍA ECONÓMICA</a:t>
            </a:r>
          </a:p>
        </p:txBody>
      </p:sp>
      <p:sp>
        <p:nvSpPr>
          <p:cNvPr id="4" name="TextBox 3"/>
          <p:cNvSpPr txBox="1"/>
          <p:nvPr/>
        </p:nvSpPr>
        <p:spPr>
          <a:xfrm>
            <a:off x="1905000" y="6477000"/>
            <a:ext cx="14478000" cy="1143000"/>
          </a:xfrm>
          <a:prstGeom prst="rect">
            <a:avLst/>
          </a:prstGeom>
          <a:noFill/>
        </p:spPr>
        <p:txBody>
          <a:bodyPr wrap="square" lIns="0" rIns="0" tIns="0" bIns="0">
            <a:spAutoFit/>
          </a:bodyPr>
          <a:lstStyle/>
          <a:p>
            <a:pPr algn="ctr"/>
            <a:r>
              <a:rPr sz="1800" b="0" i="1" kern="0" spc="0">
                <a:solidFill>
                  <a:srgbClr val="9B9B9B"/>
                </a:solidFill>
                <a:latin typeface="Poppins"/>
              </a:rPr>
              <a:t>El dinero se vive como amenaza, la compra impulsiva como desahogo y el ahorro como una trampa de la que no se sale.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EMOCIÓN QUE MÁS SIENTE LA MUJER AL PENSAR EN SU DINERO ES ESTRÉS (44.3%). </a:t>
            </a:r>
            <a:r>
              <a:rPr sz="5000" b="0" i="1" kern="0" spc="0">
                <a:solidFill>
                  <a:srgbClr val="FFFFFF"/>
                </a:solidFill>
                <a:latin typeface="Instrument Serif"/>
              </a:rPr>
              <a:t>EL ORGULLO SOLO LLEGA AL 5.5%: EL DINERO SE VIVE COMO AMENAZA, NO COMO LOGRO.</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44%</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a:t>
            </a:r>
            <a:r>
              <a:rPr sz="1300" b="1" i="0" kern="0" spc="0">
                <a:solidFill>
                  <a:srgbClr val="FFFFFF"/>
                </a:solidFill>
                <a:latin typeface="Poppins"/>
              </a:rPr>
              <a:t>Estrés</a:t>
            </a:r>
            <a:r>
              <a:rPr sz="1300" b="0" i="0" kern="0" spc="0">
                <a:solidFill>
                  <a:srgbClr val="FFFFFF"/>
                </a:solidFill>
                <a:latin typeface="Poppins"/>
              </a:rPr>
              <a:t>" como la emoción que más siente al pensar en sus finanzas; "Tranquilidad" 29.8%, "Miedo" 12.3%, "Culpa" 8.1%, "Orgullo" 5.5%.</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41%</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siente </a:t>
            </a:r>
            <a:r>
              <a:rPr sz="1300" b="1" i="0" kern="0" spc="0">
                <a:solidFill>
                  <a:srgbClr val="FFFFFF"/>
                </a:solidFill>
                <a:latin typeface="Poppins"/>
              </a:rPr>
              <a:t>ansiedad o estrés financiero</a:t>
            </a:r>
            <a:r>
              <a:rPr sz="1300" b="0" i="0" kern="0" spc="0">
                <a:solidFill>
                  <a:srgbClr val="FFFFFF"/>
                </a:solidFill>
                <a:latin typeface="Poppins"/>
              </a:rPr>
              <a:t> con frecuencia (top-2, 4+5); el promedio en escala 1-5 es 3.48.</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22%</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está satisfecha con su situación financiera actual (top-2 solo </a:t>
            </a:r>
            <a:r>
              <a:rPr sz="1300" b="1" i="0" kern="0" spc="0">
                <a:solidFill>
                  <a:srgbClr val="FFFFFF"/>
                </a:solidFill>
                <a:latin typeface="Poppins"/>
              </a:rPr>
              <a:t>22.5%</a:t>
            </a:r>
            <a:r>
              <a:rPr sz="1300" b="0" i="0" kern="0" spc="0">
                <a:solidFill>
                  <a:srgbClr val="FFFFFF"/>
                </a:solidFill>
                <a:latin typeface="Poppins"/>
              </a:rPr>
              <a:t>); 30.8% está insatisfecha (bottom-2). El promedio es 2.75 sobre 5.</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M19, M43, M44 · Mujeres n=240.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«Tengo miedo a no ser lo que yo espero ser, o a que las cosas no se den como yo quiero. Siento que el tiempo está pasando muy rápido, que no tengo una casa mía o no tengo un auto propio.»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Jóvenes</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M19, M43, M44 · Mujeres n=240.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47.9% HIZO UNA COMPRA IMPULSIVA EL ÚLTIMO MES. </a:t>
            </a:r>
            <a:r>
              <a:rPr sz="5000" b="0" i="1" kern="0" spc="0">
                <a:solidFill>
                  <a:srgbClr val="FFFFFF"/>
                </a:solidFill>
                <a:latin typeface="Instrument Serif"/>
              </a:rPr>
              <a:t>EL MOTIVO #1 ES CONSENTIRSE — EL ÚNICO ESPACIO QUE EL ROL LE DEJA SOLO PARA ELLA.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48%</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hizo una </a:t>
            </a:r>
            <a:r>
              <a:rPr sz="1300" b="1" i="0" kern="0" spc="0">
                <a:solidFill>
                  <a:srgbClr val="FFFFFF"/>
                </a:solidFill>
                <a:latin typeface="Poppins"/>
              </a:rPr>
              <a:t>compra impulsiva</a:t>
            </a:r>
            <a:r>
              <a:rPr sz="1300" b="0" i="0" kern="0" spc="0">
                <a:solidFill>
                  <a:srgbClr val="FFFFFF"/>
                </a:solidFill>
                <a:latin typeface="Poppins"/>
              </a:rPr>
              <a:t> en el último mes; y 42.5% admite haber comprado algo recientemente solo para sentirse mejor emocionalmente.</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44%</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 motivo #1: "</a:t>
            </a:r>
            <a:r>
              <a:rPr sz="1300" b="1" i="0" kern="0" spc="0">
                <a:solidFill>
                  <a:srgbClr val="FFFFFF"/>
                </a:solidFill>
                <a:latin typeface="Poppins"/>
              </a:rPr>
              <a:t>Para consentirme o darme un gusto</a:t>
            </a:r>
            <a:r>
              <a:rPr sz="1300" b="0" i="0" kern="0" spc="0">
                <a:solidFill>
                  <a:srgbClr val="FFFFFF"/>
                </a:solidFill>
                <a:latin typeface="Poppins"/>
              </a:rPr>
              <a:t>" (44.2%), por encima de "buena oportunidad" (39.2%) o "promoción" (33.8%). 25.8% compra cuando está estresada.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73%</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categorías son "</a:t>
            </a:r>
            <a:r>
              <a:rPr sz="1300" b="1" i="0" kern="0" spc="0">
                <a:solidFill>
                  <a:srgbClr val="FFFFFF"/>
                </a:solidFill>
                <a:latin typeface="Poppins"/>
              </a:rPr>
              <a:t>Comidas/Bebidas</a:t>
            </a:r>
            <a:r>
              <a:rPr sz="1300" b="0" i="0" kern="0" spc="0">
                <a:solidFill>
                  <a:srgbClr val="FFFFFF"/>
                </a:solidFill>
                <a:latin typeface="Poppins"/>
              </a:rPr>
              <a:t>" y 59.8% "Ropa/Accesorios"; "Electrónica" apenas 5.0%. Desahogo de día a día, no derroche aspiracional.</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M33, M34, M36, M37 · Mujeres n=240.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524250"/>
            <a:ext cx="15592425" cy="4762500"/>
          </a:xfrm>
          <a:prstGeom prst="rect">
            <a:avLst/>
          </a:prstGeom>
          <a:noFill/>
        </p:spPr>
        <p:txBody>
          <a:bodyPr wrap="square" lIns="0" rIns="0" tIns="0" bIns="0">
            <a:spAutoFit/>
          </a:bodyPr>
          <a:lstStyle/>
          <a:p>
            <a:pPr algn="ctr"/>
            <a:r>
              <a:rPr sz="5000" b="0" i="0" kern="0" spc="0">
                <a:solidFill>
                  <a:srgbClr val="FFFFFF"/>
                </a:solidFill>
                <a:latin typeface="Instrument Serif"/>
              </a:rPr>
              <a:t>«Uno se siente como empoderada y señor me lo merezco, por eso yo trabajo. Tiene como su momento, le llega de vez en vez, no siempre. Déjame comprar ese porchecito, porque se me suba el ánimo.»</a:t>
            </a:r>
          </a:p>
        </p:txBody>
      </p:sp>
      <p:sp>
        <p:nvSpPr>
          <p:cNvPr id="4" name="TextBox 3"/>
          <p:cNvSpPr txBox="1"/>
          <p:nvPr/>
        </p:nvSpPr>
        <p:spPr>
          <a:xfrm>
            <a:off x="0" y="8286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Masivo Jefas de Hogar</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M33, M34, M36, M37 · Mujeres n=240.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50% NO LOGRA AHORRAR CON FACILIDAD. LA ESTRATEGIA QUE MÁS FUNCIONA: </a:t>
            </a:r>
            <a:r>
              <a:rPr sz="5000" b="0" i="1" kern="0" spc="0">
                <a:solidFill>
                  <a:srgbClr val="FFFFFF"/>
                </a:solidFill>
                <a:latin typeface="Instrument Serif"/>
              </a:rPr>
              <a:t>ESCONDERSE EL DINERO DE SÍ MISMAS ANTES DE QUE LLEGUE A LA CUENTA.</a:t>
            </a:r>
          </a:p>
        </p:txBody>
      </p:sp>
      <p:sp>
        <p:nvSpPr>
          <p:cNvPr id="3" name="Rectangle 2"/>
          <p:cNvSpPr/>
          <p:nvPr/>
        </p:nvSpPr>
        <p:spPr>
          <a:xfrm>
            <a:off x="685800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10950" y="3810000"/>
            <a:ext cx="19050" cy="3619500"/>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098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50%</a:t>
            </a:r>
          </a:p>
        </p:txBody>
      </p:sp>
      <p:sp>
        <p:nvSpPr>
          <p:cNvPr id="6" name="TextBox 5"/>
          <p:cNvSpPr txBox="1"/>
          <p:nvPr/>
        </p:nvSpPr>
        <p:spPr>
          <a:xfrm>
            <a:off x="27908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que NO le resulta fácil </a:t>
            </a:r>
            <a:r>
              <a:rPr sz="1300" b="1" i="0" kern="0" spc="0">
                <a:solidFill>
                  <a:srgbClr val="FFFFFF"/>
                </a:solidFill>
                <a:latin typeface="Poppins"/>
              </a:rPr>
              <a:t>ahorrar</a:t>
            </a:r>
            <a:r>
              <a:rPr sz="1300" b="0" i="0" kern="0" spc="0">
                <a:solidFill>
                  <a:srgbClr val="FFFFFF"/>
                </a:solidFill>
                <a:latin typeface="Poppins"/>
              </a:rPr>
              <a:t>. En escala 1-5, el bottom-2 (35.8%) supera al top-2 (35%), con promedio 2.98.</a:t>
            </a:r>
          </a:p>
        </p:txBody>
      </p:sp>
      <p:sp>
        <p:nvSpPr>
          <p:cNvPr id="7" name="TextBox 6"/>
          <p:cNvSpPr txBox="1"/>
          <p:nvPr/>
        </p:nvSpPr>
        <p:spPr>
          <a:xfrm>
            <a:off x="676275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24%</a:t>
            </a:r>
          </a:p>
        </p:txBody>
      </p:sp>
      <p:sp>
        <p:nvSpPr>
          <p:cNvPr id="8" name="TextBox 7"/>
          <p:cNvSpPr txBox="1"/>
          <p:nvPr/>
        </p:nvSpPr>
        <p:spPr>
          <a:xfrm>
            <a:off x="734377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no destina ningún porcentaje de su dinero mensual al </a:t>
            </a:r>
            <a:r>
              <a:rPr sz="1300" b="1" i="0" kern="0" spc="0">
                <a:solidFill>
                  <a:srgbClr val="FFFFFF"/>
                </a:solidFill>
                <a:latin typeface="Poppins"/>
              </a:rPr>
              <a:t>ahorro</a:t>
            </a:r>
            <a:r>
              <a:rPr sz="1300" b="0" i="0" kern="0" spc="0">
                <a:solidFill>
                  <a:srgbClr val="FFFFFF"/>
                </a:solidFill>
                <a:latin typeface="Poppins"/>
              </a:rPr>
              <a:t>; otro 28.3% destina menos del 5%. Más de la mitad ahorra poco o nada.</a:t>
            </a:r>
          </a:p>
        </p:txBody>
      </p:sp>
      <p:sp>
        <p:nvSpPr>
          <p:cNvPr id="9" name="TextBox 8"/>
          <p:cNvSpPr txBox="1"/>
          <p:nvPr/>
        </p:nvSpPr>
        <p:spPr>
          <a:xfrm>
            <a:off x="11315700" y="4000500"/>
            <a:ext cx="4762500" cy="1905000"/>
          </a:xfrm>
          <a:prstGeom prst="rect">
            <a:avLst/>
          </a:prstGeom>
          <a:noFill/>
        </p:spPr>
        <p:txBody>
          <a:bodyPr wrap="square" lIns="0" rIns="0" tIns="0" bIns="0">
            <a:spAutoFit/>
          </a:bodyPr>
          <a:lstStyle/>
          <a:p>
            <a:pPr algn="ctr"/>
            <a:r>
              <a:rPr sz="18000" b="0" i="1" kern="0" spc="0">
                <a:solidFill>
                  <a:srgbClr val="FFFFFF"/>
                </a:solidFill>
                <a:latin typeface="Instrument Serif"/>
              </a:rPr>
              <a:t>66%</a:t>
            </a:r>
          </a:p>
        </p:txBody>
      </p:sp>
      <p:sp>
        <p:nvSpPr>
          <p:cNvPr id="10" name="TextBox 9"/>
          <p:cNvSpPr txBox="1"/>
          <p:nvPr/>
        </p:nvSpPr>
        <p:spPr>
          <a:xfrm>
            <a:off x="11896725" y="6286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t>
            </a:r>
            <a:r>
              <a:rPr sz="1300" b="1" i="0" kern="0" spc="0">
                <a:solidFill>
                  <a:srgbClr val="FFFFFF"/>
                </a:solidFill>
                <a:latin typeface="Poppins"/>
              </a:rPr>
              <a:t>No me alcanza el dinero</a:t>
            </a:r>
            <a:r>
              <a:rPr sz="1300" b="0" i="0" kern="0" spc="0">
                <a:solidFill>
                  <a:srgbClr val="FFFFFF"/>
                </a:solidFill>
                <a:latin typeface="Poppins"/>
              </a:rPr>
              <a:t>" es el obstáculo #1 (65.5%), por encima de "Falta de educación financiera" (58.4%). La brecha de ahorro es de ingresos, no de conocimiento.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M38, M39, M40, M61 · Mujeres n=240.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MECANISMO DEL AHORRO: </a:t>
            </a:r>
            <a:r>
              <a:rPr sz="5000" b="0" i="1" kern="0" spc="0">
                <a:solidFill>
                  <a:srgbClr val="FFFFFF"/>
                </a:solidFill>
                <a:latin typeface="Instrument Serif"/>
              </a:rPr>
              <a:t>INTERCEPTAR EL DINERO ANTES DE QUE LLEGUE A LA MANO.</a:t>
            </a:r>
          </a:p>
        </p:txBody>
      </p:sp>
      <p:sp>
        <p:nvSpPr>
          <p:cNvPr id="3" name="Rounded Rectangle 2"/>
          <p:cNvSpPr/>
          <p:nvPr/>
        </p:nvSpPr>
        <p:spPr>
          <a:xfrm>
            <a:off x="3362325"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«Me entré a la cooperativa de la empresa, no me lo van a extraer de la cuenta. Lo hice con ese fin porque una de mis metas al principio del año fue esa: ahorrar, porque crear un fondo de emergencia.»</a:t>
            </a:r>
          </a:p>
          <a:p>
            <a:pPr algn="ctr">
              <a:spcBef>
                <a:spcPts val="800"/>
              </a:spcBef>
            </a:pPr>
            <a:r>
              <a:rPr sz="1200" i="1" b="0" kern="0" spc="0">
                <a:solidFill>
                  <a:srgbClr val="FFFFFF"/>
                </a:solidFill>
                <a:latin typeface="Poppins"/>
              </a:rPr>
              <a:t>— Familia Preferente Jefas de Hogar</a:t>
            </a:r>
          </a:p>
        </p:txBody>
      </p:sp>
      <p:sp>
        <p:nvSpPr>
          <p:cNvPr id="5" name="Rounded Rectangle 4"/>
          <p:cNvSpPr/>
          <p:nvPr/>
        </p:nvSpPr>
        <p:spPr>
          <a:xfrm>
            <a:off x="9525000" y="4086225"/>
            <a:ext cx="5400675" cy="2162175"/>
          </a:xfrm>
          <a:prstGeom prst="roundRect">
            <a:avLst>
              <a:gd name="adj" fmla="val 6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«Me entré en la cooperativa del trabajo, que es la única forma que ese dinero no entre a mi cuenta y salga.»</a:t>
            </a:r>
          </a:p>
          <a:p>
            <a:pPr algn="ctr">
              <a:spcBef>
                <a:spcPts val="800"/>
              </a:spcBef>
            </a:pPr>
            <a:r>
              <a:rPr sz="1200" i="1" b="0" kern="0" spc="0">
                <a:solidFill>
                  <a:srgbClr val="FFFFFF"/>
                </a:solidFill>
                <a:latin typeface="Poppins"/>
              </a:rPr>
              <a:t>— Familia Preferente Jefas de Hogar</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Finance Women — Estudio cuantitativo 2025 · M38, M39, M40, M61 · Mujeres n=240.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