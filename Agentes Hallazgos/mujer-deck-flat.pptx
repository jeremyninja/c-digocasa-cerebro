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3150" b="0" i="0" kern="0" spc="0">
                <a:solidFill>
                  <a:srgbClr val="FFFFFF"/>
                </a:solidFill>
                <a:latin typeface="Instrument Serif"/>
              </a:rPr>
              <a:t>LA MUJER DE 35-44 AÑOS VIVE EN LA FAMILIA NUCLEAR. LA MUJER DE ESTRATO E Y LA DE 55+ </a:t>
            </a:r>
            <a:r>
              <a:rPr sz="3150" b="0" i="1" kern="0" spc="0">
                <a:solidFill>
                  <a:srgbClr val="FFFFFF"/>
                </a:solidFill>
                <a:latin typeface="Instrument Serif"/>
              </a:rPr>
              <a:t>VIVEN SOLAS CON LO QUE QUEDA.</a:t>
            </a:r>
          </a:p>
        </p:txBody>
      </p:sp>
      <p:sp>
        <p:nvSpPr>
          <p:cNvPr id="3" name="Rectangle 2"/>
          <p:cNvSpPr/>
          <p:nvPr/>
        </p:nvSpPr>
        <p:spPr>
          <a:xfrm>
            <a:off x="6848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20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05000" y="4762500"/>
            <a:ext cx="5334000" cy="1905000"/>
          </a:xfrm>
          <a:prstGeom prst="rect">
            <a:avLst/>
          </a:prstGeom>
          <a:noFill/>
        </p:spPr>
        <p:txBody>
          <a:bodyPr wrap="square" lIns="0" rIns="0" tIns="0" bIns="0">
            <a:spAutoFit/>
          </a:bodyPr>
          <a:lstStyle/>
          <a:p>
            <a:pPr algn="ctr"/>
            <a:r>
              <a:rPr sz="13500" b="0" i="1" kern="0" spc="0">
                <a:solidFill>
                  <a:srgbClr val="FFFFFF"/>
                </a:solidFill>
                <a:latin typeface="Instrument Serif"/>
              </a:rPr>
              <a:t>54%</a:t>
            </a:r>
          </a:p>
        </p:txBody>
      </p:sp>
      <p:sp>
        <p:nvSpPr>
          <p:cNvPr id="6" name="TextBox 5"/>
          <p:cNvSpPr txBox="1"/>
          <p:nvPr/>
        </p:nvSpPr>
        <p:spPr>
          <a:xfrm>
            <a:off x="1905000" y="6858000"/>
            <a:ext cx="5334000" cy="1714500"/>
          </a:xfrm>
          <a:prstGeom prst="rect">
            <a:avLst/>
          </a:prstGeom>
          <a:noFill/>
        </p:spPr>
        <p:txBody>
          <a:bodyPr wrap="square" lIns="0" rIns="0" tIns="0" bIns="0">
            <a:spAutoFit/>
          </a:bodyPr>
          <a:lstStyle/>
          <a:p>
            <a:pPr algn="ctr"/>
            <a:r>
              <a:rPr sz="1650" b="0" i="0" kern="0" spc="0">
                <a:solidFill>
                  <a:srgbClr val="FFFFFF"/>
                </a:solidFill>
                <a:latin typeface="Poppins"/>
              </a:rPr>
              <a:t>de las mujeres de </a:t>
            </a:r>
            <a:r>
              <a:rPr sz="1650" b="1" i="0" kern="0" spc="0">
                <a:solidFill>
                  <a:srgbClr val="FFFFFF"/>
                </a:solidFill>
                <a:latin typeface="Poppins"/>
              </a:rPr>
              <a:t>35-44 años</a:t>
            </a:r>
            <a:r>
              <a:rPr sz="1650" b="0" i="0" kern="0" spc="0">
                <a:solidFill>
                  <a:srgbClr val="FFFFFF"/>
                </a:solidFill>
                <a:latin typeface="Poppins"/>
              </a:rPr>
              <a:t> (n=112) vive en hogar biparental con hijos menores de 18 — TOP-1 de esa franja etaria.</a:t>
            </a:r>
          </a:p>
        </p:txBody>
      </p:sp>
      <p:sp>
        <p:nvSpPr>
          <p:cNvPr id="7" name="TextBox 6"/>
          <p:cNvSpPr txBox="1"/>
          <p:nvPr/>
        </p:nvSpPr>
        <p:spPr>
          <a:xfrm>
            <a:off x="6477000" y="4762500"/>
            <a:ext cx="5334000" cy="1905000"/>
          </a:xfrm>
          <a:prstGeom prst="rect">
            <a:avLst/>
          </a:prstGeom>
          <a:noFill/>
        </p:spPr>
        <p:txBody>
          <a:bodyPr wrap="square" lIns="0" rIns="0" tIns="0" bIns="0">
            <a:spAutoFit/>
          </a:bodyPr>
          <a:lstStyle/>
          <a:p>
            <a:pPr algn="ctr"/>
            <a:r>
              <a:rPr sz="13500" b="0" i="1" kern="0" spc="0">
                <a:solidFill>
                  <a:srgbClr val="FFFFFF"/>
                </a:solidFill>
                <a:latin typeface="Instrument Serif"/>
              </a:rPr>
              <a:t>25%</a:t>
            </a:r>
          </a:p>
        </p:txBody>
      </p:sp>
      <p:sp>
        <p:nvSpPr>
          <p:cNvPr id="8" name="TextBox 7"/>
          <p:cNvSpPr txBox="1"/>
          <p:nvPr/>
        </p:nvSpPr>
        <p:spPr>
          <a:xfrm>
            <a:off x="6477000" y="6858000"/>
            <a:ext cx="5334000" cy="1714500"/>
          </a:xfrm>
          <a:prstGeom prst="rect">
            <a:avLst/>
          </a:prstGeom>
          <a:noFill/>
        </p:spPr>
        <p:txBody>
          <a:bodyPr wrap="square" lIns="0" rIns="0" tIns="0" bIns="0">
            <a:spAutoFit/>
          </a:bodyPr>
          <a:lstStyle/>
          <a:p>
            <a:pPr algn="ctr"/>
            <a:r>
              <a:rPr sz="1650" b="0" i="0" kern="0" spc="0">
                <a:solidFill>
                  <a:srgbClr val="FFFFFF"/>
                </a:solidFill>
                <a:latin typeface="Poppins"/>
              </a:rPr>
              <a:t>de las mujeres del </a:t>
            </a:r>
            <a:r>
              <a:rPr sz="1650" b="1" i="0" kern="0" spc="0">
                <a:solidFill>
                  <a:srgbClr val="FFFFFF"/>
                </a:solidFill>
                <a:latin typeface="Poppins"/>
              </a:rPr>
              <a:t>estrato E</a:t>
            </a:r>
            <a:r>
              <a:rPr sz="1650" b="0" i="0" kern="0" spc="0">
                <a:solidFill>
                  <a:srgbClr val="FFFFFF"/>
                </a:solidFill>
                <a:latin typeface="Poppins"/>
              </a:rPr>
              <a:t> (n=32) declara hogar monoparental — único estrato donde el monoparental destrona al biparental. (tendencia direccional)</a:t>
            </a:r>
          </a:p>
        </p:txBody>
      </p:sp>
      <p:sp>
        <p:nvSpPr>
          <p:cNvPr id="9" name="TextBox 8"/>
          <p:cNvSpPr txBox="1"/>
          <p:nvPr/>
        </p:nvSpPr>
        <p:spPr>
          <a:xfrm>
            <a:off x="11049000" y="4762500"/>
            <a:ext cx="5334000" cy="1905000"/>
          </a:xfrm>
          <a:prstGeom prst="rect">
            <a:avLst/>
          </a:prstGeom>
          <a:noFill/>
        </p:spPr>
        <p:txBody>
          <a:bodyPr wrap="square" lIns="0" rIns="0" tIns="0" bIns="0">
            <a:spAutoFit/>
          </a:bodyPr>
          <a:lstStyle/>
          <a:p>
            <a:pPr algn="ctr"/>
            <a:r>
              <a:rPr sz="13500" b="0" i="1" kern="0" spc="0">
                <a:solidFill>
                  <a:srgbClr val="FFFFFF"/>
                </a:solidFill>
                <a:latin typeface="Instrument Serif"/>
              </a:rPr>
              <a:t>25%</a:t>
            </a:r>
          </a:p>
        </p:txBody>
      </p:sp>
      <p:sp>
        <p:nvSpPr>
          <p:cNvPr id="10" name="TextBox 9"/>
          <p:cNvSpPr txBox="1"/>
          <p:nvPr/>
        </p:nvSpPr>
        <p:spPr>
          <a:xfrm>
            <a:off x="11049000" y="6858000"/>
            <a:ext cx="5334000" cy="1714500"/>
          </a:xfrm>
          <a:prstGeom prst="rect">
            <a:avLst/>
          </a:prstGeom>
          <a:noFill/>
        </p:spPr>
        <p:txBody>
          <a:bodyPr wrap="square" lIns="0" rIns="0" tIns="0" bIns="0">
            <a:spAutoFit/>
          </a:bodyPr>
          <a:lstStyle/>
          <a:p>
            <a:pPr algn="ctr"/>
            <a:r>
              <a:rPr sz="1650" b="0" i="0" kern="0" spc="0">
                <a:solidFill>
                  <a:srgbClr val="FFFFFF"/>
                </a:solidFill>
                <a:latin typeface="Poppins"/>
              </a:rPr>
              <a:t>de las mujeres de </a:t>
            </a:r>
            <a:r>
              <a:rPr sz="1650" b="1" i="0" kern="0" spc="0">
                <a:solidFill>
                  <a:srgbClr val="FFFFFF"/>
                </a:solidFill>
                <a:latin typeface="Poppins"/>
              </a:rPr>
              <a:t>55+</a:t>
            </a:r>
            <a:r>
              <a:rPr sz="1650" b="0" i="0" kern="0" spc="0">
                <a:solidFill>
                  <a:srgbClr val="FFFFFF"/>
                </a:solidFill>
                <a:latin typeface="Poppins"/>
              </a:rPr>
              <a:t> (n=119) lidera con monoparental como TOP-1. La estructura familiar femenina se redibuja en la vejez.</a:t>
            </a:r>
          </a:p>
        </p:txBody>
      </p:sp>
      <p:sp>
        <p:nvSpPr>
          <p:cNvPr id="11" name="TextBox 10"/>
          <p:cNvSpPr txBox="1"/>
          <p:nvPr/>
        </p:nvSpPr>
        <p:spPr>
          <a:xfrm>
            <a:off x="0" y="94297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2025 · P1 × D5, P1 × D6 · Base 500.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«Soy madre soltera, sola, con una situación actualmente de mi madre que falleció y que vive conmigo y mi hermanito en condición especial, entonces es difícil, es difícil todo en general, quién lo cuide, porque yo trabajo todo el tiempo.»</a:t>
            </a:r>
          </a:p>
          <a:p>
            <a:pPr algn="ctr">
              <a:spcBef>
                <a:spcPts val="1000"/>
              </a:spcBef>
            </a:pPr>
            <a:r>
              <a:rPr sz="1650" i="1" b="0" kern="0" spc="0">
                <a:solidFill>
                  <a:srgbClr val="FFFFFF"/>
                </a:solidFill>
                <a:latin typeface="Poppins"/>
              </a:rPr>
              <a:t>— Familia Monoparental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3150" b="0" i="0" kern="0" spc="0">
                <a:solidFill>
                  <a:srgbClr val="FFFFFF"/>
                </a:solidFill>
                <a:latin typeface="Instrument Serif"/>
              </a:rPr>
              <a:t>LA MUJER DOMINICANA DICE QUE LA MADRE ES LA ÚNICA RESPONSABLE DE LA CRIANZA. EL HOMBRE DICE QUE SON AMBOS. </a:t>
            </a:r>
            <a:r>
              <a:rPr sz="3150" b="0" i="1" kern="0" spc="0">
                <a:solidFill>
                  <a:srgbClr val="FFFFFF"/>
                </a:solidFill>
                <a:latin typeface="Instrument Serif"/>
              </a:rPr>
              <a:t>LA DIFERENCIA NO ES DE OPINIÓN — ES DE CASA.</a:t>
            </a:r>
          </a:p>
        </p:txBody>
      </p:sp>
      <p:sp>
        <p:nvSpPr>
          <p:cNvPr id="3" name="Rectangle 2"/>
          <p:cNvSpPr/>
          <p:nvPr/>
        </p:nvSpPr>
        <p:spPr>
          <a:xfrm>
            <a:off x="9134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905000" y="4762500"/>
            <a:ext cx="8382000" cy="1905000"/>
          </a:xfrm>
          <a:prstGeom prst="rect">
            <a:avLst/>
          </a:prstGeom>
          <a:noFill/>
        </p:spPr>
        <p:txBody>
          <a:bodyPr wrap="square" lIns="0" rIns="0" tIns="0" bIns="0">
            <a:spAutoFit/>
          </a:bodyPr>
          <a:lstStyle/>
          <a:p>
            <a:pPr algn="ctr"/>
            <a:r>
              <a:rPr sz="13500" b="0" i="1" kern="0" spc="0">
                <a:solidFill>
                  <a:srgbClr val="FFFFFF"/>
                </a:solidFill>
                <a:latin typeface="Instrument Serif"/>
              </a:rPr>
              <a:t>50%</a:t>
            </a:r>
          </a:p>
        </p:txBody>
      </p:sp>
      <p:sp>
        <p:nvSpPr>
          <p:cNvPr id="5" name="TextBox 4"/>
          <p:cNvSpPr txBox="1"/>
          <p:nvPr/>
        </p:nvSpPr>
        <p:spPr>
          <a:xfrm>
            <a:off x="1905000" y="6858000"/>
            <a:ext cx="8382000" cy="1714500"/>
          </a:xfrm>
          <a:prstGeom prst="rect">
            <a:avLst/>
          </a:prstGeom>
          <a:noFill/>
        </p:spPr>
        <p:txBody>
          <a:bodyPr wrap="square" lIns="0" rIns="0" tIns="0" bIns="0">
            <a:spAutoFit/>
          </a:bodyPr>
          <a:lstStyle/>
          <a:p>
            <a:pPr algn="ctr"/>
            <a:r>
              <a:rPr sz="1650" b="0" i="0" kern="0" spc="0">
                <a:solidFill>
                  <a:srgbClr val="FFFFFF"/>
                </a:solidFill>
                <a:latin typeface="Poppins"/>
              </a:rPr>
              <a:t>del subset femenino (n=305) declara “Madre” como quien tiene la </a:t>
            </a:r>
            <a:r>
              <a:rPr sz="1650" b="1" i="0" kern="0" spc="0">
                <a:solidFill>
                  <a:srgbClr val="FFFFFF"/>
                </a:solidFill>
                <a:latin typeface="Poppins"/>
              </a:rPr>
              <a:t>mayor responsabilidad</a:t>
            </a:r>
            <a:r>
              <a:rPr sz="1650" b="0" i="0" kern="0" spc="0">
                <a:solidFill>
                  <a:srgbClr val="FFFFFF"/>
                </a:solidFill>
                <a:latin typeface="Poppins"/>
              </a:rPr>
              <a:t> de la crianza. Por encima de “Ambos padres” (35.4%).</a:t>
            </a:r>
          </a:p>
        </p:txBody>
      </p:sp>
      <p:sp>
        <p:nvSpPr>
          <p:cNvPr id="6" name="TextBox 5"/>
          <p:cNvSpPr txBox="1"/>
          <p:nvPr/>
        </p:nvSpPr>
        <p:spPr>
          <a:xfrm>
            <a:off x="8001000" y="4762500"/>
            <a:ext cx="8382000" cy="1905000"/>
          </a:xfrm>
          <a:prstGeom prst="rect">
            <a:avLst/>
          </a:prstGeom>
          <a:noFill/>
        </p:spPr>
        <p:txBody>
          <a:bodyPr wrap="square" lIns="0" rIns="0" tIns="0" bIns="0">
            <a:spAutoFit/>
          </a:bodyPr>
          <a:lstStyle/>
          <a:p>
            <a:pPr algn="ctr"/>
            <a:r>
              <a:rPr sz="13500" b="0" i="1" kern="0" spc="0">
                <a:solidFill>
                  <a:srgbClr val="FFFFFF"/>
                </a:solidFill>
                <a:latin typeface="Instrument Serif"/>
              </a:rPr>
              <a:t>46%</a:t>
            </a:r>
          </a:p>
        </p:txBody>
      </p:sp>
      <p:sp>
        <p:nvSpPr>
          <p:cNvPr id="7" name="TextBox 6"/>
          <p:cNvSpPr txBox="1"/>
          <p:nvPr/>
        </p:nvSpPr>
        <p:spPr>
          <a:xfrm>
            <a:off x="8001000" y="6858000"/>
            <a:ext cx="8382000" cy="1714500"/>
          </a:xfrm>
          <a:prstGeom prst="rect">
            <a:avLst/>
          </a:prstGeom>
          <a:noFill/>
        </p:spPr>
        <p:txBody>
          <a:bodyPr wrap="square" lIns="0" rIns="0" tIns="0" bIns="0">
            <a:spAutoFit/>
          </a:bodyPr>
          <a:lstStyle/>
          <a:p>
            <a:pPr algn="ctr"/>
            <a:r>
              <a:rPr sz="1650" b="0" i="0" kern="0" spc="0">
                <a:solidFill>
                  <a:srgbClr val="FFFFFF"/>
                </a:solidFill>
                <a:latin typeface="Poppins"/>
              </a:rPr>
              <a:t>del subset masculino (n=195) declara “</a:t>
            </a:r>
            <a:r>
              <a:rPr sz="1650" b="1" i="0" kern="0" spc="0">
                <a:solidFill>
                  <a:srgbClr val="FFFFFF"/>
                </a:solidFill>
                <a:latin typeface="Poppins"/>
              </a:rPr>
              <a:t>Ambos padres</a:t>
            </a:r>
            <a:r>
              <a:rPr sz="1650" b="0" i="0" kern="0" spc="0">
                <a:solidFill>
                  <a:srgbClr val="FFFFFF"/>
                </a:solidFill>
                <a:latin typeface="Poppins"/>
              </a:rPr>
              <a:t>” como TOP-1. El hombre ve equidad; la mujer ve su propia carga.</a:t>
            </a:r>
          </a:p>
        </p:txBody>
      </p:sp>
      <p:sp>
        <p:nvSpPr>
          <p:cNvPr id="8" name="TextBox 7"/>
          <p:cNvSpPr txBox="1"/>
          <p:nvPr/>
        </p:nvSpPr>
        <p:spPr>
          <a:xfrm>
            <a:off x="0" y="94297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P2 × D2 · Base 500.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«Yo con la imagen dos, yo siempre hago todo. Pero ella ya entiende que arreglar el gavetero, que lo pote y demás, ella entiende que ese es su trabajo, ella siempre lo hace sin mandarlo. Yo no le hago mucho énfasis.»</a:t>
            </a:r>
          </a:p>
          <a:p>
            <a:pPr algn="ctr">
              <a:spcBef>
                <a:spcPts val="1000"/>
              </a:spcBef>
            </a:pPr>
            <a:r>
              <a:rPr sz="1650" i="1" b="0" kern="0" spc="0">
                <a:solidFill>
                  <a:srgbClr val="FFFFFF"/>
                </a:solidFill>
                <a:latin typeface="Poppins"/>
              </a:rPr>
              <a:t>— Familia Monoparental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3150" b="0" i="0" kern="0" spc="0">
                <a:solidFill>
                  <a:srgbClr val="FFFFFF"/>
                </a:solidFill>
                <a:latin typeface="Instrument Serif"/>
              </a:rPr>
              <a:t>59.4% DE LAS MUJERES DEL ESTRATO E SON LAS ÚNICAS RESPONSABLES DE LA CRIANZA, VS 43.5% EN AB. </a:t>
            </a:r>
            <a:r>
              <a:rPr sz="3150" b="0" i="1" kern="0" spc="0">
                <a:solidFill>
                  <a:srgbClr val="FFFFFF"/>
                </a:solidFill>
                <a:latin typeface="Instrument Serif"/>
              </a:rPr>
              <a:t>A MENOS BOLSILLO, MÁS CARGA MATERNA — LA POBREZA VUELVE A ‘MADRE’ SINÓNIMO DE ‘TODOS’.</a:t>
            </a:r>
          </a:p>
        </p:txBody>
      </p:sp>
      <p:sp>
        <p:nvSpPr>
          <p:cNvPr id="3" name="Rectangle 2"/>
          <p:cNvSpPr/>
          <p:nvPr/>
        </p:nvSpPr>
        <p:spPr>
          <a:xfrm>
            <a:off x="6848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20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05000" y="4762500"/>
            <a:ext cx="5334000" cy="1905000"/>
          </a:xfrm>
          <a:prstGeom prst="rect">
            <a:avLst/>
          </a:prstGeom>
          <a:noFill/>
        </p:spPr>
        <p:txBody>
          <a:bodyPr wrap="square" lIns="0" rIns="0" tIns="0" bIns="0">
            <a:spAutoFit/>
          </a:bodyPr>
          <a:lstStyle/>
          <a:p>
            <a:pPr algn="ctr"/>
            <a:r>
              <a:rPr sz="13500" b="0" i="1" kern="0" spc="0">
                <a:solidFill>
                  <a:srgbClr val="FFFFFF"/>
                </a:solidFill>
                <a:latin typeface="Instrument Serif"/>
              </a:rPr>
              <a:t>59%</a:t>
            </a:r>
          </a:p>
        </p:txBody>
      </p:sp>
      <p:sp>
        <p:nvSpPr>
          <p:cNvPr id="6" name="TextBox 5"/>
          <p:cNvSpPr txBox="1"/>
          <p:nvPr/>
        </p:nvSpPr>
        <p:spPr>
          <a:xfrm>
            <a:off x="1905000" y="6858000"/>
            <a:ext cx="5334000" cy="1714500"/>
          </a:xfrm>
          <a:prstGeom prst="rect">
            <a:avLst/>
          </a:prstGeom>
          <a:noFill/>
        </p:spPr>
        <p:txBody>
          <a:bodyPr wrap="square" lIns="0" rIns="0" tIns="0" bIns="0">
            <a:spAutoFit/>
          </a:bodyPr>
          <a:lstStyle/>
          <a:p>
            <a:pPr algn="ctr"/>
            <a:r>
              <a:rPr sz="1650" b="0" i="0" kern="0" spc="0">
                <a:solidFill>
                  <a:srgbClr val="FFFFFF"/>
                </a:solidFill>
                <a:latin typeface="Poppins"/>
              </a:rPr>
              <a:t>del subset </a:t>
            </a:r>
            <a:r>
              <a:rPr sz="1650" b="1" i="0" kern="0" spc="0">
                <a:solidFill>
                  <a:srgbClr val="FFFFFF"/>
                </a:solidFill>
                <a:latin typeface="Poppins"/>
              </a:rPr>
              <a:t>NSE E</a:t>
            </a:r>
            <a:r>
              <a:rPr sz="1650" b="0" i="0" kern="0" spc="0">
                <a:solidFill>
                  <a:srgbClr val="FFFFFF"/>
                </a:solidFill>
                <a:latin typeface="Poppins"/>
              </a:rPr>
              <a:t> declara “Madre” como única responsable — TOP-1 más alto de cualquier estrato. (n≈32, tendencia direccional)</a:t>
            </a:r>
          </a:p>
        </p:txBody>
      </p:sp>
      <p:sp>
        <p:nvSpPr>
          <p:cNvPr id="7" name="TextBox 6"/>
          <p:cNvSpPr txBox="1"/>
          <p:nvPr/>
        </p:nvSpPr>
        <p:spPr>
          <a:xfrm>
            <a:off x="6477000" y="4762500"/>
            <a:ext cx="5334000" cy="1905000"/>
          </a:xfrm>
          <a:prstGeom prst="rect">
            <a:avLst/>
          </a:prstGeom>
          <a:noFill/>
        </p:spPr>
        <p:txBody>
          <a:bodyPr wrap="square" lIns="0" rIns="0" tIns="0" bIns="0">
            <a:spAutoFit/>
          </a:bodyPr>
          <a:lstStyle/>
          <a:p>
            <a:pPr algn="ctr"/>
            <a:r>
              <a:rPr sz="13500" b="0" i="1" kern="0" spc="0">
                <a:solidFill>
                  <a:srgbClr val="FFFFFF"/>
                </a:solidFill>
                <a:latin typeface="Instrument Serif"/>
              </a:rPr>
              <a:t>45%</a:t>
            </a:r>
          </a:p>
        </p:txBody>
      </p:sp>
      <p:sp>
        <p:nvSpPr>
          <p:cNvPr id="8" name="TextBox 7"/>
          <p:cNvSpPr txBox="1"/>
          <p:nvPr/>
        </p:nvSpPr>
        <p:spPr>
          <a:xfrm>
            <a:off x="6477000" y="6858000"/>
            <a:ext cx="5334000" cy="1714500"/>
          </a:xfrm>
          <a:prstGeom prst="rect">
            <a:avLst/>
          </a:prstGeom>
          <a:noFill/>
        </p:spPr>
        <p:txBody>
          <a:bodyPr wrap="square" lIns="0" rIns="0" tIns="0" bIns="0">
            <a:spAutoFit/>
          </a:bodyPr>
          <a:lstStyle/>
          <a:p>
            <a:pPr algn="ctr"/>
            <a:r>
              <a:rPr sz="1650" b="0" i="0" kern="0" spc="0">
                <a:solidFill>
                  <a:srgbClr val="FFFFFF"/>
                </a:solidFill>
                <a:latin typeface="Poppins"/>
              </a:rPr>
              <a:t>del subset </a:t>
            </a:r>
            <a:r>
              <a:rPr sz="1650" b="1" i="0" kern="0" spc="0">
                <a:solidFill>
                  <a:srgbClr val="FFFFFF"/>
                </a:solidFill>
                <a:latin typeface="Poppins"/>
              </a:rPr>
              <a:t>NSE D</a:t>
            </a:r>
            <a:r>
              <a:rPr sz="1650" b="0" i="0" kern="0" spc="0">
                <a:solidFill>
                  <a:srgbClr val="FFFFFF"/>
                </a:solidFill>
                <a:latin typeface="Poppins"/>
              </a:rPr>
              <a:t> (n=172) cita “Madre” como TOP-1. D + E combinados: la lectura materna como única responsable domina la base popular.</a:t>
            </a:r>
          </a:p>
        </p:txBody>
      </p:sp>
      <p:sp>
        <p:nvSpPr>
          <p:cNvPr id="9" name="TextBox 8"/>
          <p:cNvSpPr txBox="1"/>
          <p:nvPr/>
        </p:nvSpPr>
        <p:spPr>
          <a:xfrm>
            <a:off x="11049000" y="4762500"/>
            <a:ext cx="5334000" cy="1905000"/>
          </a:xfrm>
          <a:prstGeom prst="rect">
            <a:avLst/>
          </a:prstGeom>
          <a:noFill/>
        </p:spPr>
        <p:txBody>
          <a:bodyPr wrap="square" lIns="0" rIns="0" tIns="0" bIns="0">
            <a:spAutoFit/>
          </a:bodyPr>
          <a:lstStyle/>
          <a:p>
            <a:pPr algn="ctr"/>
            <a:r>
              <a:rPr sz="13500" b="0" i="1" kern="0" spc="0">
                <a:solidFill>
                  <a:srgbClr val="FFFFFF"/>
                </a:solidFill>
                <a:latin typeface="Instrument Serif"/>
              </a:rPr>
              <a:t>42%</a:t>
            </a:r>
          </a:p>
        </p:txBody>
      </p:sp>
      <p:sp>
        <p:nvSpPr>
          <p:cNvPr id="10" name="TextBox 9"/>
          <p:cNvSpPr txBox="1"/>
          <p:nvPr/>
        </p:nvSpPr>
        <p:spPr>
          <a:xfrm>
            <a:off x="11049000" y="6858000"/>
            <a:ext cx="5334000" cy="1714500"/>
          </a:xfrm>
          <a:prstGeom prst="rect">
            <a:avLst/>
          </a:prstGeom>
          <a:noFill/>
        </p:spPr>
        <p:txBody>
          <a:bodyPr wrap="square" lIns="0" rIns="0" tIns="0" bIns="0">
            <a:spAutoFit/>
          </a:bodyPr>
          <a:lstStyle/>
          <a:p>
            <a:pPr algn="ctr"/>
            <a:r>
              <a:rPr sz="1650" b="0" i="0" kern="0" spc="0">
                <a:solidFill>
                  <a:srgbClr val="FFFFFF"/>
                </a:solidFill>
                <a:latin typeface="Poppins"/>
              </a:rPr>
              <a:t>del subset </a:t>
            </a:r>
            <a:r>
              <a:rPr sz="1650" b="1" i="0" kern="0" spc="0">
                <a:solidFill>
                  <a:srgbClr val="FFFFFF"/>
                </a:solidFill>
                <a:latin typeface="Poppins"/>
              </a:rPr>
              <a:t>NSE C</a:t>
            </a:r>
            <a:r>
              <a:rPr sz="1650" b="0" i="0" kern="0" spc="0">
                <a:solidFill>
                  <a:srgbClr val="FFFFFF"/>
                </a:solidFill>
                <a:latin typeface="Poppins"/>
              </a:rPr>
              <a:t> (n=218) declara “Ambos padres” como TOP-1 — primer estrato donde el reparto co-parental se vuelve mayoría.</a:t>
            </a:r>
          </a:p>
        </p:txBody>
      </p:sp>
      <p:sp>
        <p:nvSpPr>
          <p:cNvPr id="11" name="TextBox 10"/>
          <p:cNvSpPr txBox="1"/>
          <p:nvPr/>
        </p:nvSpPr>
        <p:spPr>
          <a:xfrm>
            <a:off x="0" y="94297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P2 × D6 · Base 500.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«Mis hijos, los amo y los quiero, pero también son iguales. Claro, por ejemplo, las escuelas, los colegios son expertos en ponerte una misma reunión de dos grados distintos a la misma hora. Y Ana Castillo, la única madre, es la que tiene que ir.»</a:t>
            </a:r>
          </a:p>
          <a:p>
            <a:pPr algn="ctr">
              <a:spcBef>
                <a:spcPts val="1000"/>
              </a:spcBef>
            </a:pPr>
            <a:r>
              <a:rPr sz="1650" i="1" b="0" kern="0" spc="0">
                <a:solidFill>
                  <a:srgbClr val="FFFFFF"/>
                </a:solidFill>
                <a:latin typeface="Poppins"/>
              </a:rPr>
              <a:t>— Familia Mixta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3150" b="0" i="0" kern="0" spc="0">
                <a:solidFill>
                  <a:srgbClr val="FFFFFF"/>
                </a:solidFill>
                <a:latin typeface="Instrument Serif"/>
              </a:rPr>
              <a:t>85.4% DE LAS MUJERES DEL ESTUDIO YA TIENE HIJOS. DE LAS QUE NO, </a:t>
            </a:r>
            <a:r>
              <a:rPr sz="3150" b="0" i="1" kern="0" spc="0">
                <a:solidFill>
                  <a:srgbClr val="FFFFFF"/>
                </a:solidFill>
                <a:latin typeface="Instrument Serif"/>
              </a:rPr>
              <a:t>CASI NADIE LO NOMBRA COMO ELECCIÓN — LA NO MATERNIDAD AÚN NO TIENE NOMBRE EN RD.</a:t>
            </a:r>
          </a:p>
        </p:txBody>
      </p:sp>
      <p:sp>
        <p:nvSpPr>
          <p:cNvPr id="3" name="Rectangle 2"/>
          <p:cNvSpPr/>
          <p:nvPr/>
        </p:nvSpPr>
        <p:spPr>
          <a:xfrm>
            <a:off x="9134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905000" y="4762500"/>
            <a:ext cx="8382000" cy="1905000"/>
          </a:xfrm>
          <a:prstGeom prst="rect">
            <a:avLst/>
          </a:prstGeom>
          <a:noFill/>
        </p:spPr>
        <p:txBody>
          <a:bodyPr wrap="square" lIns="0" rIns="0" tIns="0" bIns="0">
            <a:spAutoFit/>
          </a:bodyPr>
          <a:lstStyle/>
          <a:p>
            <a:pPr algn="ctr"/>
            <a:r>
              <a:rPr sz="13500" b="0" i="1" kern="0" spc="0">
                <a:solidFill>
                  <a:srgbClr val="FFFFFF"/>
                </a:solidFill>
                <a:latin typeface="Instrument Serif"/>
              </a:rPr>
              <a:t>85%</a:t>
            </a:r>
          </a:p>
        </p:txBody>
      </p:sp>
      <p:sp>
        <p:nvSpPr>
          <p:cNvPr id="5" name="TextBox 4"/>
          <p:cNvSpPr txBox="1"/>
          <p:nvPr/>
        </p:nvSpPr>
        <p:spPr>
          <a:xfrm>
            <a:off x="1905000" y="6858000"/>
            <a:ext cx="8382000" cy="1714500"/>
          </a:xfrm>
          <a:prstGeom prst="rect">
            <a:avLst/>
          </a:prstGeom>
          <a:noFill/>
        </p:spPr>
        <p:txBody>
          <a:bodyPr wrap="square" lIns="0" rIns="0" tIns="0" bIns="0">
            <a:spAutoFit/>
          </a:bodyPr>
          <a:lstStyle/>
          <a:p>
            <a:pPr algn="ctr"/>
            <a:r>
              <a:rPr sz="1650" b="0" i="0" kern="0" spc="0">
                <a:solidFill>
                  <a:srgbClr val="FFFFFF"/>
                </a:solidFill>
                <a:latin typeface="Poppins"/>
              </a:rPr>
              <a:t>del subsample femenino (n=305) declara “</a:t>
            </a:r>
            <a:r>
              <a:rPr sz="1650" b="1" i="0" kern="0" spc="0">
                <a:solidFill>
                  <a:srgbClr val="FFFFFF"/>
                </a:solidFill>
                <a:latin typeface="Poppins"/>
              </a:rPr>
              <a:t>Tengo hijos actualmente</a:t>
            </a:r>
            <a:r>
              <a:rPr sz="1650" b="0" i="0" kern="0" spc="0">
                <a:solidFill>
                  <a:srgbClr val="FFFFFF"/>
                </a:solidFill>
                <a:latin typeface="Poppins"/>
              </a:rPr>
              <a:t>”. Código Casa capta una mujer dominicana mayoritariamente madre.</a:t>
            </a:r>
          </a:p>
        </p:txBody>
      </p:sp>
      <p:sp>
        <p:nvSpPr>
          <p:cNvPr id="6" name="TextBox 5"/>
          <p:cNvSpPr txBox="1"/>
          <p:nvPr/>
        </p:nvSpPr>
        <p:spPr>
          <a:xfrm>
            <a:off x="8001000" y="4762500"/>
            <a:ext cx="8382000" cy="1905000"/>
          </a:xfrm>
          <a:prstGeom prst="rect">
            <a:avLst/>
          </a:prstGeom>
          <a:noFill/>
        </p:spPr>
        <p:txBody>
          <a:bodyPr wrap="square" lIns="0" rIns="0" tIns="0" bIns="0">
            <a:spAutoFit/>
          </a:bodyPr>
          <a:lstStyle/>
          <a:p>
            <a:pPr algn="ctr"/>
            <a:r>
              <a:rPr sz="13500" b="0" i="1" kern="0" spc="0">
                <a:solidFill>
                  <a:srgbClr val="FFFFFF"/>
                </a:solidFill>
                <a:latin typeface="Instrument Serif"/>
              </a:rPr>
              <a:t>15%</a:t>
            </a:r>
          </a:p>
        </p:txBody>
      </p:sp>
      <p:sp>
        <p:nvSpPr>
          <p:cNvPr id="7" name="TextBox 6"/>
          <p:cNvSpPr txBox="1"/>
          <p:nvPr/>
        </p:nvSpPr>
        <p:spPr>
          <a:xfrm>
            <a:off x="8001000" y="6858000"/>
            <a:ext cx="8382000" cy="1714500"/>
          </a:xfrm>
          <a:prstGeom prst="rect">
            <a:avLst/>
          </a:prstGeom>
          <a:noFill/>
        </p:spPr>
        <p:txBody>
          <a:bodyPr wrap="square" lIns="0" rIns="0" tIns="0" bIns="0">
            <a:spAutoFit/>
          </a:bodyPr>
          <a:lstStyle/>
          <a:p>
            <a:pPr algn="ctr"/>
            <a:r>
              <a:rPr sz="1650" b="0" i="0" kern="0" spc="0">
                <a:solidFill>
                  <a:srgbClr val="FFFFFF"/>
                </a:solidFill>
                <a:latin typeface="Poppins"/>
              </a:rPr>
              <a:t>del total femenino no tiene hijos. Razones declaradas: “</a:t>
            </a:r>
            <a:r>
              <a:rPr sz="1650" b="1" i="0" kern="0" spc="0">
                <a:solidFill>
                  <a:srgbClr val="FFFFFF"/>
                </a:solidFill>
                <a:latin typeface="Poppins"/>
              </a:rPr>
              <a:t>no es prioridad</a:t>
            </a:r>
            <a:r>
              <a:rPr sz="1650" b="0" i="0" kern="0" spc="0">
                <a:solidFill>
                  <a:srgbClr val="FFFFFF"/>
                </a:solidFill>
                <a:latin typeface="Poppins"/>
              </a:rPr>
              <a:t>” (3.8%), económicas (2.2%), no deseo (1.0%). La no maternidad aún no tiene nombre propio.</a:t>
            </a:r>
          </a:p>
        </p:txBody>
      </p:sp>
      <p:sp>
        <p:nvSpPr>
          <p:cNvPr id="8" name="TextBox 7"/>
          <p:cNvSpPr txBox="1"/>
          <p:nvPr/>
        </p:nvSpPr>
        <p:spPr>
          <a:xfrm>
            <a:off x="0" y="94297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P11 · Base 305.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«Si yo no hubiese tenido hijos estuviera viajando y estudiando 24 a 7.»</a:t>
            </a:r>
          </a:p>
          <a:p>
            <a:pPr algn="ctr">
              <a:spcBef>
                <a:spcPts val="1000"/>
              </a:spcBef>
            </a:pPr>
            <a:r>
              <a:rPr sz="1650" i="1" b="0" kern="0" spc="0">
                <a:solidFill>
                  <a:srgbClr val="FFFFFF"/>
                </a:solidFill>
                <a:latin typeface="Poppins"/>
              </a:rPr>
              <a:t>— Familia Mixta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3150" b="0" i="0" kern="0" spc="0">
                <a:solidFill>
                  <a:srgbClr val="FFFFFF"/>
                </a:solidFill>
                <a:latin typeface="Instrument Serif"/>
              </a:rPr>
              <a:t>66.6% DE LAS MUJERES DICE QUE COCINAR LO HACE ELLA. LAVAR LA ROPA: 63.0%. LIMPIAR LA CASA: 59.6%. </a:t>
            </a:r>
            <a:r>
              <a:rPr sz="3150" b="0" i="1" kern="0" spc="0">
                <a:solidFill>
                  <a:srgbClr val="FFFFFF"/>
                </a:solidFill>
                <a:latin typeface="Instrument Serif"/>
              </a:rPr>
              <a:t>EL TRÍO DOMÉSTICO CLÁSICO SIGUE SIENDO TERRITORIO FEMENINO.</a:t>
            </a:r>
          </a:p>
        </p:txBody>
      </p:sp>
      <p:sp>
        <p:nvSpPr>
          <p:cNvPr id="3" name="Rectangle 2"/>
          <p:cNvSpPr/>
          <p:nvPr/>
        </p:nvSpPr>
        <p:spPr>
          <a:xfrm>
            <a:off x="9134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905000" y="4762500"/>
            <a:ext cx="8382000" cy="1905000"/>
          </a:xfrm>
          <a:prstGeom prst="rect">
            <a:avLst/>
          </a:prstGeom>
          <a:noFill/>
        </p:spPr>
        <p:txBody>
          <a:bodyPr wrap="square" lIns="0" rIns="0" tIns="0" bIns="0">
            <a:spAutoFit/>
          </a:bodyPr>
          <a:lstStyle/>
          <a:p>
            <a:pPr algn="ctr"/>
            <a:r>
              <a:rPr sz="13500" b="0" i="1" kern="0" spc="0">
                <a:solidFill>
                  <a:srgbClr val="FFFFFF"/>
                </a:solidFill>
                <a:latin typeface="Instrument Serif"/>
              </a:rPr>
              <a:t>67%</a:t>
            </a:r>
          </a:p>
        </p:txBody>
      </p:sp>
      <p:sp>
        <p:nvSpPr>
          <p:cNvPr id="5" name="TextBox 4"/>
          <p:cNvSpPr txBox="1"/>
          <p:nvPr/>
        </p:nvSpPr>
        <p:spPr>
          <a:xfrm>
            <a:off x="1905000" y="6858000"/>
            <a:ext cx="8382000" cy="1714500"/>
          </a:xfrm>
          <a:prstGeom prst="rect">
            <a:avLst/>
          </a:prstGeom>
          <a:noFill/>
        </p:spPr>
        <p:txBody>
          <a:bodyPr wrap="square" lIns="0" rIns="0" tIns="0" bIns="0">
            <a:spAutoFit/>
          </a:bodyPr>
          <a:lstStyle/>
          <a:p>
            <a:pPr algn="ctr"/>
            <a:r>
              <a:rPr sz="1650" b="0" i="0" kern="0" spc="0">
                <a:solidFill>
                  <a:srgbClr val="FFFFFF"/>
                </a:solidFill>
                <a:latin typeface="Poppins"/>
              </a:rPr>
              <a:t>del subsample femenino (n=305) dice que </a:t>
            </a:r>
            <a:r>
              <a:rPr sz="1650" b="1" i="0" kern="0" spc="0">
                <a:solidFill>
                  <a:srgbClr val="FFFFFF"/>
                </a:solidFill>
                <a:latin typeface="Poppins"/>
              </a:rPr>
              <a:t>cocinar</a:t>
            </a:r>
            <a:r>
              <a:rPr sz="1650" b="0" i="0" kern="0" spc="0">
                <a:solidFill>
                  <a:srgbClr val="FFFFFF"/>
                </a:solidFill>
                <a:latin typeface="Poppins"/>
              </a:rPr>
              <a:t> lo hace “más la mujer” — ítem con mayor concentración femenina de toda la matriz P33.</a:t>
            </a:r>
          </a:p>
        </p:txBody>
      </p:sp>
      <p:sp>
        <p:nvSpPr>
          <p:cNvPr id="6" name="TextBox 5"/>
          <p:cNvSpPr txBox="1"/>
          <p:nvPr/>
        </p:nvSpPr>
        <p:spPr>
          <a:xfrm>
            <a:off x="8001000" y="4762500"/>
            <a:ext cx="8382000" cy="1905000"/>
          </a:xfrm>
          <a:prstGeom prst="rect">
            <a:avLst/>
          </a:prstGeom>
          <a:noFill/>
        </p:spPr>
        <p:txBody>
          <a:bodyPr wrap="square" lIns="0" rIns="0" tIns="0" bIns="0">
            <a:spAutoFit/>
          </a:bodyPr>
          <a:lstStyle/>
          <a:p>
            <a:pPr algn="ctr"/>
            <a:r>
              <a:rPr sz="13500" b="0" i="1" kern="0" spc="0">
                <a:solidFill>
                  <a:srgbClr val="FFFFFF"/>
                </a:solidFill>
                <a:latin typeface="Instrument Serif"/>
              </a:rPr>
              <a:t>63%</a:t>
            </a:r>
          </a:p>
        </p:txBody>
      </p:sp>
      <p:sp>
        <p:nvSpPr>
          <p:cNvPr id="7" name="TextBox 6"/>
          <p:cNvSpPr txBox="1"/>
          <p:nvPr/>
        </p:nvSpPr>
        <p:spPr>
          <a:xfrm>
            <a:off x="8001000" y="6858000"/>
            <a:ext cx="8382000" cy="1714500"/>
          </a:xfrm>
          <a:prstGeom prst="rect">
            <a:avLst/>
          </a:prstGeom>
          <a:noFill/>
        </p:spPr>
        <p:txBody>
          <a:bodyPr wrap="square" lIns="0" rIns="0" tIns="0" bIns="0">
            <a:spAutoFit/>
          </a:bodyPr>
          <a:lstStyle/>
          <a:p>
            <a:pPr algn="ctr"/>
            <a:r>
              <a:rPr sz="1650" b="0" i="0" kern="0" spc="0">
                <a:solidFill>
                  <a:srgbClr val="FFFFFF"/>
                </a:solidFill>
                <a:latin typeface="Poppins"/>
              </a:rPr>
              <a:t>dice que </a:t>
            </a:r>
            <a:r>
              <a:rPr sz="1650" b="1" i="0" kern="0" spc="0">
                <a:solidFill>
                  <a:srgbClr val="FFFFFF"/>
                </a:solidFill>
                <a:latin typeface="Poppins"/>
              </a:rPr>
              <a:t>lavar la ropa</a:t>
            </a:r>
            <a:r>
              <a:rPr sz="1650" b="0" i="0" kern="0" spc="0">
                <a:solidFill>
                  <a:srgbClr val="FFFFFF"/>
                </a:solidFill>
                <a:latin typeface="Poppins"/>
              </a:rPr>
              <a:t> es “más la mujer”; 59.6% limpiar la casa. Los tres ítems más feminizados: cocina, ropa y limpieza.</a:t>
            </a:r>
          </a:p>
        </p:txBody>
      </p:sp>
      <p:sp>
        <p:nvSpPr>
          <p:cNvPr id="8" name="TextBox 7"/>
          <p:cNvSpPr txBox="1"/>
          <p:nvPr/>
        </p:nvSpPr>
        <p:spPr>
          <a:xfrm>
            <a:off x="0" y="94297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P33 · Base 305.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«Y bueno, como mujer, bueno, no sabía cocinar y tuve que hacerlo. Obligada, aprendí a mamá, pero... No me gusta, pero tengo que hacerlo.»</a:t>
            </a:r>
          </a:p>
          <a:p>
            <a:pPr algn="ctr">
              <a:spcBef>
                <a:spcPts val="1000"/>
              </a:spcBef>
            </a:pPr>
            <a:r>
              <a:rPr sz="1650" i="1" b="0" kern="0" spc="0">
                <a:solidFill>
                  <a:srgbClr val="FFFFFF"/>
                </a:solidFill>
                <a:latin typeface="Poppins"/>
              </a:rPr>
              <a:t>— Familia Monoparental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3150" b="0" i="0" kern="0" spc="0">
                <a:solidFill>
                  <a:srgbClr val="FFFFFF"/>
                </a:solidFill>
                <a:latin typeface="Instrument Serif"/>
              </a:rPr>
              <a:t>COCINA: 66.6% DE ELLA. LIMPIEZA: 59.6% DE ELLA. MANEJO DEL DINERO DEL HOGAR: </a:t>
            </a:r>
            <a:r>
              <a:rPr sz="3150" b="0" i="1" kern="0" spc="0">
                <a:solidFill>
                  <a:srgbClr val="FFFFFF"/>
                </a:solidFill>
                <a:latin typeface="Instrument Serif"/>
              </a:rPr>
              <a:t>51.0% DE AMBOS. LA FEMINIZACIÓN DOMÉSTICA SE DETIENE DONDE EMPIEZA EL DINERO.</a:t>
            </a:r>
          </a:p>
        </p:txBody>
      </p:sp>
      <p:sp>
        <p:nvSpPr>
          <p:cNvPr id="3" name="Rectangle 2"/>
          <p:cNvSpPr/>
          <p:nvPr/>
        </p:nvSpPr>
        <p:spPr>
          <a:xfrm>
            <a:off x="6848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20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05000" y="4762500"/>
            <a:ext cx="5334000" cy="1905000"/>
          </a:xfrm>
          <a:prstGeom prst="rect">
            <a:avLst/>
          </a:prstGeom>
          <a:noFill/>
        </p:spPr>
        <p:txBody>
          <a:bodyPr wrap="square" lIns="0" rIns="0" tIns="0" bIns="0">
            <a:spAutoFit/>
          </a:bodyPr>
          <a:lstStyle/>
          <a:p>
            <a:pPr algn="ctr"/>
            <a:r>
              <a:rPr sz="13500" b="0" i="1" kern="0" spc="0">
                <a:solidFill>
                  <a:srgbClr val="FFFFFF"/>
                </a:solidFill>
                <a:latin typeface="Instrument Serif"/>
              </a:rPr>
              <a:t>29%</a:t>
            </a:r>
          </a:p>
        </p:txBody>
      </p:sp>
      <p:sp>
        <p:nvSpPr>
          <p:cNvPr id="6" name="TextBox 5"/>
          <p:cNvSpPr txBox="1"/>
          <p:nvPr/>
        </p:nvSpPr>
        <p:spPr>
          <a:xfrm>
            <a:off x="1905000" y="6858000"/>
            <a:ext cx="5334000" cy="1714500"/>
          </a:xfrm>
          <a:prstGeom prst="rect">
            <a:avLst/>
          </a:prstGeom>
          <a:noFill/>
        </p:spPr>
        <p:txBody>
          <a:bodyPr wrap="square" lIns="0" rIns="0" tIns="0" bIns="0">
            <a:spAutoFit/>
          </a:bodyPr>
          <a:lstStyle/>
          <a:p>
            <a:pPr algn="ctr"/>
            <a:r>
              <a:rPr sz="1650" b="0" i="0" kern="0" spc="0">
                <a:solidFill>
                  <a:srgbClr val="FFFFFF"/>
                </a:solidFill>
                <a:latin typeface="Poppins"/>
              </a:rPr>
              <a:t>dice que el </a:t>
            </a:r>
            <a:r>
              <a:rPr sz="1650" b="1" i="0" kern="0" spc="0">
                <a:solidFill>
                  <a:srgbClr val="FFFFFF"/>
                </a:solidFill>
                <a:latin typeface="Poppins"/>
              </a:rPr>
              <a:t>pago de servicios</a:t>
            </a:r>
            <a:r>
              <a:rPr sz="1650" b="0" i="0" kern="0" spc="0">
                <a:solidFill>
                  <a:srgbClr val="FFFFFF"/>
                </a:solidFill>
                <a:latin typeface="Poppins"/>
              </a:rPr>
              <a:t> lo hace “más la mujer”; 42.0% “ambos por igual”; 27.0% “más el hombre”. Tarea más equitativa de la matriz.</a:t>
            </a:r>
          </a:p>
        </p:txBody>
      </p:sp>
      <p:sp>
        <p:nvSpPr>
          <p:cNvPr id="7" name="TextBox 6"/>
          <p:cNvSpPr txBox="1"/>
          <p:nvPr/>
        </p:nvSpPr>
        <p:spPr>
          <a:xfrm>
            <a:off x="6477000" y="4762500"/>
            <a:ext cx="5334000" cy="1905000"/>
          </a:xfrm>
          <a:prstGeom prst="rect">
            <a:avLst/>
          </a:prstGeom>
          <a:noFill/>
        </p:spPr>
        <p:txBody>
          <a:bodyPr wrap="square" lIns="0" rIns="0" tIns="0" bIns="0">
            <a:spAutoFit/>
          </a:bodyPr>
          <a:lstStyle/>
          <a:p>
            <a:pPr algn="ctr"/>
            <a:r>
              <a:rPr sz="13500" b="0" i="1" kern="0" spc="0">
                <a:solidFill>
                  <a:srgbClr val="FFFFFF"/>
                </a:solidFill>
                <a:latin typeface="Instrument Serif"/>
              </a:rPr>
              <a:t>31%</a:t>
            </a:r>
          </a:p>
        </p:txBody>
      </p:sp>
      <p:sp>
        <p:nvSpPr>
          <p:cNvPr id="8" name="TextBox 7"/>
          <p:cNvSpPr txBox="1"/>
          <p:nvPr/>
        </p:nvSpPr>
        <p:spPr>
          <a:xfrm>
            <a:off x="6477000" y="6858000"/>
            <a:ext cx="5334000" cy="1714500"/>
          </a:xfrm>
          <a:prstGeom prst="rect">
            <a:avLst/>
          </a:prstGeom>
          <a:noFill/>
        </p:spPr>
        <p:txBody>
          <a:bodyPr wrap="square" lIns="0" rIns="0" tIns="0" bIns="0">
            <a:spAutoFit/>
          </a:bodyPr>
          <a:lstStyle/>
          <a:p>
            <a:pPr algn="ctr"/>
            <a:r>
              <a:rPr sz="1650" b="0" i="0" kern="0" spc="0">
                <a:solidFill>
                  <a:srgbClr val="FFFFFF"/>
                </a:solidFill>
                <a:latin typeface="Poppins"/>
              </a:rPr>
              <a:t>dice que el </a:t>
            </a:r>
            <a:r>
              <a:rPr sz="1650" b="1" i="0" kern="0" spc="0">
                <a:solidFill>
                  <a:srgbClr val="FFFFFF"/>
                </a:solidFill>
                <a:latin typeface="Poppins"/>
              </a:rPr>
              <a:t>manejo del dinero del hogar</a:t>
            </a:r>
            <a:r>
              <a:rPr sz="1650" b="0" i="0" kern="0" spc="0">
                <a:solidFill>
                  <a:srgbClr val="FFFFFF"/>
                </a:solidFill>
                <a:latin typeface="Poppins"/>
              </a:rPr>
              <a:t> lo hace “más la mujer”; 51.0% “ambos por igual” — el ítem más co-gestionado de la matriz.</a:t>
            </a:r>
          </a:p>
        </p:txBody>
      </p:sp>
      <p:sp>
        <p:nvSpPr>
          <p:cNvPr id="9" name="TextBox 8"/>
          <p:cNvSpPr txBox="1"/>
          <p:nvPr/>
        </p:nvSpPr>
        <p:spPr>
          <a:xfrm>
            <a:off x="11049000" y="4762500"/>
            <a:ext cx="5334000" cy="1905000"/>
          </a:xfrm>
          <a:prstGeom prst="rect">
            <a:avLst/>
          </a:prstGeom>
          <a:noFill/>
        </p:spPr>
        <p:txBody>
          <a:bodyPr wrap="square" lIns="0" rIns="0" tIns="0" bIns="0">
            <a:spAutoFit/>
          </a:bodyPr>
          <a:lstStyle/>
          <a:p>
            <a:pPr algn="ctr"/>
            <a:r>
              <a:rPr sz="13500" b="0" i="1" kern="0" spc="0">
                <a:solidFill>
                  <a:srgbClr val="FFFFFF"/>
                </a:solidFill>
                <a:latin typeface="Instrument Serif"/>
              </a:rPr>
              <a:t>51%</a:t>
            </a:r>
          </a:p>
        </p:txBody>
      </p:sp>
      <p:sp>
        <p:nvSpPr>
          <p:cNvPr id="10" name="TextBox 9"/>
          <p:cNvSpPr txBox="1"/>
          <p:nvPr/>
        </p:nvSpPr>
        <p:spPr>
          <a:xfrm>
            <a:off x="11049000" y="6858000"/>
            <a:ext cx="5334000" cy="1714500"/>
          </a:xfrm>
          <a:prstGeom prst="rect">
            <a:avLst/>
          </a:prstGeom>
          <a:noFill/>
        </p:spPr>
        <p:txBody>
          <a:bodyPr wrap="square" lIns="0" rIns="0" tIns="0" bIns="0">
            <a:spAutoFit/>
          </a:bodyPr>
          <a:lstStyle/>
          <a:p>
            <a:pPr algn="ctr"/>
            <a:r>
              <a:rPr sz="1650" b="0" i="0" kern="0" spc="0">
                <a:solidFill>
                  <a:srgbClr val="FFFFFF"/>
                </a:solidFill>
                <a:latin typeface="Poppins"/>
              </a:rPr>
              <a:t>declara “</a:t>
            </a:r>
            <a:r>
              <a:rPr sz="1650" b="1" i="0" kern="0" spc="0">
                <a:solidFill>
                  <a:srgbClr val="FFFFFF"/>
                </a:solidFill>
                <a:latin typeface="Poppins"/>
              </a:rPr>
              <a:t>ambos por igual</a:t>
            </a:r>
            <a:r>
              <a:rPr sz="1650" b="0" i="0" kern="0" spc="0">
                <a:solidFill>
                  <a:srgbClr val="FFFFFF"/>
                </a:solidFill>
                <a:latin typeface="Poppins"/>
              </a:rPr>
              <a:t>” en manejo del dinero. En cocina: 66.6% ella. La frontera de la carga femenina pasa donde empieza la administración del dinero.</a:t>
            </a:r>
          </a:p>
        </p:txBody>
      </p:sp>
      <p:sp>
        <p:nvSpPr>
          <p:cNvPr id="11" name="TextBox 10"/>
          <p:cNvSpPr txBox="1"/>
          <p:nvPr/>
        </p:nvSpPr>
        <p:spPr>
          <a:xfrm>
            <a:off x="0" y="94297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2025 · P33 · Base 305.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3150" b="0" i="0" kern="0" spc="0">
                <a:solidFill>
                  <a:srgbClr val="FFFFFF"/>
                </a:solidFill>
                <a:latin typeface="Instrument Serif"/>
              </a:rPr>
              <a:t>45.2% DICE QUE ACOMPAÑAR A CITAS MÉDICAS O ESCOLARES LO HACE ELLA. </a:t>
            </a:r>
            <a:r>
              <a:rPr sz="3150" b="0" i="1" kern="0" spc="0">
                <a:solidFill>
                  <a:srgbClr val="FFFFFF"/>
                </a:solidFill>
                <a:latin typeface="Instrument Serif"/>
              </a:rPr>
              <a:t>EL TRABAJO DE PRESENCIA — LLEVAR, ESPERAR, RESOLVER — TAMBIÉN ES TRABAJO DE MUJER.</a:t>
            </a:r>
          </a:p>
        </p:txBody>
      </p:sp>
      <p:sp>
        <p:nvSpPr>
          <p:cNvPr id="3" name="Rectangle 2"/>
          <p:cNvSpPr/>
          <p:nvPr/>
        </p:nvSpPr>
        <p:spPr>
          <a:xfrm>
            <a:off x="9134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905000" y="4762500"/>
            <a:ext cx="8382000" cy="1905000"/>
          </a:xfrm>
          <a:prstGeom prst="rect">
            <a:avLst/>
          </a:prstGeom>
          <a:noFill/>
        </p:spPr>
        <p:txBody>
          <a:bodyPr wrap="square" lIns="0" rIns="0" tIns="0" bIns="0">
            <a:spAutoFit/>
          </a:bodyPr>
          <a:lstStyle/>
          <a:p>
            <a:pPr algn="ctr"/>
            <a:r>
              <a:rPr sz="13500" b="0" i="1" kern="0" spc="0">
                <a:solidFill>
                  <a:srgbClr val="FFFFFF"/>
                </a:solidFill>
                <a:latin typeface="Instrument Serif"/>
              </a:rPr>
              <a:t>45%</a:t>
            </a:r>
          </a:p>
        </p:txBody>
      </p:sp>
      <p:sp>
        <p:nvSpPr>
          <p:cNvPr id="5" name="TextBox 4"/>
          <p:cNvSpPr txBox="1"/>
          <p:nvPr/>
        </p:nvSpPr>
        <p:spPr>
          <a:xfrm>
            <a:off x="1905000" y="6858000"/>
            <a:ext cx="8382000" cy="1714500"/>
          </a:xfrm>
          <a:prstGeom prst="rect">
            <a:avLst/>
          </a:prstGeom>
          <a:noFill/>
        </p:spPr>
        <p:txBody>
          <a:bodyPr wrap="square" lIns="0" rIns="0" tIns="0" bIns="0">
            <a:spAutoFit/>
          </a:bodyPr>
          <a:lstStyle/>
          <a:p>
            <a:pPr algn="ctr"/>
            <a:r>
              <a:rPr sz="1650" b="0" i="0" kern="0" spc="0">
                <a:solidFill>
                  <a:srgbClr val="FFFFFF"/>
                </a:solidFill>
                <a:latin typeface="Poppins"/>
              </a:rPr>
              <a:t>del subsample femenino dice que </a:t>
            </a:r>
            <a:r>
              <a:rPr sz="1650" b="1" i="0" kern="0" spc="0">
                <a:solidFill>
                  <a:srgbClr val="FFFFFF"/>
                </a:solidFill>
                <a:latin typeface="Poppins"/>
              </a:rPr>
              <a:t>citas médicas o escolares</a:t>
            </a:r>
            <a:r>
              <a:rPr sz="1650" b="0" i="0" kern="0" spc="0">
                <a:solidFill>
                  <a:srgbClr val="FFFFFF"/>
                </a:solidFill>
                <a:latin typeface="Poppins"/>
              </a:rPr>
              <a:t> lo hace “más la mujer”. 27.6% “ambos por igual”; 21.0% “no aplica”.</a:t>
            </a:r>
          </a:p>
        </p:txBody>
      </p:sp>
      <p:sp>
        <p:nvSpPr>
          <p:cNvPr id="6" name="TextBox 5"/>
          <p:cNvSpPr txBox="1"/>
          <p:nvPr/>
        </p:nvSpPr>
        <p:spPr>
          <a:xfrm>
            <a:off x="8001000" y="4762500"/>
            <a:ext cx="8382000" cy="1905000"/>
          </a:xfrm>
          <a:prstGeom prst="rect">
            <a:avLst/>
          </a:prstGeom>
          <a:noFill/>
        </p:spPr>
        <p:txBody>
          <a:bodyPr wrap="square" lIns="0" rIns="0" tIns="0" bIns="0">
            <a:spAutoFit/>
          </a:bodyPr>
          <a:lstStyle/>
          <a:p>
            <a:pPr algn="ctr"/>
            <a:r>
              <a:rPr sz="13500" b="0" i="1" kern="0" spc="0">
                <a:solidFill>
                  <a:srgbClr val="FFFFFF"/>
                </a:solidFill>
                <a:latin typeface="Instrument Serif"/>
              </a:rPr>
              <a:t>39%</a:t>
            </a:r>
          </a:p>
        </p:txBody>
      </p:sp>
      <p:sp>
        <p:nvSpPr>
          <p:cNvPr id="7" name="TextBox 6"/>
          <p:cNvSpPr txBox="1"/>
          <p:nvPr/>
        </p:nvSpPr>
        <p:spPr>
          <a:xfrm>
            <a:off x="8001000" y="6858000"/>
            <a:ext cx="8382000" cy="1714500"/>
          </a:xfrm>
          <a:prstGeom prst="rect">
            <a:avLst/>
          </a:prstGeom>
          <a:noFill/>
        </p:spPr>
        <p:txBody>
          <a:bodyPr wrap="square" lIns="0" rIns="0" tIns="0" bIns="0">
            <a:spAutoFit/>
          </a:bodyPr>
          <a:lstStyle/>
          <a:p>
            <a:pPr algn="ctr"/>
            <a:r>
              <a:rPr sz="1650" b="0" i="0" kern="0" spc="0">
                <a:solidFill>
                  <a:srgbClr val="FFFFFF"/>
                </a:solidFill>
                <a:latin typeface="Poppins"/>
              </a:rPr>
              <a:t>dice que el </a:t>
            </a:r>
            <a:r>
              <a:rPr sz="1650" b="1" i="0" kern="0" spc="0">
                <a:solidFill>
                  <a:srgbClr val="FFFFFF"/>
                </a:solidFill>
                <a:latin typeface="Poppins"/>
              </a:rPr>
              <a:t>cuidado de los hijos</a:t>
            </a:r>
            <a:r>
              <a:rPr sz="1650" b="0" i="0" kern="0" spc="0">
                <a:solidFill>
                  <a:srgbClr val="FFFFFF"/>
                </a:solidFill>
                <a:latin typeface="Poppins"/>
              </a:rPr>
              <a:t> lo hace “más la mujer”. Más distribuido que la cocina (66.6%) pero más cargado que el dinero (30.6%).</a:t>
            </a:r>
          </a:p>
        </p:txBody>
      </p:sp>
      <p:sp>
        <p:nvSpPr>
          <p:cNvPr id="8" name="TextBox 7"/>
          <p:cNvSpPr txBox="1"/>
          <p:nvPr/>
        </p:nvSpPr>
        <p:spPr>
          <a:xfrm>
            <a:off x="0" y="94297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P33 · Base 305.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«Tuve un tiempo como mamá soltera y mi hermana es mamá soltera de tres niños, y es bien difícil levantarte, llevar al niño a la escuela, el dinero, cuando el papá no está económicamente ni emocionalmente.»</a:t>
            </a:r>
          </a:p>
          <a:p>
            <a:pPr algn="ctr">
              <a:spcBef>
                <a:spcPts val="1000"/>
              </a:spcBef>
            </a:pPr>
            <a:r>
              <a:rPr sz="1650" i="1" b="0" kern="0" spc="0">
                <a:solidFill>
                  <a:srgbClr val="FFFFFF"/>
                </a:solidFill>
                <a:latin typeface="Poppins"/>
              </a:rPr>
              <a:t>— Familia Biparental con Hijos Pequeños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3150" b="0" i="0" kern="0" spc="0">
                <a:solidFill>
                  <a:srgbClr val="FFFFFF"/>
                </a:solidFill>
                <a:latin typeface="Instrument Serif"/>
              </a:rPr>
              <a:t>76.7% DE LAS MUJERES DICE QUE EL ROL HA CAMBIADO MUCHO — 4.9 PUNTOS MÁS QUE LOS HOMBRES. </a:t>
            </a:r>
            <a:r>
              <a:rPr sz="3150" b="0" i="1" kern="0" spc="0">
                <a:solidFill>
                  <a:srgbClr val="FFFFFF"/>
                </a:solidFill>
                <a:latin typeface="Instrument Serif"/>
              </a:rPr>
              <a:t>LA PERCEPCIÓN MÁS FUERTE DEL CAMBIO LA TIENE QUIEN MÁS SIGUE CARGANDO.</a:t>
            </a:r>
          </a:p>
        </p:txBody>
      </p:sp>
      <p:sp>
        <p:nvSpPr>
          <p:cNvPr id="3" name="Rectangle 2"/>
          <p:cNvSpPr/>
          <p:nvPr/>
        </p:nvSpPr>
        <p:spPr>
          <a:xfrm>
            <a:off x="6848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20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05000" y="4762500"/>
            <a:ext cx="5334000" cy="1905000"/>
          </a:xfrm>
          <a:prstGeom prst="rect">
            <a:avLst/>
          </a:prstGeom>
          <a:noFill/>
        </p:spPr>
        <p:txBody>
          <a:bodyPr wrap="square" lIns="0" rIns="0" tIns="0" bIns="0">
            <a:spAutoFit/>
          </a:bodyPr>
          <a:lstStyle/>
          <a:p>
            <a:pPr algn="ctr"/>
            <a:r>
              <a:rPr sz="13500" b="0" i="1" kern="0" spc="0">
                <a:solidFill>
                  <a:srgbClr val="FFFFFF"/>
                </a:solidFill>
                <a:latin typeface="Instrument Serif"/>
              </a:rPr>
              <a:t>77%</a:t>
            </a:r>
          </a:p>
        </p:txBody>
      </p:sp>
      <p:sp>
        <p:nvSpPr>
          <p:cNvPr id="6" name="TextBox 5"/>
          <p:cNvSpPr txBox="1"/>
          <p:nvPr/>
        </p:nvSpPr>
        <p:spPr>
          <a:xfrm>
            <a:off x="1905000" y="6858000"/>
            <a:ext cx="5334000" cy="1714500"/>
          </a:xfrm>
          <a:prstGeom prst="rect">
            <a:avLst/>
          </a:prstGeom>
          <a:noFill/>
        </p:spPr>
        <p:txBody>
          <a:bodyPr wrap="square" lIns="0" rIns="0" tIns="0" bIns="0">
            <a:spAutoFit/>
          </a:bodyPr>
          <a:lstStyle/>
          <a:p>
            <a:pPr algn="ctr"/>
            <a:r>
              <a:rPr sz="1650" b="0" i="0" kern="0" spc="0">
                <a:solidFill>
                  <a:srgbClr val="FFFFFF"/>
                </a:solidFill>
                <a:latin typeface="Poppins"/>
              </a:rPr>
              <a:t>del subset </a:t>
            </a:r>
            <a:r>
              <a:rPr sz="1650" b="1" i="0" kern="0" spc="0">
                <a:solidFill>
                  <a:srgbClr val="FFFFFF"/>
                </a:solidFill>
                <a:latin typeface="Poppins"/>
              </a:rPr>
              <a:t>femenino</a:t>
            </a:r>
            <a:r>
              <a:rPr sz="1650" b="0" i="0" kern="0" spc="0">
                <a:solidFill>
                  <a:srgbClr val="FFFFFF"/>
                </a:solidFill>
                <a:latin typeface="Poppins"/>
              </a:rPr>
              <a:t> (n=305) elige “5 = Mucho” en la escala de cuánto ha cambiado el rol del hombre y la mujer en la familia.</a:t>
            </a:r>
          </a:p>
        </p:txBody>
      </p:sp>
      <p:sp>
        <p:nvSpPr>
          <p:cNvPr id="7" name="TextBox 6"/>
          <p:cNvSpPr txBox="1"/>
          <p:nvPr/>
        </p:nvSpPr>
        <p:spPr>
          <a:xfrm>
            <a:off x="6477000" y="4762500"/>
            <a:ext cx="5334000" cy="1905000"/>
          </a:xfrm>
          <a:prstGeom prst="rect">
            <a:avLst/>
          </a:prstGeom>
          <a:noFill/>
        </p:spPr>
        <p:txBody>
          <a:bodyPr wrap="square" lIns="0" rIns="0" tIns="0" bIns="0">
            <a:spAutoFit/>
          </a:bodyPr>
          <a:lstStyle/>
          <a:p>
            <a:pPr algn="ctr"/>
            <a:r>
              <a:rPr sz="13500" b="0" i="1" kern="0" spc="0">
                <a:solidFill>
                  <a:srgbClr val="FFFFFF"/>
                </a:solidFill>
                <a:latin typeface="Instrument Serif"/>
              </a:rPr>
              <a:t>72%</a:t>
            </a:r>
          </a:p>
        </p:txBody>
      </p:sp>
      <p:sp>
        <p:nvSpPr>
          <p:cNvPr id="8" name="TextBox 7"/>
          <p:cNvSpPr txBox="1"/>
          <p:nvPr/>
        </p:nvSpPr>
        <p:spPr>
          <a:xfrm>
            <a:off x="6477000" y="6858000"/>
            <a:ext cx="5334000" cy="1714500"/>
          </a:xfrm>
          <a:prstGeom prst="rect">
            <a:avLst/>
          </a:prstGeom>
          <a:noFill/>
        </p:spPr>
        <p:txBody>
          <a:bodyPr wrap="square" lIns="0" rIns="0" tIns="0" bIns="0">
            <a:spAutoFit/>
          </a:bodyPr>
          <a:lstStyle/>
          <a:p>
            <a:pPr algn="ctr"/>
            <a:r>
              <a:rPr sz="1650" b="0" i="0" kern="0" spc="0">
                <a:solidFill>
                  <a:srgbClr val="FFFFFF"/>
                </a:solidFill>
                <a:latin typeface="Poppins"/>
              </a:rPr>
              <a:t>del subset </a:t>
            </a:r>
            <a:r>
              <a:rPr sz="1650" b="1" i="0" kern="0" spc="0">
                <a:solidFill>
                  <a:srgbClr val="FFFFFF"/>
                </a:solidFill>
                <a:latin typeface="Poppins"/>
              </a:rPr>
              <a:t>masculino</a:t>
            </a:r>
            <a:r>
              <a:rPr sz="1650" b="0" i="0" kern="0" spc="0">
                <a:solidFill>
                  <a:srgbClr val="FFFFFF"/>
                </a:solidFill>
                <a:latin typeface="Poppins"/>
              </a:rPr>
              <a:t> (n=195) elige “5 = Mucho” en la misma escala. Brecha de percepción de género: 4.9 puntos.</a:t>
            </a:r>
          </a:p>
        </p:txBody>
      </p:sp>
      <p:sp>
        <p:nvSpPr>
          <p:cNvPr id="9" name="TextBox 8"/>
          <p:cNvSpPr txBox="1"/>
          <p:nvPr/>
        </p:nvSpPr>
        <p:spPr>
          <a:xfrm>
            <a:off x="11049000" y="4762500"/>
            <a:ext cx="5334000" cy="1905000"/>
          </a:xfrm>
          <a:prstGeom prst="rect">
            <a:avLst/>
          </a:prstGeom>
          <a:noFill/>
        </p:spPr>
        <p:txBody>
          <a:bodyPr wrap="square" lIns="0" rIns="0" tIns="0" bIns="0">
            <a:spAutoFit/>
          </a:bodyPr>
          <a:lstStyle/>
          <a:p>
            <a:pPr algn="ctr"/>
            <a:r>
              <a:rPr sz="13500" b="0" i="1" kern="0" spc="0">
                <a:solidFill>
                  <a:srgbClr val="FFFFFF"/>
                </a:solidFill>
                <a:latin typeface="Instrument Serif"/>
              </a:rPr>
              <a:t>80%</a:t>
            </a:r>
          </a:p>
        </p:txBody>
      </p:sp>
      <p:sp>
        <p:nvSpPr>
          <p:cNvPr id="10" name="TextBox 9"/>
          <p:cNvSpPr txBox="1"/>
          <p:nvPr/>
        </p:nvSpPr>
        <p:spPr>
          <a:xfrm>
            <a:off x="11049000" y="6858000"/>
            <a:ext cx="5334000" cy="1714500"/>
          </a:xfrm>
          <a:prstGeom prst="rect">
            <a:avLst/>
          </a:prstGeom>
          <a:noFill/>
        </p:spPr>
        <p:txBody>
          <a:bodyPr wrap="square" lIns="0" rIns="0" tIns="0" bIns="0">
            <a:spAutoFit/>
          </a:bodyPr>
          <a:lstStyle/>
          <a:p>
            <a:pPr algn="ctr"/>
            <a:r>
              <a:rPr sz="1650" b="0" i="0" kern="0" spc="0">
                <a:solidFill>
                  <a:srgbClr val="FFFFFF"/>
                </a:solidFill>
                <a:latin typeface="Poppins"/>
              </a:rPr>
              <a:t>del subset </a:t>
            </a:r>
            <a:r>
              <a:rPr sz="1650" b="1" i="0" kern="0" spc="0">
                <a:solidFill>
                  <a:srgbClr val="FFFFFF"/>
                </a:solidFill>
                <a:latin typeface="Poppins"/>
              </a:rPr>
              <a:t>monoparental</a:t>
            </a:r>
            <a:r>
              <a:rPr sz="1650" b="0" i="0" kern="0" spc="0">
                <a:solidFill>
                  <a:srgbClr val="FFFFFF"/>
                </a:solidFill>
                <a:latin typeface="Poppins"/>
              </a:rPr>
              <a:t> (n=122) elige “5 = Mucho” — pico más alto. La percepción de cambio se intensifica donde la mujer carga sola.</a:t>
            </a:r>
          </a:p>
        </p:txBody>
      </p:sp>
      <p:sp>
        <p:nvSpPr>
          <p:cNvPr id="11" name="TextBox 10"/>
          <p:cNvSpPr txBox="1"/>
          <p:nvPr/>
        </p:nvSpPr>
        <p:spPr>
          <a:xfrm>
            <a:off x="0" y="94297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P34 × D2, P34 × D1, P34 × D5 · Base 500.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«El cuidado es más trabajoso, porque son más delicados, no te puedo negar que yo me siento contenta de que no tengo que pasar por el pasillo del supermercado de las mangas.»</a:t>
            </a:r>
          </a:p>
          <a:p>
            <a:pPr algn="ctr">
              <a:spcBef>
                <a:spcPts val="1000"/>
              </a:spcBef>
            </a:pPr>
            <a:r>
              <a:rPr sz="1650" i="1" b="0" kern="0" spc="0">
                <a:solidFill>
                  <a:srgbClr val="FFFFFF"/>
                </a:solidFill>
                <a:latin typeface="Poppins"/>
              </a:rPr>
              <a:t>— Familia Biparental con Hijos Pequeños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3150" b="0" i="0" kern="0" spc="0">
                <a:solidFill>
                  <a:srgbClr val="FFFFFF"/>
                </a:solidFill>
                <a:latin typeface="Instrument Serif"/>
              </a:rPr>
              <a:t>36.4% DICE QUE LA COMPRA DEL SUPERMERCADO LA HACE MÁS ELLA; 48.4% DICE QUE LA HACEN AMBOS. </a:t>
            </a:r>
            <a:r>
              <a:rPr sz="3150" b="0" i="1" kern="0" spc="0">
                <a:solidFill>
                  <a:srgbClr val="FFFFFF"/>
                </a:solidFill>
                <a:latin typeface="Instrument Serif"/>
              </a:rPr>
              <a:t>EL CARRITO NO ES TERRITORIO FEMENINO — ES TERRITORIO COMPARTIDO CON SESGO.</a:t>
            </a:r>
          </a:p>
        </p:txBody>
      </p:sp>
      <p:sp>
        <p:nvSpPr>
          <p:cNvPr id="3" name="Rectangle 2"/>
          <p:cNvSpPr/>
          <p:nvPr/>
        </p:nvSpPr>
        <p:spPr>
          <a:xfrm>
            <a:off x="9134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905000" y="4762500"/>
            <a:ext cx="8382000" cy="1905000"/>
          </a:xfrm>
          <a:prstGeom prst="rect">
            <a:avLst/>
          </a:prstGeom>
          <a:noFill/>
        </p:spPr>
        <p:txBody>
          <a:bodyPr wrap="square" lIns="0" rIns="0" tIns="0" bIns="0">
            <a:spAutoFit/>
          </a:bodyPr>
          <a:lstStyle/>
          <a:p>
            <a:pPr algn="ctr"/>
            <a:r>
              <a:rPr sz="13500" b="0" i="1" kern="0" spc="0">
                <a:solidFill>
                  <a:srgbClr val="FFFFFF"/>
                </a:solidFill>
                <a:latin typeface="Instrument Serif"/>
              </a:rPr>
              <a:t>36%</a:t>
            </a:r>
          </a:p>
        </p:txBody>
      </p:sp>
      <p:sp>
        <p:nvSpPr>
          <p:cNvPr id="5" name="TextBox 4"/>
          <p:cNvSpPr txBox="1"/>
          <p:nvPr/>
        </p:nvSpPr>
        <p:spPr>
          <a:xfrm>
            <a:off x="1905000" y="6858000"/>
            <a:ext cx="8382000" cy="1714500"/>
          </a:xfrm>
          <a:prstGeom prst="rect">
            <a:avLst/>
          </a:prstGeom>
          <a:noFill/>
        </p:spPr>
        <p:txBody>
          <a:bodyPr wrap="square" lIns="0" rIns="0" tIns="0" bIns="0">
            <a:spAutoFit/>
          </a:bodyPr>
          <a:lstStyle/>
          <a:p>
            <a:pPr algn="ctr"/>
            <a:r>
              <a:rPr sz="1650" b="0" i="0" kern="0" spc="0">
                <a:solidFill>
                  <a:srgbClr val="FFFFFF"/>
                </a:solidFill>
                <a:latin typeface="Poppins"/>
              </a:rPr>
              <a:t>del subsample femenino dice que la compra del </a:t>
            </a:r>
            <a:r>
              <a:rPr sz="1650" b="1" i="0" kern="0" spc="0">
                <a:solidFill>
                  <a:srgbClr val="FFFFFF"/>
                </a:solidFill>
                <a:latin typeface="Poppins"/>
              </a:rPr>
              <a:t>supermercado</a:t>
            </a:r>
            <a:r>
              <a:rPr sz="1650" b="0" i="0" kern="0" spc="0">
                <a:solidFill>
                  <a:srgbClr val="FFFFFF"/>
                </a:solidFill>
                <a:latin typeface="Poppins"/>
              </a:rPr>
              <a:t> la hace “más la mujer”; 48.4% “ambos por igual”. Uno de los pocos ítems donde “ambos” lidera.</a:t>
            </a:r>
          </a:p>
        </p:txBody>
      </p:sp>
      <p:sp>
        <p:nvSpPr>
          <p:cNvPr id="6" name="TextBox 5"/>
          <p:cNvSpPr txBox="1"/>
          <p:nvPr/>
        </p:nvSpPr>
        <p:spPr>
          <a:xfrm>
            <a:off x="8001000" y="4762500"/>
            <a:ext cx="8382000" cy="1905000"/>
          </a:xfrm>
          <a:prstGeom prst="rect">
            <a:avLst/>
          </a:prstGeom>
          <a:noFill/>
        </p:spPr>
        <p:txBody>
          <a:bodyPr wrap="square" lIns="0" rIns="0" tIns="0" bIns="0">
            <a:spAutoFit/>
          </a:bodyPr>
          <a:lstStyle/>
          <a:p>
            <a:pPr algn="ctr"/>
            <a:r>
              <a:rPr sz="13500" b="0" i="1" kern="0" spc="0">
                <a:solidFill>
                  <a:srgbClr val="FFFFFF"/>
                </a:solidFill>
                <a:latin typeface="Instrument Serif"/>
              </a:rPr>
              <a:t>33%</a:t>
            </a:r>
          </a:p>
        </p:txBody>
      </p:sp>
      <p:sp>
        <p:nvSpPr>
          <p:cNvPr id="7" name="TextBox 6"/>
          <p:cNvSpPr txBox="1"/>
          <p:nvPr/>
        </p:nvSpPr>
        <p:spPr>
          <a:xfrm>
            <a:off x="8001000" y="6858000"/>
            <a:ext cx="8382000" cy="1714500"/>
          </a:xfrm>
          <a:prstGeom prst="rect">
            <a:avLst/>
          </a:prstGeom>
          <a:noFill/>
        </p:spPr>
        <p:txBody>
          <a:bodyPr wrap="square" lIns="0" rIns="0" tIns="0" bIns="0">
            <a:spAutoFit/>
          </a:bodyPr>
          <a:lstStyle/>
          <a:p>
            <a:pPr algn="ctr"/>
            <a:r>
              <a:rPr sz="1650" b="0" i="0" kern="0" spc="0">
                <a:solidFill>
                  <a:srgbClr val="FFFFFF"/>
                </a:solidFill>
                <a:latin typeface="Poppins"/>
              </a:rPr>
              <a:t>dice que la compra de artículos </a:t>
            </a:r>
            <a:r>
              <a:rPr sz="1650" b="1" i="0" kern="0" spc="0">
                <a:solidFill>
                  <a:srgbClr val="FFFFFF"/>
                </a:solidFill>
                <a:latin typeface="Poppins"/>
              </a:rPr>
              <a:t>personales o escolares</a:t>
            </a:r>
            <a:r>
              <a:rPr sz="1650" b="0" i="0" kern="0" spc="0">
                <a:solidFill>
                  <a:srgbClr val="FFFFFF"/>
                </a:solidFill>
                <a:latin typeface="Poppins"/>
              </a:rPr>
              <a:t> la hace “más la mujer”; 46.0% “ambos por igual”. En ambas compras, la co-gestión es la norma declarada.</a:t>
            </a:r>
          </a:p>
        </p:txBody>
      </p:sp>
      <p:sp>
        <p:nvSpPr>
          <p:cNvPr id="8" name="TextBox 7"/>
          <p:cNvSpPr txBox="1"/>
          <p:nvPr/>
        </p:nvSpPr>
        <p:spPr>
          <a:xfrm>
            <a:off x="0" y="94297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P33 · Base 305.</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«Yo soy la que compro porque es lo que yo pueda comprar y comer porque es lo que hay.»</a:t>
            </a:r>
          </a:p>
          <a:p>
            <a:pPr algn="ctr">
              <a:spcBef>
                <a:spcPts val="1000"/>
              </a:spcBef>
            </a:pPr>
            <a:r>
              <a:rPr sz="1650" i="1" b="0" kern="0" spc="0">
                <a:solidFill>
                  <a:srgbClr val="FFFFFF"/>
                </a:solidFill>
                <a:latin typeface="Poppins"/>
              </a:rPr>
              <a:t>— Familia Monoparental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3150" b="0" i="0" kern="0" spc="0">
                <a:solidFill>
                  <a:srgbClr val="FFFFFF"/>
                </a:solidFill>
                <a:latin typeface="Instrument Serif"/>
              </a:rPr>
              <a:t>47.8% DE LAS MUJERES NOMBRA LA ECONOMÍA COMO SU MAYOR FUENTE DE ESTRÉS FAMILIAR. </a:t>
            </a:r>
            <a:r>
              <a:rPr sz="3150" b="0" i="1" kern="0" spc="0">
                <a:solidFill>
                  <a:srgbClr val="FFFFFF"/>
                </a:solidFill>
                <a:latin typeface="Instrument Serif"/>
              </a:rPr>
              <a:t>LA PRECARIEDAD DUPLICA A CUALQUIER OTRO ESTRESOR — ANTES QUE CRIANZA, ANTES QUE TIEMPO PROPIO.</a:t>
            </a:r>
          </a:p>
        </p:txBody>
      </p:sp>
      <p:sp>
        <p:nvSpPr>
          <p:cNvPr id="3" name="Rectangle 2"/>
          <p:cNvSpPr/>
          <p:nvPr/>
        </p:nvSpPr>
        <p:spPr>
          <a:xfrm>
            <a:off x="9134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905000" y="4762500"/>
            <a:ext cx="8382000" cy="1905000"/>
          </a:xfrm>
          <a:prstGeom prst="rect">
            <a:avLst/>
          </a:prstGeom>
          <a:noFill/>
        </p:spPr>
        <p:txBody>
          <a:bodyPr wrap="square" lIns="0" rIns="0" tIns="0" bIns="0">
            <a:spAutoFit/>
          </a:bodyPr>
          <a:lstStyle/>
          <a:p>
            <a:pPr algn="ctr"/>
            <a:r>
              <a:rPr sz="13500" b="0" i="1" kern="0" spc="0">
                <a:solidFill>
                  <a:srgbClr val="FFFFFF"/>
                </a:solidFill>
                <a:latin typeface="Instrument Serif"/>
              </a:rPr>
              <a:t>48%</a:t>
            </a:r>
          </a:p>
        </p:txBody>
      </p:sp>
      <p:sp>
        <p:nvSpPr>
          <p:cNvPr id="5" name="TextBox 4"/>
          <p:cNvSpPr txBox="1"/>
          <p:nvPr/>
        </p:nvSpPr>
        <p:spPr>
          <a:xfrm>
            <a:off x="1905000" y="6858000"/>
            <a:ext cx="8382000" cy="1714500"/>
          </a:xfrm>
          <a:prstGeom prst="rect">
            <a:avLst/>
          </a:prstGeom>
          <a:noFill/>
        </p:spPr>
        <p:txBody>
          <a:bodyPr wrap="square" lIns="0" rIns="0" tIns="0" bIns="0">
            <a:spAutoFit/>
          </a:bodyPr>
          <a:lstStyle/>
          <a:p>
            <a:pPr algn="ctr"/>
            <a:r>
              <a:rPr sz="1650" b="0" i="0" kern="0" spc="0">
                <a:solidFill>
                  <a:srgbClr val="FFFFFF"/>
                </a:solidFill>
                <a:latin typeface="Poppins"/>
              </a:rPr>
              <a:t>del subsample femenino (n=305) marca “</a:t>
            </a:r>
            <a:r>
              <a:rPr sz="1650" b="1" i="0" kern="0" spc="0">
                <a:solidFill>
                  <a:srgbClr val="FFFFFF"/>
                </a:solidFill>
                <a:latin typeface="Poppins"/>
              </a:rPr>
              <a:t>Economía</a:t>
            </a:r>
            <a:r>
              <a:rPr sz="1650" b="0" i="0" kern="0" spc="0">
                <a:solidFill>
                  <a:srgbClr val="FFFFFF"/>
                </a:solidFill>
                <a:latin typeface="Poppins"/>
              </a:rPr>
              <a:t>” como factor de estrés familiar — TOP-1 de la batería P26. 28.4% también marca “Realidad económica”.</a:t>
            </a:r>
          </a:p>
        </p:txBody>
      </p:sp>
      <p:sp>
        <p:nvSpPr>
          <p:cNvPr id="6" name="TextBox 5"/>
          <p:cNvSpPr txBox="1"/>
          <p:nvPr/>
        </p:nvSpPr>
        <p:spPr>
          <a:xfrm>
            <a:off x="8001000" y="4762500"/>
            <a:ext cx="8382000" cy="1905000"/>
          </a:xfrm>
          <a:prstGeom prst="rect">
            <a:avLst/>
          </a:prstGeom>
          <a:noFill/>
        </p:spPr>
        <p:txBody>
          <a:bodyPr wrap="square" lIns="0" rIns="0" tIns="0" bIns="0">
            <a:spAutoFit/>
          </a:bodyPr>
          <a:lstStyle/>
          <a:p>
            <a:pPr algn="ctr"/>
            <a:r>
              <a:rPr sz="13500" b="0" i="1" kern="0" spc="0">
                <a:solidFill>
                  <a:srgbClr val="FFFFFF"/>
                </a:solidFill>
                <a:latin typeface="Instrument Serif"/>
              </a:rPr>
              <a:t>22%</a:t>
            </a:r>
          </a:p>
        </p:txBody>
      </p:sp>
      <p:sp>
        <p:nvSpPr>
          <p:cNvPr id="7" name="TextBox 6"/>
          <p:cNvSpPr txBox="1"/>
          <p:nvPr/>
        </p:nvSpPr>
        <p:spPr>
          <a:xfrm>
            <a:off x="8001000" y="6858000"/>
            <a:ext cx="8382000" cy="1714500"/>
          </a:xfrm>
          <a:prstGeom prst="rect">
            <a:avLst/>
          </a:prstGeom>
          <a:noFill/>
        </p:spPr>
        <p:txBody>
          <a:bodyPr wrap="square" lIns="0" rIns="0" tIns="0" bIns="0">
            <a:spAutoFit/>
          </a:bodyPr>
          <a:lstStyle/>
          <a:p>
            <a:pPr algn="ctr"/>
            <a:r>
              <a:rPr sz="1650" b="0" i="0" kern="0" spc="0">
                <a:solidFill>
                  <a:srgbClr val="FFFFFF"/>
                </a:solidFill>
                <a:latin typeface="Poppins"/>
              </a:rPr>
              <a:t>marca “</a:t>
            </a:r>
            <a:r>
              <a:rPr sz="1650" b="1" i="0" kern="0" spc="0">
                <a:solidFill>
                  <a:srgbClr val="FFFFFF"/>
                </a:solidFill>
                <a:latin typeface="Poppins"/>
              </a:rPr>
              <a:t>Inseguridad</a:t>
            </a:r>
            <a:r>
              <a:rPr sz="1650" b="0" i="0" kern="0" spc="0">
                <a:solidFill>
                  <a:srgbClr val="FFFFFF"/>
                </a:solidFill>
                <a:latin typeface="Poppins"/>
              </a:rPr>
              <a:t>”; 20.6% “Falta de tiempo personal”; 16.2% “Crianza”. La economía es el doble de cualquiera.</a:t>
            </a:r>
          </a:p>
        </p:txBody>
      </p:sp>
      <p:sp>
        <p:nvSpPr>
          <p:cNvPr id="8" name="TextBox 7"/>
          <p:cNvSpPr txBox="1"/>
          <p:nvPr/>
        </p:nvSpPr>
        <p:spPr>
          <a:xfrm>
            <a:off x="0" y="94297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P26 · Base 305.</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«Es bien difícil levantarte, llevar al niño a la escuela, el dinero, cuando el papá no está económicamente ni emocionalmente ni nada, es bien difícil.»</a:t>
            </a:r>
          </a:p>
          <a:p>
            <a:pPr algn="ctr">
              <a:spcBef>
                <a:spcPts val="1000"/>
              </a:spcBef>
            </a:pPr>
            <a:r>
              <a:rPr sz="1650" i="1" b="0" kern="0" spc="0">
                <a:solidFill>
                  <a:srgbClr val="FFFFFF"/>
                </a:solidFill>
                <a:latin typeface="Poppins"/>
              </a:rPr>
              <a:t>— Familia Biparental con Hijos Pequeños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3150" b="0" i="0" kern="0" spc="0">
                <a:solidFill>
                  <a:srgbClr val="FFFFFF"/>
                </a:solidFill>
                <a:latin typeface="Instrument Serif"/>
              </a:rPr>
              <a:t>48.5% DE LAS MUJERES NO REALIZA NINGUNA ACTIVIDAD PARA CUIDAR SU SALUD MENTAL NI FÍSICA. </a:t>
            </a:r>
            <a:r>
              <a:rPr sz="3150" b="0" i="1" kern="0" spc="0">
                <a:solidFill>
                  <a:srgbClr val="FFFFFF"/>
                </a:solidFill>
                <a:latin typeface="Instrument Serif"/>
              </a:rPr>
              <a:t>EN LOS HOMBRES, EL MISMO INDICADOR CAE A 33.3%. BRECHA DE 15.2 PUNTOS.</a:t>
            </a:r>
          </a:p>
        </p:txBody>
      </p:sp>
      <p:sp>
        <p:nvSpPr>
          <p:cNvPr id="3" name="Rectangle 2"/>
          <p:cNvSpPr/>
          <p:nvPr/>
        </p:nvSpPr>
        <p:spPr>
          <a:xfrm>
            <a:off x="6848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20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05000" y="4762500"/>
            <a:ext cx="5334000" cy="1905000"/>
          </a:xfrm>
          <a:prstGeom prst="rect">
            <a:avLst/>
          </a:prstGeom>
          <a:noFill/>
        </p:spPr>
        <p:txBody>
          <a:bodyPr wrap="square" lIns="0" rIns="0" tIns="0" bIns="0">
            <a:spAutoFit/>
          </a:bodyPr>
          <a:lstStyle/>
          <a:p>
            <a:pPr algn="ctr"/>
            <a:r>
              <a:rPr sz="13500" b="0" i="1" kern="0" spc="0">
                <a:solidFill>
                  <a:srgbClr val="FFFFFF"/>
                </a:solidFill>
                <a:latin typeface="Instrument Serif"/>
              </a:rPr>
              <a:t>48.5%</a:t>
            </a:r>
          </a:p>
        </p:txBody>
      </p:sp>
      <p:sp>
        <p:nvSpPr>
          <p:cNvPr id="6" name="TextBox 5"/>
          <p:cNvSpPr txBox="1"/>
          <p:nvPr/>
        </p:nvSpPr>
        <p:spPr>
          <a:xfrm>
            <a:off x="1905000" y="6858000"/>
            <a:ext cx="5334000" cy="1714500"/>
          </a:xfrm>
          <a:prstGeom prst="rect">
            <a:avLst/>
          </a:prstGeom>
          <a:noFill/>
        </p:spPr>
        <p:txBody>
          <a:bodyPr wrap="square" lIns="0" rIns="0" tIns="0" bIns="0">
            <a:spAutoFit/>
          </a:bodyPr>
          <a:lstStyle/>
          <a:p>
            <a:pPr algn="ctr"/>
            <a:r>
              <a:rPr sz="1650" b="0" i="0" kern="0" spc="0">
                <a:solidFill>
                  <a:srgbClr val="FFFFFF"/>
                </a:solidFill>
                <a:latin typeface="Poppins"/>
              </a:rPr>
              <a:t>del subset </a:t>
            </a:r>
            <a:r>
              <a:rPr sz="1650" b="1" i="0" kern="0" spc="0">
                <a:solidFill>
                  <a:srgbClr val="FFFFFF"/>
                </a:solidFill>
                <a:latin typeface="Poppins"/>
              </a:rPr>
              <a:t>femenino</a:t>
            </a:r>
            <a:r>
              <a:rPr sz="1650" b="0" i="0" kern="0" spc="0">
                <a:solidFill>
                  <a:srgbClr val="FFFFFF"/>
                </a:solidFill>
                <a:latin typeface="Poppins"/>
              </a:rPr>
              <a:t> (n=305) declara “No realizo ninguna actividad” — TOP-1 absoluto. En masculino: 33.3%. Brecha de género: 15.2 puntos.</a:t>
            </a:r>
          </a:p>
        </p:txBody>
      </p:sp>
      <p:sp>
        <p:nvSpPr>
          <p:cNvPr id="7" name="TextBox 6"/>
          <p:cNvSpPr txBox="1"/>
          <p:nvPr/>
        </p:nvSpPr>
        <p:spPr>
          <a:xfrm>
            <a:off x="6477000" y="4762500"/>
            <a:ext cx="5334000" cy="1905000"/>
          </a:xfrm>
          <a:prstGeom prst="rect">
            <a:avLst/>
          </a:prstGeom>
          <a:noFill/>
        </p:spPr>
        <p:txBody>
          <a:bodyPr wrap="square" lIns="0" rIns="0" tIns="0" bIns="0">
            <a:spAutoFit/>
          </a:bodyPr>
          <a:lstStyle/>
          <a:p>
            <a:pPr algn="ctr"/>
            <a:r>
              <a:rPr sz="13500" b="0" i="1" kern="0" spc="0">
                <a:solidFill>
                  <a:srgbClr val="FFFFFF"/>
                </a:solidFill>
                <a:latin typeface="Instrument Serif"/>
              </a:rPr>
              <a:t>60%</a:t>
            </a:r>
          </a:p>
        </p:txBody>
      </p:sp>
      <p:sp>
        <p:nvSpPr>
          <p:cNvPr id="8" name="TextBox 7"/>
          <p:cNvSpPr txBox="1"/>
          <p:nvPr/>
        </p:nvSpPr>
        <p:spPr>
          <a:xfrm>
            <a:off x="6477000" y="6858000"/>
            <a:ext cx="5334000" cy="1714500"/>
          </a:xfrm>
          <a:prstGeom prst="rect">
            <a:avLst/>
          </a:prstGeom>
          <a:noFill/>
        </p:spPr>
        <p:txBody>
          <a:bodyPr wrap="square" lIns="0" rIns="0" tIns="0" bIns="0">
            <a:spAutoFit/>
          </a:bodyPr>
          <a:lstStyle/>
          <a:p>
            <a:pPr algn="ctr"/>
            <a:r>
              <a:rPr sz="1650" b="0" i="0" kern="0" spc="0">
                <a:solidFill>
                  <a:srgbClr val="FFFFFF"/>
                </a:solidFill>
                <a:latin typeface="Poppins"/>
              </a:rPr>
              <a:t>del subset femenino </a:t>
            </a:r>
            <a:r>
              <a:rPr sz="1650" b="1" i="0" kern="0" spc="0">
                <a:solidFill>
                  <a:srgbClr val="FFFFFF"/>
                </a:solidFill>
                <a:latin typeface="Poppins"/>
              </a:rPr>
              <a:t>18-24 años</a:t>
            </a:r>
            <a:r>
              <a:rPr sz="1650" b="0" i="0" kern="0" spc="0">
                <a:solidFill>
                  <a:srgbClr val="FFFFFF"/>
                </a:solidFill>
                <a:latin typeface="Poppins"/>
              </a:rPr>
              <a:t> (n=55) marca la inacción como TOP-1 — pico de inacción de cualquier franja etaria del subsample femenino.</a:t>
            </a:r>
          </a:p>
        </p:txBody>
      </p:sp>
      <p:sp>
        <p:nvSpPr>
          <p:cNvPr id="9" name="TextBox 8"/>
          <p:cNvSpPr txBox="1"/>
          <p:nvPr/>
        </p:nvSpPr>
        <p:spPr>
          <a:xfrm>
            <a:off x="11049000" y="4762500"/>
            <a:ext cx="5334000" cy="1905000"/>
          </a:xfrm>
          <a:prstGeom prst="rect">
            <a:avLst/>
          </a:prstGeom>
          <a:noFill/>
        </p:spPr>
        <p:txBody>
          <a:bodyPr wrap="square" lIns="0" rIns="0" tIns="0" bIns="0">
            <a:spAutoFit/>
          </a:bodyPr>
          <a:lstStyle/>
          <a:p>
            <a:pPr algn="ctr"/>
            <a:r>
              <a:rPr sz="13500" b="0" i="1" kern="0" spc="0">
                <a:solidFill>
                  <a:srgbClr val="FFFFFF"/>
                </a:solidFill>
                <a:latin typeface="Instrument Serif"/>
              </a:rPr>
              <a:t>51%</a:t>
            </a:r>
          </a:p>
        </p:txBody>
      </p:sp>
      <p:sp>
        <p:nvSpPr>
          <p:cNvPr id="10" name="TextBox 9"/>
          <p:cNvSpPr txBox="1"/>
          <p:nvPr/>
        </p:nvSpPr>
        <p:spPr>
          <a:xfrm>
            <a:off x="11049000" y="6858000"/>
            <a:ext cx="5334000" cy="1714500"/>
          </a:xfrm>
          <a:prstGeom prst="rect">
            <a:avLst/>
          </a:prstGeom>
          <a:noFill/>
        </p:spPr>
        <p:txBody>
          <a:bodyPr wrap="square" lIns="0" rIns="0" tIns="0" bIns="0">
            <a:spAutoFit/>
          </a:bodyPr>
          <a:lstStyle/>
          <a:p>
            <a:pPr algn="ctr"/>
            <a:r>
              <a:rPr sz="1650" b="0" i="0" kern="0" spc="0">
                <a:solidFill>
                  <a:srgbClr val="FFFFFF"/>
                </a:solidFill>
                <a:latin typeface="Poppins"/>
              </a:rPr>
              <a:t>del subset </a:t>
            </a:r>
            <a:r>
              <a:rPr sz="1650" b="1" i="0" kern="0" spc="0">
                <a:solidFill>
                  <a:srgbClr val="FFFFFF"/>
                </a:solidFill>
                <a:latin typeface="Poppins"/>
              </a:rPr>
              <a:t>NSE D</a:t>
            </a:r>
            <a:r>
              <a:rPr sz="1650" b="0" i="0" kern="0" spc="0">
                <a:solidFill>
                  <a:srgbClr val="FFFFFF"/>
                </a:solidFill>
                <a:latin typeface="Poppins"/>
              </a:rPr>
              <a:t> (n=172 mujeres) marca inacción como TOP-1. La inacción se intensifica en la base socioeconómica.</a:t>
            </a:r>
          </a:p>
        </p:txBody>
      </p:sp>
      <p:sp>
        <p:nvSpPr>
          <p:cNvPr id="11" name="TextBox 10"/>
          <p:cNvSpPr txBox="1"/>
          <p:nvPr/>
        </p:nvSpPr>
        <p:spPr>
          <a:xfrm>
            <a:off x="0" y="94297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P27 × D2, P27 × D5, P27 × D6 · Base 500.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«Cuando uno es madre, a veces se olvida, a veces no, casi siempre se olvida de uno mismo. Y el tiempo pasa, y cuando tú vienes a mirar para atrás, entonces tú dices, ¿ y yo? Porque crecen y se van.»</a:t>
            </a:r>
          </a:p>
          <a:p>
            <a:pPr algn="ctr">
              <a:spcBef>
                <a:spcPts val="1000"/>
              </a:spcBef>
            </a:pPr>
            <a:r>
              <a:rPr sz="1650" i="1" b="0" kern="0" spc="0">
                <a:solidFill>
                  <a:srgbClr val="FFFFFF"/>
                </a:solidFill>
                <a:latin typeface="Poppins"/>
              </a:rPr>
              <a:t>— Familia Monoparental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3150" b="0" i="0" kern="0" spc="0">
                <a:solidFill>
                  <a:srgbClr val="FFFFFF"/>
                </a:solidFill>
                <a:latin typeface="Instrument Serif"/>
              </a:rPr>
              <a:t>56.6% DEL MONOPARENTAL CITA A LA MADRE COMO ÚNICA RESPONSABLE DE CRIANZA — 14.8 PUNTOS SOBRE EL PROMEDIO. </a:t>
            </a:r>
            <a:r>
              <a:rPr sz="3150" b="0" i="1" kern="0" spc="0">
                <a:solidFill>
                  <a:srgbClr val="FFFFFF"/>
                </a:solidFill>
                <a:latin typeface="Instrument Serif"/>
              </a:rPr>
              <a:t>LA JEFATURA MONOPARENTAL ES FEMENINA POR ACUMULACIÓN, NO POR ELECCIÓN.</a:t>
            </a:r>
          </a:p>
        </p:txBody>
      </p:sp>
      <p:sp>
        <p:nvSpPr>
          <p:cNvPr id="3" name="Rectangle 2"/>
          <p:cNvSpPr/>
          <p:nvPr/>
        </p:nvSpPr>
        <p:spPr>
          <a:xfrm>
            <a:off x="9134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905000" y="4762500"/>
            <a:ext cx="8382000" cy="1905000"/>
          </a:xfrm>
          <a:prstGeom prst="rect">
            <a:avLst/>
          </a:prstGeom>
          <a:noFill/>
        </p:spPr>
        <p:txBody>
          <a:bodyPr wrap="square" lIns="0" rIns="0" tIns="0" bIns="0">
            <a:spAutoFit/>
          </a:bodyPr>
          <a:lstStyle/>
          <a:p>
            <a:pPr algn="ctr"/>
            <a:r>
              <a:rPr sz="13500" b="0" i="1" kern="0" spc="0">
                <a:solidFill>
                  <a:srgbClr val="FFFFFF"/>
                </a:solidFill>
                <a:latin typeface="Instrument Serif"/>
              </a:rPr>
              <a:t>24%</a:t>
            </a:r>
          </a:p>
        </p:txBody>
      </p:sp>
      <p:sp>
        <p:nvSpPr>
          <p:cNvPr id="5" name="TextBox 4"/>
          <p:cNvSpPr txBox="1"/>
          <p:nvPr/>
        </p:nvSpPr>
        <p:spPr>
          <a:xfrm>
            <a:off x="1905000" y="6858000"/>
            <a:ext cx="8382000" cy="1714500"/>
          </a:xfrm>
          <a:prstGeom prst="rect">
            <a:avLst/>
          </a:prstGeom>
          <a:noFill/>
        </p:spPr>
        <p:txBody>
          <a:bodyPr wrap="square" lIns="0" rIns="0" tIns="0" bIns="0">
            <a:spAutoFit/>
          </a:bodyPr>
          <a:lstStyle/>
          <a:p>
            <a:pPr algn="ctr"/>
            <a:r>
              <a:rPr sz="1650" b="0" i="0" kern="0" spc="0">
                <a:solidFill>
                  <a:srgbClr val="FFFFFF"/>
                </a:solidFill>
                <a:latin typeface="Poppins"/>
              </a:rPr>
              <a:t>del total Código Casa (n=500) declara hogar </a:t>
            </a:r>
            <a:r>
              <a:rPr sz="1650" b="1" i="0" kern="0" spc="0">
                <a:solidFill>
                  <a:srgbClr val="FFFFFF"/>
                </a:solidFill>
                <a:latin typeface="Poppins"/>
              </a:rPr>
              <a:t>monoparental</a:t>
            </a:r>
            <a:r>
              <a:rPr sz="1650" b="0" i="0" kern="0" spc="0">
                <a:solidFill>
                  <a:srgbClr val="FFFFFF"/>
                </a:solidFill>
                <a:latin typeface="Poppins"/>
              </a:rPr>
              <a:t> — segunda tipología más común. Por composición, la tipología monoparental está liderada por mujeres.</a:t>
            </a:r>
          </a:p>
        </p:txBody>
      </p:sp>
      <p:sp>
        <p:nvSpPr>
          <p:cNvPr id="6" name="TextBox 5"/>
          <p:cNvSpPr txBox="1"/>
          <p:nvPr/>
        </p:nvSpPr>
        <p:spPr>
          <a:xfrm>
            <a:off x="8001000" y="4762500"/>
            <a:ext cx="8382000" cy="1905000"/>
          </a:xfrm>
          <a:prstGeom prst="rect">
            <a:avLst/>
          </a:prstGeom>
          <a:noFill/>
        </p:spPr>
        <p:txBody>
          <a:bodyPr wrap="square" lIns="0" rIns="0" tIns="0" bIns="0">
            <a:spAutoFit/>
          </a:bodyPr>
          <a:lstStyle/>
          <a:p>
            <a:pPr algn="ctr"/>
            <a:r>
              <a:rPr sz="13500" b="0" i="1" kern="0" spc="0">
                <a:solidFill>
                  <a:srgbClr val="FFFFFF"/>
                </a:solidFill>
                <a:latin typeface="Instrument Serif"/>
              </a:rPr>
              <a:t>57%</a:t>
            </a:r>
          </a:p>
        </p:txBody>
      </p:sp>
      <p:sp>
        <p:nvSpPr>
          <p:cNvPr id="7" name="TextBox 6"/>
          <p:cNvSpPr txBox="1"/>
          <p:nvPr/>
        </p:nvSpPr>
        <p:spPr>
          <a:xfrm>
            <a:off x="8001000" y="6858000"/>
            <a:ext cx="8382000" cy="1714500"/>
          </a:xfrm>
          <a:prstGeom prst="rect">
            <a:avLst/>
          </a:prstGeom>
          <a:noFill/>
        </p:spPr>
        <p:txBody>
          <a:bodyPr wrap="square" lIns="0" rIns="0" tIns="0" bIns="0">
            <a:spAutoFit/>
          </a:bodyPr>
          <a:lstStyle/>
          <a:p>
            <a:pPr algn="ctr"/>
            <a:r>
              <a:rPr sz="1650" b="0" i="0" kern="0" spc="0">
                <a:solidFill>
                  <a:srgbClr val="FFFFFF"/>
                </a:solidFill>
                <a:latin typeface="Poppins"/>
              </a:rPr>
              <a:t>del subset monoparental (n=122) cita “</a:t>
            </a:r>
            <a:r>
              <a:rPr sz="1650" b="1" i="0" kern="0" spc="0">
                <a:solidFill>
                  <a:srgbClr val="FFFFFF"/>
                </a:solidFill>
                <a:latin typeface="Poppins"/>
              </a:rPr>
              <a:t>Madre</a:t>
            </a:r>
            <a:r>
              <a:rPr sz="1650" b="0" i="0" kern="0" spc="0">
                <a:solidFill>
                  <a:srgbClr val="FFFFFF"/>
                </a:solidFill>
                <a:latin typeface="Poppins"/>
              </a:rPr>
              <a:t>” como única responsable de la crianza, vs 41.8% del promedio. Brecha: +14.8 puntos.</a:t>
            </a:r>
          </a:p>
        </p:txBody>
      </p:sp>
      <p:sp>
        <p:nvSpPr>
          <p:cNvPr id="8" name="TextBox 7"/>
          <p:cNvSpPr txBox="1"/>
          <p:nvPr/>
        </p:nvSpPr>
        <p:spPr>
          <a:xfrm>
            <a:off x="0" y="94297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P1, P2 × D1 · Base 500.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«Yo me críé con esos dos conceptos en mi mente y yo siempre me enfocaba. Tanto así que yo decía: ‘No, yo no me voy a separar, yo voy a aguantar’, porque mi mamá me decía que hay que aguantar.»</a:t>
            </a:r>
          </a:p>
          <a:p>
            <a:pPr algn="ctr">
              <a:spcBef>
                <a:spcPts val="1000"/>
              </a:spcBef>
            </a:pPr>
            <a:r>
              <a:rPr sz="1650" i="1" b="0" kern="0" spc="0">
                <a:solidFill>
                  <a:srgbClr val="FFFFFF"/>
                </a:solidFill>
                <a:latin typeface="Poppins"/>
              </a:rPr>
              <a:t>— Familia Monoparental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3150" b="0" i="0" kern="0" spc="0">
                <a:solidFill>
                  <a:srgbClr val="FFFFFF"/>
                </a:solidFill>
                <a:latin typeface="Instrument Serif"/>
              </a:rPr>
              <a:t>LA MUJER 18-24 ES LA QUE MENOS SE CUIDA: 60.0% NO HACE NINGUNA ACTIVIDAD PARA SU SALUD. </a:t>
            </a:r>
            <a:r>
              <a:rPr sz="3150" b="0" i="1" kern="0" spc="0">
                <a:solidFill>
                  <a:srgbClr val="FFFFFF"/>
                </a:solidFill>
                <a:latin typeface="Instrument Serif"/>
              </a:rPr>
              <a:t>EL AUTOCUIDADO FEMENINO SUBE CON LA EDAD — EL PUNTO MÁS BAJO ES EL PRINCIPIO.</a:t>
            </a:r>
          </a:p>
        </p:txBody>
      </p:sp>
      <p:sp>
        <p:nvSpPr>
          <p:cNvPr id="3" name="Rectangle 2"/>
          <p:cNvSpPr/>
          <p:nvPr/>
        </p:nvSpPr>
        <p:spPr>
          <a:xfrm>
            <a:off x="6848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20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905000" y="4762500"/>
            <a:ext cx="5334000" cy="1905000"/>
          </a:xfrm>
          <a:prstGeom prst="rect">
            <a:avLst/>
          </a:prstGeom>
          <a:noFill/>
        </p:spPr>
        <p:txBody>
          <a:bodyPr wrap="square" lIns="0" rIns="0" tIns="0" bIns="0">
            <a:spAutoFit/>
          </a:bodyPr>
          <a:lstStyle/>
          <a:p>
            <a:pPr algn="ctr"/>
            <a:r>
              <a:rPr sz="13500" b="0" i="1" kern="0" spc="0">
                <a:solidFill>
                  <a:srgbClr val="FFFFFF"/>
                </a:solidFill>
                <a:latin typeface="Instrument Serif"/>
              </a:rPr>
              <a:t>60%</a:t>
            </a:r>
          </a:p>
        </p:txBody>
      </p:sp>
      <p:sp>
        <p:nvSpPr>
          <p:cNvPr id="6" name="TextBox 5"/>
          <p:cNvSpPr txBox="1"/>
          <p:nvPr/>
        </p:nvSpPr>
        <p:spPr>
          <a:xfrm>
            <a:off x="1905000" y="6858000"/>
            <a:ext cx="5334000" cy="1714500"/>
          </a:xfrm>
          <a:prstGeom prst="rect">
            <a:avLst/>
          </a:prstGeom>
          <a:noFill/>
        </p:spPr>
        <p:txBody>
          <a:bodyPr wrap="square" lIns="0" rIns="0" tIns="0" bIns="0">
            <a:spAutoFit/>
          </a:bodyPr>
          <a:lstStyle/>
          <a:p>
            <a:pPr algn="ctr"/>
            <a:r>
              <a:rPr sz="1650" b="0" i="0" kern="0" spc="0">
                <a:solidFill>
                  <a:srgbClr val="FFFFFF"/>
                </a:solidFill>
                <a:latin typeface="Poppins"/>
              </a:rPr>
              <a:t>del subset femenino </a:t>
            </a:r>
            <a:r>
              <a:rPr sz="1650" b="1" i="0" kern="0" spc="0">
                <a:solidFill>
                  <a:srgbClr val="FFFFFF"/>
                </a:solidFill>
                <a:latin typeface="Poppins"/>
              </a:rPr>
              <a:t>18-24 años</a:t>
            </a:r>
            <a:r>
              <a:rPr sz="1650" b="0" i="0" kern="0" spc="0">
                <a:solidFill>
                  <a:srgbClr val="FFFFFF"/>
                </a:solidFill>
                <a:latin typeface="Poppins"/>
              </a:rPr>
              <a:t> (n=55) marca “no realizo ninguna actividad” como TOP-1 — pico de inacción de cualquier franja etaria.</a:t>
            </a:r>
          </a:p>
        </p:txBody>
      </p:sp>
      <p:sp>
        <p:nvSpPr>
          <p:cNvPr id="7" name="TextBox 6"/>
          <p:cNvSpPr txBox="1"/>
          <p:nvPr/>
        </p:nvSpPr>
        <p:spPr>
          <a:xfrm>
            <a:off x="6477000" y="4762500"/>
            <a:ext cx="5334000" cy="1905000"/>
          </a:xfrm>
          <a:prstGeom prst="rect">
            <a:avLst/>
          </a:prstGeom>
          <a:noFill/>
        </p:spPr>
        <p:txBody>
          <a:bodyPr wrap="square" lIns="0" rIns="0" tIns="0" bIns="0">
            <a:spAutoFit/>
          </a:bodyPr>
          <a:lstStyle/>
          <a:p>
            <a:pPr algn="ctr"/>
            <a:r>
              <a:rPr sz="13500" b="0" i="1" kern="0" spc="0">
                <a:solidFill>
                  <a:srgbClr val="FFFFFF"/>
                </a:solidFill>
                <a:latin typeface="Instrument Serif"/>
              </a:rPr>
              <a:t>47%</a:t>
            </a:r>
          </a:p>
        </p:txBody>
      </p:sp>
      <p:sp>
        <p:nvSpPr>
          <p:cNvPr id="8" name="TextBox 7"/>
          <p:cNvSpPr txBox="1"/>
          <p:nvPr/>
        </p:nvSpPr>
        <p:spPr>
          <a:xfrm>
            <a:off x="6477000" y="6858000"/>
            <a:ext cx="5334000" cy="1714500"/>
          </a:xfrm>
          <a:prstGeom prst="rect">
            <a:avLst/>
          </a:prstGeom>
          <a:noFill/>
        </p:spPr>
        <p:txBody>
          <a:bodyPr wrap="square" lIns="0" rIns="0" tIns="0" bIns="0">
            <a:spAutoFit/>
          </a:bodyPr>
          <a:lstStyle/>
          <a:p>
            <a:pPr algn="ctr"/>
            <a:r>
              <a:rPr sz="1650" b="0" i="0" kern="0" spc="0">
                <a:solidFill>
                  <a:srgbClr val="FFFFFF"/>
                </a:solidFill>
                <a:latin typeface="Poppins"/>
              </a:rPr>
              <a:t>del subset </a:t>
            </a:r>
            <a:r>
              <a:rPr sz="1650" b="1" i="0" kern="0" spc="0">
                <a:solidFill>
                  <a:srgbClr val="FFFFFF"/>
                </a:solidFill>
                <a:latin typeface="Poppins"/>
              </a:rPr>
              <a:t>25-34 años</a:t>
            </a:r>
            <a:r>
              <a:rPr sz="1650" b="0" i="0" kern="0" spc="0">
                <a:solidFill>
                  <a:srgbClr val="FFFFFF"/>
                </a:solidFill>
                <a:latin typeface="Poppins"/>
              </a:rPr>
              <a:t> (n=115) marca inacción como TOP-1. Solo en 35-44 el TOP-1 muta a ejercicio (39.3%).</a:t>
            </a:r>
          </a:p>
        </p:txBody>
      </p:sp>
      <p:sp>
        <p:nvSpPr>
          <p:cNvPr id="9" name="TextBox 8"/>
          <p:cNvSpPr txBox="1"/>
          <p:nvPr/>
        </p:nvSpPr>
        <p:spPr>
          <a:xfrm>
            <a:off x="11049000" y="4762500"/>
            <a:ext cx="5334000" cy="1905000"/>
          </a:xfrm>
          <a:prstGeom prst="rect">
            <a:avLst/>
          </a:prstGeom>
          <a:noFill/>
        </p:spPr>
        <p:txBody>
          <a:bodyPr wrap="square" lIns="0" rIns="0" tIns="0" bIns="0">
            <a:spAutoFit/>
          </a:bodyPr>
          <a:lstStyle/>
          <a:p>
            <a:pPr algn="ctr"/>
            <a:r>
              <a:rPr sz="13500" b="0" i="1" kern="0" spc="0">
                <a:solidFill>
                  <a:srgbClr val="FFFFFF"/>
                </a:solidFill>
                <a:latin typeface="Instrument Serif"/>
              </a:rPr>
              <a:t>39%</a:t>
            </a:r>
          </a:p>
        </p:txBody>
      </p:sp>
      <p:sp>
        <p:nvSpPr>
          <p:cNvPr id="10" name="TextBox 9"/>
          <p:cNvSpPr txBox="1"/>
          <p:nvPr/>
        </p:nvSpPr>
        <p:spPr>
          <a:xfrm>
            <a:off x="11049000" y="6858000"/>
            <a:ext cx="5334000" cy="1714500"/>
          </a:xfrm>
          <a:prstGeom prst="rect">
            <a:avLst/>
          </a:prstGeom>
          <a:noFill/>
        </p:spPr>
        <p:txBody>
          <a:bodyPr wrap="square" lIns="0" rIns="0" tIns="0" bIns="0">
            <a:spAutoFit/>
          </a:bodyPr>
          <a:lstStyle/>
          <a:p>
            <a:pPr algn="ctr"/>
            <a:r>
              <a:rPr sz="1650" b="0" i="0" kern="0" spc="0">
                <a:solidFill>
                  <a:srgbClr val="FFFFFF"/>
                </a:solidFill>
                <a:latin typeface="Poppins"/>
              </a:rPr>
              <a:t>del subset </a:t>
            </a:r>
            <a:r>
              <a:rPr sz="1650" b="1" i="0" kern="0" spc="0">
                <a:solidFill>
                  <a:srgbClr val="FFFFFF"/>
                </a:solidFill>
                <a:latin typeface="Poppins"/>
              </a:rPr>
              <a:t>55+</a:t>
            </a:r>
            <a:r>
              <a:rPr sz="1650" b="0" i="0" kern="0" spc="0">
                <a:solidFill>
                  <a:srgbClr val="FFFFFF"/>
                </a:solidFill>
                <a:latin typeface="Poppins"/>
              </a:rPr>
              <a:t> (n=119) marca ejercicio como TOP-1. La mujer mayor dominicana es más activa físicamente que la joven.</a:t>
            </a:r>
          </a:p>
        </p:txBody>
      </p:sp>
      <p:sp>
        <p:nvSpPr>
          <p:cNvPr id="11" name="TextBox 10"/>
          <p:cNvSpPr txBox="1"/>
          <p:nvPr/>
        </p:nvSpPr>
        <p:spPr>
          <a:xfrm>
            <a:off x="0" y="94297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2025 · P27 × D5 · Base 305.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952500" y="952500"/>
            <a:ext cx="16383000" cy="2857500"/>
          </a:xfrm>
          <a:prstGeom prst="rect">
            <a:avLst/>
          </a:prstGeom>
          <a:noFill/>
        </p:spPr>
        <p:txBody>
          <a:bodyPr wrap="square" lIns="0" rIns="0" tIns="0" bIns="0">
            <a:spAutoFit/>
          </a:bodyPr>
          <a:lstStyle/>
          <a:p>
            <a:pPr algn="ctr"/>
            <a:r>
              <a:rPr sz="3150" b="0" i="0" kern="0" spc="0">
                <a:solidFill>
                  <a:srgbClr val="FFFFFF"/>
                </a:solidFill>
                <a:latin typeface="Instrument Serif"/>
              </a:rPr>
              <a:t>LA MUJER DOMINICANA DECIDE LA CRIANZA, LA COCINA, LA LIMPIEZA Y EL CUIDADO. EL DINERO DEL HOGAR LO CO-GESTIONA. </a:t>
            </a:r>
            <a:r>
              <a:rPr sz="3150" b="0" i="1" kern="0" spc="0">
                <a:solidFill>
                  <a:srgbClr val="FFFFFF"/>
                </a:solidFill>
                <a:latin typeface="Instrument Serif"/>
              </a:rPr>
              <a:t>LA AUTORIDAD DOMÉSTICA NO COMPRA INDEPENDENCIA FINANCIERA.</a:t>
            </a:r>
          </a:p>
        </p:txBody>
      </p:sp>
      <p:sp>
        <p:nvSpPr>
          <p:cNvPr id="3" name="Rectangle 2"/>
          <p:cNvSpPr/>
          <p:nvPr/>
        </p:nvSpPr>
        <p:spPr>
          <a:xfrm>
            <a:off x="9134475" y="4572000"/>
            <a:ext cx="19050" cy="2647950"/>
          </a:xfrm>
          <a:prstGeom prst="rect">
            <a:avLst/>
          </a:prstGeom>
          <a:solidFill>
            <a:srgbClr val="2E2E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905000" y="4762500"/>
            <a:ext cx="8382000" cy="1905000"/>
          </a:xfrm>
          <a:prstGeom prst="rect">
            <a:avLst/>
          </a:prstGeom>
          <a:noFill/>
        </p:spPr>
        <p:txBody>
          <a:bodyPr wrap="square" lIns="0" rIns="0" tIns="0" bIns="0">
            <a:spAutoFit/>
          </a:bodyPr>
          <a:lstStyle/>
          <a:p>
            <a:pPr algn="ctr"/>
            <a:r>
              <a:rPr sz="13500" b="0" i="1" kern="0" spc="0">
                <a:solidFill>
                  <a:srgbClr val="FFFFFF"/>
                </a:solidFill>
                <a:latin typeface="Instrument Serif"/>
              </a:rPr>
              <a:t>50%</a:t>
            </a:r>
          </a:p>
        </p:txBody>
      </p:sp>
      <p:sp>
        <p:nvSpPr>
          <p:cNvPr id="5" name="TextBox 4"/>
          <p:cNvSpPr txBox="1"/>
          <p:nvPr/>
        </p:nvSpPr>
        <p:spPr>
          <a:xfrm>
            <a:off x="1905000" y="6858000"/>
            <a:ext cx="8382000" cy="1714500"/>
          </a:xfrm>
          <a:prstGeom prst="rect">
            <a:avLst/>
          </a:prstGeom>
          <a:noFill/>
        </p:spPr>
        <p:txBody>
          <a:bodyPr wrap="square" lIns="0" rIns="0" tIns="0" bIns="0">
            <a:spAutoFit/>
          </a:bodyPr>
          <a:lstStyle/>
          <a:p>
            <a:pPr algn="ctr"/>
            <a:r>
              <a:rPr sz="1650" b="0" i="0" kern="0" spc="0">
                <a:solidFill>
                  <a:srgbClr val="FFFFFF"/>
                </a:solidFill>
                <a:latin typeface="Poppins"/>
              </a:rPr>
              <a:t>del subsample femenino dice “Madre” como responsable de </a:t>
            </a:r>
            <a:r>
              <a:rPr sz="1650" b="1" i="0" kern="0" spc="0">
                <a:solidFill>
                  <a:srgbClr val="FFFFFF"/>
                </a:solidFill>
                <a:latin typeface="Poppins"/>
              </a:rPr>
              <a:t>crianza</a:t>
            </a:r>
            <a:r>
              <a:rPr sz="1650" b="0" i="0" kern="0" spc="0">
                <a:solidFill>
                  <a:srgbClr val="FFFFFF"/>
                </a:solidFill>
                <a:latin typeface="Poppins"/>
              </a:rPr>
              <a:t>. Lidera también en cocina (66.6%), ropa (63.0%), limpieza (59.6%).</a:t>
            </a:r>
          </a:p>
        </p:txBody>
      </p:sp>
      <p:sp>
        <p:nvSpPr>
          <p:cNvPr id="6" name="TextBox 5"/>
          <p:cNvSpPr txBox="1"/>
          <p:nvPr/>
        </p:nvSpPr>
        <p:spPr>
          <a:xfrm>
            <a:off x="8001000" y="4762500"/>
            <a:ext cx="8382000" cy="1905000"/>
          </a:xfrm>
          <a:prstGeom prst="rect">
            <a:avLst/>
          </a:prstGeom>
          <a:noFill/>
        </p:spPr>
        <p:txBody>
          <a:bodyPr wrap="square" lIns="0" rIns="0" tIns="0" bIns="0">
            <a:spAutoFit/>
          </a:bodyPr>
          <a:lstStyle/>
          <a:p>
            <a:pPr algn="ctr"/>
            <a:r>
              <a:rPr sz="13500" b="0" i="1" kern="0" spc="0">
                <a:solidFill>
                  <a:srgbClr val="FFFFFF"/>
                </a:solidFill>
                <a:latin typeface="Instrument Serif"/>
              </a:rPr>
              <a:t>51%</a:t>
            </a:r>
          </a:p>
        </p:txBody>
      </p:sp>
      <p:sp>
        <p:nvSpPr>
          <p:cNvPr id="7" name="TextBox 6"/>
          <p:cNvSpPr txBox="1"/>
          <p:nvPr/>
        </p:nvSpPr>
        <p:spPr>
          <a:xfrm>
            <a:off x="8001000" y="6858000"/>
            <a:ext cx="8382000" cy="1714500"/>
          </a:xfrm>
          <a:prstGeom prst="rect">
            <a:avLst/>
          </a:prstGeom>
          <a:noFill/>
        </p:spPr>
        <p:txBody>
          <a:bodyPr wrap="square" lIns="0" rIns="0" tIns="0" bIns="0">
            <a:spAutoFit/>
          </a:bodyPr>
          <a:lstStyle/>
          <a:p>
            <a:pPr algn="ctr"/>
            <a:r>
              <a:rPr sz="1650" b="0" i="0" kern="0" spc="0">
                <a:solidFill>
                  <a:srgbClr val="FFFFFF"/>
                </a:solidFill>
                <a:latin typeface="Poppins"/>
              </a:rPr>
              <a:t>declara “</a:t>
            </a:r>
            <a:r>
              <a:rPr sz="1650" b="1" i="0" kern="0" spc="0">
                <a:solidFill>
                  <a:srgbClr val="FFFFFF"/>
                </a:solidFill>
                <a:latin typeface="Poppins"/>
              </a:rPr>
              <a:t>ambos por igual</a:t>
            </a:r>
            <a:r>
              <a:rPr sz="1650" b="0" i="0" kern="0" spc="0">
                <a:solidFill>
                  <a:srgbClr val="FFFFFF"/>
                </a:solidFill>
                <a:latin typeface="Poppins"/>
              </a:rPr>
              <a:t>” en manejo del dinero del hogar. En pago de servicios: 42.0% ambos. Autoridad doméstica sin independencia financiera.</a:t>
            </a:r>
          </a:p>
        </p:txBody>
      </p:sp>
      <p:sp>
        <p:nvSpPr>
          <p:cNvPr id="8" name="TextBox 7"/>
          <p:cNvSpPr txBox="1"/>
          <p:nvPr/>
        </p:nvSpPr>
        <p:spPr>
          <a:xfrm>
            <a:off x="0" y="9429750"/>
            <a:ext cx="18288000" cy="476250"/>
          </a:xfrm>
          <a:prstGeom prst="rect">
            <a:avLst/>
          </a:prstGeom>
          <a:noFill/>
        </p:spPr>
        <p:txBody>
          <a:bodyPr wrap="square" lIns="0" rIns="0" tIns="0" bIns="0">
            <a:spAutoFit/>
          </a:bodyPr>
          <a:lstStyle/>
          <a:p>
            <a:pPr algn="ctr"/>
            <a:r>
              <a:rPr sz="1200" b="0" i="1" kern="0" spc="0">
                <a:solidFill>
                  <a:srgbClr val="9B9B9B"/>
                </a:solidFill>
                <a:latin typeface="Poppins"/>
              </a:rPr>
              <a:t>Source: Código Casa — Estudio cuantitativo + cualitativo 2025 · P2, P33 · Base 305.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0" y="762000"/>
            <a:ext cx="18288000" cy="476250"/>
          </a:xfrm>
          <a:prstGeom prst="rect">
            <a:avLst/>
          </a:prstGeom>
          <a:noFill/>
        </p:spPr>
        <p:txBody>
          <a:bodyPr wrap="square" lIns="0" rIns="0" tIns="0" bIns="0">
            <a:spAutoFit/>
          </a:bodyPr>
          <a:lstStyle/>
          <a:p>
            <a:pPr algn="ctr"/>
            <a:r>
              <a:rPr sz="1200" b="0" i="0" kern="0" spc="0">
                <a:solidFill>
                  <a:srgbClr val="9B9B9B"/>
                </a:solidFill>
                <a:latin typeface="Poppins"/>
              </a:rPr>
              <a:t>CONSUMER VOICE</a:t>
            </a:r>
          </a:p>
        </p:txBody>
      </p:sp>
      <p:sp>
        <p:nvSpPr>
          <p:cNvPr id="3" name="Rounded Rectangle 2"/>
          <p:cNvSpPr/>
          <p:nvPr/>
        </p:nvSpPr>
        <p:spPr>
          <a:xfrm>
            <a:off x="1343025" y="2095500"/>
            <a:ext cx="15592425" cy="4619625"/>
          </a:xfrm>
          <a:prstGeom prst="roundRect">
            <a:avLst>
              <a:gd name="adj" fmla="val 5000"/>
            </a:avLst>
          </a:prstGeom>
          <a:solidFill>
            <a:srgbClr val="000000">
              <a:alpha val="4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2105025" y="2667000"/>
            <a:ext cx="14068425" cy="3476625"/>
          </a:xfrm>
          <a:prstGeom prst="rect">
            <a:avLst/>
          </a:prstGeom>
          <a:noFill/>
        </p:spPr>
        <p:txBody>
          <a:bodyPr wrap="square" lIns="0" rIns="0" tIns="0" bIns="0">
            <a:spAutoFit/>
          </a:bodyPr>
          <a:lstStyle/>
          <a:p>
            <a:pPr algn="ctr"/>
            <a:r>
              <a:rPr sz="3750" i="0" b="0" kern="0" spc="0">
                <a:solidFill>
                  <a:srgbClr val="FFFFFF"/>
                </a:solidFill>
                <a:latin typeface="Instrument Serif"/>
              </a:rPr>
              <a:t>«Yo trabajaba en Ikea, diseñando cocinas, y en ese momento no se podía utilizar celulares en el cine. Y yo trabajaba de tarde hasta la noche. Y mi pareja fue un hombre de 6’4”. Yo dije, yo te he llamado más de 10 veces. Y mis padres estaban llevándola a emergencia mientras él fue a buscarme al trabajo. Mi hija llegó a una deshidratación secundaria.»</a:t>
            </a:r>
          </a:p>
          <a:p>
            <a:pPr algn="ctr">
              <a:spcBef>
                <a:spcPts val="1000"/>
              </a:spcBef>
            </a:pPr>
            <a:r>
              <a:rPr sz="1650" i="1" b="0" kern="0" spc="0">
                <a:solidFill>
                  <a:srgbClr val="FFFFFF"/>
                </a:solidFill>
                <a:latin typeface="Poppins"/>
              </a:rPr>
              <a:t>— Familia Biparental con Hijos Pequeños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