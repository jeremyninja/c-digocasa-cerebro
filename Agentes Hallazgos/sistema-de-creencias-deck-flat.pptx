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LA PAREJA DEL MISMO SEXO PUEDE COMPRARSE UNA CASA JUNTOS. ADOPTAR UN HIJO, </a:t>
            </a:r>
            <a:r>
              <a:rPr sz="5000" b="0" i="1" kern="0" spc="0">
                <a:solidFill>
                  <a:srgbClr val="FFFFFF"/>
                </a:solidFill>
                <a:latin typeface="Instrument Serif"/>
              </a:rPr>
              <a:t>NO — EL 61.8% RECHAZA ESO Y EL 60.4% QUE LOS RECONOZCAN COMO PADRES.</a:t>
            </a:r>
          </a:p>
        </p:txBody>
      </p:sp>
      <p:sp>
        <p:nvSpPr>
          <p:cNvPr id="3" name="Rectangle 2"/>
          <p:cNvSpPr/>
          <p:nvPr/>
        </p:nvSpPr>
        <p:spPr>
          <a:xfrm>
            <a:off x="6848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20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7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62%</a:t>
            </a:r>
          </a:p>
        </p:txBody>
      </p:sp>
      <p:sp>
        <p:nvSpPr>
          <p:cNvPr id="6" name="TextBox 5"/>
          <p:cNvSpPr txBox="1"/>
          <p:nvPr/>
        </p:nvSpPr>
        <p:spPr>
          <a:xfrm>
            <a:off x="277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está en desacuerdo con que una pareja del mismo sexo pueda </a:t>
            </a:r>
            <a:r>
              <a:rPr sz="1300" b="1" i="0" kern="0" spc="0">
                <a:solidFill>
                  <a:srgbClr val="FFFFFF"/>
                </a:solidFill>
                <a:latin typeface="Poppins"/>
              </a:rPr>
              <a:t>adoptar legalmente</a:t>
            </a:r>
            <a:r>
              <a:rPr sz="1300" b="0" i="0" kern="0" spc="0">
                <a:solidFill>
                  <a:srgbClr val="FFFFFF"/>
                </a:solidFill>
                <a:latin typeface="Poppins"/>
              </a:rPr>
              <a:t> un hijo — el ítem con mayor rechazo de la batería Q55. 60.4% rechaza además el reconocimiento legal como padres.</a:t>
            </a:r>
          </a:p>
        </p:txBody>
      </p:sp>
      <p:sp>
        <p:nvSpPr>
          <p:cNvPr id="7" name="TextBox 6"/>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52%</a:t>
            </a:r>
          </a:p>
        </p:txBody>
      </p:sp>
      <p:sp>
        <p:nvSpPr>
          <p:cNvPr id="8" name="TextBox 7"/>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acepta que </a:t>
            </a:r>
            <a:r>
              <a:rPr sz="1300" b="1" i="0" kern="0" spc="0">
                <a:solidFill>
                  <a:srgbClr val="FFFFFF"/>
                </a:solidFill>
                <a:latin typeface="Poppins"/>
              </a:rPr>
              <a:t>compren una propiedad juntos</a:t>
            </a:r>
            <a:r>
              <a:rPr sz="1300" b="0" i="0" kern="0" spc="0">
                <a:solidFill>
                  <a:srgbClr val="FFFFFF"/>
                </a:solidFill>
                <a:latin typeface="Poppins"/>
              </a:rPr>
              <a:t> (39.8% muy de acuerdo + 12.2% algo de acuerdo). Los dos ítems más aceptados son los que no involucran a un tercero.</a:t>
            </a:r>
          </a:p>
        </p:txBody>
      </p:sp>
      <p:sp>
        <p:nvSpPr>
          <p:cNvPr id="9" name="TextBox 8"/>
          <p:cNvSpPr txBox="1"/>
          <p:nvPr/>
        </p:nvSpPr>
        <p:spPr>
          <a:xfrm>
            <a:off x="1191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48%</a:t>
            </a:r>
          </a:p>
        </p:txBody>
      </p:sp>
      <p:sp>
        <p:nvSpPr>
          <p:cNvPr id="10" name="TextBox 9"/>
          <p:cNvSpPr txBox="1"/>
          <p:nvPr/>
        </p:nvSpPr>
        <p:spPr>
          <a:xfrm>
            <a:off x="1191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está muy de acuerdo con el acceso a </a:t>
            </a:r>
            <a:r>
              <a:rPr sz="1300" b="1" i="0" kern="0" spc="0">
                <a:solidFill>
                  <a:srgbClr val="FFFFFF"/>
                </a:solidFill>
                <a:latin typeface="Poppins"/>
              </a:rPr>
              <a:t>servicios de salud familiar</a:t>
            </a:r>
            <a:r>
              <a:rPr sz="1300" b="0" i="0" kern="0" spc="0">
                <a:solidFill>
                  <a:srgbClr val="FFFFFF"/>
                </a:solidFill>
                <a:latin typeface="Poppins"/>
              </a:rPr>
              <a:t> como beneficiarios mutuos (+ 10.0% algo de acuerdo = 57.8% total). El préstamo mancomunado suma 45.2% de aprobación.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143250"/>
            <a:ext cx="15592425" cy="4286250"/>
          </a:xfrm>
          <a:prstGeom prst="rect">
            <a:avLst/>
          </a:prstGeom>
          <a:noFill/>
        </p:spPr>
        <p:txBody>
          <a:bodyPr wrap="square" lIns="0" rIns="0" tIns="0" bIns="0">
            <a:spAutoFit/>
          </a:bodyPr>
          <a:lstStyle/>
          <a:p>
            <a:pPr algn="ctr"/>
            <a:r>
              <a:rPr sz="5000" i="0" b="0" kern="0" spc="0">
                <a:solidFill>
                  <a:srgbClr val="FFFFFF"/>
                </a:solidFill>
                <a:latin typeface="Instrument Serif"/>
              </a:rPr>
              <a:t>«Aquí para tú adoptar, uno de los requisitos es que tú tienes que estar casado y el matrimonio en nuestro país es entre un hombre y una mujer (...) por lo cual nosotros ninguno podemos adoptar.»</a:t>
            </a:r>
          </a:p>
        </p:txBody>
      </p:sp>
      <p:sp>
        <p:nvSpPr>
          <p:cNvPr id="4" name="TextBox 3"/>
          <p:cNvSpPr txBox="1"/>
          <p:nvPr/>
        </p:nvSpPr>
        <p:spPr>
          <a:xfrm>
            <a:off x="0" y="6000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Homoparental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LA ACEPTACIÓN DE FAMILIAS DEL MISMO SEXO SIEMPRE LLEGA CON UN 'PERO'. </a:t>
            </a:r>
            <a:r>
              <a:rPr sz="5000" b="0" i="1" kern="0" spc="0">
                <a:solidFill>
                  <a:srgbClr val="FFFFFF"/>
                </a:solidFill>
                <a:latin typeface="Instrument Serif"/>
              </a:rPr>
              <a:t>SE RESPETA LA PAREJA. SE DUDA DEL HIJO.</a:t>
            </a:r>
          </a:p>
        </p:txBody>
      </p:sp>
      <p:sp>
        <p:nvSpPr>
          <p:cNvPr id="3" name="Rounded Rectangle 2"/>
          <p:cNvSpPr/>
          <p:nvPr/>
        </p:nvSpPr>
        <p:spPr>
          <a:xfrm>
            <a:off x="3362325" y="4086225"/>
            <a:ext cx="5400675" cy="2162175"/>
          </a:xfrm>
          <a:prstGeom prst="roundRect">
            <a:avLst>
              <a:gd name="adj" fmla="val 5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48075"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«Respeto su decisión pero no la comparto. Últimamente se está viviendo en una época moderna en la cual quieren imponer eso (...) hacerlo como normal, algo que no es normal, porque (...) la palabra de Dios dice que hombre y mujer, no las dos personas del mismo sexo.»</a:t>
            </a:r>
          </a:p>
          <a:p>
            <a:pPr algn="ctr">
              <a:spcBef>
                <a:spcPts val="800"/>
              </a:spcBef>
            </a:pPr>
            <a:r>
              <a:rPr sz="1200" i="1" b="0" kern="0" spc="0">
                <a:solidFill>
                  <a:srgbClr val="FFFFFF"/>
                </a:solidFill>
                <a:latin typeface="Poppins"/>
              </a:rPr>
              <a:t>— Familia Monoparental</a:t>
            </a:r>
          </a:p>
        </p:txBody>
      </p:sp>
      <p:sp>
        <p:nvSpPr>
          <p:cNvPr id="5" name="Rounded Rectangle 4"/>
          <p:cNvSpPr/>
          <p:nvPr/>
        </p:nvSpPr>
        <p:spPr>
          <a:xfrm>
            <a:off x="9525000" y="4086225"/>
            <a:ext cx="5400675" cy="2162175"/>
          </a:xfrm>
          <a:prstGeom prst="roundRect">
            <a:avLst>
              <a:gd name="adj" fmla="val 5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10750"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«Un niño necesita tener un papá y una mamá porque dos hombres juntos o dos mujeres juntas no pueden procrear (...) yo respeto, pero esa es mi percepción muy personal.»</a:t>
            </a:r>
          </a:p>
          <a:p>
            <a:pPr algn="ctr">
              <a:spcBef>
                <a:spcPts val="800"/>
              </a:spcBef>
            </a:pPr>
            <a:r>
              <a:rPr sz="1200" i="1" b="0" kern="0" spc="0">
                <a:solidFill>
                  <a:srgbClr val="FFFFFF"/>
                </a:solidFill>
                <a:latin typeface="Poppins"/>
              </a:rPr>
              <a:t>— Familia Mixta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64% RECURRE SIEMPRE A LA FE EN MOMENTOS DE DIFICULTAD. </a:t>
            </a:r>
            <a:r>
              <a:rPr sz="5000" b="0" i="1" kern="0" spc="0">
                <a:solidFill>
                  <a:srgbClr val="FFFFFF"/>
                </a:solidFill>
                <a:latin typeface="Instrument Serif"/>
              </a:rPr>
              <a:t>EL 64% NO ES PAREJO: SUBE A 70.8% EN MUJERES Y A 72.7% EN EL ESTRATO D.</a:t>
            </a:r>
          </a:p>
        </p:txBody>
      </p:sp>
      <p:sp>
        <p:nvSpPr>
          <p:cNvPr id="3" name="Rectangle 2"/>
          <p:cNvSpPr/>
          <p:nvPr/>
        </p:nvSpPr>
        <p:spPr>
          <a:xfrm>
            <a:off x="6848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20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7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64%</a:t>
            </a:r>
          </a:p>
        </p:txBody>
      </p:sp>
      <p:sp>
        <p:nvSpPr>
          <p:cNvPr id="6" name="TextBox 5"/>
          <p:cNvSpPr txBox="1"/>
          <p:nvPr/>
        </p:nvSpPr>
        <p:spPr>
          <a:xfrm>
            <a:off x="277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recurre </a:t>
            </a:r>
            <a:r>
              <a:rPr sz="1300" b="1" i="0" kern="0" spc="0">
                <a:solidFill>
                  <a:srgbClr val="FFFFFF"/>
                </a:solidFill>
                <a:latin typeface="Poppins"/>
              </a:rPr>
              <a:t>siempre</a:t>
            </a:r>
            <a:r>
              <a:rPr sz="1300" b="0" i="0" kern="0" spc="0">
                <a:solidFill>
                  <a:srgbClr val="FFFFFF"/>
                </a:solidFill>
                <a:latin typeface="Poppins"/>
              </a:rPr>
              <a:t> a la religión o espiritualidad como alivio o refugio en momentos de dificultad. Solo 6.6% declara que nunca. Q57, Base 500.</a:t>
            </a:r>
          </a:p>
        </p:txBody>
      </p:sp>
      <p:sp>
        <p:nvSpPr>
          <p:cNvPr id="7" name="TextBox 6"/>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71%</a:t>
            </a:r>
          </a:p>
        </p:txBody>
      </p:sp>
      <p:sp>
        <p:nvSpPr>
          <p:cNvPr id="8" name="TextBox 7"/>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las </a:t>
            </a:r>
            <a:r>
              <a:rPr sz="1300" b="1" i="0" kern="0" spc="0">
                <a:solidFill>
                  <a:srgbClr val="FFFFFF"/>
                </a:solidFill>
                <a:latin typeface="Poppins"/>
              </a:rPr>
              <a:t>mujeres</a:t>
            </a:r>
            <a:r>
              <a:rPr sz="1300" b="0" i="0" kern="0" spc="0">
                <a:solidFill>
                  <a:srgbClr val="FFFFFF"/>
                </a:solidFill>
                <a:latin typeface="Poppins"/>
              </a:rPr>
              <a:t> recurre siempre, frente a 53.3% de los hombres. Brecha de género: 17.5 puntos. Q57 × sexo, Base 305 mujeres / 195 hombres.</a:t>
            </a:r>
          </a:p>
        </p:txBody>
      </p:sp>
      <p:sp>
        <p:nvSpPr>
          <p:cNvPr id="9" name="TextBox 8"/>
          <p:cNvSpPr txBox="1"/>
          <p:nvPr/>
        </p:nvSpPr>
        <p:spPr>
          <a:xfrm>
            <a:off x="1191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73%</a:t>
            </a:r>
          </a:p>
        </p:txBody>
      </p:sp>
      <p:sp>
        <p:nvSpPr>
          <p:cNvPr id="10" name="TextBox 9"/>
          <p:cNvSpPr txBox="1"/>
          <p:nvPr/>
        </p:nvSpPr>
        <p:spPr>
          <a:xfrm>
            <a:off x="1191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a:t>
            </a:r>
            <a:r>
              <a:rPr sz="1300" b="1" i="0" kern="0" spc="0">
                <a:solidFill>
                  <a:srgbClr val="FFFFFF"/>
                </a:solidFill>
                <a:latin typeface="Poppins"/>
              </a:rPr>
              <a:t>estrato D</a:t>
            </a:r>
            <a:r>
              <a:rPr sz="1300" b="0" i="0" kern="0" spc="0">
                <a:solidFill>
                  <a:srgbClr val="FFFFFF"/>
                </a:solidFill>
                <a:latin typeface="Poppins"/>
              </a:rPr>
              <a:t> recurre siempre, vs 52.8% en C+ y 61.5% en C. A menor NSE, mayor dependencia espiritual. Q57 × NSE, Base 172 NSE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143250"/>
            <a:ext cx="15592425" cy="4286250"/>
          </a:xfrm>
          <a:prstGeom prst="rect">
            <a:avLst/>
          </a:prstGeom>
          <a:noFill/>
        </p:spPr>
        <p:txBody>
          <a:bodyPr wrap="square" lIns="0" rIns="0" tIns="0" bIns="0">
            <a:spAutoFit/>
          </a:bodyPr>
          <a:lstStyle/>
          <a:p>
            <a:pPr algn="ctr"/>
            <a:r>
              <a:rPr sz="5000" i="0" b="0" kern="0" spc="0">
                <a:solidFill>
                  <a:srgbClr val="FFFFFF"/>
                </a:solidFill>
                <a:latin typeface="Instrument Serif"/>
              </a:rPr>
              <a:t>«Me refugio mucho en Dios, en la oración. Tener una conexión con Dios para mí es importante, dejarle las cosas a él, que él se encargue, porque hay días que tú dices yo no puedo más y Dios se encarga.»</a:t>
            </a:r>
          </a:p>
        </p:txBody>
      </p:sp>
      <p:sp>
        <p:nvSpPr>
          <p:cNvPr id="4" name="TextBox 3"/>
          <p:cNvSpPr txBox="1"/>
          <p:nvPr/>
        </p:nvSpPr>
        <p:spPr>
          <a:xfrm>
            <a:off x="0" y="6000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Biparental con Hijos Adultos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EL DOMINICANO ES CASI UNÁNIMEMENTE CREYENTE. CÓMO CREE — ESO ESTÁ PARTIDO EN TRES MITADES CASI IGUALES, </a:t>
            </a:r>
            <a:r>
              <a:rPr sz="5000" b="0" i="1" kern="0" spc="0">
                <a:solidFill>
                  <a:srgbClr val="FFFFFF"/>
                </a:solidFill>
                <a:latin typeface="Instrument Serif"/>
              </a:rPr>
              <a:t>Y EL NO CREYENTE ES UNA RAREZA DE 1.2%.</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31%</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es </a:t>
            </a:r>
            <a:r>
              <a:rPr sz="1300" b="1" i="0" kern="0" spc="0">
                <a:solidFill>
                  <a:srgbClr val="FFFFFF"/>
                </a:solidFill>
                <a:latin typeface="Poppins"/>
              </a:rPr>
              <a:t>creyente ocasional</a:t>
            </a:r>
            <a:r>
              <a:rPr sz="1300" b="0" i="0" kern="0" spc="0">
                <a:solidFill>
                  <a:srgbClr val="FFFFFF"/>
                </a:solidFill>
                <a:latin typeface="Poppins"/>
              </a:rPr>
              <a:t>, 30.2% muy practicante y activo, 28.8% espiritual sin práctica regular. Solo 8.0% queda fuera del marco religioso o espiritual. Q58, Base 500.</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47%</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los </a:t>
            </a:r>
            <a:r>
              <a:rPr sz="1300" b="1" i="0" kern="0" spc="0">
                <a:solidFill>
                  <a:srgbClr val="FFFFFF"/>
                </a:solidFill>
                <a:latin typeface="Poppins"/>
              </a:rPr>
              <a:t>18–24 años</a:t>
            </a:r>
            <a:r>
              <a:rPr sz="1300" b="0" i="0" kern="0" spc="0">
                <a:solidFill>
                  <a:srgbClr val="FFFFFF"/>
                </a:solidFill>
                <a:latin typeface="Poppins"/>
              </a:rPr>
              <a:t> elige "creyente ocasional" como perfil dominante; en los 55+ el perfil top es "muy practicante y activo" (47.1%). El creyente se vuelve más practicante al envejecer.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9 DE CADA 10 DICEN NO HABER SUFRIDO DISCRIMINACIÓN EN 3 AÑOS. </a:t>
            </a:r>
            <a:r>
              <a:rPr sz="5000" b="0" i="1" kern="0" spc="0">
                <a:solidFill>
                  <a:srgbClr val="FFFFFF"/>
                </a:solidFill>
                <a:latin typeface="Instrument Serif"/>
              </a:rPr>
              <a:t>EN HOGARES MONOPARENTALES LA CIFRA CAE A 83.6% — CASI 8 PUNTOS BAJO EL PROMEDIO.</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91%</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no haber sido víctima de </a:t>
            </a:r>
            <a:r>
              <a:rPr sz="1300" b="1" i="0" kern="0" spc="0">
                <a:solidFill>
                  <a:srgbClr val="FFFFFF"/>
                </a:solidFill>
                <a:latin typeface="Poppins"/>
              </a:rPr>
              <a:t>discriminación</a:t>
            </a:r>
            <a:r>
              <a:rPr sz="1300" b="0" i="0" kern="0" spc="0">
                <a:solidFill>
                  <a:srgbClr val="FFFFFF"/>
                </a:solidFill>
                <a:latin typeface="Poppins"/>
              </a:rPr>
              <a:t> en los últimos 3 años. La mención más alta entre quienes sí reportan algo: "comentarios ofensivos sobre el color de piel" (2.8%, n=14). Q60, Base 500.</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84%</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en hogares </a:t>
            </a:r>
            <a:r>
              <a:rPr sz="1300" b="1" i="0" kern="0" spc="0">
                <a:solidFill>
                  <a:srgbClr val="FFFFFF"/>
                </a:solidFill>
                <a:latin typeface="Poppins"/>
              </a:rPr>
              <a:t>monoparentales</a:t>
            </a:r>
            <a:r>
              <a:rPr sz="1300" b="0" i="0" kern="0" spc="0">
                <a:solidFill>
                  <a:srgbClr val="FFFFFF"/>
                </a:solidFill>
                <a:latin typeface="Poppins"/>
              </a:rPr>
              <a:t> declara no haber sido víctima — la cifra más baja de todas las tipologías, frente a 93.7% en biparental con hijos menores de 18. Q60 × tipología, Base 122.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143250"/>
            <a:ext cx="15592425" cy="4286250"/>
          </a:xfrm>
          <a:prstGeom prst="rect">
            <a:avLst/>
          </a:prstGeom>
          <a:noFill/>
        </p:spPr>
        <p:txBody>
          <a:bodyPr wrap="square" lIns="0" rIns="0" tIns="0" bIns="0">
            <a:spAutoFit/>
          </a:bodyPr>
          <a:lstStyle/>
          <a:p>
            <a:pPr algn="ctr"/>
            <a:r>
              <a:rPr sz="5000" i="0" b="0" kern="0" spc="0">
                <a:solidFill>
                  <a:srgbClr val="FFFFFF"/>
                </a:solidFill>
                <a:latin typeface="Instrument Serif"/>
              </a:rPr>
              <a:t>«La discriminación con la gente: que tú vas a una tienda aquí y si tú no vas bien vestido te miran mal, te vienen todos para acá y no vas a comprar nada.»</a:t>
            </a:r>
          </a:p>
        </p:txBody>
      </p:sp>
      <p:sp>
        <p:nvSpPr>
          <p:cNvPr id="4" name="TextBox 3"/>
          <p:cNvSpPr txBox="1"/>
          <p:nvPr/>
        </p:nvSpPr>
        <p:spPr>
          <a:xfrm>
            <a:off x="0" y="6000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Biparental con Hijos Adultos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54.2% CALIFICA DE MUY BAJA LA INCLUSIÓN DE DISCAPACIDAD EN SU COMUNIDAD. 61.8% CREE QUE ESA MISMA COMUNIDAD </a:t>
            </a:r>
            <a:r>
              <a:rPr sz="5000" b="0" i="1" kern="0" spc="0">
                <a:solidFill>
                  <a:srgbClr val="FFFFFF"/>
                </a:solidFill>
                <a:latin typeface="Instrument Serif"/>
              </a:rPr>
              <a:t>NO ESTÁ NADA PREPARADA PARA INCLUIR.</a:t>
            </a:r>
          </a:p>
        </p:txBody>
      </p:sp>
      <p:sp>
        <p:nvSpPr>
          <p:cNvPr id="3" name="Rectangle 2"/>
          <p:cNvSpPr/>
          <p:nvPr/>
        </p:nvSpPr>
        <p:spPr>
          <a:xfrm>
            <a:off x="6848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20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7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54%</a:t>
            </a:r>
          </a:p>
        </p:txBody>
      </p:sp>
      <p:sp>
        <p:nvSpPr>
          <p:cNvPr id="6" name="TextBox 5"/>
          <p:cNvSpPr txBox="1"/>
          <p:nvPr/>
        </p:nvSpPr>
        <p:spPr>
          <a:xfrm>
            <a:off x="277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califica de </a:t>
            </a:r>
            <a:r>
              <a:rPr sz="1300" b="1" i="0" kern="0" spc="0">
                <a:solidFill>
                  <a:srgbClr val="FFFFFF"/>
                </a:solidFill>
                <a:latin typeface="Poppins"/>
              </a:rPr>
              <a:t>muy baja</a:t>
            </a:r>
            <a:r>
              <a:rPr sz="1300" b="0" i="0" kern="0" spc="0">
                <a:solidFill>
                  <a:srgbClr val="FFFFFF"/>
                </a:solidFill>
                <a:latin typeface="Poppins"/>
              </a:rPr>
              <a:t> (nota 1 de 5) la inclusión de personas con discapacidad en su comunidad. Sumando notas 1 y 2, el 61.6% la reprueba. Q61, Base 500.</a:t>
            </a:r>
          </a:p>
        </p:txBody>
      </p:sp>
      <p:sp>
        <p:nvSpPr>
          <p:cNvPr id="7" name="TextBox 6"/>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62%</a:t>
            </a:r>
          </a:p>
        </p:txBody>
      </p:sp>
      <p:sp>
        <p:nvSpPr>
          <p:cNvPr id="8" name="TextBox 7"/>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cree que su comunidad está "</a:t>
            </a:r>
            <a:r>
              <a:rPr sz="1300" b="1" i="0" kern="0" spc="0">
                <a:solidFill>
                  <a:srgbClr val="FFFFFF"/>
                </a:solidFill>
                <a:latin typeface="Poppins"/>
              </a:rPr>
              <a:t>nada preparada</a:t>
            </a:r>
            <a:r>
              <a:rPr sz="1300" b="0" i="0" kern="0" spc="0">
                <a:solidFill>
                  <a:srgbClr val="FFFFFF"/>
                </a:solidFill>
                <a:latin typeface="Poppins"/>
              </a:rPr>
              <a:t>" para incluir personas neurodivergentes o con discapacidad en trabajo, escuela y transporte. Solo 12.0% la ve muy preparada. Q63, Base 500.</a:t>
            </a:r>
          </a:p>
        </p:txBody>
      </p:sp>
      <p:sp>
        <p:nvSpPr>
          <p:cNvPr id="9" name="TextBox 8"/>
          <p:cNvSpPr txBox="1"/>
          <p:nvPr/>
        </p:nvSpPr>
        <p:spPr>
          <a:xfrm>
            <a:off x="1191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72%</a:t>
            </a:r>
          </a:p>
        </p:txBody>
      </p:sp>
      <p:sp>
        <p:nvSpPr>
          <p:cNvPr id="10" name="TextBox 9"/>
          <p:cNvSpPr txBox="1"/>
          <p:nvPr/>
        </p:nvSpPr>
        <p:spPr>
          <a:xfrm>
            <a:off x="1191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"Nada preparada" sube en el </a:t>
            </a:r>
            <a:r>
              <a:rPr sz="1300" b="1" i="0" kern="0" spc="0">
                <a:solidFill>
                  <a:srgbClr val="FFFFFF"/>
                </a:solidFill>
                <a:latin typeface="Poppins"/>
              </a:rPr>
              <a:t>estrato D</a:t>
            </a:r>
            <a:r>
              <a:rPr sz="1300" b="0" i="0" kern="0" spc="0">
                <a:solidFill>
                  <a:srgbClr val="FFFFFF"/>
                </a:solidFill>
                <a:latin typeface="Poppins"/>
              </a:rPr>
              <a:t> (71.5%, n=172) y en mayores de 55 (70.6%, n=119), frente a 54.5% en 18–24. La exclusión percibida crece con la precariedad y la edad.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2667000"/>
            <a:ext cx="15592425" cy="4286250"/>
          </a:xfrm>
          <a:prstGeom prst="rect">
            <a:avLst/>
          </a:prstGeom>
          <a:noFill/>
        </p:spPr>
        <p:txBody>
          <a:bodyPr wrap="square" lIns="0" rIns="0" tIns="0" bIns="0">
            <a:spAutoFit/>
          </a:bodyPr>
          <a:lstStyle/>
          <a:p>
            <a:pPr algn="ctr"/>
            <a:r>
              <a:rPr sz="5000" i="0" b="0" kern="0" spc="0">
                <a:solidFill>
                  <a:srgbClr val="FFFFFF"/>
                </a:solidFill>
                <a:latin typeface="Instrument Serif"/>
              </a:rPr>
              <a:t>«Si esos maestros supieran trabajar con ese tipo de niños, esos niños fueran más incluidos como otros amiguitos, no necesitarían una educación especial en un colegio especial que le cuesta más de la mitad del sueldo de un padre.»</a:t>
            </a:r>
          </a:p>
        </p:txBody>
      </p:sp>
      <p:sp>
        <p:nvSpPr>
          <p:cNvPr id="4" name="TextBox 3"/>
          <p:cNvSpPr txBox="1"/>
          <p:nvPr/>
        </p:nvSpPr>
        <p:spPr>
          <a:xfrm>
            <a:off x="0" y="552450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Sin Hijos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HABLAR DE ORIENTACIÓN SEXUAL EN FAMILIA PARTE AL DOMINICANO EN DOS: 36.8% MUY CÓMODO, 34.8% NADA CÓMODO. </a:t>
            </a:r>
            <a:r>
              <a:rPr sz="5000" b="0" i="1" kern="0" spc="0">
                <a:solidFill>
                  <a:srgbClr val="FFFFFF"/>
                </a:solidFill>
                <a:latin typeface="Instrument Serif"/>
              </a:rPr>
              <a:t>EL HOMBRE SE CIERRA DONDE LA MUJER HABLA.</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37%</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se siente "</a:t>
            </a:r>
            <a:r>
              <a:rPr sz="1300" b="1" i="0" kern="0" spc="0">
                <a:solidFill>
                  <a:srgbClr val="FFFFFF"/>
                </a:solidFill>
                <a:latin typeface="Poppins"/>
              </a:rPr>
              <a:t>muy cómodo/a</a:t>
            </a:r>
            <a:r>
              <a:rPr sz="1300" b="0" i="0" kern="0" spc="0">
                <a:solidFill>
                  <a:srgbClr val="FFFFFF"/>
                </a:solidFill>
                <a:latin typeface="Poppins"/>
              </a:rPr>
              <a:t>" hablando de orientación sexual o identidad de género en familia, y 34.8% "nada cómodo/a". El centro de la escala es minoritario. Q64, Base 500.</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40%</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las </a:t>
            </a:r>
            <a:r>
              <a:rPr sz="1300" b="1" i="0" kern="0" spc="0">
                <a:solidFill>
                  <a:srgbClr val="FFFFFF"/>
                </a:solidFill>
                <a:latin typeface="Poppins"/>
              </a:rPr>
              <a:t>mujeres</a:t>
            </a:r>
            <a:r>
              <a:rPr sz="1300" b="0" i="0" kern="0" spc="0">
                <a:solidFill>
                  <a:srgbClr val="FFFFFF"/>
                </a:solidFill>
                <a:latin typeface="Poppins"/>
              </a:rPr>
              <a:t> tiene "muy cómoda" como respuesta top (40.3%, n=123); 39.5% de los hombres tiene "nada cómodo" como respuesta top (n=77). El género predice el polo.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2667000"/>
            <a:ext cx="15592425" cy="4286250"/>
          </a:xfrm>
          <a:prstGeom prst="rect">
            <a:avLst/>
          </a:prstGeom>
          <a:noFill/>
        </p:spPr>
        <p:txBody>
          <a:bodyPr wrap="square" lIns="0" rIns="0" tIns="0" bIns="0">
            <a:spAutoFit/>
          </a:bodyPr>
          <a:lstStyle/>
          <a:p>
            <a:pPr algn="ctr"/>
            <a:r>
              <a:rPr sz="5000" i="0" b="0" kern="0" spc="0">
                <a:solidFill>
                  <a:srgbClr val="FFFFFF"/>
                </a:solidFill>
                <a:latin typeface="Instrument Serif"/>
              </a:rPr>
              <a:t>«Mi hijo mayor cuando se declaró gay, esa parte yo no... eso me marcó, porque yo lo rechacé, lo aborrecido como si fuera un trapo viejo (...) Y después de un tiempo (...) yo decidí acercarme y ahora (...) yo lo quiero, hasta su pareja.»</a:t>
            </a:r>
          </a:p>
        </p:txBody>
      </p:sp>
      <p:sp>
        <p:nvSpPr>
          <p:cNvPr id="4" name="TextBox 3"/>
          <p:cNvSpPr txBox="1"/>
          <p:nvPr/>
        </p:nvSpPr>
        <p:spPr>
          <a:xfrm>
            <a:off x="0" y="552450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Biparental con Hijos Adultos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11.6% DE LOS PADRES REPORTA QUE UN HIJO VIVIÓ BULLYING ESCOLAR O DIGITAL. </a:t>
            </a:r>
            <a:r>
              <a:rPr sz="5000" b="0" i="1" kern="0" spc="0">
                <a:solidFill>
                  <a:srgbClr val="FFFFFF"/>
                </a:solidFill>
                <a:latin typeface="Instrument Serif"/>
              </a:rPr>
              <a:t>EL 75% DICE QUE NO. EL SILENCIO NO ES PRUEBA DE AUSENCIA.</a:t>
            </a:r>
          </a:p>
        </p:txBody>
      </p:sp>
      <p:sp>
        <p:nvSpPr>
          <p:cNvPr id="3" name="TextBox 2"/>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12%</a:t>
            </a:r>
          </a:p>
        </p:txBody>
      </p:sp>
      <p:sp>
        <p:nvSpPr>
          <p:cNvPr id="4" name="TextBox 3"/>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que algún hijo vivió </a:t>
            </a:r>
            <a:r>
              <a:rPr sz="1300" b="1" i="0" kern="0" spc="0">
                <a:solidFill>
                  <a:srgbClr val="FFFFFF"/>
                </a:solidFill>
                <a:latin typeface="Poppins"/>
              </a:rPr>
              <a:t>acoso o bullying</a:t>
            </a:r>
            <a:r>
              <a:rPr sz="1300" b="0" i="0" kern="0" spc="0">
                <a:solidFill>
                  <a:srgbClr val="FFFFFF"/>
                </a:solidFill>
                <a:latin typeface="Poppins"/>
              </a:rPr>
              <a:t> escolar o digital; 75.0% (n=375) dice que no y 12.8% no tiene hijos. Recalculado sobre quienes tienen hijos (n≈436): ∼13.3%. Q65, Base 500.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143250"/>
            <a:ext cx="15592425" cy="4286250"/>
          </a:xfrm>
          <a:prstGeom prst="rect">
            <a:avLst/>
          </a:prstGeom>
          <a:noFill/>
        </p:spPr>
        <p:txBody>
          <a:bodyPr wrap="square" lIns="0" rIns="0" tIns="0" bIns="0">
            <a:spAutoFit/>
          </a:bodyPr>
          <a:lstStyle/>
          <a:p>
            <a:pPr algn="ctr"/>
            <a:r>
              <a:rPr sz="5000" i="0" b="0" kern="0" spc="0">
                <a:solidFill>
                  <a:srgbClr val="FFFFFF"/>
                </a:solidFill>
                <a:latin typeface="Instrument Serif"/>
              </a:rPr>
              <a:t>«Tuve al principio de año escolar un momento de tensión porque le estaban haciendo bullying a las niñas, y las niñas que le gustaban su colegio no querían ir. Ya se fue una señal de alerta para mí.»</a:t>
            </a:r>
          </a:p>
        </p:txBody>
      </p:sp>
      <p:sp>
        <p:nvSpPr>
          <p:cNvPr id="4" name="TextBox 3"/>
          <p:cNvSpPr txBox="1"/>
          <p:nvPr/>
        </p:nvSpPr>
        <p:spPr>
          <a:xfrm>
            <a:off x="0" y="6000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Extendida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62.6% DICE QUE EL CAMBIO MÁS URGENTE PARA LA EQUIDAD ES QUE LOS PADRES ESTÉN PRESENTES. </a:t>
            </a:r>
            <a:r>
              <a:rPr sz="5000" b="0" i="1" kern="0" spc="0">
                <a:solidFill>
                  <a:srgbClr val="FFFFFF"/>
                </a:solidFill>
                <a:latin typeface="Instrument Serif"/>
              </a:rPr>
              <a:t>LA FLEXIBILIDAD LABORAL Y LA CARRERA DE LA MUJER NO LLEGAN NI AL 13%.</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63%</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elige "que los </a:t>
            </a:r>
            <a:r>
              <a:rPr sz="1300" b="1" i="0" kern="0" spc="0">
                <a:solidFill>
                  <a:srgbClr val="FFFFFF"/>
                </a:solidFill>
                <a:latin typeface="Poppins"/>
              </a:rPr>
              <a:t>padres estén más presentes</a:t>
            </a:r>
            <a:r>
              <a:rPr sz="1300" b="0" i="0" kern="0" spc="0">
                <a:solidFill>
                  <a:srgbClr val="FFFFFF"/>
                </a:solidFill>
                <a:latin typeface="Poppins"/>
              </a:rPr>
              <a:t>" en la crianza y el hogar como el cambio social más urgente para la equidad familiar. Muy por encima de flexibilidad laboral (12.8%) o que la maternidad no frene la carrera (2.8%). Q66, Base 500.</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13%</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elige </a:t>
            </a:r>
            <a:r>
              <a:rPr sz="1300" b="1" i="0" kern="0" spc="0">
                <a:solidFill>
                  <a:srgbClr val="FFFFFF"/>
                </a:solidFill>
                <a:latin typeface="Poppins"/>
              </a:rPr>
              <a:t>flexibilidad laboral para ambos padres</a:t>
            </a:r>
            <a:r>
              <a:rPr sz="1300" b="0" i="0" kern="0" spc="0">
                <a:solidFill>
                  <a:srgbClr val="FFFFFF"/>
                </a:solidFill>
                <a:latin typeface="Poppins"/>
              </a:rPr>
              <a:t>. La prioridad de "padres presentes" es más intensa en NSE bajo: 75.0% en NSE E (n=32, tendencia direccional) vs 43.5% en AB.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143250"/>
            <a:ext cx="15592425" cy="4286250"/>
          </a:xfrm>
          <a:prstGeom prst="rect">
            <a:avLst/>
          </a:prstGeom>
          <a:noFill/>
        </p:spPr>
        <p:txBody>
          <a:bodyPr wrap="square" lIns="0" rIns="0" tIns="0" bIns="0">
            <a:spAutoFit/>
          </a:bodyPr>
          <a:lstStyle/>
          <a:p>
            <a:pPr algn="ctr"/>
            <a:r>
              <a:rPr sz="5000" i="0" b="0" kern="0" spc="0">
                <a:solidFill>
                  <a:srgbClr val="FFFFFF"/>
                </a:solidFill>
                <a:latin typeface="Instrument Serif"/>
              </a:rPr>
              <a:t>«Que los padres estén más presentes... porque uno se lo da en la casa, que es donde todo empieza, pero ellos, la mayor parte de su tiempo, no están en la casa.»</a:t>
            </a:r>
          </a:p>
        </p:txBody>
      </p:sp>
      <p:sp>
        <p:nvSpPr>
          <p:cNvPr id="4" name="TextBox 3"/>
          <p:cNvSpPr txBox="1"/>
          <p:nvPr/>
        </p:nvSpPr>
        <p:spPr>
          <a:xfrm>
            <a:off x="0" y="6000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Monoparental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LA VIOLENCIA MÁS FRECUENTE EN EL HOGAR DOMINICANO ES LA ECONÓMICA: </a:t>
            </a:r>
            <a:r>
              <a:rPr sz="5000" b="0" i="1" kern="0" spc="0">
                <a:solidFill>
                  <a:srgbClr val="FFFFFF"/>
                </a:solidFill>
                <a:latin typeface="Instrument Serif"/>
              </a:rPr>
              <a:t>20.2% REPORTA CONTROL FINANCIERO — CASI EL TRIPLE QUE EL 7.6% DE VIOLENCIA FÍSICA.</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20%</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reporta </a:t>
            </a:r>
            <a:r>
              <a:rPr sz="1300" b="1" i="0" kern="0" spc="0">
                <a:solidFill>
                  <a:srgbClr val="FFFFFF"/>
                </a:solidFill>
                <a:latin typeface="Poppins"/>
              </a:rPr>
              <a:t>violencia económica</a:t>
            </a:r>
            <a:r>
              <a:rPr sz="1300" b="0" i="0" kern="0" spc="0">
                <a:solidFill>
                  <a:srgbClr val="FFFFFF"/>
                </a:solidFill>
                <a:latin typeface="Poppins"/>
              </a:rPr>
              <a:t> — control del acceso al dinero, restricción financiera — como el tipo de violencia más frecuente en los últimos 3 años. Le sigue la emocional/psicológica (17.4%) y la física (7.6%). Q67, Base 500.</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56%</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no haber sufrido </a:t>
            </a:r>
            <a:r>
              <a:rPr sz="1300" b="1" i="0" kern="0" spc="0">
                <a:solidFill>
                  <a:srgbClr val="FFFFFF"/>
                </a:solidFill>
                <a:latin typeface="Poppins"/>
              </a:rPr>
              <a:t>ningún tipo de violencia</a:t>
            </a:r>
            <a:r>
              <a:rPr sz="1300" b="0" i="0" kern="0" spc="0">
                <a:solidFill>
                  <a:srgbClr val="FFFFFF"/>
                </a:solidFill>
                <a:latin typeface="Poppins"/>
              </a:rPr>
              <a:t>. El 44% restante que sí reporta algo distribuye mayoritariamente en económica y emocional. El cruce NSE E × "no víctima" (n=14) no es publicable.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143250"/>
            <a:ext cx="15592425" cy="4286250"/>
          </a:xfrm>
          <a:prstGeom prst="rect">
            <a:avLst/>
          </a:prstGeom>
          <a:noFill/>
        </p:spPr>
        <p:txBody>
          <a:bodyPr wrap="square" lIns="0" rIns="0" tIns="0" bIns="0">
            <a:spAutoFit/>
          </a:bodyPr>
          <a:lstStyle/>
          <a:p>
            <a:pPr algn="ctr"/>
            <a:r>
              <a:rPr sz="5000" i="0" b="0" kern="0" spc="0">
                <a:solidFill>
                  <a:srgbClr val="FFFFFF"/>
                </a:solidFill>
                <a:latin typeface="Instrument Serif"/>
              </a:rPr>
              <a:t>«Si mi esposo me golpea... aunque yo le diga a mi hija, mira, tú no puedes dejar que nadie te golpee, ella entiende que si él, que es mi esposo, me quiere y me golpea, es una respuesta al amor.»</a:t>
            </a:r>
          </a:p>
        </p:txBody>
      </p:sp>
      <p:sp>
        <p:nvSpPr>
          <p:cNvPr id="4" name="TextBox 3"/>
          <p:cNvSpPr txBox="1"/>
          <p:nvPr/>
        </p:nvSpPr>
        <p:spPr>
          <a:xfrm>
            <a:off x="0" y="6000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Extendida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CUANDO HAY UN ADULTO MAYOR EN EL HOGAR, EL CUIDADO RECAE SOBRE UNA SOLA PERSONA. </a:t>
            </a:r>
            <a:r>
              <a:rPr sz="5000" b="0" i="1" kern="0" spc="0">
                <a:solidFill>
                  <a:srgbClr val="FFFFFF"/>
                </a:solidFill>
                <a:latin typeface="Instrument Serif"/>
              </a:rPr>
              <a:t>12.8% RESPONDE “YO MISMO/A” — DIEZ VECES MÁS QUE EL CUIDADOR CONTRATADO.</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13%</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responde "</a:t>
            </a:r>
            <a:r>
              <a:rPr sz="1300" b="1" i="0" kern="0" spc="0">
                <a:solidFill>
                  <a:srgbClr val="FFFFFF"/>
                </a:solidFill>
                <a:latin typeface="Poppins"/>
              </a:rPr>
              <a:t>yo mismo/a</a:t>
            </a:r>
            <a:r>
              <a:rPr sz="1300" b="0" i="0" kern="0" spc="0">
                <a:solidFill>
                  <a:srgbClr val="FFFFFF"/>
                </a:solidFill>
                <a:latin typeface="Poppins"/>
              </a:rPr>
              <a:t>" al cuidado del adulto mayor en el hogar, frente a 2.0% que lo comparte entre varios y 0.6% que contrata un cuidador. El cuidado no se distribuye: se individualiza. Q68, Base 500.</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73%</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no convive con ninguna </a:t>
            </a:r>
            <a:r>
              <a:rPr sz="1300" b="1" i="0" kern="0" spc="0">
                <a:solidFill>
                  <a:srgbClr val="FFFFFF"/>
                </a:solidFill>
                <a:latin typeface="Poppins"/>
              </a:rPr>
              <a:t>persona mayor</a:t>
            </a:r>
            <a:r>
              <a:rPr sz="1300" b="0" i="0" kern="0" spc="0">
                <a:solidFill>
                  <a:srgbClr val="FFFFFF"/>
                </a:solidFill>
                <a:latin typeface="Poppins"/>
              </a:rPr>
              <a:t>. La convivencia con adulto mayor se concentra en hogares extendidos (44.4%) y en mayores de 55 (52.9% sí conviven). Q68 × tipología y edad.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73.8% PIDE PENSIONES PARA QUE LOS MAYORES VIVAN CON DIGNIDAD. </a:t>
            </a:r>
            <a:r>
              <a:rPr sz="5000" b="0" i="1" kern="0" spc="0">
                <a:solidFill>
                  <a:srgbClr val="FFFFFF"/>
                </a:solidFill>
                <a:latin typeface="Instrument Serif"/>
              </a:rPr>
              <a:t>EL RESPETO Y LA COMPAÑÍA LLEGAN DESPUÉS. LO PRIMERO SIEMPRE ES LA PLATA.</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74%</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menciona </a:t>
            </a:r>
            <a:r>
              <a:rPr sz="1300" b="1" i="0" kern="0" spc="0">
                <a:solidFill>
                  <a:srgbClr val="FFFFFF"/>
                </a:solidFill>
                <a:latin typeface="Poppins"/>
              </a:rPr>
              <a:t>pensiones o apoyos económicos suficientes</a:t>
            </a:r>
            <a:r>
              <a:rPr sz="1300" b="0" i="0" kern="0" spc="0">
                <a:solidFill>
                  <a:srgbClr val="FFFFFF"/>
                </a:solidFill>
                <a:latin typeface="Poppins"/>
              </a:rPr>
              <a:t> como lo que más falta para que la tercera edad viva con dignidad. Le sigue acceso a salud (53.4%). El respeto y reconocimiento familiar queda en 32.4%. Q69, Base 500.</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53%</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menciona </a:t>
            </a:r>
            <a:r>
              <a:rPr sz="1300" b="1" i="0" kern="0" spc="0">
                <a:solidFill>
                  <a:srgbClr val="FFFFFF"/>
                </a:solidFill>
                <a:latin typeface="Poppins"/>
              </a:rPr>
              <a:t>acceso gratuito o asequible a salud</a:t>
            </a:r>
            <a:r>
              <a:rPr sz="1300" b="0" i="0" kern="0" spc="0">
                <a:solidFill>
                  <a:srgbClr val="FFFFFF"/>
                </a:solidFill>
                <a:latin typeface="Poppins"/>
              </a:rPr>
              <a:t> como segunda prioridad. La prioridad de pensiones es transversal: de 70.6% en NSE C a 83.3% en C+; de 65.5% en 18–24 a 79.0% en 55+. Ningún segmento la desplaza del primer lugar.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