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EL PAÍS APRUEBA LA PROPIEDAD COMPARTIDA, RECHAZA LA ADOPCIÓN 2 A 1. </a:t>
            </a:r>
            <a:r>
              <a:rPr sz="3150" b="0" i="1" kern="0" spc="0">
                <a:solidFill>
                  <a:srgbClr val="FFFFFF"/>
                </a:solidFill>
                <a:latin typeface="Instrument Serif"/>
              </a:rPr>
              <a:t>PARA LAS PAREJAS DEL MISMO SEXO, LO QUE EL DERECHO NO DA, TAMPOCO LO PUEDE QUITAR NADIE.</a:t>
            </a:r>
          </a:p>
        </p:txBody>
      </p:sp>
      <p:sp>
        <p:nvSpPr>
          <p:cNvPr id="3" name="Rectangle 2"/>
          <p:cNvSpPr/>
          <p:nvPr/>
        </p:nvSpPr>
        <p:spPr>
          <a:xfrm>
            <a:off x="6848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05000" y="47625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40%</a:t>
            </a:r>
          </a:p>
        </p:txBody>
      </p:sp>
      <p:sp>
        <p:nvSpPr>
          <p:cNvPr id="6" name="TextBox 5"/>
          <p:cNvSpPr txBox="1"/>
          <p:nvPr/>
        </p:nvSpPr>
        <p:spPr>
          <a:xfrm>
            <a:off x="1905000" y="6858000"/>
            <a:ext cx="5334000" cy="1714500"/>
          </a:xfrm>
          <a:prstGeom prst="rect">
            <a:avLst/>
          </a:prstGeom>
          <a:noFill/>
        </p:spPr>
        <p:txBody>
          <a:bodyPr wrap="square" lIns="0" rIns="0" tIns="0" bIns="0">
            <a:spAutoFit/>
          </a:bodyPr>
          <a:lstStyle/>
          <a:p>
            <a:pPr algn="ctr"/>
            <a:r>
              <a:rPr sz="1650" b="0" i="0" kern="0" spc="0">
                <a:solidFill>
                  <a:srgbClr val="FFFFFF"/>
                </a:solidFill>
                <a:latin typeface="Poppins"/>
              </a:rPr>
              <a:t>está muy de acuerdo con que una pareja del mismo sexo compre </a:t>
            </a:r>
            <a:r>
              <a:rPr sz="1650" b="1" i="0" kern="0" spc="0">
                <a:solidFill>
                  <a:srgbClr val="FFFFFF"/>
                </a:solidFill>
                <a:latin typeface="Poppins"/>
              </a:rPr>
              <a:t>propiedad</a:t>
            </a:r>
            <a:r>
              <a:rPr sz="1650" b="0" i="0" kern="0" spc="0">
                <a:solidFill>
                  <a:srgbClr val="FFFFFF"/>
                </a:solidFill>
                <a:latin typeface="Poppins"/>
              </a:rPr>
              <a:t> juntos — ítem de mayor aprobación de Q55. En el extremo, 61.8% rechaza la adopción legal.</a:t>
            </a:r>
          </a:p>
        </p:txBody>
      </p:sp>
      <p:sp>
        <p:nvSpPr>
          <p:cNvPr id="7" name="TextBox 6"/>
          <p:cNvSpPr txBox="1"/>
          <p:nvPr/>
        </p:nvSpPr>
        <p:spPr>
          <a:xfrm>
            <a:off x="6477000" y="47625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48%</a:t>
            </a:r>
          </a:p>
        </p:txBody>
      </p:sp>
      <p:sp>
        <p:nvSpPr>
          <p:cNvPr id="8" name="TextBox 7"/>
          <p:cNvSpPr txBox="1"/>
          <p:nvPr/>
        </p:nvSpPr>
        <p:spPr>
          <a:xfrm>
            <a:off x="6477000" y="6858000"/>
            <a:ext cx="5334000" cy="1714500"/>
          </a:xfrm>
          <a:prstGeom prst="rect">
            <a:avLst/>
          </a:prstGeom>
          <a:noFill/>
        </p:spPr>
        <p:txBody>
          <a:bodyPr wrap="square" lIns="0" rIns="0" tIns="0" bIns="0">
            <a:spAutoFit/>
          </a:bodyPr>
          <a:lstStyle/>
          <a:p>
            <a:pPr algn="ctr"/>
            <a:r>
              <a:rPr sz="1650" b="0" i="0" kern="0" spc="0">
                <a:solidFill>
                  <a:srgbClr val="FFFFFF"/>
                </a:solidFill>
                <a:latin typeface="Poppins"/>
              </a:rPr>
              <a:t>muy de acuerdo con acceso a </a:t>
            </a:r>
            <a:r>
              <a:rPr sz="1650" b="1" i="0" kern="0" spc="0">
                <a:solidFill>
                  <a:srgbClr val="FFFFFF"/>
                </a:solidFill>
                <a:latin typeface="Poppins"/>
              </a:rPr>
              <a:t>servicios de salud familiar</a:t>
            </a:r>
            <a:r>
              <a:rPr sz="1650" b="0" i="0" kern="0" spc="0">
                <a:solidFill>
                  <a:srgbClr val="FFFFFF"/>
                </a:solidFill>
                <a:latin typeface="Poppins"/>
              </a:rPr>
              <a:t> como beneficiarios mutuos, frente a 26.2% en desacuerdo. Salud: más apoyo que lo bancario.</a:t>
            </a:r>
          </a:p>
        </p:txBody>
      </p:sp>
      <p:sp>
        <p:nvSpPr>
          <p:cNvPr id="9" name="TextBox 8"/>
          <p:cNvSpPr txBox="1"/>
          <p:nvPr/>
        </p:nvSpPr>
        <p:spPr>
          <a:xfrm>
            <a:off x="11049000" y="47625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30%</a:t>
            </a:r>
          </a:p>
        </p:txBody>
      </p:sp>
      <p:sp>
        <p:nvSpPr>
          <p:cNvPr id="10" name="TextBox 9"/>
          <p:cNvSpPr txBox="1"/>
          <p:nvPr/>
        </p:nvSpPr>
        <p:spPr>
          <a:xfrm>
            <a:off x="11049000" y="6858000"/>
            <a:ext cx="5334000" cy="1714500"/>
          </a:xfrm>
          <a:prstGeom prst="rect">
            <a:avLst/>
          </a:prstGeom>
          <a:noFill/>
        </p:spPr>
        <p:txBody>
          <a:bodyPr wrap="square" lIns="0" rIns="0" tIns="0" bIns="0">
            <a:spAutoFit/>
          </a:bodyPr>
          <a:lstStyle/>
          <a:p>
            <a:pPr algn="ctr"/>
            <a:r>
              <a:rPr sz="1650" b="0" i="0" kern="0" spc="0">
                <a:solidFill>
                  <a:srgbClr val="FFFFFF"/>
                </a:solidFill>
                <a:latin typeface="Poppins"/>
              </a:rPr>
              <a:t>muy de acuerdo con </a:t>
            </a:r>
            <a:r>
              <a:rPr sz="1650" b="1" i="0" kern="0" spc="0">
                <a:solidFill>
                  <a:srgbClr val="FFFFFF"/>
                </a:solidFill>
                <a:latin typeface="Poppins"/>
              </a:rPr>
              <a:t>préstamo bancario mancomunado</a:t>
            </a:r>
            <a:r>
              <a:rPr sz="1650" b="0" i="0" kern="0" spc="0">
                <a:solidFill>
                  <a:srgbClr val="FFFFFF"/>
                </a:solidFill>
                <a:latin typeface="Poppins"/>
              </a:rPr>
              <a:t>, pero 37.8% sigue en desacuerdo. El derecho más técnico tampoco alcanza mayoría.</a:t>
            </a:r>
          </a:p>
        </p:txBody>
      </p:sp>
      <p:sp>
        <p:nvSpPr>
          <p:cNvPr id="11" name="TextBox 10"/>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Q55 · Base 500.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«Aquí usted no tiene familia, usted vive y convive con un amiguito o una amiguita. Jurídicamente eso no existe. Tú no existes para nada. Tú tienes un problema de violencia de género en personas del mismo sexo que viven juntas, y eso se califica como una riña, no como violencia de género.»</a:t>
            </a:r>
          </a:p>
          <a:p>
            <a:pPr algn="ctr">
              <a:spcBef>
                <a:spcPts val="1000"/>
              </a:spcBef>
            </a:pPr>
            <a:r>
              <a:rPr sz="1650" i="1" b="0" kern="0" spc="0">
                <a:solidFill>
                  <a:srgbClr val="FFFFFF"/>
                </a:solidFill>
                <a:latin typeface="Poppins"/>
              </a:rPr>
              <a:t>— Familia Homoparental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EL LÍMITE DEL RESPETO DOMINICANO SIEMPRE ES EL MISMO: LOS NIÑOS. </a:t>
            </a:r>
            <a:r>
              <a:rPr sz="3150" b="0" i="1" kern="0" spc="0">
                <a:solidFill>
                  <a:srgbClr val="FFFFFF"/>
                </a:solidFill>
                <a:latin typeface="Instrument Serif"/>
              </a:rPr>
              <a:t>HAY QUIENES SON PARTE DE UNA PAREJA DEL MISMO SEXO Y AUN ASÍ DICEN QUE ESE NO ES UN AMBIENTE PARA UN HIJO.</a:t>
            </a:r>
          </a:p>
        </p:txBody>
      </p:sp>
      <p:sp>
        <p:nvSpPr>
          <p:cNvPr id="3" name="TextBox 2"/>
          <p:cNvSpPr txBox="1"/>
          <p:nvPr/>
        </p:nvSpPr>
        <p:spPr>
          <a:xfrm>
            <a:off x="5229225" y="4762500"/>
            <a:ext cx="7829550" cy="1905000"/>
          </a:xfrm>
          <a:prstGeom prst="rect">
            <a:avLst/>
          </a:prstGeom>
          <a:noFill/>
        </p:spPr>
        <p:txBody>
          <a:bodyPr wrap="square" lIns="0" rIns="0" tIns="0" bIns="0">
            <a:spAutoFit/>
          </a:bodyPr>
          <a:lstStyle/>
          <a:p>
            <a:pPr algn="ctr"/>
            <a:r>
              <a:rPr sz="13500" b="0" i="1" kern="0" spc="0">
                <a:solidFill>
                  <a:srgbClr val="FFFFFF"/>
                </a:solidFill>
                <a:latin typeface="Instrument Serif"/>
              </a:rPr>
              <a:t>60%</a:t>
            </a:r>
          </a:p>
        </p:txBody>
      </p:sp>
      <p:sp>
        <p:nvSpPr>
          <p:cNvPr id="4" name="TextBox 3"/>
          <p:cNvSpPr txBox="1"/>
          <p:nvPr/>
        </p:nvSpPr>
        <p:spPr>
          <a:xfrm>
            <a:off x="5229225" y="6858000"/>
            <a:ext cx="7829550" cy="1714500"/>
          </a:xfrm>
          <a:prstGeom prst="rect">
            <a:avLst/>
          </a:prstGeom>
          <a:noFill/>
        </p:spPr>
        <p:txBody>
          <a:bodyPr wrap="square" lIns="0" rIns="0" tIns="0" bIns="0">
            <a:spAutoFit/>
          </a:bodyPr>
          <a:lstStyle/>
          <a:p>
            <a:pPr algn="ctr"/>
            <a:r>
              <a:rPr sz="1650" b="0" i="0" kern="0" spc="0">
                <a:solidFill>
                  <a:srgbClr val="FFFFFF"/>
                </a:solidFill>
                <a:latin typeface="Poppins"/>
              </a:rPr>
              <a:t>está en desacuerdo con que una pareja del mismo sexo sea reconocida legalmente como </a:t>
            </a:r>
            <a:r>
              <a:rPr sz="1650" b="1" i="0" kern="0" spc="0">
                <a:solidFill>
                  <a:srgbClr val="FFFFFF"/>
                </a:solidFill>
                <a:latin typeface="Poppins"/>
              </a:rPr>
              <a:t>padres o madres</a:t>
            </a:r>
            <a:r>
              <a:rPr sz="1650" b="0" i="0" kern="0" spc="0">
                <a:solidFill>
                  <a:srgbClr val="FFFFFF"/>
                </a:solidFill>
                <a:latin typeface="Poppins"/>
              </a:rPr>
              <a:t> de un mismo hijo. Ítem Q55 reconocimiento legal parentalidad.</a:t>
            </a:r>
          </a:p>
        </p:txBody>
      </p:sp>
      <p:sp>
        <p:nvSpPr>
          <p:cNvPr id="5" name="TextBox 4"/>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Q55, Q56 · Base 500.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«De la dos y de la cuatro, respeto su decisión pero no la comparto. Últimamente se está viviendo en una época moderna en la cual quieren imponer eso... hacerlo como normal, algo que no es normal, porque la palabra de Dios dice que hombre y mujer, no las dos personas del mismo sexo.»</a:t>
            </a:r>
          </a:p>
          <a:p>
            <a:pPr algn="ctr">
              <a:spcBef>
                <a:spcPts val="1000"/>
              </a:spcBef>
            </a:pPr>
            <a:r>
              <a:rPr sz="1650" i="1" b="0" kern="0" spc="0">
                <a:solidFill>
                  <a:srgbClr val="FFFFFF"/>
                </a:solidFill>
                <a:latin typeface="Poppins"/>
              </a:rPr>
              <a:t>— Familia Monoparental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64% RECURRE SIEMPRE A LA FE EN MOMENTOS DE DIFICULTAD. </a:t>
            </a:r>
            <a:r>
              <a:rPr sz="3150" b="0" i="1" kern="0" spc="0">
                <a:solidFill>
                  <a:srgbClr val="FFFFFF"/>
                </a:solidFill>
                <a:latin typeface="Instrument Serif"/>
              </a:rPr>
              <a:t>ESE 64% NO ES PAREJO: ES MÁS MUJER, MÁS BAJO EL NIVEL SOCIOECONÓMICO, MÁS ALTA LA DEPENDENCIA.</a:t>
            </a:r>
          </a:p>
        </p:txBody>
      </p:sp>
      <p:sp>
        <p:nvSpPr>
          <p:cNvPr id="3" name="Rectangle 2"/>
          <p:cNvSpPr/>
          <p:nvPr/>
        </p:nvSpPr>
        <p:spPr>
          <a:xfrm>
            <a:off x="6848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05000" y="47625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64%</a:t>
            </a:r>
          </a:p>
        </p:txBody>
      </p:sp>
      <p:sp>
        <p:nvSpPr>
          <p:cNvPr id="6" name="TextBox 5"/>
          <p:cNvSpPr txBox="1"/>
          <p:nvPr/>
        </p:nvSpPr>
        <p:spPr>
          <a:xfrm>
            <a:off x="1905000" y="6858000"/>
            <a:ext cx="5334000" cy="1714500"/>
          </a:xfrm>
          <a:prstGeom prst="rect">
            <a:avLst/>
          </a:prstGeom>
          <a:noFill/>
        </p:spPr>
        <p:txBody>
          <a:bodyPr wrap="square" lIns="0" rIns="0" tIns="0" bIns="0">
            <a:spAutoFit/>
          </a:bodyPr>
          <a:lstStyle/>
          <a:p>
            <a:pPr algn="ctr"/>
            <a:r>
              <a:rPr sz="1650" b="0" i="0" kern="0" spc="0">
                <a:solidFill>
                  <a:srgbClr val="FFFFFF"/>
                </a:solidFill>
                <a:latin typeface="Poppins"/>
              </a:rPr>
              <a:t>marca “Siempre” recurrir a la </a:t>
            </a:r>
            <a:r>
              <a:rPr sz="1650" b="1" i="0" kern="0" spc="0">
                <a:solidFill>
                  <a:srgbClr val="FFFFFF"/>
                </a:solidFill>
                <a:latin typeface="Poppins"/>
              </a:rPr>
              <a:t>religión o espiritualidad</a:t>
            </a:r>
            <a:r>
              <a:rPr sz="1650" b="0" i="0" kern="0" spc="0">
                <a:solidFill>
                  <a:srgbClr val="FFFFFF"/>
                </a:solidFill>
                <a:latin typeface="Poppins"/>
              </a:rPr>
              <a:t> como refugio en momentos de dificultad. Solo 6.6% dice nunca. Q57, Base 500.</a:t>
            </a:r>
          </a:p>
        </p:txBody>
      </p:sp>
      <p:sp>
        <p:nvSpPr>
          <p:cNvPr id="7" name="TextBox 6"/>
          <p:cNvSpPr txBox="1"/>
          <p:nvPr/>
        </p:nvSpPr>
        <p:spPr>
          <a:xfrm>
            <a:off x="6477000" y="47625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71%</a:t>
            </a:r>
          </a:p>
        </p:txBody>
      </p:sp>
      <p:sp>
        <p:nvSpPr>
          <p:cNvPr id="8" name="TextBox 7"/>
          <p:cNvSpPr txBox="1"/>
          <p:nvPr/>
        </p:nvSpPr>
        <p:spPr>
          <a:xfrm>
            <a:off x="6477000" y="6858000"/>
            <a:ext cx="5334000" cy="1714500"/>
          </a:xfrm>
          <a:prstGeom prst="rect">
            <a:avLst/>
          </a:prstGeom>
          <a:noFill/>
        </p:spPr>
        <p:txBody>
          <a:bodyPr wrap="square" lIns="0" rIns="0" tIns="0" bIns="0">
            <a:spAutoFit/>
          </a:bodyPr>
          <a:lstStyle/>
          <a:p>
            <a:pPr algn="ctr"/>
            <a:r>
              <a:rPr sz="1650" b="0" i="0" kern="0" spc="0">
                <a:solidFill>
                  <a:srgbClr val="FFFFFF"/>
                </a:solidFill>
                <a:latin typeface="Poppins"/>
              </a:rPr>
              <a:t>de las </a:t>
            </a:r>
            <a:r>
              <a:rPr sz="1650" b="1" i="0" kern="0" spc="0">
                <a:solidFill>
                  <a:srgbClr val="FFFFFF"/>
                </a:solidFill>
                <a:latin typeface="Poppins"/>
              </a:rPr>
              <a:t>mujeres</a:t>
            </a:r>
            <a:r>
              <a:rPr sz="1650" b="0" i="0" kern="0" spc="0">
                <a:solidFill>
                  <a:srgbClr val="FFFFFF"/>
                </a:solidFill>
                <a:latin typeface="Poppins"/>
              </a:rPr>
              <a:t> recurre siempre a la fe, vs 53.3% de los hombres. Brecha de género: 17.5 puntos. Q57 × sexo.</a:t>
            </a:r>
          </a:p>
        </p:txBody>
      </p:sp>
      <p:sp>
        <p:nvSpPr>
          <p:cNvPr id="9" name="TextBox 8"/>
          <p:cNvSpPr txBox="1"/>
          <p:nvPr/>
        </p:nvSpPr>
        <p:spPr>
          <a:xfrm>
            <a:off x="11049000" y="47625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73%</a:t>
            </a:r>
          </a:p>
        </p:txBody>
      </p:sp>
      <p:sp>
        <p:nvSpPr>
          <p:cNvPr id="10" name="TextBox 9"/>
          <p:cNvSpPr txBox="1"/>
          <p:nvPr/>
        </p:nvSpPr>
        <p:spPr>
          <a:xfrm>
            <a:off x="11049000" y="6858000"/>
            <a:ext cx="5334000" cy="1714500"/>
          </a:xfrm>
          <a:prstGeom prst="rect">
            <a:avLst/>
          </a:prstGeom>
          <a:noFill/>
        </p:spPr>
        <p:txBody>
          <a:bodyPr wrap="square" lIns="0" rIns="0" tIns="0" bIns="0">
            <a:spAutoFit/>
          </a:bodyPr>
          <a:lstStyle/>
          <a:p>
            <a:pPr algn="ctr"/>
            <a:r>
              <a:rPr sz="1650" b="0" i="0" kern="0" spc="0">
                <a:solidFill>
                  <a:srgbClr val="FFFFFF"/>
                </a:solidFill>
                <a:latin typeface="Poppins"/>
              </a:rPr>
              <a:t>del </a:t>
            </a:r>
            <a:r>
              <a:rPr sz="1650" b="1" i="0" kern="0" spc="0">
                <a:solidFill>
                  <a:srgbClr val="FFFFFF"/>
                </a:solidFill>
                <a:latin typeface="Poppins"/>
              </a:rPr>
              <a:t>estrato D</a:t>
            </a:r>
            <a:r>
              <a:rPr sz="1650" b="0" i="0" kern="0" spc="0">
                <a:solidFill>
                  <a:srgbClr val="FFFFFF"/>
                </a:solidFill>
                <a:latin typeface="Poppins"/>
              </a:rPr>
              <a:t> recurre siempre, vs 52.8% del estrato C+ y 61.5% del estrato C. A menor NSE, mayor dependencia espiritual.</a:t>
            </a:r>
          </a:p>
        </p:txBody>
      </p:sp>
      <p:sp>
        <p:nvSpPr>
          <p:cNvPr id="11" name="TextBox 10"/>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Q57, Q57 × D2, Q57 × D6 · Base 500.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«He buscado ayuda profesional para tratar esas cosas... ¿Qué también yo hago? Me refugio mucho en Dios, en la oración. Tener una conexión con Dios para mí es importante, dejarle las cosas a él, que él se encargue, porque hay días que tú dices yo no puedo más y Dios se encarga.»</a:t>
            </a:r>
          </a:p>
          <a:p>
            <a:pPr algn="ctr">
              <a:spcBef>
                <a:spcPts val="1000"/>
              </a:spcBef>
            </a:pPr>
            <a:r>
              <a:rPr sz="1650" i="1" b="0" kern="0" spc="0">
                <a:solidFill>
                  <a:srgbClr val="FFFFFF"/>
                </a:solidFill>
                <a:latin typeface="Poppins"/>
              </a:rPr>
              <a:t>— Familia Biparental con Hijos Adultos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EL DOMINICANO CREE, PERO NO EN INSTITUCIÓN. 30.8% ES CREYENTE OCASIONAL, 28.8% ESPIRITUAL SIN PRÁCTICA REGULAR. </a:t>
            </a:r>
            <a:r>
              <a:rPr sz="3150" b="0" i="1" kern="0" spc="0">
                <a:solidFill>
                  <a:srgbClr val="FFFFFF"/>
                </a:solidFill>
                <a:latin typeface="Instrument Serif"/>
              </a:rPr>
              <a:t>SOLO 30.2% SE DECLARA MUY PRACTICANTE Y ACTIVO.</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31%</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es </a:t>
            </a:r>
            <a:r>
              <a:rPr sz="1650" b="1" i="0" kern="0" spc="0">
                <a:solidFill>
                  <a:srgbClr val="FFFFFF"/>
                </a:solidFill>
                <a:latin typeface="Poppins"/>
              </a:rPr>
              <a:t>creyente ocasional</a:t>
            </a:r>
            <a:r>
              <a:rPr sz="1650" b="0" i="0" kern="0" spc="0">
                <a:solidFill>
                  <a:srgbClr val="FFFFFF"/>
                </a:solidFill>
                <a:latin typeface="Poppins"/>
              </a:rPr>
              <a:t>, 30.2% muy practicante y activo, 28.8% espiritual sin práctica regular. La relación con la fe se reparte en tercios. Q58, Base 500.</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8%</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queda fuera de la órbita espiritual: 6.8% sin afiliación ni práctica, 1.2% no creyente. El país mantiene casi por completo algún vínculo con </a:t>
            </a:r>
            <a:r>
              <a:rPr sz="1650" b="1" i="0" kern="0" spc="0">
                <a:solidFill>
                  <a:srgbClr val="FFFFFF"/>
                </a:solidFill>
                <a:latin typeface="Poppins"/>
              </a:rPr>
              <a:t>lo espiritual</a:t>
            </a:r>
            <a:r>
              <a:rPr sz="1650" b="0" i="0" kern="0" spc="0">
                <a:solidFill>
                  <a:srgbClr val="FFFFFF"/>
                </a:solidFill>
                <a:latin typeface="Poppins"/>
              </a:rPr>
              <a:t> — la fractura es de práctica, no de fe.</a:t>
            </a:r>
          </a:p>
        </p:txBody>
      </p:sp>
      <p:sp>
        <p:nvSpPr>
          <p:cNvPr id="8" name="TextBox 7"/>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Q58 · Base 500.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«Yo soy básicamente la nota discordante de ese entorno... yo no me rijo por la línea en la que va mi familia, sin embargo yo respeto lo que yo vi, yo entiendo que esa es la manera en la que las familias funcionan.»</a:t>
            </a:r>
          </a:p>
          <a:p>
            <a:pPr algn="ctr">
              <a:spcBef>
                <a:spcPts val="1000"/>
              </a:spcBef>
            </a:pPr>
            <a:r>
              <a:rPr sz="1650" i="1" b="0" kern="0" spc="0">
                <a:solidFill>
                  <a:srgbClr val="FFFFFF"/>
                </a:solidFill>
                <a:latin typeface="Poppins"/>
              </a:rPr>
              <a:t>— Familia Mixta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54.2% CALIFICA DE MUY BAJA LA INCLUSIÓN DE DISCAPACIDAD EN SU COMUNIDAD. </a:t>
            </a:r>
            <a:r>
              <a:rPr sz="3150" b="0" i="1" kern="0" spc="0">
                <a:solidFill>
                  <a:srgbClr val="FFFFFF"/>
                </a:solidFill>
                <a:latin typeface="Instrument Serif"/>
              </a:rPr>
              <a:t>EN EL ESTRATO D, EL 71.5% DICE QUE LA COMUNIDAD NO ESTÁ NADA PREPARADA PARA INCLUIRLA.</a:t>
            </a:r>
          </a:p>
        </p:txBody>
      </p:sp>
      <p:sp>
        <p:nvSpPr>
          <p:cNvPr id="3" name="Rectangle 2"/>
          <p:cNvSpPr/>
          <p:nvPr/>
        </p:nvSpPr>
        <p:spPr>
          <a:xfrm>
            <a:off x="6848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05000" y="47625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54%</a:t>
            </a:r>
          </a:p>
        </p:txBody>
      </p:sp>
      <p:sp>
        <p:nvSpPr>
          <p:cNvPr id="6" name="TextBox 5"/>
          <p:cNvSpPr txBox="1"/>
          <p:nvPr/>
        </p:nvSpPr>
        <p:spPr>
          <a:xfrm>
            <a:off x="1905000" y="6858000"/>
            <a:ext cx="5334000" cy="1714500"/>
          </a:xfrm>
          <a:prstGeom prst="rect">
            <a:avLst/>
          </a:prstGeom>
          <a:noFill/>
        </p:spPr>
        <p:txBody>
          <a:bodyPr wrap="square" lIns="0" rIns="0" tIns="0" bIns="0">
            <a:spAutoFit/>
          </a:bodyPr>
          <a:lstStyle/>
          <a:p>
            <a:pPr algn="ctr"/>
            <a:r>
              <a:rPr sz="1650" b="0" i="0" kern="0" spc="0">
                <a:solidFill>
                  <a:srgbClr val="FFFFFF"/>
                </a:solidFill>
                <a:latin typeface="Poppins"/>
              </a:rPr>
              <a:t>califica de </a:t>
            </a:r>
            <a:r>
              <a:rPr sz="1650" b="1" i="0" kern="0" spc="0">
                <a:solidFill>
                  <a:srgbClr val="FFFFFF"/>
                </a:solidFill>
                <a:latin typeface="Poppins"/>
              </a:rPr>
              <a:t>muy baja</a:t>
            </a:r>
            <a:r>
              <a:rPr sz="1650" b="0" i="0" kern="0" spc="0">
                <a:solidFill>
                  <a:srgbClr val="FFFFFF"/>
                </a:solidFill>
                <a:latin typeface="Poppins"/>
              </a:rPr>
              <a:t> la inclusión de personas con discapacidad en su comunidad; solo 19.0% la califica de muy alta. Q61, Base 500.</a:t>
            </a:r>
          </a:p>
        </p:txBody>
      </p:sp>
      <p:sp>
        <p:nvSpPr>
          <p:cNvPr id="7" name="TextBox 6"/>
          <p:cNvSpPr txBox="1"/>
          <p:nvPr/>
        </p:nvSpPr>
        <p:spPr>
          <a:xfrm>
            <a:off x="6477000" y="47625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62%</a:t>
            </a:r>
          </a:p>
        </p:txBody>
      </p:sp>
      <p:sp>
        <p:nvSpPr>
          <p:cNvPr id="8" name="TextBox 7"/>
          <p:cNvSpPr txBox="1"/>
          <p:nvPr/>
        </p:nvSpPr>
        <p:spPr>
          <a:xfrm>
            <a:off x="6477000" y="6858000"/>
            <a:ext cx="5334000" cy="1714500"/>
          </a:xfrm>
          <a:prstGeom prst="rect">
            <a:avLst/>
          </a:prstGeom>
          <a:noFill/>
        </p:spPr>
        <p:txBody>
          <a:bodyPr wrap="square" lIns="0" rIns="0" tIns="0" bIns="0">
            <a:spAutoFit/>
          </a:bodyPr>
          <a:lstStyle/>
          <a:p>
            <a:pPr algn="ctr"/>
            <a:r>
              <a:rPr sz="1650" b="0" i="0" kern="0" spc="0">
                <a:solidFill>
                  <a:srgbClr val="FFFFFF"/>
                </a:solidFill>
                <a:latin typeface="Poppins"/>
              </a:rPr>
              <a:t>cree que su comunidad no está </a:t>
            </a:r>
            <a:r>
              <a:rPr sz="1650" b="1" i="0" kern="0" spc="0">
                <a:solidFill>
                  <a:srgbClr val="FFFFFF"/>
                </a:solidFill>
                <a:latin typeface="Poppins"/>
              </a:rPr>
              <a:t>nada preparada</a:t>
            </a:r>
            <a:r>
              <a:rPr sz="1650" b="0" i="0" kern="0" spc="0">
                <a:solidFill>
                  <a:srgbClr val="FFFFFF"/>
                </a:solidFill>
                <a:latin typeface="Poppins"/>
              </a:rPr>
              <a:t> para incluir personas neurodivergentes o con discapacidad; solo 12.0% la ve muy preparada. Q63, Base 500.</a:t>
            </a:r>
          </a:p>
        </p:txBody>
      </p:sp>
      <p:sp>
        <p:nvSpPr>
          <p:cNvPr id="9" name="TextBox 8"/>
          <p:cNvSpPr txBox="1"/>
          <p:nvPr/>
        </p:nvSpPr>
        <p:spPr>
          <a:xfrm>
            <a:off x="11049000" y="47625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72%</a:t>
            </a:r>
          </a:p>
        </p:txBody>
      </p:sp>
      <p:sp>
        <p:nvSpPr>
          <p:cNvPr id="10" name="TextBox 9"/>
          <p:cNvSpPr txBox="1"/>
          <p:nvPr/>
        </p:nvSpPr>
        <p:spPr>
          <a:xfrm>
            <a:off x="11049000" y="6858000"/>
            <a:ext cx="5334000" cy="1714500"/>
          </a:xfrm>
          <a:prstGeom prst="rect">
            <a:avLst/>
          </a:prstGeom>
          <a:noFill/>
        </p:spPr>
        <p:txBody>
          <a:bodyPr wrap="square" lIns="0" rIns="0" tIns="0" bIns="0">
            <a:spAutoFit/>
          </a:bodyPr>
          <a:lstStyle/>
          <a:p>
            <a:pPr algn="ctr"/>
            <a:r>
              <a:rPr sz="1650" b="0" i="0" kern="0" spc="0">
                <a:solidFill>
                  <a:srgbClr val="FFFFFF"/>
                </a:solidFill>
                <a:latin typeface="Poppins"/>
              </a:rPr>
              <a:t>del </a:t>
            </a:r>
            <a:r>
              <a:rPr sz="1650" b="1" i="0" kern="0" spc="0">
                <a:solidFill>
                  <a:srgbClr val="FFFFFF"/>
                </a:solidFill>
                <a:latin typeface="Poppins"/>
              </a:rPr>
              <a:t>estrato D</a:t>
            </a:r>
            <a:r>
              <a:rPr sz="1650" b="0" i="0" kern="0" spc="0">
                <a:solidFill>
                  <a:srgbClr val="FFFFFF"/>
                </a:solidFill>
                <a:latin typeface="Poppins"/>
              </a:rPr>
              <a:t> considera la comunidad no preparada, vs 70.6% de los mayores de 55. La exclusión percibida crece con la vulnerabilidad.</a:t>
            </a:r>
          </a:p>
        </p:txBody>
      </p:sp>
      <p:sp>
        <p:nvSpPr>
          <p:cNvPr id="11" name="TextBox 10"/>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Q61, Q63, Q63 × D6, Q63 × D5 · Base 500.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HABLAR DE ORIENTACIÓN SEXUAL EN FAMILIA PARTE AL PAÍS EN DOS. EL HOMBRE SE INCLINA AL SILENCIO; </a:t>
            </a:r>
            <a:r>
              <a:rPr sz="3150" b="0" i="1" kern="0" spc="0">
                <a:solidFill>
                  <a:srgbClr val="FFFFFF"/>
                </a:solidFill>
                <a:latin typeface="Instrument Serif"/>
              </a:rPr>
              <a:t>LA MUJER, A LA CONVERSACIÓN — POR CASI 20 PUNTOS DE DIFERENCIA.</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37%</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se siente </a:t>
            </a:r>
            <a:r>
              <a:rPr sz="1650" b="1" i="0" kern="0" spc="0">
                <a:solidFill>
                  <a:srgbClr val="FFFFFF"/>
                </a:solidFill>
                <a:latin typeface="Poppins"/>
              </a:rPr>
              <a:t>muy cómodo</a:t>
            </a:r>
            <a:r>
              <a:rPr sz="1650" b="0" i="0" kern="0" spc="0">
                <a:solidFill>
                  <a:srgbClr val="FFFFFF"/>
                </a:solidFill>
                <a:latin typeface="Poppins"/>
              </a:rPr>
              <a:t> hablando de orientación sexual o identidad de género en familia, y 34.8% nada cómodo. La distribución nacional es casi espejo. Q64, Base 500.</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40%</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de las </a:t>
            </a:r>
            <a:r>
              <a:rPr sz="1650" b="1" i="0" kern="0" spc="0">
                <a:solidFill>
                  <a:srgbClr val="FFFFFF"/>
                </a:solidFill>
                <a:latin typeface="Poppins"/>
              </a:rPr>
              <a:t>mujeres</a:t>
            </a:r>
            <a:r>
              <a:rPr sz="1650" b="0" i="0" kern="0" spc="0">
                <a:solidFill>
                  <a:srgbClr val="FFFFFF"/>
                </a:solidFill>
                <a:latin typeface="Poppins"/>
              </a:rPr>
              <a:t> tiene "muy cómoda" como respuesta top; 39.5% de los hombres tiene "nada cómodo" como respuesta top. El género invierte el polo dominante.</a:t>
            </a:r>
          </a:p>
        </p:txBody>
      </p:sp>
      <p:sp>
        <p:nvSpPr>
          <p:cNvPr id="8" name="TextBox 7"/>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Q64, Q64 × D2 · Base 500.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«Si tú vives con una pareja gay, depende de la educación que tú le des. Viene de la educación... porque si tú te reprimes a no, no, yo no voy a poder porque yo soy lo que soy, es gay, entonces el muchacho después lo que me va a reclamar por eso.»</a:t>
            </a:r>
          </a:p>
          <a:p>
            <a:pPr algn="ctr">
              <a:spcBef>
                <a:spcPts val="1000"/>
              </a:spcBef>
            </a:pPr>
            <a:r>
              <a:rPr sz="1650" i="1" b="0" kern="0" spc="0">
                <a:solidFill>
                  <a:srgbClr val="FFFFFF"/>
                </a:solidFill>
                <a:latin typeface="Poppins"/>
              </a:rPr>
              <a:t>— Familia Homoparental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LA VIOLENCIA QUE MÁS PESA EN EL HOGAR DOMINICANO NO ES LA DE LOS GOLPES: 20.2% REPORTA VIOLENCIA ECONÓMICA, CASI TRIPLICANDO A LA FÍSICA. </a:t>
            </a:r>
            <a:r>
              <a:rPr sz="3150" b="0" i="1" kern="0" spc="0">
                <a:solidFill>
                  <a:srgbClr val="FFFFFF"/>
                </a:solidFill>
                <a:latin typeface="Instrument Serif"/>
              </a:rPr>
              <a:t>EL CONTROL DEL DINERO ES EL PRIMER ARMA.</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20%</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señala la </a:t>
            </a:r>
            <a:r>
              <a:rPr sz="1650" b="1" i="0" kern="0" spc="0">
                <a:solidFill>
                  <a:srgbClr val="FFFFFF"/>
                </a:solidFill>
                <a:latin typeface="Poppins"/>
              </a:rPr>
              <a:t>violencia económica</a:t>
            </a:r>
            <a:r>
              <a:rPr sz="1650" b="0" i="0" kern="0" spc="0">
                <a:solidFill>
                  <a:srgbClr val="FFFFFF"/>
                </a:solidFill>
                <a:latin typeface="Poppins"/>
              </a:rPr>
              <a:t> —restricción del acceso al dinero, control financiero— como el tipo de violencia experimentada con mayor frecuencia en los últimos 3 años. La física: 7.6%.</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17%</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reporta </a:t>
            </a:r>
            <a:r>
              <a:rPr sz="1650" b="1" i="0" kern="0" spc="0">
                <a:solidFill>
                  <a:srgbClr val="FFFFFF"/>
                </a:solidFill>
                <a:latin typeface="Poppins"/>
              </a:rPr>
              <a:t>violencia emocional o psicológica</a:t>
            </a:r>
            <a:r>
              <a:rPr sz="1650" b="0" i="0" kern="0" spc="0">
                <a:solidFill>
                  <a:srgbClr val="FFFFFF"/>
                </a:solidFill>
                <a:latin typeface="Poppins"/>
              </a:rPr>
              <a:t>. Sumadas, la económica y la emocional (37.6%) más que cuadruplican a la física (7.6%). Q67, Base 500.</a:t>
            </a:r>
          </a:p>
        </p:txBody>
      </p:sp>
      <p:sp>
        <p:nvSpPr>
          <p:cNvPr id="8" name="TextBox 7"/>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Q67 · Base 500.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HAY HOGARES DONDE EL GOLPE SE APRENDE COMO RESPUESTA AL AMOR. </a:t>
            </a:r>
            <a:r>
              <a:rPr sz="3150" b="0" i="1" kern="0" spc="0">
                <a:solidFill>
                  <a:srgbClr val="FFFFFF"/>
                </a:solidFill>
                <a:latin typeface="Instrument Serif"/>
              </a:rPr>
              <a:t>LA MADRE LO SABE: SI SU HIJA VE QUE EL ESPOSO LA GOLPEA, LA HIJA ENTIENDE QUE ASÍ SE QUIERE.</a:t>
            </a:r>
          </a:p>
        </p:txBody>
      </p:sp>
      <p:sp>
        <p:nvSpPr>
          <p:cNvPr id="3" name="Rounded Rectangle 2"/>
          <p:cNvSpPr/>
          <p:nvPr/>
        </p:nvSpPr>
        <p:spPr>
          <a:xfrm>
            <a:off x="1343025" y="409575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466725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«Si por ejemplo yo, si mi esposo me golpea, o sea aunque yo le diga a mi hija, mira tú no puedes dejar que nadie te golpea, ella entiende que si él, que es mi esposo, me quiere y me golpea, es una respuesta al amor. Entonces, es como que eso es parte de la educación.»</a:t>
            </a:r>
          </a:p>
          <a:p>
            <a:pPr algn="ctr">
              <a:spcBef>
                <a:spcPts val="1000"/>
              </a:spcBef>
            </a:pPr>
            <a:r>
              <a:rPr sz="1650" i="1" b="0" kern="0" spc="0">
                <a:solidFill>
                  <a:srgbClr val="FFFFFF"/>
                </a:solidFill>
                <a:latin typeface="Poppins"/>
              </a:rPr>
              <a:t>— Familia Extendida</a:t>
            </a:r>
          </a:p>
        </p:txBody>
      </p:sp>
      <p:sp>
        <p:nvSpPr>
          <p:cNvPr id="5" name="TextBox 4"/>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cualitativo 2025 · Q67 · Base cualitativa: 11 grupos de enfoque.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62.6% PIDE UNA SOLA COSA PARA LA EQUIDAD FAMILIAR: QUE LOS PADRES ESTÉN MÁS PRESENTES. </a:t>
            </a:r>
            <a:r>
              <a:rPr sz="3150" b="0" i="1" kern="0" spc="0">
                <a:solidFill>
                  <a:srgbClr val="FFFFFF"/>
                </a:solidFill>
                <a:latin typeface="Instrument Serif"/>
              </a:rPr>
              <a:t>LAS REFORMAS LABORALES Y LA PARIDAD SALARIAL NO APARECEN EN EL RADAR.</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63%</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considera que el cambio social más urgente para la equidad familiar es que los </a:t>
            </a:r>
            <a:r>
              <a:rPr sz="1650" b="1" i="0" kern="0" spc="0">
                <a:solidFill>
                  <a:srgbClr val="FFFFFF"/>
                </a:solidFill>
                <a:latin typeface="Poppins"/>
              </a:rPr>
              <a:t>padres estén más presentes</a:t>
            </a:r>
            <a:r>
              <a:rPr sz="1650" b="0" i="0" kern="0" spc="0">
                <a:solidFill>
                  <a:srgbClr val="FFFFFF"/>
                </a:solidFill>
                <a:latin typeface="Poppins"/>
              </a:rPr>
              <a:t> en la crianza y las tareas del hogar. TOP-1 con margen amplio. Q66, Base 500.</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13%</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elige </a:t>
            </a:r>
            <a:r>
              <a:rPr sz="1650" b="1" i="0" kern="0" spc="0">
                <a:solidFill>
                  <a:srgbClr val="FFFFFF"/>
                </a:solidFill>
                <a:latin typeface="Poppins"/>
              </a:rPr>
              <a:t>flexibilidad laboral para ambos padres</a:t>
            </a:r>
            <a:r>
              <a:rPr sz="1650" b="0" i="0" kern="0" spc="0">
                <a:solidFill>
                  <a:srgbClr val="FFFFFF"/>
                </a:solidFill>
                <a:latin typeface="Poppins"/>
              </a:rPr>
              <a:t> y apenas 2.8% que la maternidad no implique retroceso profesional. Lo estructural queda cinco veces por debajo de lo presencial.</a:t>
            </a:r>
          </a:p>
        </p:txBody>
      </p:sp>
      <p:sp>
        <p:nvSpPr>
          <p:cNvPr id="8" name="TextBox 7"/>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Q66 · Base 500.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73.8% PIDE PENSIONES PARA QUE LOS MAYORES VIVAN CON DIGNIDAD. </a:t>
            </a:r>
            <a:r>
              <a:rPr sz="3150" b="0" i="1" kern="0" spc="0">
                <a:solidFill>
                  <a:srgbClr val="FFFFFF"/>
                </a:solidFill>
                <a:latin typeface="Instrument Serif"/>
              </a:rPr>
              <a:t>EL RESPETO, LA COMPAÑÍA Y EL CUIDADO EMOCIONAL LLEGAN DESPUÉS. LO PRIMERO ES EL CHEQUE.</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74%</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cree que lo que más falta para la dignidad de la tercera edad son </a:t>
            </a:r>
            <a:r>
              <a:rPr sz="1650" b="1" i="0" kern="0" spc="0">
                <a:solidFill>
                  <a:srgbClr val="FFFFFF"/>
                </a:solidFill>
                <a:latin typeface="Poppins"/>
              </a:rPr>
              <a:t>pensiones o apoyos económicos suficientes</a:t>
            </a:r>
            <a:r>
              <a:rPr sz="1650" b="0" i="0" kern="0" spc="0">
                <a:solidFill>
                  <a:srgbClr val="FFFFFF"/>
                </a:solidFill>
                <a:latin typeface="Poppins"/>
              </a:rPr>
              <a:t>. Le sigue acceso a salud con 53.4%. TOP-1 absoluto. Q69, Base 500.</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32%</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elige prevención del </a:t>
            </a:r>
            <a:r>
              <a:rPr sz="1650" b="1" i="0" kern="0" spc="0">
                <a:solidFill>
                  <a:srgbClr val="FFFFFF"/>
                </a:solidFill>
                <a:latin typeface="Poppins"/>
              </a:rPr>
              <a:t>abandono, la soledad y el maltrato</a:t>
            </a:r>
            <a:r>
              <a:rPr sz="1650" b="0" i="0" kern="0" spc="0">
                <a:solidFill>
                  <a:srgbClr val="FFFFFF"/>
                </a:solidFill>
                <a:latin typeface="Poppins"/>
              </a:rPr>
              <a:t> (quinto lugar con 32.2%) y sólo 32.4% el respeto y reconocimiento familiar. Lo emocional pesa la mitad que lo económico.</a:t>
            </a:r>
          </a:p>
        </p:txBody>
      </p:sp>
      <p:sp>
        <p:nvSpPr>
          <p:cNvPr id="8" name="TextBox 7"/>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Q69 · Base 500.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91.2% DICE NO HABER SIDO DISCRIMINADO EN 3 AÑOS. </a:t>
            </a:r>
            <a:r>
              <a:rPr sz="3150" b="0" i="1" kern="0" spc="0">
                <a:solidFill>
                  <a:srgbClr val="FFFFFF"/>
                </a:solidFill>
                <a:latin typeface="Instrument Serif"/>
              </a:rPr>
              <a:t>LO POCO QUE SÍ SE REPORTA TIENE CARA: COLOR DE PIEL Y CABELLO CONCENTRAN CASI TODOS LOS CASOS.</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91%</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declara no haber sido víctima de </a:t>
            </a:r>
            <a:r>
              <a:rPr sz="1650" b="1" i="0" kern="0" spc="0">
                <a:solidFill>
                  <a:srgbClr val="FFFFFF"/>
                </a:solidFill>
                <a:latin typeface="Poppins"/>
              </a:rPr>
              <a:t>discriminación</a:t>
            </a:r>
            <a:r>
              <a:rPr sz="1650" b="0" i="0" kern="0" spc="0">
                <a:solidFill>
                  <a:srgbClr val="FFFFFF"/>
                </a:solidFill>
                <a:latin typeface="Poppins"/>
              </a:rPr>
              <a:t> en los últimos 3 años por raza, color de piel, etnia, nacionalidad, orientación sexual o religión. Q60, Base 500.</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2.8%</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reporta discriminación por </a:t>
            </a:r>
            <a:r>
              <a:rPr sz="1650" b="1" i="0" kern="0" spc="0">
                <a:solidFill>
                  <a:srgbClr val="FFFFFF"/>
                </a:solidFill>
                <a:latin typeface="Poppins"/>
              </a:rPr>
              <a:t>color de piel</a:t>
            </a:r>
            <a:r>
              <a:rPr sz="1650" b="0" i="0" kern="0" spc="0">
                <a:solidFill>
                  <a:srgbClr val="FFFFFF"/>
                </a:solidFill>
                <a:latin typeface="Poppins"/>
              </a:rPr>
              <a:t> (n=14) y 1.8% por cabello (n=9). El cuerpo racializado concentra lo poco que se declara. Cifras sobre n=500 total.</a:t>
            </a:r>
          </a:p>
        </p:txBody>
      </p:sp>
      <p:sp>
        <p:nvSpPr>
          <p:cNvPr id="8" name="TextBox 7"/>
          <p:cNvSpPr txBox="1"/>
          <p:nvPr/>
        </p:nvSpPr>
        <p:spPr>
          <a:xfrm>
            <a:off x="0" y="94297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Q60 · Base 500.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