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46% DEFINE LA BUENA ALIMENTACIÓN COMO DIETA EQUILIBRADA. </a:t>
            </a:r>
            <a:r>
              <a:rPr sz="5000" b="0" i="1" kern="0" spc="0">
                <a:solidFill>
                  <a:srgbClr val="FFFFFF"/>
                </a:solidFill>
                <a:latin typeface="Instrument Serif"/>
              </a:rPr>
              <a:t>57% NO SIGUE NINGUNA DIETA — Y 24% SOLO “INTENTA COMER MEJOR”, SIN MÉTODO.</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46.4%</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define buena alimentación como “</a:t>
            </a:r>
            <a:r>
              <a:rPr sz="1300" b="1" i="0" kern="0" spc="0">
                <a:solidFill>
                  <a:srgbClr val="FFFFFF"/>
                </a:solidFill>
                <a:latin typeface="Poppins"/>
              </a:rPr>
              <a:t>dieta equilibrada con proteínas, carbohidratos y vegetales</a:t>
            </a:r>
            <a:r>
              <a:rPr sz="1300" b="0" i="0" kern="0" spc="0">
                <a:solidFill>
                  <a:srgbClr val="FFFFFF"/>
                </a:solidFill>
                <a:latin typeface="Poppins"/>
              </a:rPr>
              <a:t>”. Es la respuesta dominante de la batería P20.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57.0%</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no seguir ninguna dieta; </a:t>
            </a:r>
            <a:r>
              <a:rPr sz="1300" b="1" i="0" kern="0" spc="0">
                <a:solidFill>
                  <a:srgbClr val="FFFFFF"/>
                </a:solidFill>
                <a:latin typeface="Poppins"/>
              </a:rPr>
              <a:t>23.8% responde “intento comer mejor, pero no sigo una dieta específica”</a:t>
            </a:r>
            <a:r>
              <a:rPr sz="1300" b="0" i="0" kern="0" spc="0">
                <a:solidFill>
                  <a:srgbClr val="FFFFFF"/>
                </a:solidFill>
                <a:latin typeface="Poppins"/>
              </a:rPr>
              <a:t>. Sumados, 80.8% del hogar dominicano opera sin pauta alimenticia. P23, Base 500.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66700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«Bueno, a mí me ha tocado de como alrededor de dos años para acá aprender a comer la comida saludable. Yo antes, a pesar de que ustedes me ven con estas libritas, antes yo comía de una forma muy grotesca. Yo comía de todo.»</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85% DEL HOGAR DOMINICANO COCINA EN CASA SIEMPRE. </a:t>
            </a:r>
            <a:r>
              <a:rPr sz="5000" b="0" i="1" kern="0" spc="0">
                <a:solidFill>
                  <a:srgbClr val="FFFFFF"/>
                </a:solidFill>
                <a:latin typeface="Instrument Serif"/>
              </a:rPr>
              <a:t>LA CALLE COMPITE, EL DELIVERY CRECE — LA COCINA NO CEDE.</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85.0%</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come comida hecha en casa con frecuencia TOP (5 = siempre). </a:t>
            </a:r>
            <a:r>
              <a:rPr sz="1300" b="1" i="0" kern="0" spc="0">
                <a:solidFill>
                  <a:srgbClr val="FFFFFF"/>
                </a:solidFill>
                <a:latin typeface="Poppins"/>
              </a:rPr>
              <a:t>Sumando frecuencias altas y medias, 98.2% come en casa con regularidad</a:t>
            </a:r>
            <a:r>
              <a:rPr sz="1300" b="0" i="0" kern="0" spc="0">
                <a:solidFill>
                  <a:srgbClr val="FFFFFF"/>
                </a:solidFill>
                <a:latin typeface="Poppins"/>
              </a:rPr>
              <a:t>. P21,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1.8%</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come comida hecha en casa con </a:t>
            </a:r>
            <a:r>
              <a:rPr sz="1300" b="1" i="0" kern="0" spc="0">
                <a:solidFill>
                  <a:srgbClr val="FFFFFF"/>
                </a:solidFill>
                <a:latin typeface="Poppins"/>
              </a:rPr>
              <a:t>frecuencia baja o nunca</a:t>
            </a:r>
            <a:r>
              <a:rPr sz="1300" b="0" i="0" kern="0" spc="0">
                <a:solidFill>
                  <a:srgbClr val="FFFFFF"/>
                </a:solidFill>
                <a:latin typeface="Poppins"/>
              </a:rPr>
              <a:t>. La cifra tan baja confirma que el hallazgo real está en el 98.2% que sí lo hace. P21, Base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«Me identifico con las 7, muchísimo, porque imíginate, yo tengo cocina diaria, y tengo que hacer arroz, habichuelas, todos los días.»</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Adultos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COCINAR EN CASA ES HÁBITO POPULAR, NO BURGUES. EN EL ESTRATO D, 89% SIEMPRE COCINA. </a:t>
            </a:r>
            <a:r>
              <a:rPr sz="5000" b="0" i="1" kern="0" spc="0">
                <a:solidFill>
                  <a:srgbClr val="FFFFFF"/>
                </a:solidFill>
                <a:latin typeface="Instrument Serif"/>
              </a:rPr>
              <a:t>QUIEN TIENE DINERO COMPRA EL TIEMPO QUE OTROS NO TIENEN.</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89.0%</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estrato D come en casa con frecuencia TOP (siempre); </a:t>
            </a:r>
            <a:r>
              <a:rPr sz="1300" b="1" i="0" kern="0" spc="0">
                <a:solidFill>
                  <a:srgbClr val="FFFFFF"/>
                </a:solidFill>
                <a:latin typeface="Poppins"/>
              </a:rPr>
              <a:t>83.9% del estrato C</a:t>
            </a:r>
            <a:r>
              <a:rPr sz="1300" b="0" i="0" kern="0" spc="0">
                <a:solidFill>
                  <a:srgbClr val="FFFFFF"/>
                </a:solidFill>
                <a:latin typeface="Poppins"/>
              </a:rPr>
              <a:t>. La cocina doméstica es práctica de mayoría en los estratos de mayor peso muestral. P21 × NSE, Base D n=172 / C n=218.</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52.2%</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estrato AB declara “siempre” cocinar en casa — la más baja del espectro. </a:t>
            </a:r>
            <a:r>
              <a:rPr sz="1300" b="1" i="0" kern="0" spc="0">
                <a:solidFill>
                  <a:srgbClr val="FFFFFF"/>
                </a:solidFill>
                <a:latin typeface="Poppins"/>
              </a:rPr>
              <a:t>Tendencia direccional</a:t>
            </a:r>
            <a:r>
              <a:rPr sz="1300" b="0" i="0" kern="0" spc="0">
                <a:solidFill>
                  <a:srgbClr val="FFFFFF"/>
                </a:solidFill>
                <a:latin typeface="Poppins"/>
              </a:rPr>
              <a:t>, base AB n≤23 no publicable como dato aislado. P21 × NSE.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«Yo gastaba mucho dinero en mi parámetro, mucho hasta que me tocó decir no esperate vamos a cocinar más en la casa vamos a pedir menos.»</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Pequeños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89.5% FEMENINO COME COMIDA HECHA EN CASA SIEMPRE, VS 77.9% MASCULINO. </a:t>
            </a:r>
            <a:r>
              <a:rPr sz="5000" b="0" i="1" kern="0" spc="0">
                <a:solidFill>
                  <a:srgbClr val="FFFFFF"/>
                </a:solidFill>
                <a:latin typeface="Instrument Serif"/>
              </a:rPr>
              <a:t>EL HOMBRE QUE COCINA ES LA EXCEPCIÓN. ELLA, LA REGLA INVISIBLE.</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11.6 pp</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 la </a:t>
            </a:r>
            <a:r>
              <a:rPr sz="1300" b="1" i="0" kern="0" spc="0">
                <a:solidFill>
                  <a:srgbClr val="FFFFFF"/>
                </a:solidFill>
                <a:latin typeface="Poppins"/>
              </a:rPr>
              <a:t>brecha de género</a:t>
            </a:r>
            <a:r>
              <a:rPr sz="1300" b="0" i="0" kern="0" spc="0">
                <a:solidFill>
                  <a:srgbClr val="FFFFFF"/>
                </a:solidFill>
                <a:latin typeface="Poppins"/>
              </a:rPr>
              <a:t>: 89.5% femenino vs 77.9% masculino con frecuencia TOP “siempre”. P21 × Sexo, Base 305 femenino / 195 masculino.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«Bueno, yo tengo el rol de hacer la lista de compra. Nosotros el 100% del tiempo vamos al supermercado juntos. (…) Como ya casi siempre digamos el 90% del tiempo ella es quien cocina.»</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Sin Hijos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54% ELIGE LO QUE COMPRA POR PRECIO, NO POR SALUD. </a:t>
            </a:r>
            <a:r>
              <a:rPr sz="5000" b="0" i="1" kern="0" spc="0">
                <a:solidFill>
                  <a:srgbClr val="FFFFFF"/>
                </a:solidFill>
                <a:latin typeface="Instrument Serif"/>
              </a:rPr>
              <a:t>LO NUTRICIONAL VIVE EN TERCER LUGAR, DESPUÉS DEL COSTO Y LA CALIDAD.</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53.8%</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el </a:t>
            </a:r>
            <a:r>
              <a:rPr sz="1300" b="1" i="0" kern="0" spc="0">
                <a:solidFill>
                  <a:srgbClr val="FFFFFF"/>
                </a:solidFill>
                <a:latin typeface="Poppins"/>
              </a:rPr>
              <a:t>precio</a:t>
            </a:r>
            <a:r>
              <a:rPr sz="1300" b="0" i="0" kern="0" spc="0">
                <a:solidFill>
                  <a:srgbClr val="FFFFFF"/>
                </a:solidFill>
                <a:latin typeface="Poppins"/>
              </a:rPr>
              <a:t> como factor que más influye en la compra de alimentos. TOP-1 de la batería P22 (multirespuesta). Calidad: 45.8%. Salud: 34.4%.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34.4%</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salud o valor nutricional</a:t>
            </a:r>
            <a:r>
              <a:rPr sz="1300" b="0" i="0" kern="0" spc="0">
                <a:solidFill>
                  <a:srgbClr val="FFFFFF"/>
                </a:solidFill>
                <a:latin typeface="Poppins"/>
              </a:rPr>
              <a:t> — tercer lugar, detrás de precio y calidad. Marca (14.4%), facilidad (10.4%) y rapidez (7.4%) quedan por debajo. P22, Base 500 (multirespuesta).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66700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«Yo siempre vivo como le dije la cosa del reciclaje en los supermercados, oferta dos por uno, marca propia, a veces no podemos comprar la que queremos por los intereses, en manera propia que es casi igual de bueno.»</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SOLO 17% SIGUE UNA DIETA ESPECÍFICA. </a:t>
            </a:r>
            <a:r>
              <a:rPr sz="5000" b="0" i="1" kern="0" spc="0">
                <a:solidFill>
                  <a:srgbClr val="FFFFFF"/>
                </a:solidFill>
                <a:latin typeface="Instrument Serif"/>
              </a:rPr>
              <a:t>EL OTRO 83% COME — SIN REGLA, SIN PAUTA, SIN MÉTODO.</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17.2%</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seguir una dieta específica: </a:t>
            </a:r>
            <a:r>
              <a:rPr sz="1300" b="1" i="0" kern="0" spc="0">
                <a:solidFill>
                  <a:srgbClr val="FFFFFF"/>
                </a:solidFill>
                <a:latin typeface="Poppins"/>
              </a:rPr>
              <a:t>sin azúcar 8.6%, baja en carbohidratos 7.8%</a:t>
            </a:r>
            <a:r>
              <a:rPr sz="1300" b="0" i="0" kern="0" spc="0">
                <a:solidFill>
                  <a:srgbClr val="FFFFFF"/>
                </a:solidFill>
                <a:latin typeface="Poppins"/>
              </a:rPr>
              <a:t>, fasting 1.6%, libre de gluten 1.0%, keto 0.2%. P23,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&lt;3%</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agregan las dietas “premium” combinadas </a:t>
            </a:r>
            <a:r>
              <a:rPr sz="1300" b="1" i="0" kern="0" spc="0">
                <a:solidFill>
                  <a:srgbClr val="FFFFFF"/>
                </a:solidFill>
                <a:latin typeface="Poppins"/>
              </a:rPr>
              <a:t>(keto + gluten-free + fasting)</a:t>
            </a:r>
            <a:r>
              <a:rPr sz="1300" b="0" i="0" kern="0" spc="0">
                <a:solidFill>
                  <a:srgbClr val="FFFFFF"/>
                </a:solidFill>
                <a:latin typeface="Poppins"/>
              </a:rPr>
              <a:t>. La opción vegana no aparece en tabulación (n=0 reportable). P23, Base 500.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«Yo no es que yo como tanto, ya yo cené. Pero es un reto, llevar una dieta, porque ni por mi cuerpo ni por mi salud lo he logrado yo.»</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Pequeños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34% SE SIENTA A LA MESA PARA COMPARTIR. </a:t>
            </a:r>
            <a:r>
              <a:rPr sz="5000" b="0" i="1" kern="0" spc="0">
                <a:solidFill>
                  <a:srgbClr val="FFFFFF"/>
                </a:solidFill>
                <a:latin typeface="Instrument Serif"/>
              </a:rPr>
              <a:t>LA COMIDA ES LA ÚLTIMA EXCUSA QUE QUEDA — ANTES ERA LA MESA, AHORA ES EL RATO.</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34.2%</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 su familia comparte horas de comida “</a:t>
            </a:r>
            <a:r>
              <a:rPr sz="1300" b="1" i="0" kern="0" spc="0">
                <a:solidFill>
                  <a:srgbClr val="FFFFFF"/>
                </a:solidFill>
                <a:latin typeface="Poppins"/>
              </a:rPr>
              <a:t>para poder compartir un poco juntos</a:t>
            </a:r>
            <a:r>
              <a:rPr sz="1300" b="0" i="0" kern="0" spc="0">
                <a:solidFill>
                  <a:srgbClr val="FFFFFF"/>
                </a:solidFill>
                <a:latin typeface="Poppins"/>
              </a:rPr>
              <a:t>”. TOP-1 de la batería P25. Segunda razón: “seguir la tradición de comer en la mesa” (16.6%).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15.2%</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usa la mesa “</a:t>
            </a:r>
            <a:r>
              <a:rPr sz="1300" b="1" i="0" kern="0" spc="0">
                <a:solidFill>
                  <a:srgbClr val="FFFFFF"/>
                </a:solidFill>
                <a:latin typeface="Poppins"/>
              </a:rPr>
              <a:t>para relajarnos</a:t>
            </a:r>
            <a:r>
              <a:rPr sz="1300" b="0" i="0" kern="0" spc="0">
                <a:solidFill>
                  <a:srgbClr val="FFFFFF"/>
                </a:solidFill>
                <a:latin typeface="Poppins"/>
              </a:rPr>
              <a:t>”; 14.6% “para hablar sobre las novedades del día”. Solo 2.4% la usa para hablar de noticias y política. P25, Base 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66700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«Sí, nosotros cada vez que estamos en casa, ya sea para la cena o fines de semana, desayuno, comida, nosotros tenemos que sentarnos los dos a comer. Eso es algo, no es de que tú en la sala y yo en la habitación, no. Es los dos en el comedor, hasta tenemos una regla de no comer en las habitaciones, ni en la cama ni nada.»</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Sin Hijos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17% DE LOS HOGARES NO COMPARTE NINGUNA HORA DE COMIDA EN FAMILIA. </a:t>
            </a:r>
            <a:r>
              <a:rPr sz="5000" b="0" i="1" kern="0" spc="0">
                <a:solidFill>
                  <a:srgbClr val="FFFFFF"/>
                </a:solidFill>
                <a:latin typeface="Instrument Serif"/>
              </a:rPr>
              <a:t>UNA DE CADA SEIS CASAS COME — PERO NO SE SIENTA.</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17.0%</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a:t>
            </a:r>
            <a:r>
              <a:rPr sz="1300" b="1" i="0" kern="0" spc="0">
                <a:solidFill>
                  <a:srgbClr val="FFFFFF"/>
                </a:solidFill>
                <a:latin typeface="Poppins"/>
              </a:rPr>
              <a:t>mi familia no comparte en estas horas</a:t>
            </a:r>
            <a:r>
              <a:rPr sz="1300" b="0" i="0" kern="0" spc="0">
                <a:solidFill>
                  <a:srgbClr val="FFFFFF"/>
                </a:solidFill>
                <a:latin typeface="Poppins"/>
              </a:rPr>
              <a:t>”. Segunda respuesta más alta de P25, por encima del 16.6% que cita “seguir la tradición de comer en la mesa”. La grieta y la tradición son del mismo tamaño. Base 500.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66700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«Me identifico con la 1, la 5 y la 7. (…) La 1 eso pasa siempre en los fines de semana porque en los días de semana no comemos, yo como en mi trabajo. Y ella cuando llega del colegio, entonces come sola, porque ya ha comido mi hermanito y la señora.»</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COMPARTIR LA MESA ES MÁS FRECUENTE DONDE HAY MÁS INGRESO. </a:t>
            </a:r>
            <a:r>
              <a:rPr sz="5000" b="0" i="1" kern="0" spc="0">
                <a:solidFill>
                  <a:srgbClr val="FFFFFF"/>
                </a:solidFill>
                <a:latin typeface="Instrument Serif"/>
              </a:rPr>
              <a:t>EN EL ESTRATO D, LA MESA FAMILIAR SE DISPUTA CON HORARIOS QUE EL BOLSILLO NO CONTROLA.</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47.2%</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estrato C+ comparte la mesa “para compartir un poco juntos”. </a:t>
            </a:r>
            <a:r>
              <a:rPr sz="1300" b="1" i="0" kern="0" spc="0">
                <a:solidFill>
                  <a:srgbClr val="FFFFFF"/>
                </a:solidFill>
                <a:latin typeface="Poppins"/>
              </a:rPr>
              <a:t>En C: 32.6%; en D: 30.8%</a:t>
            </a:r>
            <a:r>
              <a:rPr sz="1300" b="0" i="0" kern="0" spc="0">
                <a:solidFill>
                  <a:srgbClr val="FFFFFF"/>
                </a:solidFill>
                <a:latin typeface="Poppins"/>
              </a:rPr>
              <a:t>. La brecha entre estratos medios y populares supera los 15 puntos. P25 × NSE, Base C n=218 / D n=172.</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52.2%</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estrato AB declara compartir mesa como fin en sí mismo. </a:t>
            </a:r>
            <a:r>
              <a:rPr sz="1300" b="1" i="0" kern="0" spc="0">
                <a:solidFill>
                  <a:srgbClr val="FFFFFF"/>
                </a:solidFill>
                <a:latin typeface="Poppins"/>
              </a:rPr>
              <a:t>Tendencia direccional</a:t>
            </a:r>
            <a:r>
              <a:rPr sz="1300" b="0" i="0" kern="0" spc="0">
                <a:solidFill>
                  <a:srgbClr val="FFFFFF"/>
                </a:solidFill>
                <a:latin typeface="Poppins"/>
              </a:rPr>
              <a:t>, base AB n≤23 no publicable como dato aislado. La dirección —más ingreso, más mesa compartida— es robusta desde C hasta D. P25 × NSE.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«En el almuerzo nosotros siempre compramos comida porque no hacemos comida para comer regularmente. (…) Comemos, damos un poco, luego que terminamos de comer, ya la limpieza y hacer otra cosa.»</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Sin Hijos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HOGAR DOMINICANO QUIERE COMER SALUDABLE. </a:t>
            </a:r>
            <a:r>
              <a:rPr sz="5000" b="0" i="1" kern="0" spc="0">
                <a:solidFill>
                  <a:srgbClr val="FFFFFF"/>
                </a:solidFill>
                <a:latin typeface="Instrument Serif"/>
              </a:rPr>
              <a:t>EL BOLSILLO, EL TIEMPO Y LA CALLE SE LO COBRAN.</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«Comer cosas saludables salen más baratos que comer saludables. Si tú quieres un buen huevo (…) la logística para tú y buscar algo. (…) A mí me gustaría comer mucho más saludable pero la realidad es que el bolsillo.»</a:t>
            </a:r>
          </a:p>
          <a:p>
            <a:pPr algn="ctr">
              <a:spcBef>
                <a:spcPts val="800"/>
              </a:spcBef>
            </a:pPr>
            <a:r>
              <a:rPr sz="1200" i="1" b="0" kern="0" spc="0">
                <a:solidFill>
                  <a:srgbClr val="FFFFFF"/>
                </a:solidFill>
                <a:latin typeface="Poppins"/>
              </a:rPr>
              <a:t>— Familia Biparental con Hijos Pequeños</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«El problema también con la comida saludable es el exceso porque como tú dices en la calle hay mucha comida rápida, hay muchas pizzas, mucho pollo, mucha cosa empanizada, mucha cosa frita pero a la hora de tu buscar opciones saludables son escasas y las que hay son muy caros.»</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EN HOGARES CON HIJOS, LA CANASTA SE DISEÑA PRIMERO PARA ELLOS. </a:t>
            </a:r>
            <a:r>
              <a:rPr sz="5000" b="0" i="1" kern="0" spc="0">
                <a:solidFill>
                  <a:srgbClr val="FFFFFF"/>
                </a:solidFill>
                <a:latin typeface="Instrument Serif"/>
              </a:rPr>
              <a:t>EL ADULTO ELIGE DESPUÉS — O CONSUME LO MISMO.</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creo que un 80% de lo que tienen todos, yo pienso en qué ellos van a comer. Mi alimentación depende de lo que ellos puedan comer. Yo no voy a ir al supermercado a comprar algo pensando en mi suegra. Yo voy al supermercado y después…»</a:t>
            </a:r>
          </a:p>
          <a:p>
            <a:pPr algn="ctr">
              <a:spcBef>
                <a:spcPts val="800"/>
              </a:spcBef>
            </a:pPr>
            <a:r>
              <a:rPr sz="1200" i="1" b="0" kern="0" spc="0">
                <a:solidFill>
                  <a:srgbClr val="FFFFFF"/>
                </a:solidFill>
                <a:latin typeface="Poppins"/>
              </a:rPr>
              <a:t>— Familia Extendida</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«La hija mía costumbra comer mucha harina (…) ella es lo de espagueti, pizza, donuts, ella es amante de esa línea, entonces ahí la cosa se complica mucho en cuanto a la compra. (…) Uno se ve obligado a tener que consumir lo demás porque no se puede desperdiciar la otra parte.»</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SEMANA ES EFICIENCIA; EL FIN DE SEMANA, RITUAL. </a:t>
            </a:r>
            <a:r>
              <a:rPr sz="5000" b="0" i="1" kern="0" spc="0">
                <a:solidFill>
                  <a:srgbClr val="FFFFFF"/>
                </a:solidFill>
                <a:latin typeface="Instrument Serif"/>
              </a:rPr>
              <a:t>EL HOGAR DOMINICANO NO COME LO MISMO DE LUNES A VIERNES QUE EL SÁBADO.</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«El número 7 suelo más los sábados y domingos. Me toca de cocinar en la casa porque yo por ejemplo yo me levanto a las 5 de la mañana todos los días, yo hago comida porque me la llevo a mi trabajo. (…) El sábado es el único día que yo tengo para yo realmente me dedico a cocinar.»</a:t>
            </a:r>
          </a:p>
          <a:p>
            <a:pPr algn="ctr">
              <a:spcBef>
                <a:spcPts val="800"/>
              </a:spcBef>
            </a:pPr>
            <a:r>
              <a:rPr sz="1200" i="1" b="0" kern="0" spc="0">
                <a:solidFill>
                  <a:srgbClr val="FFFFFF"/>
                </a:solidFill>
                <a:latin typeface="Poppins"/>
              </a:rPr>
              <a:t>— Familia Mixta</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«A fines de semana hay que comer yaroa, pizza y cosas así.»</a:t>
            </a:r>
          </a:p>
          <a:p>
            <a:pPr algn="ctr">
              <a:spcBef>
                <a:spcPts val="800"/>
              </a:spcBef>
            </a:pPr>
            <a:r>
              <a:rPr sz="1200" i="1" b="0" kern="0" spc="0">
                <a:solidFill>
                  <a:srgbClr val="FFFFFF"/>
                </a:solidFill>
                <a:latin typeface="Poppins"/>
              </a:rPr>
              <a:t>— Familia Mixta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