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spc="0">
                <a:solidFill>
                  <a:srgbClr val="FFFFFF"/>
                </a:solidFill>
                <a:latin typeface="Instrument Serif"/>
              </a:rPr>
              <a:t>LA TERAPIA ES LA ACTIVIDAD DE AUTOCUIDADO MENOS ELEGIDA. EL DOMINICANO NO IGNORA SU SALUD MENTAL — </a:t>
            </a:r>
            <a:r>
              <a:rPr sz="3000" b="0" i="1" spc="0">
                <a:solidFill>
                  <a:srgbClr val="FFFFFF"/>
                </a:solidFill>
                <a:latin typeface="Instrument Serif"/>
              </a:rPr>
              <a:t>LA TERCERIZA A LA FE, LA MASCOTA, EL EJERCICIO Y LA FAMILIA.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00000"/>
            <a:ext cx="2700000" cy="1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1" spc="0">
                <a:solidFill>
                  <a:srgbClr val="FFFFFF"/>
                </a:solidFill>
                <a:latin typeface="Instrument Serif"/>
              </a:rPr>
              <a:t>3.0%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0000"/>
            <a:ext cx="2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spc="0">
                <a:solidFill>
                  <a:srgbClr val="FFFFFF"/>
                </a:solidFill>
                <a:latin typeface="Poppins"/>
              </a:rPr>
              <a:t>declara </a:t>
            </a:r>
            <a:r>
              <a:rPr sz="1100" b="1" i="0" spc="0">
                <a:solidFill>
                  <a:srgbClr val="FFFFFF"/>
                </a:solidFill>
                <a:latin typeface="Poppins"/>
              </a:rPr>
              <a:t>"voy a terapia"</a:t>
            </a:r>
            <a:r>
              <a:rPr sz="1100" b="0" i="0" spc="0">
                <a:solidFill>
                  <a:srgbClr val="FFFFFF"/>
                </a:solidFill>
                <a:latin typeface="Poppins"/>
              </a:rPr>
              <a:t> como actividad principal de autocuidado. La opción menos votada de toda la batería P27.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7600" y="2400000"/>
            <a:ext cx="2700000" cy="1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1" spc="0">
                <a:solidFill>
                  <a:srgbClr val="FFFFFF"/>
                </a:solidFill>
                <a:latin typeface="Instrument Serif"/>
              </a:rPr>
              <a:t>9.0%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7600" y="3740000"/>
            <a:ext cx="2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spc="0">
                <a:solidFill>
                  <a:srgbClr val="FFFFFF"/>
                </a:solidFill>
                <a:latin typeface="Poppins"/>
              </a:rPr>
              <a:t>elige meditación como autocuidado. Terapia + meditación suman </a:t>
            </a:r>
            <a:r>
              <a:rPr sz="1100" b="1" i="0" spc="0">
                <a:solidFill>
                  <a:srgbClr val="FFFFFF"/>
                </a:solidFill>
                <a:latin typeface="Poppins"/>
              </a:rPr>
              <a:t>12%</a:t>
            </a:r>
            <a:r>
              <a:rPr sz="1100" b="0" i="0" spc="0">
                <a:solidFill>
                  <a:srgbClr val="FFFFFF"/>
                </a:solidFill>
                <a:latin typeface="Poppins"/>
              </a:rPr>
              <a:t>. El 88% restante canaliza su bienestar mental por vías no clínicas.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508000"/>
            <a:ext cx="103628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spc="0">
                <a:solidFill>
                  <a:srgbClr val="FFFFFF"/>
                </a:solidFill>
                <a:latin typeface="Poppins"/>
              </a:rPr>
              <a:t>Source: Código Casa — Estudio cuantitativo 2025 · P27 · Base 500.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 spc="200">
                <a:solidFill>
                  <a:srgbClr val="FFFFFF"/>
                </a:solidFill>
                <a:latin typeface="Poppins"/>
              </a:rPr>
              <a:t>CONSUMER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000"/>
            <a:ext cx="1072896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 spc="0">
                <a:solidFill>
                  <a:srgbClr val="FFFFFF"/>
                </a:solidFill>
                <a:latin typeface="Instrument Serif"/>
              </a:rPr>
              <a:t>“YO NO IBA A HACER LO QUE FUE MEDICARME, PASAR POR PSIQUIATRÍA. (...) DESPUÉS DE QUE PASÓ TODO LO QUE PASÓ CON LA OTRA PAREJA QUE YO TUVE, TUVE QUE IR A LA PSIQUIATRÍA, TUVE QUE MEDICARME, PERO AL FINAL VALIÓ LA PENA, RINDIÓ SUS FRUTOS.”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80000"/>
            <a:ext cx="1219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 spc="0">
                <a:solidFill>
                  <a:srgbClr val="FFFFFF"/>
                </a:solidFill>
                <a:latin typeface="Poppins"/>
              </a:rPr>
              <a:t>— Grupo Homoparental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spc="0">
                <a:solidFill>
                  <a:srgbClr val="FFFFFF"/>
                </a:solidFill>
                <a:latin typeface="Instrument Serif"/>
              </a:rPr>
              <a:t>85% DEL DOMINICANO CONSIDERA A LA MASCOTA PARTE DE LA FAMILIA. </a:t>
            </a:r>
            <a:r>
              <a:rPr sz="3000" b="0" i="1" spc="0">
                <a:solidFill>
                  <a:srgbClr val="FFFFFF"/>
                </a:solidFill>
                <a:latin typeface="Instrument Serif"/>
              </a:rPr>
              <a:t>EN LOS HOMBRES, EL PERRO CUMPLE LA FUNCIÓN EMOCIONAL QUE LA CULTURA NO LES PERMITE BUSCAR EN OTRA PARTE.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46000" y="2400000"/>
            <a:ext cx="2700000" cy="1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1" spc="0">
                <a:solidFill>
                  <a:srgbClr val="FFFFFF"/>
                </a:solidFill>
                <a:latin typeface="Instrument Serif"/>
              </a:rPr>
              <a:t>85.0%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46000" y="3740000"/>
            <a:ext cx="2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spc="0">
                <a:solidFill>
                  <a:srgbClr val="FFFFFF"/>
                </a:solidFill>
                <a:latin typeface="Poppins"/>
              </a:rPr>
              <a:t>considera a las mascotas parte de la familia. En </a:t>
            </a:r>
            <a:r>
              <a:rPr sz="1100" b="1" i="0" spc="0">
                <a:solidFill>
                  <a:srgbClr val="FFFFFF"/>
                </a:solidFill>
                <a:latin typeface="Poppins"/>
              </a:rPr>
              <a:t>hogares sin hijos con mascota</a:t>
            </a:r>
            <a:r>
              <a:rPr sz="1100" b="0" i="0" spc="0">
                <a:solidFill>
                  <a:srgbClr val="FFFFFF"/>
                </a:solidFill>
                <a:latin typeface="Poppins"/>
              </a:rPr>
              <a:t> sube a 94.6%.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508000"/>
            <a:ext cx="103628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spc="0">
                <a:solidFill>
                  <a:srgbClr val="FFFFFF"/>
                </a:solidFill>
                <a:latin typeface="Poppins"/>
              </a:rPr>
              <a:t>Source: Código Casa — Estudio cuantitativo 2025 · P10 · Base 500.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 spc="200">
                <a:solidFill>
                  <a:srgbClr val="FFFFFF"/>
                </a:solidFill>
                <a:latin typeface="Poppins"/>
              </a:rPr>
              <a:t>CONSUMER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000"/>
            <a:ext cx="1072896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spc="0">
                <a:solidFill>
                  <a:srgbClr val="FFFFFF"/>
                </a:solidFill>
                <a:latin typeface="Instrument Serif"/>
              </a:rPr>
              <a:t>“ESTADÍSTICAMENTE HABLANDO, EL PERRO SUELE SER UN APOYO MUY EMOCIONAL PARA EL HOMBRE, EN MUCHAS OCASIONES HASTA MÁS QUE LA MUJER, Y NO ES POR UN TEMA DE QUE NO SENTAMOS ESE AMOR, SINO PORQUE TENEMOS UN ASPECTO CULTURAL Y HASTA BIOLÓGICO (...) DE QUE NO NOS DESAHOGAMOS COMO LAS MUJERES LO HACEN (...) NOSOTROS SIMPLEMENTE NECESITAMOS COMPAÑÍA, TACTO Y SIMPLEMENTE PRESENCIA.”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80000"/>
            <a:ext cx="1219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 spc="0">
                <a:solidFill>
                  <a:srgbClr val="FFFFFF"/>
                </a:solidFill>
                <a:latin typeface="Poppins"/>
              </a:rPr>
              <a:t>— Grupo Sin Hijos con Mascota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spc="0">
                <a:solidFill>
                  <a:srgbClr val="FFFFFF"/>
                </a:solidFill>
                <a:latin typeface="Instrument Serif"/>
              </a:rPr>
              <a:t>64% RECURRE SIEMPRE A LA RELIGIÓN EN MOMENTOS DE DIFICULTAD. </a:t>
            </a:r>
            <a:r>
              <a:rPr sz="3000" b="0" i="1" spc="0">
                <a:solidFill>
                  <a:srgbClr val="FFFFFF"/>
                </a:solidFill>
                <a:latin typeface="Instrument Serif"/>
              </a:rPr>
              <a:t>LA FE ES EL PRIMER CANAL DE SALUD MENTAL: GRATIS, DISPONIBLE LAS 24 HORAS, SIN ESTIGMA NI COPAGO.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00000"/>
            <a:ext cx="2700000" cy="1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1" spc="0">
                <a:solidFill>
                  <a:srgbClr val="FFFFFF"/>
                </a:solidFill>
                <a:latin typeface="Instrument Serif"/>
              </a:rPr>
              <a:t>64.0%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0000"/>
            <a:ext cx="2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spc="0">
                <a:solidFill>
                  <a:srgbClr val="FFFFFF"/>
                </a:solidFill>
                <a:latin typeface="Poppins"/>
              </a:rPr>
              <a:t>marca </a:t>
            </a:r>
            <a:r>
              <a:rPr sz="1100" b="1" i="0" spc="0">
                <a:solidFill>
                  <a:srgbClr val="FFFFFF"/>
                </a:solidFill>
                <a:latin typeface="Poppins"/>
              </a:rPr>
              <a:t>"5 = Siempre"</a:t>
            </a:r>
            <a:r>
              <a:rPr sz="1100" b="0" i="0" spc="0">
                <a:solidFill>
                  <a:srgbClr val="FFFFFF"/>
                </a:solidFill>
                <a:latin typeface="Poppins"/>
              </a:rPr>
              <a:t> al preguntársele con qué frecuencia recurre a la religión o espiritualidad en momentos de dificultad. Respuesta dominante en todas las tipologías.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7600" y="2400000"/>
            <a:ext cx="2700000" cy="1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1" spc="0">
                <a:solidFill>
                  <a:srgbClr val="FFFFFF"/>
                </a:solidFill>
                <a:latin typeface="Instrument Serif"/>
              </a:rPr>
              <a:t>1:6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7600" y="3740000"/>
            <a:ext cx="2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spc="0">
                <a:solidFill>
                  <a:srgbClr val="FFFFFF"/>
                </a:solidFill>
                <a:latin typeface="Poppins"/>
              </a:rPr>
              <a:t>mención clínica por cada </a:t>
            </a:r>
            <a:r>
              <a:rPr sz="1100" b="1" i="0" spc="0">
                <a:solidFill>
                  <a:srgbClr val="FFFFFF"/>
                </a:solidFill>
                <a:latin typeface="Poppins"/>
              </a:rPr>
              <a:t>6 religiosas</a:t>
            </a:r>
            <a:r>
              <a:rPr sz="1100" b="0" i="0" spc="0">
                <a:solidFill>
                  <a:srgbClr val="FFFFFF"/>
                </a:solidFill>
                <a:latin typeface="Poppins"/>
              </a:rPr>
              <a:t> en el corpus de 11 FGs (~85 h). Campo semántico religioso: 216 menciones vs 37 de terapia/psicólogo.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508000"/>
            <a:ext cx="103628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spc="0">
                <a:solidFill>
                  <a:srgbClr val="FFFFFF"/>
                </a:solidFill>
                <a:latin typeface="Poppins"/>
              </a:rPr>
              <a:t>Source: Código Casa — Estudio cuantitativo + cualitativo 2025 · P29 · Base 500.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 spc="200">
                <a:solidFill>
                  <a:srgbClr val="FFFFFF"/>
                </a:solidFill>
                <a:latin typeface="Poppins"/>
              </a:rPr>
              <a:t>CONSUMER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0000"/>
            <a:ext cx="1072896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 spc="0">
                <a:solidFill>
                  <a:srgbClr val="FFFFFF"/>
                </a:solidFill>
                <a:latin typeface="Instrument Serif"/>
              </a:rPr>
              <a:t>“EN MI CASO NOSOTROS CON LA BIBLIA (...) SI ESO ME AYUDÓ BASTANTE, BASTANTE, LA CERCANÍA CON DIOS, A NUESTRA SALUD MENTAL, DE AMBOS.”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400000"/>
            <a:ext cx="1219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 spc="0">
                <a:solidFill>
                  <a:srgbClr val="FFFFFF"/>
                </a:solidFill>
                <a:latin typeface="Poppins"/>
              </a:rPr>
              <a:t>— Grupo Sin Hijos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00000"/>
            <a:ext cx="1072896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spc="0">
                <a:solidFill>
                  <a:srgbClr val="FFFFFF"/>
                </a:solidFill>
                <a:latin typeface="Instrument Serif"/>
              </a:rPr>
              <a:t>“ME REFUGIO MUCHO EN DIOS, EN LA ORACIÓN. TENER UNA CONEXIÓN CON DIOS PARA MÍ ES IMPORTANTE, DEJARLE LAS COSAS A ÉL, QUE ÉL SE ENCARGUE (...) PORQUE HAY DÍAS QUE TÚ DICES 'YO NO PUEDO MÁS' Y DIOS SE ENCARGA. Y ESCUCHAR PODCAST DE SALUD MENTAL, CUALQUIER LIBRO QUE PUEDA AYUDARTE PERSONALMENTE A ALCANZAR CUALQUIER COSA.”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900000"/>
            <a:ext cx="1219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 spc="0">
                <a:solidFill>
                  <a:srgbClr val="FFFFFF"/>
                </a:solidFill>
                <a:latin typeface="Poppins"/>
              </a:rPr>
              <a:t>— Grupo Biparental con Hijos Adultos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spc="0">
                <a:solidFill>
                  <a:srgbClr val="FFFFFF"/>
                </a:solidFill>
                <a:latin typeface="Instrument Serif"/>
              </a:rPr>
              <a:t>70.8% DE LAS MUJERES Y 72.7% DEL ESTRATO D RECURREN SIEMPRE A LA FE. </a:t>
            </a:r>
            <a:r>
              <a:rPr sz="3000" b="0" i="1" spc="0">
                <a:solidFill>
                  <a:srgbClr val="FFFFFF"/>
                </a:solidFill>
                <a:latin typeface="Instrument Serif"/>
              </a:rPr>
              <a:t>LA INTENSIDAD RELIGIOSA SUBE DONDE MÁS APRIETA: SI ERES MUJER Y EL BOLSILLO ESTÁ FLACO, REZAS MÁS.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00000"/>
            <a:ext cx="2700000" cy="1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1" spc="0">
                <a:solidFill>
                  <a:srgbClr val="FFFFFF"/>
                </a:solidFill>
                <a:latin typeface="Instrument Serif"/>
              </a:rPr>
              <a:t>70.8%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0000"/>
            <a:ext cx="2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spc="0">
                <a:solidFill>
                  <a:srgbClr val="FFFFFF"/>
                </a:solidFill>
                <a:latin typeface="Poppins"/>
              </a:rPr>
              <a:t>de las </a:t>
            </a:r>
            <a:r>
              <a:rPr sz="1100" b="1" i="0" spc="0">
                <a:solidFill>
                  <a:srgbClr val="FFFFFF"/>
                </a:solidFill>
                <a:latin typeface="Poppins"/>
              </a:rPr>
              <a:t>mujeres</a:t>
            </a:r>
            <a:r>
              <a:rPr sz="1100" b="0" i="0" spc="0">
                <a:solidFill>
                  <a:srgbClr val="FFFFFF"/>
                </a:solidFill>
                <a:latin typeface="Poppins"/>
              </a:rPr>
              <a:t> marca "Siempre" recurrir a la religión en momentos difíciles, vs 53.3% de los hombres. Brecha de género: 17.5 puntos.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7600" y="2400000"/>
            <a:ext cx="2700000" cy="1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1" spc="0">
                <a:solidFill>
                  <a:srgbClr val="FFFFFF"/>
                </a:solidFill>
                <a:latin typeface="Instrument Serif"/>
              </a:rPr>
              <a:t>72.7%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7600" y="3740000"/>
            <a:ext cx="2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spc="0">
                <a:solidFill>
                  <a:srgbClr val="FFFFFF"/>
                </a:solidFill>
                <a:latin typeface="Poppins"/>
              </a:rPr>
              <a:t>del </a:t>
            </a:r>
            <a:r>
              <a:rPr sz="1100" b="1" i="0" spc="0">
                <a:solidFill>
                  <a:srgbClr val="FFFFFF"/>
                </a:solidFill>
                <a:latin typeface="Poppins"/>
              </a:rPr>
              <a:t>estrato D</a:t>
            </a:r>
            <a:r>
              <a:rPr sz="1100" b="0" i="0" spc="0">
                <a:solidFill>
                  <a:srgbClr val="FFFFFF"/>
                </a:solidFill>
                <a:latin typeface="Poppins"/>
              </a:rPr>
              <a:t> marca "Siempre" recurrir a la fe, vs 52.8% del C+ y 61.5% del 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508000"/>
            <a:ext cx="103628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spc="0">
                <a:solidFill>
                  <a:srgbClr val="FFFFFF"/>
                </a:solidFill>
                <a:latin typeface="Poppins"/>
              </a:rPr>
              <a:t>Source: Código Casa — Estudio cuantitativo 2025 · P29 × D2, P29 × D6 · Base 500.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spc="0">
                <a:solidFill>
                  <a:srgbClr val="FFFFFF"/>
                </a:solidFill>
                <a:latin typeface="Instrument Serif"/>
              </a:rPr>
              <a:t>42.6% DEL DOMINICANO NO HACE NINGUNA ACTIVIDAD PARA CUIDAR SU SALUD, NI FÍSICA NI MENTAL. </a:t>
            </a:r>
            <a:r>
              <a:rPr sz="3000" b="0" i="1" spc="0">
                <a:solidFill>
                  <a:srgbClr val="FFFFFF"/>
                </a:solidFill>
                <a:latin typeface="Instrument Serif"/>
              </a:rPr>
              <a:t>LA INACCIÓN ES LA RESPUESTA MÁS COMÚN DE TODA LA BATERÍA DE AUTOCUIDADO.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00000"/>
            <a:ext cx="2700000" cy="1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1" spc="0">
                <a:solidFill>
                  <a:srgbClr val="FFFFFF"/>
                </a:solidFill>
                <a:latin typeface="Instrument Serif"/>
              </a:rPr>
              <a:t>42.6%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0000"/>
            <a:ext cx="2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spc="0">
                <a:solidFill>
                  <a:srgbClr val="FFFFFF"/>
                </a:solidFill>
                <a:latin typeface="Poppins"/>
              </a:rPr>
              <a:t>declara </a:t>
            </a:r>
            <a:r>
              <a:rPr sz="1100" b="1" i="0" spc="0">
                <a:solidFill>
                  <a:srgbClr val="FFFFFF"/>
                </a:solidFill>
                <a:latin typeface="Poppins"/>
              </a:rPr>
              <a:t>"No realizo ninguna actividad"</a:t>
            </a:r>
            <a:r>
              <a:rPr sz="1100" b="0" i="0" spc="0">
                <a:solidFill>
                  <a:srgbClr val="FFFFFF"/>
                </a:solidFill>
                <a:latin typeface="Poppins"/>
              </a:rPr>
              <a:t> para cuidar su salud mental y física. TOP-1 de P27, por encima de ejercicio (34.8%), oración (27.6%) y todas las demás.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7600" y="2400000"/>
            <a:ext cx="2700000" cy="1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1" spc="0">
                <a:solidFill>
                  <a:srgbClr val="FFFFFF"/>
                </a:solidFill>
                <a:latin typeface="Instrument Serif"/>
              </a:rPr>
              <a:t>5/7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7600" y="3740000"/>
            <a:ext cx="2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spc="0">
                <a:solidFill>
                  <a:srgbClr val="FFFFFF"/>
                </a:solidFill>
                <a:latin typeface="Poppins"/>
              </a:rPr>
              <a:t>tipologías con n≥30 donde la inacción lidera: biparental hijos menores (</a:t>
            </a:r>
            <a:r>
              <a:rPr sz="1100" b="1" i="0" spc="0">
                <a:solidFill>
                  <a:srgbClr val="FFFFFF"/>
                </a:solidFill>
                <a:latin typeface="Poppins"/>
              </a:rPr>
              <a:t>44.2%</a:t>
            </a:r>
            <a:r>
              <a:rPr sz="1100" b="0" i="0" spc="0">
                <a:solidFill>
                  <a:srgbClr val="FFFFFF"/>
                </a:solidFill>
                <a:latin typeface="Poppins"/>
              </a:rPr>
              <a:t>), extendido (42.9%), monoparental (41.8%), sin hijos con mascota (45.9%).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508000"/>
            <a:ext cx="103628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spc="0">
                <a:solidFill>
                  <a:srgbClr val="FFFFFF"/>
                </a:solidFill>
                <a:latin typeface="Poppins"/>
              </a:rPr>
              <a:t>Source: Código Casa — Estudio cuantitativo + cualitativo 2025 · P27 · Base 500.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 spc="200">
                <a:solidFill>
                  <a:srgbClr val="FFFFFF"/>
                </a:solidFill>
                <a:latin typeface="Poppins"/>
              </a:rPr>
              <a:t>CONSUMER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000"/>
            <a:ext cx="1072896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 spc="0">
                <a:solidFill>
                  <a:srgbClr val="FFFFFF"/>
                </a:solidFill>
                <a:latin typeface="Instrument Serif"/>
              </a:rPr>
              <a:t>“BUENO YO PARA LO FÍSICO YO NO ESTOY HACIENDO NADA. YO NO HAGO EJERCICIO, YO ME COMO TODO LO QUE YO QUIERA Y A LA HORA QUE YO QUIERA. BUENO, PARA LA SALUD MENTAL A VECES UNO TIENE QUE HACERSE LOCO EN CIERTAS COSAS.”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80000"/>
            <a:ext cx="1219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 spc="0">
                <a:solidFill>
                  <a:srgbClr val="FFFFFF"/>
                </a:solidFill>
                <a:latin typeface="Poppins"/>
              </a:rPr>
              <a:t>— Grupo Biparental con Hijos Adultos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spc="0">
                <a:solidFill>
                  <a:srgbClr val="FFFFFF"/>
                </a:solidFill>
                <a:latin typeface="Instrument Serif"/>
              </a:rPr>
              <a:t>34.8% DEL DOMINICANO SE EJERCITA CON REGULARIDAD — EL ÚNICO AUTOCUIDADO DONDE EL HOMBRE LIDERA. </a:t>
            </a:r>
            <a:r>
              <a:rPr sz="3000" b="0" i="1" spc="0">
                <a:solidFill>
                  <a:srgbClr val="FFFFFF"/>
                </a:solidFill>
                <a:latin typeface="Instrument Serif"/>
              </a:rPr>
              <a:t>PARA ÉL, ENTRENAR NO ES FÍSICO: ES LA VÁLVULA EMOCIONAL QUE LA CULTURA SÍ LE PERMITE.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00000"/>
            <a:ext cx="2700000" cy="1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1" spc="0">
                <a:solidFill>
                  <a:srgbClr val="FFFFFF"/>
                </a:solidFill>
                <a:latin typeface="Instrument Serif"/>
              </a:rPr>
              <a:t>34.8%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0000"/>
            <a:ext cx="2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spc="0">
                <a:solidFill>
                  <a:srgbClr val="FFFFFF"/>
                </a:solidFill>
                <a:latin typeface="Poppins"/>
              </a:rPr>
              <a:t>declara </a:t>
            </a:r>
            <a:r>
              <a:rPr sz="1100" b="1" i="0" spc="0">
                <a:solidFill>
                  <a:srgbClr val="FFFFFF"/>
                </a:solidFill>
                <a:latin typeface="Poppins"/>
              </a:rPr>
              <a:t>"Me ejercito con regularidad"</a:t>
            </a:r>
            <a:r>
              <a:rPr sz="1100" b="0" i="0" spc="0">
                <a:solidFill>
                  <a:srgbClr val="FFFFFF"/>
                </a:solidFill>
                <a:latin typeface="Poppins"/>
              </a:rPr>
              <a:t> — segundo lugar de P27, detrás de "ninguna actividad" (42.6%).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7600" y="2400000"/>
            <a:ext cx="2700000" cy="1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1" spc="0">
                <a:solidFill>
                  <a:srgbClr val="FFFFFF"/>
                </a:solidFill>
                <a:latin typeface="Instrument Serif"/>
              </a:rPr>
              <a:t>43.1%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7600" y="3740000"/>
            <a:ext cx="2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spc="0">
                <a:solidFill>
                  <a:srgbClr val="FFFFFF"/>
                </a:solidFill>
                <a:latin typeface="Poppins"/>
              </a:rPr>
              <a:t>del subset </a:t>
            </a:r>
            <a:r>
              <a:rPr sz="1100" b="1" i="0" spc="0">
                <a:solidFill>
                  <a:srgbClr val="FFFFFF"/>
                </a:solidFill>
                <a:latin typeface="Poppins"/>
              </a:rPr>
              <a:t>masculino</a:t>
            </a:r>
            <a:r>
              <a:rPr sz="1100" b="0" i="0" spc="0">
                <a:solidFill>
                  <a:srgbClr val="FFFFFF"/>
                </a:solidFill>
                <a:latin typeface="Poppins"/>
              </a:rPr>
              <a:t> tiene el ejercicio como TOP-1. En el femenino, TOP-1 es "ninguna actividad" (48.5%). El ejercicio es el único canal donde el hombre supera a la mujer.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508000"/>
            <a:ext cx="103628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spc="0">
                <a:solidFill>
                  <a:srgbClr val="FFFFFF"/>
                </a:solidFill>
                <a:latin typeface="Poppins"/>
              </a:rPr>
              <a:t>Source: Código Casa — Estudio cuantitativo + cualitativo 2025 · P27, P27 × D2 · Base 500.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 spc="200">
                <a:solidFill>
                  <a:srgbClr val="FFFFFF"/>
                </a:solidFill>
                <a:latin typeface="Poppins"/>
              </a:rPr>
              <a:t>CONSUMER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000"/>
            <a:ext cx="1072896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 spc="0">
                <a:solidFill>
                  <a:srgbClr val="FFFFFF"/>
                </a:solidFill>
                <a:latin typeface="Instrument Serif"/>
              </a:rPr>
              <a:t>“YO SOY UNA PERSONA SÚPER ACTIVA, SÚPER ACTIVA (...) LA SALUD MENTAL MÍA ES DEPORTE. YO ME IRRITO CUANDO YO DURO TRES DÍAS QUE NO PUEDO HACER EJERCICIO (...) YO ENTRO A LA CANCHA Y YO ME OLVIDO DE TODO LO QUE YO TENGO.”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80000"/>
            <a:ext cx="1219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 spc="0">
                <a:solidFill>
                  <a:srgbClr val="FFFFFF"/>
                </a:solidFill>
                <a:latin typeface="Poppins"/>
              </a:rPr>
              <a:t>— Grupo Biparental con Hijos Pequeños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 spc="200">
                <a:solidFill>
                  <a:srgbClr val="FFFFFF"/>
                </a:solidFill>
                <a:latin typeface="Poppins"/>
              </a:rPr>
              <a:t>CONSUMER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000"/>
            <a:ext cx="1072896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 spc="0">
                <a:solidFill>
                  <a:srgbClr val="FFFFFF"/>
                </a:solidFill>
                <a:latin typeface="Instrument Serif"/>
              </a:rPr>
              <a:t>“YO TENÍA MUCHO TIEMPO YENDO AL GIMNASIO Y DECIDÍ TOMAR UNA PAUSA POR TEMAS LABORALES (...) ME SIENTO MENOS CARGADO, INCREÍBLEMENTE, PORQUE EL GIMNASIO AYUDÓ A LIBERAR MUCHAS COSAS.”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80000"/>
            <a:ext cx="1219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 spc="0">
                <a:solidFill>
                  <a:srgbClr val="FFFFFF"/>
                </a:solidFill>
                <a:latin typeface="Poppins"/>
              </a:rPr>
              <a:t>— Grupo Sin Hijos con Mascota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spc="0">
                <a:solidFill>
                  <a:srgbClr val="FFFFFF"/>
                </a:solidFill>
                <a:latin typeface="Instrument Serif"/>
              </a:rPr>
              <a:t>47.8% NOMBRA LA ECONOMÍA COMO SU MAYOR FUENTE DE ESTRÉS FAMILIAR. </a:t>
            </a:r>
            <a:r>
              <a:rPr sz="3000" b="0" i="1" spc="0">
                <a:solidFill>
                  <a:srgbClr val="FFFFFF"/>
                </a:solidFill>
                <a:latin typeface="Instrument Serif"/>
              </a:rPr>
              <a:t>SUMANDO LOS DOS ÍTEMS ECONÓMICOS DE LA BATERÍA, EL ESTRESOR NÚMERO UNO DEL HOGAR DOMINICANO ALCANZA AL 76% DE LOS HOGARES.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00000"/>
            <a:ext cx="2700000" cy="1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1" spc="0">
                <a:solidFill>
                  <a:srgbClr val="FFFFFF"/>
                </a:solidFill>
                <a:latin typeface="Instrument Serif"/>
              </a:rPr>
              <a:t>47.8%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0000"/>
            <a:ext cx="2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spc="0">
                <a:solidFill>
                  <a:srgbClr val="FFFFFF"/>
                </a:solidFill>
                <a:latin typeface="Poppins"/>
              </a:rPr>
              <a:t>declara </a:t>
            </a:r>
            <a:r>
              <a:rPr sz="1100" b="1" i="0" spc="0">
                <a:solidFill>
                  <a:srgbClr val="FFFFFF"/>
                </a:solidFill>
                <a:latin typeface="Poppins"/>
              </a:rPr>
              <a:t>"Economía"</a:t>
            </a:r>
            <a:r>
              <a:rPr sz="1100" b="0" i="0" spc="0">
                <a:solidFill>
                  <a:srgbClr val="FFFFFF"/>
                </a:solidFill>
                <a:latin typeface="Poppins"/>
              </a:rPr>
              <a:t> como el factor que más estrés genera en su vida familiar. TOP-1 nacional de la batería P26.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46000" y="2400000"/>
            <a:ext cx="2700000" cy="1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1" spc="0">
                <a:solidFill>
                  <a:srgbClr val="FFFFFF"/>
                </a:solidFill>
                <a:latin typeface="Instrument Serif"/>
              </a:rPr>
              <a:t>76%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46000" y="3740000"/>
            <a:ext cx="2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spc="0">
                <a:solidFill>
                  <a:srgbClr val="FFFFFF"/>
                </a:solidFill>
                <a:latin typeface="Poppins"/>
              </a:rPr>
              <a:t>Los dos ítems económicos combinados alcanzan al </a:t>
            </a:r>
            <a:r>
              <a:rPr sz="1100" b="1" i="0" spc="0">
                <a:solidFill>
                  <a:srgbClr val="FFFFFF"/>
                </a:solidFill>
                <a:latin typeface="Poppins"/>
              </a:rPr>
              <a:t>76%</a:t>
            </a:r>
            <a:r>
              <a:rPr sz="1100" b="0" i="0" spc="0">
                <a:solidFill>
                  <a:srgbClr val="FFFFFF"/>
                </a:solidFill>
                <a:latin typeface="Poppins"/>
              </a:rPr>
              <a:t> del total, superando inseguridad (21.8%), falta de tiempo personal (20.6%) y crianza (16.2%).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7600" y="2400000"/>
            <a:ext cx="2700000" cy="1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1" spc="0">
                <a:solidFill>
                  <a:srgbClr val="FFFFFF"/>
                </a:solidFill>
                <a:latin typeface="Instrument Serif"/>
              </a:rPr>
              <a:t>51.2%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7600" y="3740000"/>
            <a:ext cx="2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spc="0">
                <a:solidFill>
                  <a:srgbClr val="FFFFFF"/>
                </a:solidFill>
                <a:latin typeface="Poppins"/>
              </a:rPr>
              <a:t>del </a:t>
            </a:r>
            <a:r>
              <a:rPr sz="1100" b="1" i="0" spc="0">
                <a:solidFill>
                  <a:srgbClr val="FFFFFF"/>
                </a:solidFill>
                <a:latin typeface="Poppins"/>
              </a:rPr>
              <a:t>estrato D</a:t>
            </a:r>
            <a:r>
              <a:rPr sz="1100" b="0" i="0" spc="0">
                <a:solidFill>
                  <a:srgbClr val="FFFFFF"/>
                </a:solidFill>
                <a:latin typeface="Poppins"/>
              </a:rPr>
              <a:t> declara la economía como estresor principal vs 47.8% nacional. En C+ y por encima, el estresor muta hacia "falta de tiempo personal".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508000"/>
            <a:ext cx="103628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spc="0">
                <a:solidFill>
                  <a:srgbClr val="FFFFFF"/>
                </a:solidFill>
                <a:latin typeface="Poppins"/>
              </a:rPr>
              <a:t>Source: Código Casa — Estudio cuantitativo + cualitativo 2025 · P26 · Base 500.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 spc="200">
                <a:solidFill>
                  <a:srgbClr val="FFFFFF"/>
                </a:solidFill>
                <a:latin typeface="Poppins"/>
              </a:rPr>
              <a:t>CONSUMER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000"/>
            <a:ext cx="1072896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 spc="0">
                <a:solidFill>
                  <a:srgbClr val="FFFFFF"/>
                </a:solidFill>
                <a:latin typeface="Instrument Serif"/>
              </a:rPr>
              <a:t>“TUVE UN TIEMPO COMO MAMÁ SOLTERA Y MI HERMANA ES MAMÁ SOLTERA DE TRES NIÑOS, Y ES BIEN DIFÍCIL LEVANTARTE, LLEVAR AL NIÑO A LA ESCUELA, EL DINERO, CUANDO EL PAPÁ NO ESTÁ ECONÓMICAMENTE NI EMOCIONALMENTE.”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80000"/>
            <a:ext cx="1219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 spc="0">
                <a:solidFill>
                  <a:srgbClr val="FFFFFF"/>
                </a:solidFill>
                <a:latin typeface="Poppins"/>
              </a:rPr>
              <a:t>— Grupo Biparental con Hijos Pequeños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spc="0">
                <a:solidFill>
                  <a:srgbClr val="FFFFFF"/>
                </a:solidFill>
                <a:latin typeface="Instrument Serif"/>
              </a:rPr>
              <a:t>42.2% DICE QUE LA PRESIÓN SOBRE LOS PADRES ES DEMASIADA. </a:t>
            </a:r>
            <a:r>
              <a:rPr sz="3000" b="0" i="1" spc="0">
                <a:solidFill>
                  <a:srgbClr val="FFFFFF"/>
                </a:solidFill>
                <a:latin typeface="Instrument Serif"/>
              </a:rPr>
              <a:t>EL AGOTAMIENTO NO APARECE DE GOLPE — EN LA FRANJA 35–44 YA LO DECLARA COMO ESTRESOR EL 22.3%, EL TRIPLE QUE A LOS 18–24.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00000"/>
            <a:ext cx="2700000" cy="1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1" spc="0">
                <a:solidFill>
                  <a:srgbClr val="FFFFFF"/>
                </a:solidFill>
                <a:latin typeface="Instrument Serif"/>
              </a:rPr>
              <a:t>42.2%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0000"/>
            <a:ext cx="2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spc="0">
                <a:solidFill>
                  <a:srgbClr val="FFFFFF"/>
                </a:solidFill>
                <a:latin typeface="Poppins"/>
              </a:rPr>
              <a:t>declara </a:t>
            </a:r>
            <a:r>
              <a:rPr sz="1100" b="1" i="0" spc="0">
                <a:solidFill>
                  <a:srgbClr val="FFFFFF"/>
                </a:solidFill>
                <a:latin typeface="Poppins"/>
              </a:rPr>
              <a:t>"Muy de acuerdo"</a:t>
            </a:r>
            <a:r>
              <a:rPr sz="1100" b="0" i="0" spc="0">
                <a:solidFill>
                  <a:srgbClr val="FFFFFF"/>
                </a:solidFill>
                <a:latin typeface="Poppins"/>
              </a:rPr>
              <a:t> con "Hay demasiada presión para que las mamás o los papás lo tengan todo." Ítem con mayor consenso afirmativo de P8.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46000" y="2400000"/>
            <a:ext cx="2700000" cy="1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1" spc="0">
                <a:solidFill>
                  <a:srgbClr val="FFFFFF"/>
                </a:solidFill>
                <a:latin typeface="Instrument Serif"/>
              </a:rPr>
              <a:t>22.3%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46000" y="3740000"/>
            <a:ext cx="2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spc="0">
                <a:solidFill>
                  <a:srgbClr val="FFFFFF"/>
                </a:solidFill>
                <a:latin typeface="Poppins"/>
              </a:rPr>
              <a:t>del subset </a:t>
            </a:r>
            <a:r>
              <a:rPr sz="1100" b="1" i="0" spc="0">
                <a:solidFill>
                  <a:srgbClr val="FFFFFF"/>
                </a:solidFill>
                <a:latin typeface="Poppins"/>
              </a:rPr>
              <a:t>35–44 años</a:t>
            </a:r>
            <a:r>
              <a:rPr sz="1100" b="0" i="0" spc="0">
                <a:solidFill>
                  <a:srgbClr val="FFFFFF"/>
                </a:solidFill>
                <a:latin typeface="Poppins"/>
              </a:rPr>
              <a:t> declara la crianza como factor de estrés, vs 15.5% del subset 25–34 y 5.5% del 18–24. El pico de la carga parental se concentra en la franja media adulta.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7600" y="2400000"/>
            <a:ext cx="2700000" cy="1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1" spc="0">
                <a:solidFill>
                  <a:srgbClr val="FFFFFF"/>
                </a:solidFill>
                <a:latin typeface="Instrument Serif"/>
              </a:rPr>
              <a:t>3x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7600" y="3740000"/>
            <a:ext cx="2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spc="0">
                <a:solidFill>
                  <a:srgbClr val="FFFFFF"/>
                </a:solidFill>
                <a:latin typeface="Poppins"/>
              </a:rPr>
              <a:t>La carga de </a:t>
            </a:r>
            <a:r>
              <a:rPr sz="1100" b="1" i="0" spc="0">
                <a:solidFill>
                  <a:srgbClr val="FFFFFF"/>
                </a:solidFill>
                <a:latin typeface="Poppins"/>
              </a:rPr>
              <a:t>crianza + responsabilidades del hogar</a:t>
            </a:r>
            <a:r>
              <a:rPr sz="1100" b="0" i="0" spc="0">
                <a:solidFill>
                  <a:srgbClr val="FFFFFF"/>
                </a:solidFill>
                <a:latin typeface="Poppins"/>
              </a:rPr>
              <a:t> se acumula en la franja 35–44. El segundo estresor sube convergiendo con el 42.2% de P8. La carga no aparece de una vez.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508000"/>
            <a:ext cx="103628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spc="0">
                <a:solidFill>
                  <a:srgbClr val="FFFFFF"/>
                </a:solidFill>
                <a:latin typeface="Poppins"/>
              </a:rPr>
              <a:t>Source: Código Casa — Estudio cuantitativo + cualitativo 2025 · P8, P26 × D5 · Base 500.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 spc="200">
                <a:solidFill>
                  <a:srgbClr val="FFFFFF"/>
                </a:solidFill>
                <a:latin typeface="Poppins"/>
              </a:rPr>
              <a:t>CONSUMER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000"/>
            <a:ext cx="1072896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 spc="0">
                <a:solidFill>
                  <a:srgbClr val="FFFFFF"/>
                </a:solidFill>
                <a:latin typeface="Instrument Serif"/>
              </a:rPr>
              <a:t>“MIS HIJOS, LOS AMO Y LOS QUIERO, PERO TAMBIÉN SON IGUALES (...) LAS ESCUELAS, LOS COLEGIOS SON EXPERTOS EN PONERTE UNA MISMA REUNIÓN DE DOS GRADOS DISTINTOS A LA MISMA HORA (...) ESE TEMA DE QUE DEPENDA DE MÍ 24-7 LO QUE SE VAYA A HACER TE DA UN POCO DE ESTRÉS.”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80000"/>
            <a:ext cx="1219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 spc="0">
                <a:solidFill>
                  <a:srgbClr val="FFFFFF"/>
                </a:solidFill>
                <a:latin typeface="Poppins"/>
              </a:rPr>
              <a:t>— Grupo Mixto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 spc="200">
                <a:solidFill>
                  <a:srgbClr val="FFFFFF"/>
                </a:solidFill>
                <a:latin typeface="Poppins"/>
              </a:rPr>
              <a:t>CONSUMER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000"/>
            <a:ext cx="1072896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 spc="0">
                <a:solidFill>
                  <a:srgbClr val="FFFFFF"/>
                </a:solidFill>
                <a:latin typeface="Instrument Serif"/>
              </a:rPr>
              <a:t>“ES UN MITO QUE UNA MUJER VA A ESTAR (...) TODA ELLA RELAJADA, LIMPIANDO UNA CASA, CON EL MARIDO SENTADO ALLÁ CARGANDO EL NIÑO Y QUÉ FELIZ DE LA VIDA. ESO ES UN MITO. DE TODA MUJER QUE TIENE HIJOS SIEMPRE AGOTADA, CANSADA, BATIDA.”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80000"/>
            <a:ext cx="1219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 spc="0">
                <a:solidFill>
                  <a:srgbClr val="FFFFFF"/>
                </a:solidFill>
                <a:latin typeface="Poppins"/>
              </a:rPr>
              <a:t>— Grupo Monoparental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spc="0">
                <a:solidFill>
                  <a:srgbClr val="FFFFFF"/>
                </a:solidFill>
                <a:latin typeface="Instrument Serif"/>
              </a:rPr>
              <a:t>24.4% DE LOS HOGARES ES MONOPARENTAL. EN MÁS DE LA MITAD, LA MADRE ES LA ÚNICA RESPONSABLE DE LA CRIANZA. </a:t>
            </a:r>
            <a:r>
              <a:rPr sz="3000" b="0" i="1" spc="0">
                <a:solidFill>
                  <a:srgbClr val="FFFFFF"/>
                </a:solidFill>
                <a:latin typeface="Instrument Serif"/>
              </a:rPr>
              <a:t>EL MERCADO DISEÑA PARA DOS. EL HOGAR DOMINICANO NO SIEMPRE LLEGA DE A 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00000"/>
            <a:ext cx="2700000" cy="1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1" spc="0">
                <a:solidFill>
                  <a:srgbClr val="FFFFFF"/>
                </a:solidFill>
                <a:latin typeface="Instrument Serif"/>
              </a:rPr>
              <a:t>24.4%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0000"/>
            <a:ext cx="2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spc="0">
                <a:solidFill>
                  <a:srgbClr val="FFFFFF"/>
                </a:solidFill>
                <a:latin typeface="Poppins"/>
              </a:rPr>
              <a:t>del dominicano declara hogar </a:t>
            </a:r>
            <a:r>
              <a:rPr sz="1100" b="1" i="0" spc="0">
                <a:solidFill>
                  <a:srgbClr val="FFFFFF"/>
                </a:solidFill>
                <a:latin typeface="Poppins"/>
              </a:rPr>
              <a:t>monoparental</a:t>
            </a:r>
            <a:r>
              <a:rPr sz="1100" b="0" i="0" spc="0">
                <a:solidFill>
                  <a:srgbClr val="FFFFFF"/>
                </a:solidFill>
                <a:latin typeface="Poppins"/>
              </a:rPr>
              <a:t> — segunda tipología más común tras biparental con hijos menores de 18 (38.0%).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7600" y="2400000"/>
            <a:ext cx="2700000" cy="1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1" spc="0">
                <a:solidFill>
                  <a:srgbClr val="FFFFFF"/>
                </a:solidFill>
                <a:latin typeface="Instrument Serif"/>
              </a:rPr>
              <a:t>56.6%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7600" y="3740000"/>
            <a:ext cx="2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spc="0">
                <a:solidFill>
                  <a:srgbClr val="FFFFFF"/>
                </a:solidFill>
                <a:latin typeface="Poppins"/>
              </a:rPr>
              <a:t>del subset monoparental cita a la </a:t>
            </a:r>
            <a:r>
              <a:rPr sz="1100" b="1" i="0" spc="0">
                <a:solidFill>
                  <a:srgbClr val="FFFFFF"/>
                </a:solidFill>
                <a:latin typeface="Poppins"/>
              </a:rPr>
              <a:t>madre</a:t>
            </a:r>
            <a:r>
              <a:rPr sz="1100" b="0" i="0" spc="0">
                <a:solidFill>
                  <a:srgbClr val="FFFFFF"/>
                </a:solidFill>
                <a:latin typeface="Poppins"/>
              </a:rPr>
              <a:t> como única responsable de la crianza, vs 41.8% del promedio nacional. Crianza monoparental es de facto materna en más de 5 de cada 10 casos.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508000"/>
            <a:ext cx="103628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spc="0">
                <a:solidFill>
                  <a:srgbClr val="FFFFFF"/>
                </a:solidFill>
                <a:latin typeface="Poppins"/>
              </a:rPr>
              <a:t>Source: Código Casa — Estudio cuantitativo + cualitativo 2025 · P1, P2 × D1 · Base 500.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 spc="200">
                <a:solidFill>
                  <a:srgbClr val="FFFFFF"/>
                </a:solidFill>
                <a:latin typeface="Poppins"/>
              </a:rPr>
              <a:t>CONSUMER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000"/>
            <a:ext cx="1072896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 spc="0">
                <a:solidFill>
                  <a:srgbClr val="FFFFFF"/>
                </a:solidFill>
                <a:latin typeface="Instrument Serif"/>
              </a:rPr>
              <a:t>“(...) EN NUESTRO CASO, LAS QUE SOMOS MADRES SOLTERAS, CON TANTAS COSAS ENCIMA Y QUE NO TENGAMOS ESE ESPACIO O ESE MOMENTO (...) LAMENTABLEMENTE EN ALGUIEN TÚ TE VAS A DESCARGAR, Y QUIÉN TÚ TIENES AL LADO PARA DESCARGARTE — LAMENTABLEMENTE SON LOS HIJOS.”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80000"/>
            <a:ext cx="1219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 spc="0">
                <a:solidFill>
                  <a:srgbClr val="FFFFFF"/>
                </a:solidFill>
                <a:latin typeface="Poppins"/>
              </a:rPr>
              <a:t>— Grupo Monoparental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 spc="200">
                <a:solidFill>
                  <a:srgbClr val="FFFFFF"/>
                </a:solidFill>
                <a:latin typeface="Poppins"/>
              </a:rPr>
              <a:t>CONSUMER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000"/>
            <a:ext cx="1072896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 spc="0">
                <a:solidFill>
                  <a:srgbClr val="FFFFFF"/>
                </a:solidFill>
                <a:latin typeface="Instrument Serif"/>
              </a:rPr>
              <a:t>“SOY MADRE SOLTERA, SOLA, CON UNA SITUACIÓN ACTUALMENTE DE MI MADRE QUE FALLECIÓ Y QUE VIVE CONMIGO Y MI HERMANITO EN CONDICIÓN ESPECIAL, ENTONCES ES DIFÍCIL, ES DIFÍCIL TODO EN GENERAL, QUIÉN LO CUIDE, PORQUE YO TRABAJO TODO EL TIEMPO.”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80000"/>
            <a:ext cx="1219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 spc="0">
                <a:solidFill>
                  <a:srgbClr val="FFFFFF"/>
                </a:solidFill>
                <a:latin typeface="Poppins"/>
              </a:rPr>
              <a:t>— Grupo Monoparental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spc="0">
                <a:solidFill>
                  <a:srgbClr val="FFFFFF"/>
                </a:solidFill>
                <a:latin typeface="Instrument Serif"/>
              </a:rPr>
              <a:t>EL SISTEMA PÚBLICO DE SALUD FALLA ANTES DE LA CONSULTA. </a:t>
            </a:r>
            <a:r>
              <a:rPr sz="3000" b="0" i="1" spc="0">
                <a:solidFill>
                  <a:srgbClr val="FFFFFF"/>
                </a:solidFill>
                <a:latin typeface="Instrument Serif"/>
              </a:rPr>
              <a:t>LA PREGUNTA DOMINICANA NO ES QUÉ LE PASA AL MÉDICO — ES SI EL SEGURO APRUEBA, SI HAY CAMA, SI ALGUIEN DENTRO TE PUEDE AYUDAR.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00000"/>
            <a:ext cx="5044440" cy="3900000"/>
          </a:xfrm>
          <a:prstGeom prst="roundRect">
            <a:avLst>
              <a:gd name="adj" fmla="val 10000"/>
            </a:avLst>
          </a:prstGeom>
          <a:solidFill>
            <a:srgbClr val="000000">
              <a:alpha val="45000"/>
            </a:srgbClr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 bIns="182880"/>
          <a:lstStyle/>
          <a:p>
            <a:pPr algn="ctr"/>
            <a:r>
              <a:rPr sz="1000" b="0" i="0" spc="0">
                <a:solidFill>
                  <a:srgbClr val="FFFFFF"/>
                </a:solidFill>
                <a:latin typeface="Poppins"/>
              </a:rPr>
              <a:t>“Vaya con un dolor, aunque sea un dolor de una hebra de cabello, y que te digan 'hasta que el seguro no te apruebe, no.' O tú ir a comprar un medicamento y que te digan: 'ah no, tu límite del medicamento ya se agotó.' Exactamente. Tú vas a una clínica y lo primero que te preguntan es qué seguro tú tienes.”</a:t>
            </a:r>
          </a:p>
          <a:p>
            <a:pPr algn="ctr"/>
            <a:r>
              <a:rPr sz="900" b="0" i="1" spc="0">
                <a:solidFill>
                  <a:srgbClr val="CCCCCC"/>
                </a:solidFill>
                <a:latin typeface="Poppins"/>
              </a:rPr>
              <a:t>— Grupo Homoparental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3160" y="2200000"/>
            <a:ext cx="5044440" cy="3900000"/>
          </a:xfrm>
          <a:prstGeom prst="roundRect">
            <a:avLst>
              <a:gd name="adj" fmla="val 10000"/>
            </a:avLst>
          </a:prstGeom>
          <a:solidFill>
            <a:srgbClr val="000000">
              <a:alpha val="45000"/>
            </a:srgbClr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 bIns="182880"/>
          <a:lstStyle/>
          <a:p>
            <a:pPr algn="ctr"/>
            <a:r>
              <a:rPr sz="1400" b="0" i="0" spc="0">
                <a:solidFill>
                  <a:srgbClr val="FFFFFF"/>
                </a:solidFill>
                <a:latin typeface="Poppins"/>
              </a:rPr>
              <a:t>“Si tú no tienes alguien que te puede ayudar en el sistema, tú estás muerto.”</a:t>
            </a:r>
          </a:p>
          <a:p>
            <a:pPr algn="ctr"/>
            <a:r>
              <a:rPr sz="900" b="0" i="1" spc="0">
                <a:solidFill>
                  <a:srgbClr val="CCCCCC"/>
                </a:solidFill>
                <a:latin typeface="Poppins"/>
              </a:rPr>
              <a:t>— Grupo Sin Hijos con Mascota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508000"/>
            <a:ext cx="103628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spc="0">
                <a:solidFill>
                  <a:srgbClr val="FFFFFF"/>
                </a:solidFill>
                <a:latin typeface="Poppins"/>
              </a:rPr>
              <a:t>Source: Código Casa — Estudio cualitativo 2025 · P28 · Base cualitativa: 11 grupos de enfoque.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spc="0">
                <a:solidFill>
                  <a:srgbClr val="FFFFFF"/>
                </a:solidFill>
                <a:latin typeface="Instrument Serif"/>
              </a:rPr>
              <a:t>73.8% PIDE PENSIONES PARA QUE LOS MAYORES VIVAN CON DIGNIDAD. SOLO 12.8% ES CUIDADOR DIRECTO. </a:t>
            </a:r>
            <a:r>
              <a:rPr sz="3000" b="0" i="1" spc="0">
                <a:solidFill>
                  <a:srgbClr val="FFFFFF"/>
                </a:solidFill>
                <a:latin typeface="Instrument Serif"/>
              </a:rPr>
              <a:t>LOS DOMINICANOS SABEN LO QUE HACE FALTA — SOLO QUE NO ESTÁN EN POSICIÓN DE DARLO.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00000"/>
            <a:ext cx="2700000" cy="1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1" spc="0">
                <a:solidFill>
                  <a:srgbClr val="FFFFFF"/>
                </a:solidFill>
                <a:latin typeface="Instrument Serif"/>
              </a:rPr>
              <a:t>73.8%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0000"/>
            <a:ext cx="2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spc="0">
                <a:solidFill>
                  <a:srgbClr val="FFFFFF"/>
                </a:solidFill>
                <a:latin typeface="Poppins"/>
              </a:rPr>
              <a:t>marca </a:t>
            </a:r>
            <a:r>
              <a:rPr sz="1100" b="1" i="0" spc="0">
                <a:solidFill>
                  <a:srgbClr val="FFFFFF"/>
                </a:solidFill>
                <a:latin typeface="Poppins"/>
              </a:rPr>
              <a:t>"Pensiones o apoyos económicos suficientes"</a:t>
            </a:r>
            <a:r>
              <a:rPr sz="1100" b="0" i="0" spc="0">
                <a:solidFill>
                  <a:srgbClr val="FFFFFF"/>
                </a:solidFill>
                <a:latin typeface="Poppins"/>
              </a:rPr>
              <a:t> como lo que más falta para que los mayores vivan con dignidad. TOP-1 absoluto de P79.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46000" y="2400000"/>
            <a:ext cx="2700000" cy="1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1" spc="0">
                <a:solidFill>
                  <a:srgbClr val="FFFFFF"/>
                </a:solidFill>
                <a:latin typeface="Instrument Serif"/>
              </a:rPr>
              <a:t>24.0%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46000" y="3740000"/>
            <a:ext cx="2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spc="0">
                <a:solidFill>
                  <a:srgbClr val="FFFFFF"/>
                </a:solidFill>
                <a:latin typeface="Poppins"/>
              </a:rPr>
              <a:t>menciona </a:t>
            </a:r>
            <a:r>
              <a:rPr sz="1100" b="1" i="0" spc="0">
                <a:solidFill>
                  <a:srgbClr val="FFFFFF"/>
                </a:solidFill>
                <a:latin typeface="Poppins"/>
              </a:rPr>
              <a:t>"Apoyo y capacitación para cuidadores familiares"</a:t>
            </a:r>
            <a:r>
              <a:rPr sz="1100" b="0" i="0" spc="0">
                <a:solidFill>
                  <a:srgbClr val="FFFFFF"/>
                </a:solidFill>
                <a:latin typeface="Poppins"/>
              </a:rPr>
              <a:t>. El cuidador familiar dominicano pide ayuda — el mercado no la ofrece como categoría.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7600" y="2400000"/>
            <a:ext cx="2700000" cy="1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1" spc="0">
                <a:solidFill>
                  <a:srgbClr val="FFFFFF"/>
                </a:solidFill>
                <a:latin typeface="Instrument Serif"/>
              </a:rPr>
              <a:t>12.8%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7600" y="3740000"/>
            <a:ext cx="2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spc="0">
                <a:solidFill>
                  <a:srgbClr val="FFFFFF"/>
                </a:solidFill>
                <a:latin typeface="Poppins"/>
              </a:rPr>
              <a:t>declara ser </a:t>
            </a:r>
            <a:r>
              <a:rPr sz="1100" b="1" i="0" spc="0">
                <a:solidFill>
                  <a:srgbClr val="FFFFFF"/>
                </a:solidFill>
                <a:latin typeface="Poppins"/>
              </a:rPr>
              <a:t>cuidador principal de un adulto mayor</a:t>
            </a:r>
            <a:r>
              <a:rPr sz="1100" b="0" i="0" spc="0">
                <a:solidFill>
                  <a:srgbClr val="FFFFFF"/>
                </a:solidFill>
                <a:latin typeface="Poppins"/>
              </a:rPr>
              <a:t> en el hogar. 72.8% declara que no vive con ninguna persona mayor en su hogar.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508000"/>
            <a:ext cx="103628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spc="0">
                <a:solidFill>
                  <a:srgbClr val="FFFFFF"/>
                </a:solidFill>
                <a:latin typeface="Poppins"/>
              </a:rPr>
              <a:t>Source: Código Casa — Estudio cuantitativo + cualitativo 2025 · P78, P79 · Base 500.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 spc="200">
                <a:solidFill>
                  <a:srgbClr val="FFFFFF"/>
                </a:solidFill>
                <a:latin typeface="Poppins"/>
              </a:rPr>
              <a:t>CONSUMER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000"/>
            <a:ext cx="1072896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spc="0">
                <a:solidFill>
                  <a:srgbClr val="FFFFFF"/>
                </a:solidFill>
                <a:latin typeface="Instrument Serif"/>
              </a:rPr>
              <a:t>“LA FRUSTRACIÓN EN CUANTO A SALUD Y BIENESTAR PARA MÍ ES EL TEMA DEL PRESUPUESTO QUE REQUIERE. (...) PORQUE TENGO UN CHOQUE ENTRE LO QUE YO DIGO QUE TENGO QUE ACEPTAR Y LAS COSTUMBRES PASADAS. MI MAMÁ ERA DE LA MUJER QUE ME ENSEÑÓ A MÍ A QUE SI ALGO NO ES NECESARIO, NO GASTES DINERO EN ESO, ECONOMIZA.”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80000"/>
            <a:ext cx="1219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 spc="0">
                <a:solidFill>
                  <a:srgbClr val="FFFFFF"/>
                </a:solidFill>
                <a:latin typeface="Poppins"/>
              </a:rPr>
              <a:t>— Grupo Sin Hijos con Mascota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spc="0">
                <a:solidFill>
                  <a:srgbClr val="FFFFFF"/>
                </a:solidFill>
                <a:latin typeface="Instrument Serif"/>
              </a:rPr>
              <a:t>"YO NO ME VOY A SEPARAR, YO VOY A AGUANTAR — PORQUE MI MAMÁ ME DECÍA QUE HAY QUE AGUANTAR." </a:t>
            </a:r>
            <a:r>
              <a:rPr sz="3000" b="0" i="1" spc="0">
                <a:solidFill>
                  <a:srgbClr val="FFFFFF"/>
                </a:solidFill>
                <a:latin typeface="Instrument Serif"/>
              </a:rPr>
              <a:t>EL AGUANTE DOMINICANO NO ES UNA DECISIÓN. ES UNA INSTRUCCIÓN QUE LLEGA DE LA GENERACIÓN ANTERIOR.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00000"/>
            <a:ext cx="10363200" cy="3900000"/>
          </a:xfrm>
          <a:prstGeom prst="roundRect">
            <a:avLst>
              <a:gd name="adj" fmla="val 10000"/>
            </a:avLst>
          </a:prstGeom>
          <a:solidFill>
            <a:srgbClr val="000000">
              <a:alpha val="45000"/>
            </a:srgbClr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 bIns="182880"/>
          <a:lstStyle/>
          <a:p>
            <a:pPr algn="ctr"/>
            <a:r>
              <a:rPr sz="1200" b="0" i="0" spc="0">
                <a:solidFill>
                  <a:srgbClr val="FFFFFF"/>
                </a:solidFill>
                <a:latin typeface="Poppins"/>
              </a:rPr>
              <a:t>“Yo me crié con esos dos conceptos en mi mente y yo siempre me enfocaba. Tanto así que yo decía: 'No, yo no me voy a separar, yo voy a aguantar', porque mi mamá me decía que hay que aguantar.”</a:t>
            </a:r>
          </a:p>
          <a:p>
            <a:pPr algn="ctr"/>
            <a:r>
              <a:rPr sz="900" b="0" i="1" spc="0">
                <a:solidFill>
                  <a:srgbClr val="CCCCCC"/>
                </a:solidFill>
                <a:latin typeface="Poppins"/>
              </a:rPr>
              <a:t>— Grupo Monoparental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508000"/>
            <a:ext cx="103628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spc="0">
                <a:solidFill>
                  <a:srgbClr val="FFFFFF"/>
                </a:solidFill>
                <a:latin typeface="Poppins"/>
              </a:rPr>
              <a:t>Source: Código Casa — Estudio cualitativo 2025 · Base cualitativa: 11 grupos de enfoque.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spc="0">
                <a:solidFill>
                  <a:srgbClr val="FFFFFF"/>
                </a:solidFill>
                <a:latin typeface="Instrument Serif"/>
              </a:rPr>
              <a:t>48.5% DE LAS MUJERES NO HACE NINGUNA ACTIVIDAD PARA CUIDARSE, VS 33.3% DE LOS HOMBRES. </a:t>
            </a:r>
            <a:r>
              <a:rPr sz="3000" b="0" i="1" spc="0">
                <a:solidFill>
                  <a:srgbClr val="FFFFFF"/>
                </a:solidFill>
                <a:latin typeface="Instrument Serif"/>
              </a:rPr>
              <a:t>BRECHA DE GÉNERO EN AUTOCUIDADO: 15.2 PUNTOS. LA MUJER SE CUIDA MENOS — Y LO SABE.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46000" y="2400000"/>
            <a:ext cx="2700000" cy="1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0" i="1" spc="0">
                <a:solidFill>
                  <a:srgbClr val="FFFFFF"/>
                </a:solidFill>
                <a:latin typeface="Instrument Serif"/>
              </a:rPr>
              <a:t>48.5%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46000" y="3740000"/>
            <a:ext cx="2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spc="0">
                <a:solidFill>
                  <a:srgbClr val="FFFFFF"/>
                </a:solidFill>
                <a:latin typeface="Poppins"/>
              </a:rPr>
              <a:t>del subset </a:t>
            </a:r>
            <a:r>
              <a:rPr sz="1100" b="1" i="0" spc="0">
                <a:solidFill>
                  <a:srgbClr val="FFFFFF"/>
                </a:solidFill>
                <a:latin typeface="Poppins"/>
              </a:rPr>
              <a:t>femenino</a:t>
            </a:r>
            <a:r>
              <a:rPr sz="1100" b="0" i="0" spc="0">
                <a:solidFill>
                  <a:srgbClr val="FFFFFF"/>
                </a:solidFill>
                <a:latin typeface="Poppins"/>
              </a:rPr>
              <a:t> declara "no realizo ninguna actividad" como TOP-1 de P27, vs 33.3% del masculino donde el TOP-1 es ejercicio (43.1%). Brecha de género en inacción: 15.2 puntos.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508000"/>
            <a:ext cx="103628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spc="0">
                <a:solidFill>
                  <a:srgbClr val="FFFFFF"/>
                </a:solidFill>
                <a:latin typeface="Poppins"/>
              </a:rPr>
              <a:t>Source: Código Casa — Estudio cuantitativo + cualitativo 2025 · P27 × D2 · Base 500.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 spc="200">
                <a:solidFill>
                  <a:srgbClr val="FFFFFF"/>
                </a:solidFill>
                <a:latin typeface="Poppins"/>
              </a:rPr>
              <a:t>CONSUMER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000"/>
            <a:ext cx="1072896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 spc="0">
                <a:solidFill>
                  <a:srgbClr val="FFFFFF"/>
                </a:solidFill>
                <a:latin typeface="Instrument Serif"/>
              </a:rPr>
              <a:t>“CUANDO UNO ES MADRE, A VECES SE OLVIDA, A VECES NO... CASI SIEMPRE SE OLVIDA DE UNO MISMO. (...) Y CUANDO TÚ VIENES A MIRAR PARA ATRÁS, ENTONCES TÚ DICES: '¿Y YO?' PORQUE CRECEN Y SE VAN.”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80000"/>
            <a:ext cx="1219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 spc="0">
                <a:solidFill>
                  <a:srgbClr val="FFFFFF"/>
                </a:solidFill>
                <a:latin typeface="Poppins"/>
              </a:rPr>
              <a:t>— Grupo Monoparental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 spc="200">
                <a:solidFill>
                  <a:srgbClr val="FFFFFF"/>
                </a:solidFill>
                <a:latin typeface="Poppins"/>
              </a:rPr>
              <a:t>CONSUMER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000"/>
            <a:ext cx="1072896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 spc="0">
                <a:solidFill>
                  <a:srgbClr val="FFFFFF"/>
                </a:solidFill>
                <a:latin typeface="Instrument Serif"/>
              </a:rPr>
              <a:t>“ES SANO, ESO, NO DEDICARSE UN TIEMPO SOLO. POR EJEMPLO, SI YO QUISIERA, QUÉ SÉ YO, SENTARME A MIRAR EL PARQUE Y TOMARME UNA BATIDA YO SOLA ASÍ... CÓMO NO ME HACE FALTA...”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80000"/>
            <a:ext cx="1219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 spc="0">
                <a:solidFill>
                  <a:srgbClr val="FFFFFF"/>
                </a:solidFill>
                <a:latin typeface="Poppins"/>
              </a:rPr>
              <a:t>— Grupo Biparental con Hijos Pequeños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