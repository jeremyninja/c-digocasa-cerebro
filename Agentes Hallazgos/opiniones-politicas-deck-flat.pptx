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6 DE CADA 10 DOMINICANOS SE INFORMA DE POLÍTICA POR REDES SOCIALES. LA TV CAE A SEGUNDO LUGAR, </a:t>
            </a:r>
            <a:r>
              <a:rPr sz="5000" b="0" i="1" kern="0" spc="0">
                <a:solidFill>
                  <a:srgbClr val="FFFFFF"/>
                </a:solidFill>
                <a:latin typeface="Instrument Serif"/>
              </a:rPr>
              <a:t>Y EL NOTICIERO YA NO CONVOCA.</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59%</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usa </a:t>
            </a:r>
            <a:r>
              <a:rPr sz="1300" b="1" i="0" kern="0" spc="0">
                <a:solidFill>
                  <a:srgbClr val="FFFFFF"/>
                </a:solidFill>
                <a:latin typeface="Poppins"/>
              </a:rPr>
              <a:t>redes sociales</a:t>
            </a:r>
            <a:r>
              <a:rPr sz="1300" b="0" i="0" kern="0" spc="0">
                <a:solidFill>
                  <a:srgbClr val="FFFFFF"/>
                </a:solidFill>
                <a:latin typeface="Poppins"/>
              </a:rPr>
              <a:t> como fuente principal para informarse sobre política — la opción más votada de P56, con más del doble que la TV.</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27%</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la </a:t>
            </a:r>
            <a:r>
              <a:rPr sz="1300" b="1" i="0" kern="0" spc="0">
                <a:solidFill>
                  <a:srgbClr val="FFFFFF"/>
                </a:solidFill>
                <a:latin typeface="Poppins"/>
              </a:rPr>
              <a:t>TV</a:t>
            </a:r>
            <a:r>
              <a:rPr sz="1300" b="0" i="0" kern="0" spc="0">
                <a:solidFill>
                  <a:srgbClr val="FFFFFF"/>
                </a:solidFill>
                <a:latin typeface="Poppins"/>
              </a:rPr>
              <a:t> como fuente principal. Periódicos (1.2%) y radio (1.4%) son residuales. La conversación política migró al feed antes que al noticiero.</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P56 · Base 500.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«Se habla de política en esos casos. (...) Pero no porque somos políticos, sino porque al niño mío le gusta mucho ver cosas como en YouTube, así, como lo dice, ese tipo de cosas. Entonces él me dice (...) que está el candidato Luis Sabinader y que él es el presidente.»</a:t>
            </a:r>
          </a:p>
          <a:p>
            <a:pPr algn="ctr">
              <a:spcBef>
                <a:spcPts val="1000"/>
              </a:spcBef>
            </a:pPr>
            <a:r>
              <a:rPr sz="1650" i="1" b="0" kern="0" spc="0">
                <a:solidFill>
                  <a:srgbClr val="FFFFFF"/>
                </a:solidFill>
                <a:latin typeface="Poppins"/>
              </a:rPr>
              <a:t>— Familia Monoparental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80% DE LOS JÓVENES 18-24 SE INFORMA POR REDES. EN EL ESTRATO E, LA TV AÚN GANA. </a:t>
            </a:r>
            <a:r>
              <a:rPr sz="5000" b="0" i="1" kern="0" spc="0">
                <a:solidFill>
                  <a:srgbClr val="FFFFFF"/>
                </a:solidFill>
                <a:latin typeface="Instrument Serif"/>
              </a:rPr>
              <a:t>LA PLATAFORMA QUE USAS PARA VER POLÍTICA DEPENDE DE CUÁNTO PAGAS LA LUZ.</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80%</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los jóvenes de </a:t>
            </a:r>
            <a:r>
              <a:rPr sz="1300" b="1" i="0" kern="0" spc="0">
                <a:solidFill>
                  <a:srgbClr val="FFFFFF"/>
                </a:solidFill>
                <a:latin typeface="Poppins"/>
              </a:rPr>
              <a:t>18-24 años</a:t>
            </a:r>
            <a:r>
              <a:rPr sz="1300" b="0" i="0" kern="0" spc="0">
                <a:solidFill>
                  <a:srgbClr val="FFFFFF"/>
                </a:solidFill>
                <a:latin typeface="Poppins"/>
              </a:rPr>
              <a:t> se informa de política por redes, frente a 49.6% de los mayores de 55 que ubican la TV en primer lugar. Brecha: 30.4 puntos.</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38%</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estrato E</a:t>
            </a:r>
            <a:r>
              <a:rPr sz="1300" b="0" i="0" kern="0" spc="0">
                <a:solidFill>
                  <a:srgbClr val="FFFFFF"/>
                </a:solidFill>
                <a:latin typeface="Poppins"/>
              </a:rPr>
              <a:t> declara la TV como fuente principal — el único NSE donde las redes no encabezan. En estratos C, C+ y AB las redes superan el 65%. (n≈32, tendencia direccional)</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2025 · P56 × D5, P56 × D6 · Base 500.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58% DEL DOMINICANO SE DECLARA NADA INTERESADO EN POLÍTICA. EL DESINTERÉS NO ES UNA POSTURA DE MINORÍA — </a:t>
            </a:r>
            <a:r>
              <a:rPr sz="5000" b="0" i="1" kern="0" spc="0">
                <a:solidFill>
                  <a:srgbClr val="FFFFFF"/>
                </a:solidFill>
                <a:latin typeface="Instrument Serif"/>
              </a:rPr>
              <a:t>ES EL ESTADO DECLARADO DE LA MAYORÍA.</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58%</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se ubica en el punto más bajo de la escala — "</a:t>
            </a:r>
            <a:r>
              <a:rPr sz="1300" b="1" i="0" kern="0" spc="0">
                <a:solidFill>
                  <a:srgbClr val="FFFFFF"/>
                </a:solidFill>
                <a:latin typeface="Poppins"/>
              </a:rPr>
              <a:t>1 = Nada interesado</a:t>
            </a:r>
            <a:r>
              <a:rPr sz="1300" b="0" i="0" kern="0" spc="0">
                <a:solidFill>
                  <a:srgbClr val="FFFFFF"/>
                </a:solidFill>
                <a:latin typeface="Poppins"/>
              </a:rPr>
              <a:t>" en política. Es la respuesta más votada por 25 puntos de distancia sobre cualquier otra opción.</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22%</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suma el </a:t>
            </a:r>
            <a:r>
              <a:rPr sz="1300" b="1" i="0" kern="0" spc="0">
                <a:solidFill>
                  <a:srgbClr val="FFFFFF"/>
                </a:solidFill>
                <a:latin typeface="Poppins"/>
              </a:rPr>
              <a:t>interés alto (4+5)</a:t>
            </a:r>
            <a:r>
              <a:rPr sz="1300" b="0" i="0" kern="0" spc="0">
                <a:solidFill>
                  <a:srgbClr val="FFFFFF"/>
                </a:solidFill>
                <a:latin typeface="Poppins"/>
              </a:rPr>
              <a:t>: solo 16.6% se declara "muy interesado" (5) y 5.4% en el nivel 4. La mayoría que se interesa por la política no llega a un cuarto del total.</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P57 · Base 500.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«No me gusta mucho hablar de política porque nunca me he beneficiado de ningún político (...) y nunca he estado como muy atento a eso porque lo que es política y cosas de apuestas no soy como compatible de eso.»</a:t>
            </a:r>
          </a:p>
          <a:p>
            <a:pPr algn="ctr">
              <a:spcBef>
                <a:spcPts val="1000"/>
              </a:spcBef>
            </a:pPr>
            <a:r>
              <a:rPr sz="1650" i="1" b="0" kern="0" spc="0">
                <a:solidFill>
                  <a:srgbClr val="FFFFFF"/>
                </a:solidFill>
                <a:latin typeface="Poppins"/>
              </a:rPr>
              <a:t>— Familia Mixta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EL DESINTERÉS POLÍTICO TIENE ROSTRO DE MUJER JOVEN. 69% DE LAS 18-24 SE DECLARA NADA INTERESADA — </a:t>
            </a:r>
            <a:r>
              <a:rPr sz="5000" b="0" i="1" kern="0" spc="0">
                <a:solidFill>
                  <a:srgbClr val="FFFFFF"/>
                </a:solidFill>
                <a:latin typeface="Instrument Serif"/>
              </a:rPr>
              <a:t>MÁS QUE CUALQUIER OTRO SEGMENTO DEL ESTUDIO.</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62%</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las </a:t>
            </a:r>
            <a:r>
              <a:rPr sz="1300" b="1" i="0" kern="0" spc="0">
                <a:solidFill>
                  <a:srgbClr val="FFFFFF"/>
                </a:solidFill>
                <a:latin typeface="Poppins"/>
              </a:rPr>
              <a:t>mujeres</a:t>
            </a:r>
            <a:r>
              <a:rPr sz="1300" b="0" i="0" kern="0" spc="0">
                <a:solidFill>
                  <a:srgbClr val="FFFFFF"/>
                </a:solidFill>
                <a:latin typeface="Poppins"/>
              </a:rPr>
              <a:t> se declara "nada interesada" en política, frente a 52.3% de los hombres. Brecha de género: 9.3 puntos.</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69%</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los jóvenes de </a:t>
            </a:r>
            <a:r>
              <a:rPr sz="1300" b="1" i="0" kern="0" spc="0">
                <a:solidFill>
                  <a:srgbClr val="FFFFFF"/>
                </a:solidFill>
                <a:latin typeface="Poppins"/>
              </a:rPr>
              <a:t>18-24 años</a:t>
            </a:r>
            <a:r>
              <a:rPr sz="1300" b="0" i="0" kern="0" spc="0">
                <a:solidFill>
                  <a:srgbClr val="FFFFFF"/>
                </a:solidFill>
                <a:latin typeface="Poppins"/>
              </a:rPr>
              <a:t> se declara "nada interesado" — el rango etario con mayor desinterés del estudio, por encima de los mayores de 55 (56.3%).</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2025 · P57 × D2, P57 × D5 · Base 500.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77% DEL DOMINICANO VOTÓ EN LAS ÚLTIMAS ELECCIONES. EL MISMO PAÍS DECLARA 58% DE DESINTERÉS TOTAL EN POLÍTICA. </a:t>
            </a:r>
            <a:r>
              <a:rPr sz="5000" b="0" i="1" kern="0" spc="0">
                <a:solidFill>
                  <a:srgbClr val="FFFFFF"/>
                </a:solidFill>
                <a:latin typeface="Instrument Serif"/>
              </a:rPr>
              <a:t>VOTAR NO REQUIERE CREER — REQUIERE IR.</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77%</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declara haber </a:t>
            </a:r>
            <a:r>
              <a:rPr sz="1300" b="1" i="0" kern="0" spc="0">
                <a:solidFill>
                  <a:srgbClr val="FFFFFF"/>
                </a:solidFill>
                <a:latin typeface="Poppins"/>
              </a:rPr>
              <a:t>votado</a:t>
            </a:r>
            <a:r>
              <a:rPr sz="1300" b="0" i="0" kern="0" spc="0">
                <a:solidFill>
                  <a:srgbClr val="FFFFFF"/>
                </a:solidFill>
                <a:latin typeface="Poppins"/>
              </a:rPr>
              <a:t> en las últimas elecciones; solo 23.0% no votó.</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58%</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se declara "</a:t>
            </a:r>
            <a:r>
              <a:rPr sz="1300" b="1" i="0" kern="0" spc="0">
                <a:solidFill>
                  <a:srgbClr val="FFFFFF"/>
                </a:solidFill>
                <a:latin typeface="Poppins"/>
              </a:rPr>
              <a:t>nada interesado</a:t>
            </a:r>
            <a:r>
              <a:rPr sz="1300" b="0" i="0" kern="0" spc="0">
                <a:solidFill>
                  <a:srgbClr val="FFFFFF"/>
                </a:solidFill>
                <a:latin typeface="Poppins"/>
              </a:rPr>
              <a:t>" en política (P57). La mayoría que vota se solapa directamente con la mayoría que dice no interesarle la política.</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P58, P57 · Base 500.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«Por ejemplo yo voté, mi esposo dijo que no iba a votar. Yo le dije, ¿por qué tú no vas a votar? Porque tú eres un ladrón. Entonces, ¿pero me vota para que lo saques? No. Entonces estos son peores.»</a:t>
            </a:r>
          </a:p>
          <a:p>
            <a:pPr algn="ctr">
              <a:spcBef>
                <a:spcPts val="1000"/>
              </a:spcBef>
            </a:pPr>
            <a:r>
              <a:rPr sz="1650" i="1" b="0" kern="0" spc="0">
                <a:solidFill>
                  <a:srgbClr val="FFFFFF"/>
                </a:solidFill>
                <a:latin typeface="Poppins"/>
              </a:rPr>
              <a:t>— Familia Biparental con Hijos Pequeños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EL VOTO SUBE CON LA EDAD: 82% DE LOS MAYORES DE 55 VOTÓ, CONTRA 69% DE LOS 18-24. </a:t>
            </a:r>
            <a:r>
              <a:rPr sz="5000" b="0" i="1" kern="0" spc="0">
                <a:solidFill>
                  <a:srgbClr val="FFFFFF"/>
                </a:solidFill>
                <a:latin typeface="Instrument Serif"/>
              </a:rPr>
              <a:t>EL HÁBITO ELECTORAL NO SE TRANSMITE — SE ACUMULA CON LOS AÑOS.</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82%</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los mayores de </a:t>
            </a:r>
            <a:r>
              <a:rPr sz="1300" b="1" i="0" kern="0" spc="0">
                <a:solidFill>
                  <a:srgbClr val="FFFFFF"/>
                </a:solidFill>
                <a:latin typeface="Poppins"/>
              </a:rPr>
              <a:t>55 años</a:t>
            </a:r>
            <a:r>
              <a:rPr sz="1300" b="0" i="0" kern="0" spc="0">
                <a:solidFill>
                  <a:srgbClr val="FFFFFF"/>
                </a:solidFill>
                <a:latin typeface="Poppins"/>
              </a:rPr>
              <a:t> votó en las últimas elecciones, frente a 69.1% de los jóvenes de 18-24. Brecha generacional: 13.3 puntos.</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69%</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los jóvenes de </a:t>
            </a:r>
            <a:r>
              <a:rPr sz="1300" b="1" i="0" kern="0" spc="0">
                <a:solidFill>
                  <a:srgbClr val="FFFFFF"/>
                </a:solidFill>
                <a:latin typeface="Poppins"/>
              </a:rPr>
              <a:t>18-24</a:t>
            </a:r>
            <a:r>
              <a:rPr sz="1300" b="0" i="0" kern="0" spc="0">
                <a:solidFill>
                  <a:srgbClr val="FFFFFF"/>
                </a:solidFill>
                <a:latin typeface="Poppins"/>
              </a:rPr>
              <a:t> votó. La participación crece de forma escalonada: 18-24 (69%) → 25-34 (75%) → 35-44 (75%) → 45-54 (79%) → 55+ (82%). Cada década suma entre 3 y 4 puntos.</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2025 · P58 × D5 · Base 500.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4 DE CADA 10 DOMINICANOS CALIFICAN LA GESTIÓN DEL GOBIERNO COMO "MUY MALA". </a:t>
            </a:r>
            <a:r>
              <a:rPr sz="5000" b="0" i="1" kern="0" spc="0">
                <a:solidFill>
                  <a:srgbClr val="FFFFFF"/>
                </a:solidFill>
                <a:latin typeface="Instrument Serif"/>
              </a:rPr>
              <a:t>EL DESCONTENTO NO ES MATIZ — ES EL ESCALÓN MÁS POBLADO DE LA ESCALA.</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40%</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califica la gestión del gobierno actual como "</a:t>
            </a:r>
            <a:r>
              <a:rPr sz="1300" b="1" i="0" kern="0" spc="0">
                <a:solidFill>
                  <a:srgbClr val="FFFFFF"/>
                </a:solidFill>
                <a:latin typeface="Poppins"/>
              </a:rPr>
              <a:t>1 = Muy mala</a:t>
            </a:r>
            <a:r>
              <a:rPr sz="1300" b="0" i="0" kern="0" spc="0">
                <a:solidFill>
                  <a:srgbClr val="FFFFFF"/>
                </a:solidFill>
                <a:latin typeface="Poppins"/>
              </a:rPr>
              <a:t>" — la respuesta más votada de toda la escala P59.</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20%</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suma la valoración </a:t>
            </a:r>
            <a:r>
              <a:rPr sz="1300" b="1" i="0" kern="0" spc="0">
                <a:solidFill>
                  <a:srgbClr val="FFFFFF"/>
                </a:solidFill>
                <a:latin typeface="Poppins"/>
              </a:rPr>
              <a:t>positiva (4+5)</a:t>
            </a:r>
            <a:r>
              <a:rPr sz="1300" b="0" i="0" kern="0" spc="0">
                <a:solidFill>
                  <a:srgbClr val="FFFFFF"/>
                </a:solidFill>
                <a:latin typeface="Poppins"/>
              </a:rPr>
              <a:t>: solo 10.0% "muy buena" (5) y 10.0% en nivel 4. El 80% restante se reparte entre "muy mala", "mala" y el punto medio (29.8% en 3).</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P59 · Base 500.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«Yo siento que el país tiene un retroceso, yo no sé, no es política, no, yo siento que hay un retroceso, porque cómo va a ser que a esta altura del juego, ni que baje sin agua, la luz crece cada rato.»</a:t>
            </a:r>
          </a:p>
          <a:p>
            <a:pPr algn="ctr">
              <a:spcBef>
                <a:spcPts val="1000"/>
              </a:spcBef>
            </a:pPr>
            <a:r>
              <a:rPr sz="1650" i="1" b="0" kern="0" spc="0">
                <a:solidFill>
                  <a:srgbClr val="FFFFFF"/>
                </a:solidFill>
                <a:latin typeface="Poppins"/>
              </a:rPr>
              <a:t>— Familia Biparental con Hijos Adultos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EL DESCONTENTO CON EL GOBIERNO PEGA MÁS DURO ABAJO: EL ESTRATO D Y EL ESTRATO E LIDERAN EL "MUY MALO", </a:t>
            </a:r>
            <a:r>
              <a:rPr sz="5000" b="0" i="1" kern="0" spc="0">
                <a:solidFill>
                  <a:srgbClr val="FFFFFF"/>
                </a:solidFill>
                <a:latin typeface="Instrument Serif"/>
              </a:rPr>
              <a:t>MIENTRAS EL C+ ES EL ÚNICO NSE QUE NO LLEGA AL EXTREMO.</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47%</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estrato E</a:t>
            </a:r>
            <a:r>
              <a:rPr sz="1300" b="0" i="0" kern="0" spc="0">
                <a:solidFill>
                  <a:srgbClr val="FFFFFF"/>
                </a:solidFill>
                <a:latin typeface="Poppins"/>
              </a:rPr>
              <a:t> y 43.6% del D califican la gestión como "muy mala" (1). En el C+, la respuesta top es el punto medio "3" (36.1%) — único NSE que no llega al extremo. (E: n≈32, direccional)</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47%</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los jóvenes de </a:t>
            </a:r>
            <a:r>
              <a:rPr sz="1300" b="1" i="0" kern="0" spc="0">
                <a:solidFill>
                  <a:srgbClr val="FFFFFF"/>
                </a:solidFill>
                <a:latin typeface="Poppins"/>
              </a:rPr>
              <a:t>18-24</a:t>
            </a:r>
            <a:r>
              <a:rPr sz="1300" b="0" i="0" kern="0" spc="0">
                <a:solidFill>
                  <a:srgbClr val="FFFFFF"/>
                </a:solidFill>
                <a:latin typeface="Poppins"/>
              </a:rPr>
              <a:t> y 47.0% de los 25-34 califican "muy malo", contra 31.1% de los mayores de 55. A menos edad, más severa la calificación.</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2025 · P59 × D6, P59 × D5 · Base 500.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VOTAR ES LA ÚNICA FORMA VÁLIDA DE CAMBIO PARA 4 DE CADA 10. EL SEGUNDO LUGAR NO ES PROTESTAR NI ORGANIZARSE — </a:t>
            </a:r>
            <a:r>
              <a:rPr sz="5000" b="0" i="1" kern="0" spc="0">
                <a:solidFill>
                  <a:srgbClr val="FFFFFF"/>
                </a:solidFill>
                <a:latin typeface="Instrument Serif"/>
              </a:rPr>
              <a:t>ES NO CREER EN NADA DE ESO.</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41%</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considera "</a:t>
            </a:r>
            <a:r>
              <a:rPr sz="1300" b="1" i="0" kern="0" spc="0">
                <a:solidFill>
                  <a:srgbClr val="FFFFFF"/>
                </a:solidFill>
                <a:latin typeface="Poppins"/>
              </a:rPr>
              <a:t>votar en elecciones</a:t>
            </a:r>
            <a:r>
              <a:rPr sz="1300" b="0" i="0" kern="0" spc="0">
                <a:solidFill>
                  <a:srgbClr val="FFFFFF"/>
                </a:solidFill>
                <a:latin typeface="Poppins"/>
              </a:rPr>
              <a:t>" la forma válida de generar cambio en el país — la opción más elegida de la batería P60.</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21%</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eligió "</a:t>
            </a:r>
            <a:r>
              <a:rPr sz="1300" b="1" i="0" kern="0" spc="0">
                <a:solidFill>
                  <a:srgbClr val="FFFFFF"/>
                </a:solidFill>
                <a:latin typeface="Poppins"/>
              </a:rPr>
              <a:t>no creo que ninguna de estas cosas cambie realmente algo</a:t>
            </a:r>
            <a:r>
              <a:rPr sz="1300" b="0" i="0" kern="0" spc="0">
                <a:solidFill>
                  <a:srgbClr val="FFFFFF"/>
                </a:solidFill>
                <a:latin typeface="Poppins"/>
              </a:rPr>
              <a:t>" — segundo lugar, por encima de educarse (19.4%), apoyar movimientos sociales (7.0%) y protestar (6.0%).</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P60 · Base 500.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«Para conseguir un empleo tiene que ser político, que conocer gente. Si se acaba todo eso puede ser que se erradique la pobreza.»</a:t>
            </a:r>
          </a:p>
          <a:p>
            <a:pPr algn="ctr">
              <a:spcBef>
                <a:spcPts val="1000"/>
              </a:spcBef>
            </a:pPr>
            <a:r>
              <a:rPr sz="1650" i="1" b="0" kern="0" spc="0">
                <a:solidFill>
                  <a:srgbClr val="FFFFFF"/>
                </a:solidFill>
                <a:latin typeface="Poppins"/>
              </a:rPr>
              <a:t>— Familia Monoparental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LAS PROTESTAS Y LAS PETICIONES DIGITALES NO LLEGAN AL 7% COMO VÍA DE CAMBIO. </a:t>
            </a:r>
            <a:r>
              <a:rPr sz="5000" b="0" i="1" kern="0" spc="0">
                <a:solidFill>
                  <a:srgbClr val="FFFFFF"/>
                </a:solidFill>
                <a:latin typeface="Instrument Serif"/>
              </a:rPr>
              <a:t>EL DOMINICANO DELEGA LA TRANSFORMACIÓN AL VOTO — Y NO MUEVE EL CUERPO.</a:t>
            </a:r>
          </a:p>
        </p:txBody>
      </p:sp>
      <p:sp>
        <p:nvSpPr>
          <p:cNvPr id="3" name="TextBox 2"/>
          <p:cNvSpPr txBox="1"/>
          <p:nvPr/>
        </p:nvSpPr>
        <p:spPr>
          <a:xfrm>
            <a:off x="7343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15%</a:t>
            </a:r>
          </a:p>
        </p:txBody>
      </p:sp>
      <p:sp>
        <p:nvSpPr>
          <p:cNvPr id="4" name="TextBox 3"/>
          <p:cNvSpPr txBox="1"/>
          <p:nvPr/>
        </p:nvSpPr>
        <p:spPr>
          <a:xfrm>
            <a:off x="7343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suma las formas de </a:t>
            </a:r>
            <a:r>
              <a:rPr sz="1300" b="1" i="0" kern="0" spc="0">
                <a:solidFill>
                  <a:srgbClr val="FFFFFF"/>
                </a:solidFill>
                <a:latin typeface="Poppins"/>
              </a:rPr>
              <a:t>participación activa</a:t>
            </a:r>
            <a:r>
              <a:rPr sz="1300" b="0" i="0" kern="0" spc="0">
                <a:solidFill>
                  <a:srgbClr val="FFFFFF"/>
                </a:solidFill>
                <a:latin typeface="Poppins"/>
              </a:rPr>
              <a:t>: apoyar movimientos sociales (7.0%), protestar (6.0%), firmar peticiones digitales (0.6%), quejarse en redes (1.2%). Juntas no llegan al 15% del total.</a:t>
            </a:r>
          </a:p>
        </p:txBody>
      </p:sp>
      <p:sp>
        <p:nvSpPr>
          <p:cNvPr id="5" name="TextBox 4"/>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P60 · Base 500.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«Ya el concepto de la política antes, por lo menos, aunque había sectores y posiciones que hacían cosas malas, pero había mucha política de buena intención. (...) Ya hoy en día hay un vacío. La política es muy grande, tan fuerte, que ya nadie está dando importancia.»</a:t>
            </a:r>
          </a:p>
          <a:p>
            <a:pPr algn="ctr">
              <a:spcBef>
                <a:spcPts val="1000"/>
              </a:spcBef>
            </a:pPr>
            <a:r>
              <a:rPr sz="1650" i="1" b="0" kern="0" spc="0">
                <a:solidFill>
                  <a:srgbClr val="FFFFFF"/>
                </a:solidFill>
                <a:latin typeface="Poppins"/>
              </a:rPr>
              <a:t>— Familia Mixta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CUANDO SE IMAGINA EL CAMBIO, EL DOMINICANO NO NOMBRA IDEOLOGÍA. NOMBRA CORRUPCIÓN, SALUD, EDUCACIÓN Y SEGURIDAD. </a:t>
            </a:r>
            <a:r>
              <a:rPr sz="5000" b="0" i="1" kern="0" spc="0">
                <a:solidFill>
                  <a:srgbClr val="FFFFFF"/>
                </a:solidFill>
                <a:latin typeface="Instrument Serif"/>
              </a:rPr>
              <a:t>LA POLÍTICA DOMINICANA SE VIVE COMO DÉFICIT DE SERVICIOS, NO DE BANDO.</a:t>
            </a:r>
          </a:p>
        </p:txBody>
      </p:sp>
      <p:sp>
        <p:nvSpPr>
          <p:cNvPr id="3" name="Rounded Rectangle 2"/>
          <p:cNvSpPr/>
          <p:nvPr/>
        </p:nvSpPr>
        <p:spPr>
          <a:xfrm>
            <a:off x="1343025" y="3619500"/>
            <a:ext cx="15592425" cy="2762250"/>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4191000"/>
            <a:ext cx="14068425" cy="1619250"/>
          </a:xfrm>
          <a:prstGeom prst="rect">
            <a:avLst/>
          </a:prstGeom>
          <a:noFill/>
        </p:spPr>
        <p:txBody>
          <a:bodyPr wrap="square" lIns="0" rIns="0" tIns="0" bIns="0">
            <a:spAutoFit/>
          </a:bodyPr>
          <a:lstStyle/>
          <a:p>
            <a:pPr algn="ctr"/>
            <a:r>
              <a:rPr sz="2850" i="0" b="0" kern="0" spc="0">
                <a:solidFill>
                  <a:srgbClr val="FFFFFF"/>
                </a:solidFill>
                <a:latin typeface="Instrument Serif"/>
              </a:rPr>
              <a:t>«Cada vez que un político de esos se va con 500 millones de pesos, se llevó el puentecito que hace falta en los velaquitos, se llevó la carreterita de 4 kilómetros que tanto necesita, la escuela de los niños, la escuelita. Y se lo lleva a un solo personaje.»</a:t>
            </a:r>
          </a:p>
          <a:p>
            <a:pPr algn="ctr">
              <a:spcBef>
                <a:spcPts val="1000"/>
              </a:spcBef>
            </a:pPr>
            <a:r>
              <a:rPr sz="1650" i="1" b="0" kern="0" spc="0">
                <a:solidFill>
                  <a:srgbClr val="FFFFFF"/>
                </a:solidFill>
                <a:latin typeface="Poppins"/>
              </a:rPr>
              <a:t>— Familia Biparental con Hijos Adultos</a:t>
            </a:r>
          </a:p>
        </p:txBody>
      </p:sp>
      <p:sp>
        <p:nvSpPr>
          <p:cNvPr id="5" name="Rounded Rectangle 4"/>
          <p:cNvSpPr/>
          <p:nvPr/>
        </p:nvSpPr>
        <p:spPr>
          <a:xfrm>
            <a:off x="1343025" y="6667500"/>
            <a:ext cx="15592425" cy="2762250"/>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105025" y="7239000"/>
            <a:ext cx="14068425" cy="1619250"/>
          </a:xfrm>
          <a:prstGeom prst="rect">
            <a:avLst/>
          </a:prstGeom>
          <a:noFill/>
        </p:spPr>
        <p:txBody>
          <a:bodyPr wrap="square" lIns="0" rIns="0" tIns="0" bIns="0">
            <a:spAutoFit/>
          </a:bodyPr>
          <a:lstStyle/>
          <a:p>
            <a:pPr algn="ctr"/>
            <a:r>
              <a:rPr sz="2850" i="0" b="0" kern="0" spc="0">
                <a:solidFill>
                  <a:srgbClr val="FFFFFF"/>
                </a:solidFill>
                <a:latin typeface="Instrument Serif"/>
              </a:rPr>
              <a:t>«Y siempre que un cambio de gobierno (...) te ponen a una gente por encima de ti ganando muchísimo más que tú y no es ni profesional. Entonces tú recibir un mandato de una persona que sabe menos que tú.»</a:t>
            </a:r>
          </a:p>
          <a:p>
            <a:pPr algn="ctr">
              <a:spcBef>
                <a:spcPts val="1000"/>
              </a:spcBef>
            </a:pPr>
            <a:r>
              <a:rPr sz="1650" i="1" b="0" kern="0" spc="0">
                <a:solidFill>
                  <a:srgbClr val="FFFFFF"/>
                </a:solidFill>
                <a:latin typeface="Poppins"/>
              </a:rPr>
              <a:t>— Familia Monoparental</a:t>
            </a:r>
          </a:p>
        </p:txBody>
      </p:sp>
      <p:sp>
        <p:nvSpPr>
          <p:cNvPr id="7" name="TextBox 6"/>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cualitativo 2025 · P61 · Base cualitativa: grupos de enfoque.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73% DEL DOMINICANO DICE QUE EL SISTEMA POLÍTICO ES NADA O POCO JUSTO. </a:t>
            </a:r>
            <a:r>
              <a:rPr sz="5000" b="0" i="1" kern="0" spc="0">
                <a:solidFill>
                  <a:srgbClr val="FFFFFF"/>
                </a:solidFill>
                <a:latin typeface="Instrument Serif"/>
              </a:rPr>
              <a:t>LA PERCEPCIÓN DE INJUSTICIA NO ES DE UN SECTOR — ATRAVIESA TODOS LOS ESTRATOS Y TODAS LAS EDADES.</a:t>
            </a:r>
          </a:p>
        </p:txBody>
      </p:sp>
      <p:sp>
        <p:nvSpPr>
          <p:cNvPr id="3" name="Rectangle 2"/>
          <p:cNvSpPr/>
          <p:nvPr/>
        </p:nvSpPr>
        <p:spPr>
          <a:xfrm>
            <a:off x="6848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7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73%</a:t>
            </a:r>
          </a:p>
        </p:txBody>
      </p:sp>
      <p:sp>
        <p:nvSpPr>
          <p:cNvPr id="6" name="TextBox 5"/>
          <p:cNvSpPr txBox="1"/>
          <p:nvPr/>
        </p:nvSpPr>
        <p:spPr>
          <a:xfrm>
            <a:off x="277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percibe el sistema político como </a:t>
            </a:r>
            <a:r>
              <a:rPr sz="1300" b="1" i="0" kern="0" spc="0">
                <a:solidFill>
                  <a:srgbClr val="FFFFFF"/>
                </a:solidFill>
                <a:latin typeface="Poppins"/>
              </a:rPr>
              <a:t>injusto</a:t>
            </a:r>
            <a:r>
              <a:rPr sz="1300" b="0" i="0" kern="0" spc="0">
                <a:solidFill>
                  <a:srgbClr val="FFFFFF"/>
                </a:solidFill>
                <a:latin typeface="Poppins"/>
              </a:rPr>
              <a:t>: 46.6% "nada justo" (1) + 26.8% "poco justo" (2). La valoración positiva del sistema no llega al 9%.</a:t>
            </a:r>
          </a:p>
        </p:txBody>
      </p:sp>
      <p:sp>
        <p:nvSpPr>
          <p:cNvPr id="7" name="TextBox 6"/>
          <p:cNvSpPr txBox="1"/>
          <p:nvPr/>
        </p:nvSpPr>
        <p:spPr>
          <a:xfrm>
            <a:off x="7343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47%</a:t>
            </a:r>
          </a:p>
        </p:txBody>
      </p:sp>
      <p:sp>
        <p:nvSpPr>
          <p:cNvPr id="8" name="TextBox 7"/>
          <p:cNvSpPr txBox="1"/>
          <p:nvPr/>
        </p:nvSpPr>
        <p:spPr>
          <a:xfrm>
            <a:off x="7343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los rangos 25-34, 35-44, 45-54 y </a:t>
            </a:r>
            <a:r>
              <a:rPr sz="1300" b="1" i="0" kern="0" spc="0">
                <a:solidFill>
                  <a:srgbClr val="FFFFFF"/>
                </a:solidFill>
                <a:latin typeface="Poppins"/>
              </a:rPr>
              <a:t>55+</a:t>
            </a:r>
            <a:r>
              <a:rPr sz="1300" b="0" i="0" kern="0" spc="0">
                <a:solidFill>
                  <a:srgbClr val="FFFFFF"/>
                </a:solidFill>
                <a:latin typeface="Poppins"/>
              </a:rPr>
              <a:t> pone "1 = nada justo" como respuesta top. Solo los 18-24 prefieren "2 = poco justo" (36.4%) — único segmento que no llega al extremo.</a:t>
            </a:r>
          </a:p>
        </p:txBody>
      </p:sp>
      <p:sp>
        <p:nvSpPr>
          <p:cNvPr id="9" name="TextBox 8"/>
          <p:cNvSpPr txBox="1"/>
          <p:nvPr/>
        </p:nvSpPr>
        <p:spPr>
          <a:xfrm>
            <a:off x="1191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9%</a:t>
            </a:r>
          </a:p>
        </p:txBody>
      </p:sp>
      <p:sp>
        <p:nvSpPr>
          <p:cNvPr id="10" name="TextBox 9"/>
          <p:cNvSpPr txBox="1"/>
          <p:nvPr/>
        </p:nvSpPr>
        <p:spPr>
          <a:xfrm>
            <a:off x="1191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suma la valoración </a:t>
            </a:r>
            <a:r>
              <a:rPr sz="1300" b="1" i="0" kern="0" spc="0">
                <a:solidFill>
                  <a:srgbClr val="FFFFFF"/>
                </a:solidFill>
                <a:latin typeface="Poppins"/>
              </a:rPr>
              <a:t>positiva (4+5)</a:t>
            </a:r>
            <a:r>
              <a:rPr sz="1300" b="0" i="0" kern="0" spc="0">
                <a:solidFill>
                  <a:srgbClr val="FFFFFF"/>
                </a:solidFill>
                <a:latin typeface="Poppins"/>
              </a:rPr>
              <a:t>: 4.8% "bastante justo" y 3.8% "completamente justo". La injusticia es transversal por NSE: incluso en el segmento AB la respuesta top es "nada justo".</a:t>
            </a:r>
          </a:p>
        </p:txBody>
      </p:sp>
      <p:sp>
        <p:nvSpPr>
          <p:cNvPr id="11" name="TextBox 10"/>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P62, P62 × D5, P62 × D6 · Base 500.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«Los políticos dicen a ti lo que tú quieres escuchar, pero no son los intereses justamente que lo están apoyando a ellos.»</a:t>
            </a:r>
          </a:p>
          <a:p>
            <a:pPr algn="ctr">
              <a:spcBef>
                <a:spcPts val="1000"/>
              </a:spcBef>
            </a:pPr>
            <a:r>
              <a:rPr sz="1650" i="1" b="0" kern="0" spc="0">
                <a:solidFill>
                  <a:srgbClr val="FFFFFF"/>
                </a:solidFill>
                <a:latin typeface="Poppins"/>
              </a:rPr>
              <a:t>— Familia Mixta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CASI LA MITAD DEL DOMINICANO ESTÁ MUY DISPUESTO A IRSE DEL PAÍS. </a:t>
            </a:r>
            <a:r>
              <a:rPr sz="5000" b="0" i="1" kern="0" spc="0">
                <a:solidFill>
                  <a:srgbClr val="FFFFFF"/>
                </a:solidFill>
                <a:latin typeface="Instrument Serif"/>
              </a:rPr>
              <a:t>LA MALETA NO ES PLAN B: PARA EL 47% ES LA PRIMERA RESPUESTA AL CONTEXTO.</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47%</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se declara "</a:t>
            </a:r>
            <a:r>
              <a:rPr sz="1300" b="1" i="0" kern="0" spc="0">
                <a:solidFill>
                  <a:srgbClr val="FFFFFF"/>
                </a:solidFill>
                <a:latin typeface="Poppins"/>
              </a:rPr>
              <a:t>muy dispuesto</a:t>
            </a:r>
            <a:r>
              <a:rPr sz="1300" b="0" i="0" kern="0" spc="0">
                <a:solidFill>
                  <a:srgbClr val="FFFFFF"/>
                </a:solidFill>
                <a:latin typeface="Poppins"/>
              </a:rPr>
              <a:t>" (5) a moverse a otro país por su situación económica o el contexto político — la respuesta más votada de la escala P63.</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30%</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se declara "</a:t>
            </a:r>
            <a:r>
              <a:rPr sz="1300" b="1" i="0" kern="0" spc="0">
                <a:solidFill>
                  <a:srgbClr val="FFFFFF"/>
                </a:solidFill>
                <a:latin typeface="Poppins"/>
              </a:rPr>
              <a:t>nada dispuesto</a:t>
            </a:r>
            <a:r>
              <a:rPr sz="1300" b="0" i="0" kern="0" spc="0">
                <a:solidFill>
                  <a:srgbClr val="FFFFFF"/>
                </a:solidFill>
                <a:latin typeface="Poppins"/>
              </a:rPr>
              <a:t>" (1) a emigrar. Los que querrían irse superan a los que se quedarían firmes por 16.6 puntos.</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P63 · Base 500.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«Yo misma me he considerado irme de aquí. (...) Yo estoy mandando mi currículum a Canadá, a ver si me hacen algo.»</a:t>
            </a:r>
          </a:p>
          <a:p>
            <a:pPr algn="ctr">
              <a:spcBef>
                <a:spcPts val="1000"/>
              </a:spcBef>
            </a:pPr>
            <a:r>
              <a:rPr sz="1650" i="1" b="0" kern="0" spc="0">
                <a:solidFill>
                  <a:srgbClr val="FFFFFF"/>
                </a:solidFill>
                <a:latin typeface="Poppins"/>
              </a:rPr>
              <a:t>— Familia Biparental con Hijos Pequeños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5000" b="0" i="0" kern="0" spc="0">
                <a:solidFill>
                  <a:srgbClr val="FFFFFF"/>
                </a:solidFill>
                <a:latin typeface="Instrument Serif"/>
              </a:rPr>
              <a:t>LA DISPOSICIÓN A EMIGRAR SUBE HASTA LOS 54 AÑOS Y LUEGO SE INVIERTE. LOS MAYORES DE 55 PREFIEREN QUEDARSE. </a:t>
            </a:r>
            <a:r>
              <a:rPr sz="5000" b="0" i="1" kern="0" spc="0">
                <a:solidFill>
                  <a:srgbClr val="FFFFFF"/>
                </a:solidFill>
                <a:latin typeface="Instrument Serif"/>
              </a:rPr>
              <a:t>EL ESTRATO MÁS BAJO TAMBIÉN — PERO POR RAZONES DISTINTAS.</a:t>
            </a:r>
          </a:p>
        </p:txBody>
      </p:sp>
      <p:sp>
        <p:nvSpPr>
          <p:cNvPr id="3" name="Rectangle 2"/>
          <p:cNvSpPr/>
          <p:nvPr/>
        </p:nvSpPr>
        <p:spPr>
          <a:xfrm>
            <a:off x="9134475" y="4572000"/>
            <a:ext cx="19050" cy="1457325"/>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295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55%</a:t>
            </a:r>
          </a:p>
        </p:txBody>
      </p:sp>
      <p:sp>
        <p:nvSpPr>
          <p:cNvPr id="5" name="TextBox 4"/>
          <p:cNvSpPr txBox="1"/>
          <p:nvPr/>
        </p:nvSpPr>
        <p:spPr>
          <a:xfrm>
            <a:off x="4295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 los </a:t>
            </a:r>
            <a:r>
              <a:rPr sz="1300" b="1" i="0" kern="0" spc="0">
                <a:solidFill>
                  <a:srgbClr val="FFFFFF"/>
                </a:solidFill>
                <a:latin typeface="Poppins"/>
              </a:rPr>
              <a:t>45-54 años</a:t>
            </a:r>
            <a:r>
              <a:rPr sz="1300" b="0" i="0" kern="0" spc="0">
                <a:solidFill>
                  <a:srgbClr val="FFFFFF"/>
                </a:solidFill>
                <a:latin typeface="Poppins"/>
              </a:rPr>
              <a:t> está "muy dispuesto" a emigrar — pico máximo. En los 55+, se invierte: la respuesta top pasa a "nada dispuesto" (46.2%). 18-24: 43.6%; 25-34: 49.6%; 35-44: 51.8%.</a:t>
            </a:r>
          </a:p>
        </p:txBody>
      </p:sp>
      <p:sp>
        <p:nvSpPr>
          <p:cNvPr id="6" name="TextBox 5"/>
          <p:cNvSpPr txBox="1"/>
          <p:nvPr/>
        </p:nvSpPr>
        <p:spPr>
          <a:xfrm>
            <a:off x="10391775" y="4762500"/>
            <a:ext cx="3600450" cy="1905000"/>
          </a:xfrm>
          <a:prstGeom prst="rect">
            <a:avLst/>
          </a:prstGeom>
          <a:noFill/>
        </p:spPr>
        <p:txBody>
          <a:bodyPr wrap="square" lIns="0" rIns="0" tIns="0" bIns="0">
            <a:spAutoFit/>
          </a:bodyPr>
          <a:lstStyle/>
          <a:p>
            <a:pPr algn="ctr"/>
            <a:r>
              <a:rPr sz="13500" b="0" i="1" kern="0" spc="0">
                <a:solidFill>
                  <a:srgbClr val="FFFFFF"/>
                </a:solidFill>
                <a:latin typeface="Instrument Serif"/>
              </a:rPr>
              <a:t>41%</a:t>
            </a:r>
          </a:p>
        </p:txBody>
      </p:sp>
      <p:sp>
        <p:nvSpPr>
          <p:cNvPr id="7" name="TextBox 6"/>
          <p:cNvSpPr txBox="1"/>
          <p:nvPr/>
        </p:nvSpPr>
        <p:spPr>
          <a:xfrm>
            <a:off x="10391775" y="6858000"/>
            <a:ext cx="3600450" cy="1076325"/>
          </a:xfrm>
          <a:prstGeom prst="rect">
            <a:avLst/>
          </a:prstGeom>
          <a:noFill/>
        </p:spPr>
        <p:txBody>
          <a:bodyPr wrap="square" lIns="0" rIns="0" tIns="0" bIns="0">
            <a:spAutoFit/>
          </a:bodyPr>
          <a:lstStyle/>
          <a:p>
            <a:pPr algn="ctr"/>
            <a:r>
              <a:rPr sz="1300" b="0" i="0" kern="0" spc="0">
                <a:solidFill>
                  <a:srgbClr val="FFFFFF"/>
                </a:solidFill>
                <a:latin typeface="Poppins"/>
              </a:rPr>
              <a:t>del </a:t>
            </a:r>
            <a:r>
              <a:rPr sz="1300" b="1" i="0" kern="0" spc="0">
                <a:solidFill>
                  <a:srgbClr val="FFFFFF"/>
                </a:solidFill>
                <a:latin typeface="Poppins"/>
              </a:rPr>
              <a:t>estrato E</a:t>
            </a:r>
            <a:r>
              <a:rPr sz="1300" b="0" i="0" kern="0" spc="0">
                <a:solidFill>
                  <a:srgbClr val="FFFFFF"/>
                </a:solidFill>
                <a:latin typeface="Poppins"/>
              </a:rPr>
              <a:t> está "nada dispuesto" a emigrar — único NSE donde la respuesta top es quedarse. El D es el más dispuesto a irse (52.9%). Emigrar requiere recursos. (E: n≈32, direccional)</a:t>
            </a:r>
          </a:p>
        </p:txBody>
      </p:sp>
      <p:sp>
        <p:nvSpPr>
          <p:cNvPr id="8" name="TextBox 7"/>
          <p:cNvSpPr txBox="1"/>
          <p:nvPr/>
        </p:nvSpPr>
        <p:spPr>
          <a:xfrm>
            <a:off x="0" y="96202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2025 · P63 × D5, P63 × D6 · Base 500.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