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92.4% TIENE EL CELULAR COMO DISPOSITIVO ESENCIAL DEL HOGAR. LA TELEVISIÓN QUEDA EN 48.8%, LA COMPUTADORA EN 20.8%. </a:t>
            </a:r>
            <a:r>
              <a:rPr sz="5000" b="0" i="1" kern="0" spc="0">
                <a:solidFill>
                  <a:srgbClr val="FFFFFF"/>
                </a:solidFill>
                <a:latin typeface="Instrument Serif"/>
              </a:rPr>
              <a:t>EL TELÉFONO FIJO: 6.2%. LA CONSOLA: 1.8%.</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92.4%</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nombra el </a:t>
            </a:r>
            <a:r>
              <a:rPr sz="1300" b="1" i="0" kern="0" spc="0">
                <a:solidFill>
                  <a:srgbClr val="FFFFFF"/>
                </a:solidFill>
                <a:latin typeface="Poppins"/>
              </a:rPr>
              <a:t>celular</a:t>
            </a:r>
            <a:r>
              <a:rPr sz="1300" b="0" i="0" kern="0" spc="0">
                <a:solidFill>
                  <a:srgbClr val="FFFFFF"/>
                </a:solidFill>
                <a:latin typeface="Poppins"/>
              </a:rPr>
              <a:t> como dispositivo tecnológico esencial del hogar — casi el doble que la segunda opción. P49, Base 500.</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48.8%</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nombra la </a:t>
            </a:r>
            <a:r>
              <a:rPr sz="1300" b="1" i="0" kern="0" spc="0">
                <a:solidFill>
                  <a:srgbClr val="FFFFFF"/>
                </a:solidFill>
                <a:latin typeface="Poppins"/>
              </a:rPr>
              <a:t>televisión</a:t>
            </a:r>
            <a:r>
              <a:rPr sz="1300" b="0" i="0" kern="0" spc="0">
                <a:solidFill>
                  <a:srgbClr val="FFFFFF"/>
                </a:solidFill>
                <a:latin typeface="Poppins"/>
              </a:rPr>
              <a:t>; 20.8% la computadora; 14.4% la tableta. La brecha entre el celular y cualquier otro dispositivo supera los 43 puntos. P49, Base 500.</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6.2%</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nombra el </a:t>
            </a:r>
            <a:r>
              <a:rPr sz="1300" b="1" i="0" kern="0" spc="0">
                <a:solidFill>
                  <a:srgbClr val="FFFFFF"/>
                </a:solidFill>
                <a:latin typeface="Poppins"/>
              </a:rPr>
              <a:t>teléfono fijo</a:t>
            </a:r>
            <a:r>
              <a:rPr sz="1300" b="0" i="0" kern="0" spc="0">
                <a:solidFill>
                  <a:srgbClr val="FFFFFF"/>
                </a:solidFill>
                <a:latin typeface="Poppins"/>
              </a:rPr>
              <a:t> como esencial; 1.8% la consola de videojuegos. Dos tecnologías estándar en otros mercados, fuera del mapa doméstico dominicano. P49.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762250"/>
            <a:ext cx="15592425" cy="4762500"/>
          </a:xfrm>
          <a:prstGeom prst="rect">
            <a:avLst/>
          </a:prstGeom>
          <a:noFill/>
        </p:spPr>
        <p:txBody>
          <a:bodyPr wrap="square" lIns="0" rIns="0" tIns="0" bIns="0">
            <a:spAutoFit/>
          </a:bodyPr>
          <a:lstStyle/>
          <a:p>
            <a:pPr algn="ctr"/>
            <a:r>
              <a:rPr sz="5000" i="0" b="0" kern="0" spc="0">
                <a:solidFill>
                  <a:srgbClr val="FFFFFF"/>
                </a:solidFill>
                <a:latin typeface="Instrument Serif"/>
              </a:rPr>
              <a:t>«Yo uso hasta para pedir una pizza. Yo uso tecnología porque yo descargo todas las aplicaciones, pido la compra del supermercado por ahí (...) tengo muchísimas cosas en mi teléfono, de verdad, tengo el teléfono — en yo hago mis sueños.»</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Sin Hijos con Mascota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52.2% DEL NSE AB PASA MÁS DE 6 HORAS DIARIAS EN PANTALLA. EN EL NSE E, 46.9% PASA MENOS DE 1 HORA. </a:t>
            </a:r>
            <a:r>
              <a:rPr sz="5000" b="0" i="1" kern="0" spc="0">
                <a:solidFill>
                  <a:srgbClr val="FFFFFF"/>
                </a:solidFill>
                <a:latin typeface="Instrument Serif"/>
              </a:rPr>
              <a:t>LA DESCONEXIÓN ES DE LOS QUE MENOS TIENEN.</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52.2%</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NSE AB pasa más de </a:t>
            </a:r>
            <a:r>
              <a:rPr sz="1300" b="1" i="0" kern="0" spc="0">
                <a:solidFill>
                  <a:srgbClr val="FFFFFF"/>
                </a:solidFill>
                <a:latin typeface="Poppins"/>
              </a:rPr>
              <a:t>6 horas diarias</a:t>
            </a:r>
            <a:r>
              <a:rPr sz="1300" b="0" i="0" kern="0" spc="0">
                <a:solidFill>
                  <a:srgbClr val="FFFFFF"/>
                </a:solidFill>
                <a:latin typeface="Poppins"/>
              </a:rPr>
              <a:t> en pantalla — hiperconexión como respuesta top. Tendencia direccional: NSE AB n≈23. P48 × NSE.</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46.9%</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NSE E pasa </a:t>
            </a:r>
            <a:r>
              <a:rPr sz="1300" b="1" i="0" kern="0" spc="0">
                <a:solidFill>
                  <a:srgbClr val="FFFFFF"/>
                </a:solidFill>
                <a:latin typeface="Poppins"/>
              </a:rPr>
              <a:t>menos de 1 hora</a:t>
            </a:r>
            <a:r>
              <a:rPr sz="1300" b="0" i="0" kern="0" spc="0">
                <a:solidFill>
                  <a:srgbClr val="FFFFFF"/>
                </a:solidFill>
                <a:latin typeface="Poppins"/>
              </a:rPr>
              <a:t> diaria — único estrato donde la desconexión es la respuesta top. Tendencia direccional: NSE E n≈32. P48 × NSE.</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26.2%</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total (n=131) pasa más de </a:t>
            </a:r>
            <a:r>
              <a:rPr sz="1300" b="1" i="0" kern="0" spc="0">
                <a:solidFill>
                  <a:srgbClr val="FFFFFF"/>
                </a:solidFill>
                <a:latin typeface="Poppins"/>
              </a:rPr>
              <a:t>6 horas diarias</a:t>
            </a:r>
            <a:r>
              <a:rPr sz="1300" b="0" i="0" kern="0" spc="0">
                <a:solidFill>
                  <a:srgbClr val="FFFFFF"/>
                </a:solidFill>
                <a:latin typeface="Poppins"/>
              </a:rPr>
              <a:t> frente a pantallas; 19.0% (n=95) pasa menos de 1 hora. La distribución promedio cubre un rango amplio. P48, Base 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762500"/>
          </a:xfrm>
          <a:prstGeom prst="rect">
            <a:avLst/>
          </a:prstGeom>
          <a:noFill/>
        </p:spPr>
        <p:txBody>
          <a:bodyPr wrap="square" lIns="0" rIns="0" tIns="0" bIns="0">
            <a:spAutoFit/>
          </a:bodyPr>
          <a:lstStyle/>
          <a:p>
            <a:pPr algn="ctr"/>
            <a:r>
              <a:rPr sz="5000" i="0" b="0" kern="0" spc="0">
                <a:solidFill>
                  <a:srgbClr val="FFFFFF"/>
                </a:solidFill>
                <a:latin typeface="Instrument Serif"/>
              </a:rPr>
              <a:t>«Después de la pandemia la tecnología es vital, es vital, es vital. Y según lo que estoy observando aquí en el grupo de nosotros, la mayoría trabajan vía, o sea, no presencial.»</a:t>
            </a:r>
          </a:p>
        </p:txBody>
      </p:sp>
      <p:sp>
        <p:nvSpPr>
          <p:cNvPr id="4" name="TextBox 3"/>
          <p:cNvSpPr txBox="1"/>
          <p:nvPr/>
        </p:nvSpPr>
        <p:spPr>
          <a:xfrm>
            <a:off x="0" y="6381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Pequeños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54.8% CALIFICA DE MUY POSITIVO EL IMPACTO DE LA TECNOLOGÍA EN LA COMUNICACIÓN FAMILIAR. </a:t>
            </a:r>
            <a:r>
              <a:rPr sz="5000" b="0" i="1" kern="0" spc="0">
                <a:solidFill>
                  <a:srgbClr val="FFFFFF"/>
                </a:solidFill>
                <a:latin typeface="Instrument Serif"/>
              </a:rPr>
              <a:t>EN LA CENA, ELLA CON LA TABLET, ÉL CON EL CELULAR — PERO HABLAMOS.</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54.8%</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califica con 5 — </a:t>
            </a:r>
            <a:r>
              <a:rPr sz="1300" b="1" i="0" kern="0" spc="0">
                <a:solidFill>
                  <a:srgbClr val="FFFFFF"/>
                </a:solidFill>
                <a:latin typeface="Poppins"/>
              </a:rPr>
              <a:t>muy positivo</a:t>
            </a:r>
            <a:r>
              <a:rPr sz="1300" b="0" i="0" kern="0" spc="0">
                <a:solidFill>
                  <a:srgbClr val="FFFFFF"/>
                </a:solidFill>
                <a:latin typeface="Poppins"/>
              </a:rPr>
              <a:t> — el impacto del uso de la tecnología en la comunicación familiar. Solo 16.0% (n=80) lo califica negativo (1+2). P50,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16.0%</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califica el impacto como </a:t>
            </a:r>
            <a:r>
              <a:rPr sz="1300" b="1" i="0" kern="0" spc="0">
                <a:solidFill>
                  <a:srgbClr val="FFFFFF"/>
                </a:solidFill>
                <a:latin typeface="Poppins"/>
              </a:rPr>
              <a:t>negativo</a:t>
            </a:r>
            <a:r>
              <a:rPr sz="1300" b="0" i="0" kern="0" spc="0">
                <a:solidFill>
                  <a:srgbClr val="FFFFFF"/>
                </a:solidFill>
                <a:latin typeface="Poppins"/>
              </a:rPr>
              <a:t>. Puede ser el porcentaje que ya no cree la versión "pero hablamos". El 54.8% incluye hogares donde pantallas simultáneas y comunicación se perciben compatibles. P50, Base 500.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DICEN QUE LA TECNOLOGÍA LOS UNE. </a:t>
            </a:r>
            <a:r>
              <a:rPr sz="5000" b="0" i="1" kern="0" spc="0">
                <a:solidFill>
                  <a:srgbClr val="FFFFFF"/>
                </a:solidFill>
                <a:latin typeface="Instrument Serif"/>
              </a:rPr>
              <a:t>EN LA CENA, CADA UNO EN SU PANTALLA.</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«Ella se pone a ver su tablet porque siempre viendo su tablet (...) las cinco — porque los fines de semana también a veces compran pizza o cualquier otra comida rápida y nos la comemos así, o viendo televisión. Mi hermanito siempre vive en su mundo.»</a:t>
            </a:r>
          </a:p>
          <a:p>
            <a:pPr algn="ctr">
              <a:spcBef>
                <a:spcPts val="800"/>
              </a:spcBef>
            </a:pPr>
            <a:r>
              <a:rPr sz="1200" i="1" b="0" kern="0" spc="0">
                <a:solidFill>
                  <a:srgbClr val="FFFFFF"/>
                </a:solidFill>
                <a:latin typeface="Poppins"/>
              </a:rPr>
              <a:t>— Familia Monoparental</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 allí, ¿qué hacen? Hablamos, y yo con mi celular, ella con el celular. Ok. Sí, exacto. Pero hablamos.»</a:t>
            </a:r>
          </a:p>
          <a:p>
            <a:pPr algn="ctr">
              <a:spcBef>
                <a:spcPts val="800"/>
              </a:spcBef>
            </a:pPr>
            <a:r>
              <a:rPr sz="1200" i="1" b="0" kern="0" spc="0">
                <a:solidFill>
                  <a:srgbClr val="FFFFFF"/>
                </a:solidFill>
                <a:latin typeface="Poppins"/>
              </a:rPr>
              <a:t>— Familia Monoparental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MADRE DA EL CELULAR PARA PODER HACER SUS COSAS. LA HIJA HACE BERRINCHE CUANDO NO SE LO DAN. </a:t>
            </a:r>
            <a:r>
              <a:rPr sz="5000" b="0" i="1" kern="0" spc="0">
                <a:solidFill>
                  <a:srgbClr val="FFFFFF"/>
                </a:solidFill>
                <a:latin typeface="Instrument Serif"/>
              </a:rPr>
              <a:t>EL CICLO TIENE NOMBRE: LO LLAMAN ERROR. Y SIGUEN.</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13.4%</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califica el impacto de la tecnología como </a:t>
            </a:r>
            <a:r>
              <a:rPr sz="1300" b="1" i="0" kern="0" spc="0">
                <a:solidFill>
                  <a:srgbClr val="FFFFFF"/>
                </a:solidFill>
                <a:latin typeface="Poppins"/>
              </a:rPr>
              <a:t>muy negativo</a:t>
            </a:r>
            <a:r>
              <a:rPr sz="1300" b="0" i="0" kern="0" spc="0">
                <a:solidFill>
                  <a:srgbClr val="FFFFFF"/>
                </a:solidFill>
                <a:latin typeface="Poppins"/>
              </a:rPr>
              <a:t>. El 54.8% que dice "muy positivo" (n=274) puede incluir hogares ya dentro del ciclo error-enviciando que lo aceptaron como normal. P50, Base 500.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286000"/>
            <a:ext cx="15592425" cy="4762500"/>
          </a:xfrm>
          <a:prstGeom prst="rect">
            <a:avLst/>
          </a:prstGeom>
          <a:noFill/>
        </p:spPr>
        <p:txBody>
          <a:bodyPr wrap="square" lIns="0" rIns="0" tIns="0" bIns="0">
            <a:spAutoFit/>
          </a:bodyPr>
          <a:lstStyle/>
          <a:p>
            <a:pPr algn="ctr"/>
            <a:r>
              <a:rPr sz="5000" i="0" b="0" kern="0" spc="0">
                <a:solidFill>
                  <a:srgbClr val="FFFFFF"/>
                </a:solidFill>
                <a:latin typeface="Instrument Serif"/>
              </a:rPr>
              <a:t>«Es un error de nosotros porque como le doy el celular ella ve a los muñequitos y se está más tranquila, y como que para nosotros poder hacer las cosas le damos el celular. Entonces es un error en el que caemos, y realmente yo sé que debemos trabajar en eso porque la estamos como enviciando.»</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Pequeños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36.5% DEL RANGO 25–34 AÑOS PASA MÁS DE 6 HORAS DIARIAS EN PANTALLA — EL ÚNICO GRUPO ETARIO DONDE LA HIPERCONEXIÓN ES LA RESPUESTA TOP. </a:t>
            </a:r>
            <a:r>
              <a:rPr sz="5000" b="0" i="1" kern="0" spc="0">
                <a:solidFill>
                  <a:srgbClr val="FFFFFF"/>
                </a:solidFill>
                <a:latin typeface="Instrument Serif"/>
              </a:rPr>
              <a:t>LOS QUE CRÍAN, LOS MÁS PEGADOS.</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36.5%</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rango </a:t>
            </a:r>
            <a:r>
              <a:rPr sz="1300" b="1" i="0" kern="0" spc="0">
                <a:solidFill>
                  <a:srgbClr val="FFFFFF"/>
                </a:solidFill>
                <a:latin typeface="Poppins"/>
              </a:rPr>
              <a:t>25–34 años</a:t>
            </a:r>
            <a:r>
              <a:rPr sz="1300" b="0" i="0" kern="0" spc="0">
                <a:solidFill>
                  <a:srgbClr val="FFFFFF"/>
                </a:solidFill>
                <a:latin typeface="Poppins"/>
              </a:rPr>
              <a:t> pasa más de 6 horas diarias en pantalla — único rango etario donde la hiperconexión es la respuesta top. Base 25-34 n≈115. P48 × edad.</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1–3h</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es la respuesta top en el resto de rangos: </a:t>
            </a:r>
            <a:r>
              <a:rPr sz="1300" b="1" i="0" kern="0" spc="0">
                <a:solidFill>
                  <a:srgbClr val="FFFFFF"/>
                </a:solidFill>
                <a:latin typeface="Poppins"/>
              </a:rPr>
              <a:t>18–24 (40.0%), 35–44 (42.0%), 45–54 (47.4%), 55+ (49.6%)</a:t>
            </a:r>
            <a:r>
              <a:rPr sz="1300" b="0" i="0" kern="0" spc="0">
                <a:solidFill>
                  <a:srgbClr val="FFFFFF"/>
                </a:solidFill>
                <a:latin typeface="Poppins"/>
              </a:rPr>
              <a:t>. La conexión baja con la edad. Todos n≥55. P48 × edad.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3143250"/>
            <a:ext cx="15592425" cy="4762500"/>
          </a:xfrm>
          <a:prstGeom prst="rect">
            <a:avLst/>
          </a:prstGeom>
          <a:noFill/>
        </p:spPr>
        <p:txBody>
          <a:bodyPr wrap="square" lIns="0" rIns="0" tIns="0" bIns="0">
            <a:spAutoFit/>
          </a:bodyPr>
          <a:lstStyle/>
          <a:p>
            <a:pPr algn="ctr"/>
            <a:r>
              <a:rPr sz="5000" i="0" b="0" kern="0" spc="0">
                <a:solidFill>
                  <a:srgbClr val="FFFFFF"/>
                </a:solidFill>
                <a:latin typeface="Instrument Serif"/>
              </a:rPr>
              <a:t>«Yo hasta para ir al baño voy con el teléfono. Estoy sentada en mi baño, estoy viendo TikTok o lo que sea, ya eso, en muchas casas ya. Eso es una adicción.»</a:t>
            </a:r>
          </a:p>
        </p:txBody>
      </p:sp>
      <p:sp>
        <p:nvSpPr>
          <p:cNvPr id="4" name="TextBox 3"/>
          <p:cNvSpPr txBox="1"/>
          <p:nvPr/>
        </p:nvSpPr>
        <p:spPr>
          <a:xfrm>
            <a:off x="0" y="6381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Adultos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36.4% PROTEGE A LOS NIÑOS SUPERVISANDO DIRECTAMENTE SU USO DE INTERNET. 19.2% USA CONTROLES PARENTALES. </a:t>
            </a:r>
            <a:r>
              <a:rPr sz="5000" b="0" i="1" kern="0" spc="0">
                <a:solidFill>
                  <a:srgbClr val="FFFFFF"/>
                </a:solidFill>
                <a:latin typeface="Instrument Serif"/>
              </a:rPr>
              <a:t>EL MECANISMO DE PROTECCIÓN ES LA MANO DEL ADULTO, NO EL SOFTWARE.</a:t>
            </a:r>
          </a:p>
        </p:txBody>
      </p:sp>
      <p:sp>
        <p:nvSpPr>
          <p:cNvPr id="3" name="Rectangle 2"/>
          <p:cNvSpPr/>
          <p:nvPr/>
        </p:nvSpPr>
        <p:spPr>
          <a:xfrm>
            <a:off x="6848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36.4%</a:t>
            </a:r>
          </a:p>
        </p:txBody>
      </p:sp>
      <p:sp>
        <p:nvSpPr>
          <p:cNvPr id="6" name="TextBox 5"/>
          <p:cNvSpPr txBox="1"/>
          <p:nvPr/>
        </p:nvSpPr>
        <p:spPr>
          <a:xfrm>
            <a:off x="277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cita "</a:t>
            </a:r>
            <a:r>
              <a:rPr sz="1300" b="1" i="0" kern="0" spc="0">
                <a:solidFill>
                  <a:srgbClr val="FFFFFF"/>
                </a:solidFill>
                <a:latin typeface="Poppins"/>
              </a:rPr>
              <a:t>supervisión directa</a:t>
            </a:r>
            <a:r>
              <a:rPr sz="1300" b="0" i="0" kern="0" spc="0">
                <a:solidFill>
                  <a:srgbClr val="FFFFFF"/>
                </a:solidFill>
                <a:latin typeface="Poppins"/>
              </a:rPr>
              <a:t>" como mecanismo de protección digital — opción más mencionada de toda la batería P53. Base 500.</a:t>
            </a:r>
          </a:p>
        </p:txBody>
      </p:sp>
      <p:sp>
        <p:nvSpPr>
          <p:cNvPr id="7" name="TextBox 6"/>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19.2%</a:t>
            </a:r>
          </a:p>
        </p:txBody>
      </p:sp>
      <p:sp>
        <p:nvSpPr>
          <p:cNvPr id="8" name="TextBox 7"/>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usa </a:t>
            </a:r>
            <a:r>
              <a:rPr sz="1300" b="1" i="0" kern="0" spc="0">
                <a:solidFill>
                  <a:srgbClr val="FFFFFF"/>
                </a:solidFill>
                <a:latin typeface="Poppins"/>
              </a:rPr>
              <a:t>controles parentales</a:t>
            </a:r>
            <a:r>
              <a:rPr sz="1300" b="0" i="0" kern="0" spc="0">
                <a:solidFill>
                  <a:srgbClr val="FFFFFF"/>
                </a:solidFill>
                <a:latin typeface="Poppins"/>
              </a:rPr>
              <a:t> en dispositivos o aplicaciones; 7.2% (n=36) usa filtros de contenido. La herramienta digital es elegida por menos de 1 de cada 5 hogares. P53, Base 500.</a:t>
            </a:r>
          </a:p>
        </p:txBody>
      </p:sp>
      <p:sp>
        <p:nvSpPr>
          <p:cNvPr id="9" name="TextBox 8"/>
          <p:cNvSpPr txBox="1"/>
          <p:nvPr/>
        </p:nvSpPr>
        <p:spPr>
          <a:xfrm>
            <a:off x="1191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10.0%</a:t>
            </a:r>
          </a:p>
        </p:txBody>
      </p:sp>
      <p:sp>
        <p:nvSpPr>
          <p:cNvPr id="10" name="TextBox 9"/>
          <p:cNvSpPr txBox="1"/>
          <p:nvPr/>
        </p:nvSpPr>
        <p:spPr>
          <a:xfrm>
            <a:off x="1191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revisa </a:t>
            </a:r>
            <a:r>
              <a:rPr sz="1300" b="1" i="0" kern="0" spc="0">
                <a:solidFill>
                  <a:srgbClr val="FFFFFF"/>
                </a:solidFill>
                <a:latin typeface="Poppins"/>
              </a:rPr>
              <a:t>historial de navegación</a:t>
            </a:r>
            <a:r>
              <a:rPr sz="1300" b="0" i="0" kern="0" spc="0">
                <a:solidFill>
                  <a:srgbClr val="FFFFFF"/>
                </a:solidFill>
                <a:latin typeface="Poppins"/>
              </a:rPr>
              <a:t>; 15.2% restringe horarios; 9.6% usa cuentas compartidas. La acción analógica —mirar, revisar, restringir— supera siempre a la herramienta. P53.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762250"/>
            <a:ext cx="15592425" cy="4762500"/>
          </a:xfrm>
          <a:prstGeom prst="rect">
            <a:avLst/>
          </a:prstGeom>
          <a:noFill/>
        </p:spPr>
        <p:txBody>
          <a:bodyPr wrap="square" lIns="0" rIns="0" tIns="0" bIns="0">
            <a:spAutoFit/>
          </a:bodyPr>
          <a:lstStyle/>
          <a:p>
            <a:pPr algn="ctr"/>
            <a:r>
              <a:rPr sz="5000" i="0" b="0" kern="0" spc="0">
                <a:solidFill>
                  <a:srgbClr val="FFFFFF"/>
                </a:solidFill>
                <a:latin typeface="Instrument Serif"/>
              </a:rPr>
              <a:t>«Ella tiene Instagram pero bajo, como ella dice, bajo mucho control, bajo mucha supervisión — porque si no se lo superviso yo, se lo supervisa su papá (...) yo puedo coger el celular y puedo revisar, y lo hago.»</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26.4% DE LOS HOGARES NO USA NINGÚN MECANISMO DE PROTECCIÓN DIGITAL PARA LOS NIÑOS. </a:t>
            </a:r>
            <a:r>
              <a:rPr sz="5000" b="0" i="1" kern="0" spc="0">
                <a:solidFill>
                  <a:srgbClr val="FFFFFF"/>
                </a:solidFill>
                <a:latin typeface="Instrument Serif"/>
              </a:rPr>
              <a:t>LA SEGUNDA OPCIÓN MÁS VOTADA DE LA BATERÍA ES LA RENDICIÓN.</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26.4%</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a:t>
            </a:r>
            <a:r>
              <a:rPr sz="1300" b="1" i="0" kern="0" spc="0">
                <a:solidFill>
                  <a:srgbClr val="FFFFFF"/>
                </a:solidFill>
                <a:latin typeface="Poppins"/>
              </a:rPr>
              <a:t>no utilizamos ningún mecanismo de protección</a:t>
            </a:r>
            <a:r>
              <a:rPr sz="1300" b="0" i="0" kern="0" spc="0">
                <a:solidFill>
                  <a:srgbClr val="FFFFFF"/>
                </a:solidFill>
                <a:latin typeface="Poppins"/>
              </a:rPr>
              <a:t>" para niños en el entorno digital — segunda opción más votada de P53, solo por debajo de la supervisión directa (36.4%). Base 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286000"/>
            <a:ext cx="15592425" cy="4762500"/>
          </a:xfrm>
          <a:prstGeom prst="rect">
            <a:avLst/>
          </a:prstGeom>
          <a:noFill/>
        </p:spPr>
        <p:txBody>
          <a:bodyPr wrap="square" lIns="0" rIns="0" tIns="0" bIns="0">
            <a:spAutoFit/>
          </a:bodyPr>
          <a:lstStyle/>
          <a:p>
            <a:pPr algn="ctr"/>
            <a:r>
              <a:rPr sz="5000" i="0" b="0" kern="0" spc="0">
                <a:solidFill>
                  <a:srgbClr val="FFFFFF"/>
                </a:solidFill>
                <a:latin typeface="Instrument Serif"/>
              </a:rPr>
              <a:t>«Yo creí que sí lo podía hacer y pude caer en un gancho. Entonces descubrí muchos mensajes de niñas que yo creía y veía de una forma, y en el Instagram con las cosas que hacían (...) le tuvo que quitar el teléfono al niño porque, o sea, eso es algo con lo que yo te hablo muy fuerte.»</a:t>
            </a:r>
          </a:p>
        </p:txBody>
      </p:sp>
      <p:sp>
        <p:nvSpPr>
          <p:cNvPr id="4" name="TextBox 3"/>
          <p:cNvSpPr txBox="1"/>
          <p:nvPr/>
        </p:nvSpPr>
        <p:spPr>
          <a:xfrm>
            <a:off x="0" y="552450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Biparental con Hijos Pequeños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5.8% DE LOS HOGARES CITA CONVERSACIONES SOBRE RIESGOS EN INTERNET COMO MECANISMO DE PROTECCIÓN. ES LA OPCIÓN MENOS VOTADA DE LA BATERÍA. </a:t>
            </a:r>
            <a:r>
              <a:rPr sz="5000" b="0" i="1" kern="0" spc="0">
                <a:solidFill>
                  <a:srgbClr val="FFFFFF"/>
                </a:solidFill>
                <a:latin typeface="Instrument Serif"/>
              </a:rPr>
              <a:t>LA ACCIÓN GANA SIEMPRE A LA PALABRA.</a:t>
            </a:r>
          </a:p>
        </p:txBody>
      </p:sp>
      <p:sp>
        <p:nvSpPr>
          <p:cNvPr id="3" name="Rectangle 2"/>
          <p:cNvSpPr/>
          <p:nvPr/>
        </p:nvSpPr>
        <p:spPr>
          <a:xfrm>
            <a:off x="9134475" y="43815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5.8%</a:t>
            </a:r>
          </a:p>
        </p:txBody>
      </p:sp>
      <p:sp>
        <p:nvSpPr>
          <p:cNvPr id="5" name="TextBox 4"/>
          <p:cNvSpPr txBox="1"/>
          <p:nvPr/>
        </p:nvSpPr>
        <p:spPr>
          <a:xfrm>
            <a:off x="4295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cita "</a:t>
            </a:r>
            <a:r>
              <a:rPr sz="1300" b="1" i="0" kern="0" spc="0">
                <a:solidFill>
                  <a:srgbClr val="FFFFFF"/>
                </a:solidFill>
                <a:latin typeface="Poppins"/>
              </a:rPr>
              <a:t>conversaciones sobre riesgos en internet</a:t>
            </a:r>
            <a:r>
              <a:rPr sz="1300" b="0" i="0" kern="0" spc="0">
                <a:solidFill>
                  <a:srgbClr val="FFFFFF"/>
                </a:solidFill>
                <a:latin typeface="Poppins"/>
              </a:rPr>
              <a:t>" (acoso, privacidad, redes sociales) como mecanismo de protección digital — opción menos mencionada de las 9 en P53. Base 500.</a:t>
            </a:r>
          </a:p>
        </p:txBody>
      </p:sp>
      <p:sp>
        <p:nvSpPr>
          <p:cNvPr id="6" name="TextBox 5"/>
          <p:cNvSpPr txBox="1"/>
          <p:nvPr/>
        </p:nvSpPr>
        <p:spPr>
          <a:xfrm>
            <a:off x="10391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7.2%</a:t>
            </a:r>
          </a:p>
        </p:txBody>
      </p:sp>
      <p:sp>
        <p:nvSpPr>
          <p:cNvPr id="7" name="TextBox 6"/>
          <p:cNvSpPr txBox="1"/>
          <p:nvPr/>
        </p:nvSpPr>
        <p:spPr>
          <a:xfrm>
            <a:off x="10391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usa </a:t>
            </a:r>
            <a:r>
              <a:rPr sz="1300" b="1" i="0" kern="0" spc="0">
                <a:solidFill>
                  <a:srgbClr val="FFFFFF"/>
                </a:solidFill>
                <a:latin typeface="Poppins"/>
              </a:rPr>
              <a:t>filtros de contenido</a:t>
            </a:r>
            <a:r>
              <a:rPr sz="1300" b="0" i="0" kern="0" spc="0">
                <a:solidFill>
                  <a:srgbClr val="FFFFFF"/>
                </a:solidFill>
                <a:latin typeface="Poppins"/>
              </a:rPr>
              <a:t>; 9.6% cuentas compartidas; 10.0% revisa historial. La conversación queda por debajo de vigilar, bloquear y restringir. Siempre antes que hablar. P53, Base 500.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400" b="0" i="0" kern="0" spc="0">
                <a:solidFill>
                  <a:srgbClr val="9B9B9B"/>
                </a:solidFill>
                <a:latin typeface="Poppins"/>
              </a:rPr>
              <a:t>CONSUMER VOICE</a:t>
            </a:r>
          </a:p>
        </p:txBody>
      </p:sp>
      <p:sp>
        <p:nvSpPr>
          <p:cNvPr id="3" name="TextBox 2"/>
          <p:cNvSpPr txBox="1"/>
          <p:nvPr/>
        </p:nvSpPr>
        <p:spPr>
          <a:xfrm>
            <a:off x="1343025" y="2762250"/>
            <a:ext cx="15592425" cy="4762500"/>
          </a:xfrm>
          <a:prstGeom prst="rect">
            <a:avLst/>
          </a:prstGeom>
          <a:noFill/>
        </p:spPr>
        <p:txBody>
          <a:bodyPr wrap="square" lIns="0" rIns="0" tIns="0" bIns="0">
            <a:spAutoFit/>
          </a:bodyPr>
          <a:lstStyle/>
          <a:p>
            <a:pPr algn="ctr"/>
            <a:r>
              <a:rPr sz="5000" i="0" b="0" kern="0" spc="0">
                <a:solidFill>
                  <a:srgbClr val="FFFFFF"/>
                </a:solidFill>
                <a:latin typeface="Instrument Serif"/>
              </a:rPr>
              <a:t>«Los delincuentes no le hacen daño a los niños en la calle — es desde tu casa, ese niño que tú entiendes que es un niño. Pero esas son conversaciones que no son de niños, es un depredador adulto.»</a:t>
            </a:r>
          </a:p>
        </p:txBody>
      </p:sp>
      <p:sp>
        <p:nvSpPr>
          <p:cNvPr id="4" name="TextBox 3"/>
          <p:cNvSpPr txBox="1"/>
          <p:nvPr/>
        </p:nvSpPr>
        <p:spPr>
          <a:xfrm>
            <a:off x="0" y="6000750"/>
            <a:ext cx="18288000" cy="571500"/>
          </a:xfrm>
          <a:prstGeom prst="rect">
            <a:avLst/>
          </a:prstGeom>
          <a:noFill/>
        </p:spPr>
        <p:txBody>
          <a:bodyPr wrap="square" lIns="0" rIns="0" tIns="0" bIns="0">
            <a:spAutoFit/>
          </a:bodyPr>
          <a:lstStyle/>
          <a:p>
            <a:pPr algn="ctr"/>
            <a:r>
              <a:rPr sz="2000" b="0" i="1" kern="0" spc="0">
                <a:solidFill>
                  <a:srgbClr val="FFFFFF"/>
                </a:solidFill>
                <a:latin typeface="Poppins"/>
              </a:rPr>
              <a:t>— Familia Monoparental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19.2% DECLARA USAR CONTROLES PARENTALES FORMALES. LO QUE USAN LOS PADRES CLASE MEDIA-ALTA: </a:t>
            </a:r>
            <a:r>
              <a:rPr sz="5000" b="0" i="1" kern="0" spc="0">
                <a:solidFill>
                  <a:srgbClr val="FFFFFF"/>
                </a:solidFill>
                <a:latin typeface="Instrument Serif"/>
              </a:rPr>
              <a:t>ALEXA EN CADA HABITACIÓN, TAMBIÉN EN EL CARRO, TAMBIÉN EN EL TRABAJO.</a:t>
            </a:r>
          </a:p>
        </p:txBody>
      </p:sp>
      <p:sp>
        <p:nvSpPr>
          <p:cNvPr id="3" name="TextBox 2"/>
          <p:cNvSpPr txBox="1"/>
          <p:nvPr/>
        </p:nvSpPr>
        <p:spPr>
          <a:xfrm>
            <a:off x="7343775" y="45720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19.2%</a:t>
            </a:r>
          </a:p>
        </p:txBody>
      </p:sp>
      <p:sp>
        <p:nvSpPr>
          <p:cNvPr id="4" name="TextBox 3"/>
          <p:cNvSpPr txBox="1"/>
          <p:nvPr/>
        </p:nvSpPr>
        <p:spPr>
          <a:xfrm>
            <a:off x="7343775" y="66675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usar "</a:t>
            </a:r>
            <a:r>
              <a:rPr sz="1300" b="1" i="0" kern="0" spc="0">
                <a:solidFill>
                  <a:srgbClr val="FFFFFF"/>
                </a:solidFill>
                <a:latin typeface="Poppins"/>
              </a:rPr>
              <a:t>controles parentales en dispositivos o aplicaciones</a:t>
            </a:r>
            <a:r>
              <a:rPr sz="1300" b="0" i="0" kern="0" spc="0">
                <a:solidFill>
                  <a:srgbClr val="FFFFFF"/>
                </a:solidFill>
                <a:latin typeface="Poppins"/>
              </a:rPr>
              <a:t>" como mecanismo de protección digital de niños. Lo que el cuestionario llama "control parental" y lo que el hogar construye son categorías distintas. P53, Base 500.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EL CONTROL PARENTAL DOMINICANO </a:t>
            </a:r>
            <a:r>
              <a:rPr sz="5000" b="0" i="1" kern="0" spc="0">
                <a:solidFill>
                  <a:srgbClr val="FFFFFF"/>
                </a:solidFill>
                <a:latin typeface="Instrument Serif"/>
              </a:rPr>
              <a:t>SE LLAMA ALEXA CON CÁMARA.</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«Yo le puse una Alexa con cámara, entonces yo puedo ver. Yo le digo a Alexa que lo acerque y lo acecho. Y yo le tengo la Alexa puesta así, queda de frente a donde está, en su escritorio, con su computadora, de frente a mí. Y yo veo todo lo que está haciendo.»</a:t>
            </a:r>
          </a:p>
          <a:p>
            <a:pPr algn="ctr">
              <a:spcBef>
                <a:spcPts val="800"/>
              </a:spcBef>
            </a:pPr>
            <a:r>
              <a:rPr sz="1200" i="1" b="0" kern="0" spc="0">
                <a:solidFill>
                  <a:srgbClr val="FFFFFF"/>
                </a:solidFill>
                <a:latin typeface="Poppins"/>
              </a:rPr>
              <a:t>— Familia Biparental con Hijos Pequeños</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«Yo tengo dos Alexa, la televisión la controlo también por ahí (...) por el Samsung yo se la prendo, la veo por la cámara que está viendo y le controlo todo. Tengo una robotina que también la activo desde el trabajo.»</a:t>
            </a:r>
          </a:p>
          <a:p>
            <a:pPr algn="ctr">
              <a:spcBef>
                <a:spcPts val="800"/>
              </a:spcBef>
            </a:pPr>
            <a:r>
              <a:rPr sz="1200" i="1" b="0" kern="0" spc="0">
                <a:solidFill>
                  <a:srgbClr val="FFFFFF"/>
                </a:solidFill>
                <a:latin typeface="Poppins"/>
              </a:rPr>
              <a:t>— Familia Extendida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LA TIENDA MÁS CERCANA DEL DOMINICANO </a:t>
            </a:r>
            <a:r>
              <a:rPr sz="5000" b="0" i="1" kern="0" spc="0">
                <a:solidFill>
                  <a:srgbClr val="FFFFFF"/>
                </a:solidFill>
                <a:latin typeface="Instrument Serif"/>
              </a:rPr>
              <a:t>SE LLAMA MARKETPLACE.</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«Yo diría que el Facebook — el Marketplace de Facebook — yo siempre lo chequeo. Eso está vendiendo mucho. (...) Yo compré todo el equipo de cocina por esa vía, con el aparato (...) que te pueden costar 145 mil pesos.»</a:t>
            </a:r>
          </a:p>
          <a:p>
            <a:pPr algn="ctr">
              <a:spcBef>
                <a:spcPts val="800"/>
              </a:spcBef>
            </a:pPr>
            <a:r>
              <a:rPr sz="1200" i="1" b="0" kern="0" spc="0">
                <a:solidFill>
                  <a:srgbClr val="FFFFFF"/>
                </a:solidFill>
                <a:latin typeface="Poppins"/>
              </a:rPr>
              <a:t>— Familia Biparental con Hijos Adultos</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«Importo cosas por Alibaba, o sea, algo que hago alterno los sábados y los domingos. Y básicamente el teléfono es esa fuente de comunicación.»</a:t>
            </a:r>
          </a:p>
          <a:p>
            <a:pPr algn="ctr">
              <a:spcBef>
                <a:spcPts val="800"/>
              </a:spcBef>
            </a:pPr>
            <a:r>
              <a:rPr sz="1200" i="1" b="0" kern="0" spc="0">
                <a:solidFill>
                  <a:srgbClr val="FFFFFF"/>
                </a:solidFill>
                <a:latin typeface="Poppins"/>
              </a:rPr>
              <a:t>— Familia Mixta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762000"/>
            <a:ext cx="16383000" cy="3048000"/>
          </a:xfrm>
          <a:prstGeom prst="rect">
            <a:avLst/>
          </a:prstGeom>
          <a:noFill/>
        </p:spPr>
        <p:txBody>
          <a:bodyPr wrap="square" lIns="0" rIns="0" tIns="0" bIns="0">
            <a:spAutoFit/>
          </a:bodyPr>
          <a:lstStyle/>
          <a:p>
            <a:pPr algn="ctr"/>
            <a:r>
              <a:rPr sz="5000" b="0" i="0" kern="0" spc="0">
                <a:solidFill>
                  <a:srgbClr val="FFFFFF"/>
                </a:solidFill>
                <a:latin typeface="Instrument Serif"/>
              </a:rPr>
              <a:t>EN LOS GRUPOS, LA RESPUESTA ARRANCA SIEMPRE POR TRABAJO. </a:t>
            </a:r>
            <a:r>
              <a:rPr sz="5000" b="0" i="1" kern="0" spc="0">
                <a:solidFill>
                  <a:srgbClr val="FFFFFF"/>
                </a:solidFill>
                <a:latin typeface="Instrument Serif"/>
              </a:rPr>
              <a:t>EL ENTRETENIMIENTO LLEGA AL FINAL, COMO ASIDE.</a:t>
            </a:r>
          </a:p>
        </p:txBody>
      </p:sp>
      <p:sp>
        <p:nvSpPr>
          <p:cNvPr id="3" name="Rounded Rectangle 2"/>
          <p:cNvSpPr/>
          <p:nvPr/>
        </p:nvSpPr>
        <p:spPr>
          <a:xfrm>
            <a:off x="3362325"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48075"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«La tecnología es esencial para mí en mi trabajo porque me ayuda a yo poder hacer varias cosas al mismo tiempo ocupando un solo lugar (...). Yo no tengo que andar con papel, con sello, con nada de eso porque yo lo tengo ahí.»</a:t>
            </a:r>
          </a:p>
          <a:p>
            <a:pPr algn="ctr">
              <a:spcBef>
                <a:spcPts val="800"/>
              </a:spcBef>
            </a:pPr>
            <a:r>
              <a:rPr sz="1200" i="1" b="0" kern="0" spc="0">
                <a:solidFill>
                  <a:srgbClr val="FFFFFF"/>
                </a:solidFill>
                <a:latin typeface="Poppins"/>
              </a:rPr>
              <a:t>— Familia Biparental con Hijos Pequeños</a:t>
            </a:r>
          </a:p>
        </p:txBody>
      </p:sp>
      <p:sp>
        <p:nvSpPr>
          <p:cNvPr id="5" name="Rounded Rectangle 4"/>
          <p:cNvSpPr/>
          <p:nvPr/>
        </p:nvSpPr>
        <p:spPr>
          <a:xfrm>
            <a:off x="9525000" y="4086225"/>
            <a:ext cx="5400675" cy="2162175"/>
          </a:xfrm>
          <a:prstGeom prst="roundRect">
            <a:avLst>
              <a:gd name="adj" fmla="val 5000"/>
            </a:avLst>
          </a:prstGeom>
          <a:solidFill>
            <a:srgbClr val="000000">
              <a:alpha val="45000"/>
            </a:srgbClr>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10750" y="4324350"/>
            <a:ext cx="4829175" cy="1685925"/>
          </a:xfrm>
          <a:prstGeom prst="rect">
            <a:avLst/>
          </a:prstGeom>
          <a:noFill/>
        </p:spPr>
        <p:txBody>
          <a:bodyPr wrap="square" lIns="0" rIns="0" tIns="0" bIns="0">
            <a:spAutoFit/>
          </a:bodyPr>
          <a:lstStyle/>
          <a:p>
            <a:pPr algn="ctr"/>
            <a:r>
              <a:rPr sz="1500" i="0" b="0" kern="0" spc="0">
                <a:solidFill>
                  <a:srgbClr val="FFFFFF"/>
                </a:solidFill>
                <a:latin typeface="Poppins"/>
              </a:rPr>
              <a:t>«Yo utilizo mucho chat GPT. Mi trabajo es vital, la tecnología — utilizo mucho el Excel, el paquete Office, redes sociales también.»</a:t>
            </a:r>
          </a:p>
          <a:p>
            <a:pPr algn="ctr">
              <a:spcBef>
                <a:spcPts val="800"/>
              </a:spcBef>
            </a:pPr>
            <a:r>
              <a:rPr sz="1200" i="1" b="0" kern="0" spc="0">
                <a:solidFill>
                  <a:srgbClr val="FFFFFF"/>
                </a:solidFill>
                <a:latin typeface="Poppins"/>
              </a:rPr>
              <a:t>— Familia Homoparental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