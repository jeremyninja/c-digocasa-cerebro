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571500"/>
          </a:xfrm>
          <a:prstGeom prst="rect">
            <a:avLst/>
          </a:prstGeom>
          <a:noFill/>
        </p:spPr>
        <p:txBody>
          <a:bodyPr wrap="square" lIns="0" rIns="0" tIns="0" bIns="0">
            <a:spAutoFit/>
          </a:bodyPr>
          <a:lstStyle/>
          <a:p>
            <a:pPr algn="ctr"/>
            <a:r>
              <a:rPr sz="1600" b="0" i="0" kern="0" spc="0">
                <a:solidFill>
                  <a:srgbClr val="9B9B9B"/>
                </a:solidFill>
                <a:latin typeface="Poppins"/>
              </a:rPr>
              <a:t>BLOQUE A</a:t>
            </a:r>
          </a:p>
        </p:txBody>
      </p:sp>
      <p:sp>
        <p:nvSpPr>
          <p:cNvPr id="3" name="TextBox 2"/>
          <p:cNvSpPr txBox="1"/>
          <p:nvPr/>
        </p:nvSpPr>
        <p:spPr>
          <a:xfrm>
            <a:off x="952500" y="2857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PILAR MUJER — CÓDIGO CASA</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Roles de género, crianza, trabajo doméstico y autocuidado. Subsample mujer n≈305 sobre n=500.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49.5% DE LAS MUJERES DICE QUE LA MADRE ES LA PRINCIPAL RESPONSABLE DE LA CRIANZA. </a:t>
            </a:r>
            <a:r>
              <a:rPr sz="5000" b="0" i="1" kern="0" spc="0">
                <a:solidFill>
                  <a:srgbClr val="FFFFFF"/>
                </a:solidFill>
                <a:latin typeface="Instrument Serif"/>
              </a:rPr>
              <a:t>SOLO EL HOMBRE DISTRIBUYE LA CARGA — ELLA YA LA TIENE ASIGNADA.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42%</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total cree que la mayor responsabilidad de la crianza recae en la </a:t>
            </a:r>
            <a:r>
              <a:rPr sz="1300" b="1" i="0" kern="0" spc="0">
                <a:solidFill>
                  <a:srgbClr val="FFFFFF"/>
                </a:solidFill>
                <a:latin typeface="Poppins"/>
              </a:rPr>
              <a:t>madre</a:t>
            </a:r>
            <a:r>
              <a:rPr sz="1300" b="0" i="0" kern="0" spc="0">
                <a:solidFill>
                  <a:srgbClr val="FFFFFF"/>
                </a:solidFill>
                <a:latin typeface="Poppins"/>
              </a:rPr>
              <a:t>; 41.2% dice "ambos padres" y solo 15.8% señala al padre.</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49.5%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"Madre" como principal responsable, frente a 45.6% del masculino que responde "Ambos padres".</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57%</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hogares </a:t>
            </a:r>
            <a:r>
              <a:rPr sz="1300" b="1" i="0" kern="0" spc="0">
                <a:solidFill>
                  <a:srgbClr val="FFFFFF"/>
                </a:solidFill>
                <a:latin typeface="Poppins"/>
              </a:rPr>
              <a:t>monoparentales</a:t>
            </a:r>
            <a:r>
              <a:rPr sz="1300" b="0" i="0" kern="0" spc="0">
                <a:solidFill>
                  <a:srgbClr val="FFFFFF"/>
                </a:solidFill>
                <a:latin typeface="Poppins"/>
              </a:rPr>
              <a:t> y 59.4% del estrato E responden "Madre". La carga se concentra donde no hay con quién repartirla.</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Q054 · Mujeres n=305.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«Yo tengo un papá que es el papá bueno, el papá consentidor, el papá que dice vete suave, vete en paz. Pero no es el que está con ella todos los días. No es el que tiene que regáñarla por las tareas, porque tiene que ir a impulsar los deberes de la casa.»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Q054 · Mujeres n=305.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COCINAR, LAVAR Y LIMPIAR SIGUEN SIENDO TERRITORIO DE ELLA. </a:t>
            </a:r>
            <a:r>
              <a:rPr sz="5000" b="0" i="1" kern="0" spc="0">
                <a:solidFill>
                  <a:srgbClr val="FFFFFF"/>
                </a:solidFill>
                <a:latin typeface="Instrument Serif"/>
              </a:rPr>
              <a:t>EL ÚNICO REPARTO EQUITATIVO LLEGA CUANDO HAY QUE PAGAR O IR AL SUPERMERCADO.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67%</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que </a:t>
            </a:r>
            <a:r>
              <a:rPr sz="1300" b="1" i="0" kern="0" spc="0">
                <a:solidFill>
                  <a:srgbClr val="FFFFFF"/>
                </a:solidFill>
                <a:latin typeface="Poppins"/>
              </a:rPr>
              <a:t>cocinar</a:t>
            </a:r>
            <a:r>
              <a:rPr sz="1300" b="0" i="0" kern="0" spc="0">
                <a:solidFill>
                  <a:srgbClr val="FFFFFF"/>
                </a:solidFill>
                <a:latin typeface="Poppins"/>
              </a:rPr>
              <a:t> lo hace "más la mujer"; lavar la ropa 63.0%; limpiar y organizar la casa 59.6%.</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dice que el </a:t>
            </a:r>
            <a:r>
              <a:rPr sz="1300" b="1" i="0" kern="0" spc="0">
                <a:solidFill>
                  <a:srgbClr val="FFFFFF"/>
                </a:solidFill>
                <a:latin typeface="Poppins"/>
              </a:rPr>
              <a:t>supermercado</a:t>
            </a:r>
            <a:r>
              <a:rPr sz="1300" b="0" i="0" kern="0" spc="0">
                <a:solidFill>
                  <a:srgbClr val="FFFFFF"/>
                </a:solidFill>
                <a:latin typeface="Poppins"/>
              </a:rPr>
              <a:t> lo hacen "ambos por igual". Manejo del dinero del hogar: 51.0%. Las tareas de dinero y compras sí se reparten.</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45%</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acompañar a </a:t>
            </a:r>
            <a:r>
              <a:rPr sz="1300" b="1" i="0" kern="0" spc="0">
                <a:solidFill>
                  <a:srgbClr val="FFFFFF"/>
                </a:solidFill>
                <a:latin typeface="Poppins"/>
              </a:rPr>
              <a:t>citas médicas o escolares</a:t>
            </a:r>
            <a:r>
              <a:rPr sz="1300" b="0" i="0" kern="0" spc="0">
                <a:solidFill>
                  <a:srgbClr val="FFFFFF"/>
                </a:solidFill>
                <a:latin typeface="Poppins"/>
              </a:rPr>
              <a:t> lo hace "más la mujer". El cuidado logístico de los hijos tampoco se reparte.</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Q056 · Mujeres n=305.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«Como mujer, bueno, no sabía cocinar y tuve que hacerlo. Obligada, aprendí a mamá, pero... no me gusta, pero tengo que hacerlo.»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Q056 · Mujeres n=305.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74.8% DICE QUE EL ROL DE GÉNERO CAMBIÓ MUCHO. LA COCINA, EL LAVADO Y LA LIMPIEZA SIGUIERON SIENDO DE ELLA. </a:t>
            </a:r>
            <a:r>
              <a:rPr sz="5000" b="0" i="1" kern="0" spc="0">
                <a:solidFill>
                  <a:srgbClr val="FFFFFF"/>
                </a:solidFill>
                <a:latin typeface="Instrument Serif"/>
              </a:rPr>
              <a:t>EL DISCURSO AVANZÓ; EL REPARTO, NO.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"5 = Mucho" a cuánto cambió el rol del hombre y la mujer en la familia. </a:t>
            </a:r>
            <a:r>
              <a:rPr sz="1300" b="1" i="0" kern="0" spc="0">
                <a:solidFill>
                  <a:srgbClr val="FFFFFF"/>
                </a:solidFill>
                <a:latin typeface="Poppins"/>
              </a:rPr>
              <a:t>85%</a:t>
            </a:r>
            <a:r>
              <a:rPr sz="1300" b="0" i="0" kern="0" spc="0">
                <a:solidFill>
                  <a:srgbClr val="FFFFFF"/>
                </a:solidFill>
                <a:latin typeface="Poppins"/>
              </a:rPr>
              <a:t> en el top-2 (4+5).</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77%</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percibe el cambio como "Mucho" vs 71.8% del masculino. Las mujeres ven más el cambio que no cambia.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67%</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cocinar </a:t>
            </a:r>
            <a:r>
              <a:rPr sz="1300" b="1" i="0" kern="0" spc="0">
                <a:solidFill>
                  <a:srgbClr val="FFFFFF"/>
                </a:solidFill>
                <a:latin typeface="Poppins"/>
              </a:rPr>
              <a:t>"más la mujer"</a:t>
            </a:r>
            <a:r>
              <a:rPr sz="1300" b="0" i="0" kern="0" spc="0">
                <a:solidFill>
                  <a:srgbClr val="FFFFFF"/>
                </a:solidFill>
                <a:latin typeface="Poppins"/>
              </a:rPr>
              <a:t> (Q056). Convive con la percepción de cambio (Q057). El reparto material no acompaña la percepción.</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Q057, Q056 · Mujeres n=305.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«Las que salimos a echar para adelante, a trabajar, a luchar, la que ya no dependemos de un hombre para salir adelante. Y yo en mi caso, que aunque esté casada, trabajo igualito como si no, hago y lucho y no tengo que depender como tiempo atrás que las mujeres dominicanas nos creaban como que era para depender del hombre.»</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Roles de Liderazgo</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Q057, Q056 · Mujeres n=305.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89.5% DE LAS MUJERES DECIDE SIEMPRE QUÉ SE COMPRA DE COMER. </a:t>
            </a:r>
            <a:r>
              <a:rPr sz="5000" b="0" i="1" kern="0" spc="0">
                <a:solidFill>
                  <a:srgbClr val="FFFFFF"/>
                </a:solidFill>
                <a:latin typeface="Instrument Serif"/>
              </a:rPr>
              <a:t>LA NUTRICIÓN FAMILIAR ES UN PODER CASI EXCLUSIVO DE ELLA, NO COMPARTIDO.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90%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"5 = Siempre" a si toma la decisión principal sobre la compra de alimentos, frente a 77.9% del masculino.</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total</a:t>
            </a:r>
            <a:r>
              <a:rPr sz="1300" b="0" i="0" kern="0" spc="0">
                <a:solidFill>
                  <a:srgbClr val="FFFFFF"/>
                </a:solidFill>
                <a:latin typeface="Poppins"/>
              </a:rPr>
              <a:t> responde "5 = Siempre". Es la decisión menos disputada de toda la matriz de roles.</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89%</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en </a:t>
            </a:r>
            <a:r>
              <a:rPr sz="1300" b="1" i="0" kern="0" spc="0">
                <a:solidFill>
                  <a:srgbClr val="FFFFFF"/>
                </a:solidFill>
                <a:latin typeface="Poppins"/>
              </a:rPr>
              <a:t>NSE D</a:t>
            </a:r>
            <a:r>
              <a:rPr sz="1300" b="0" i="0" kern="0" spc="0">
                <a:solidFill>
                  <a:srgbClr val="FFFFFF"/>
                </a:solidFill>
                <a:latin typeface="Poppins"/>
              </a:rPr>
              <a:t> y 87.5% en NSE E responden "Siempre", frente a 52.2% en NSE AB. [AB n≈23: contraste, no cifra robusta.]</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Q058 · Mujeres n=305.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«Yo considero saludable la comida que yo cocino, ese tipo de ingredientes que le estoy echando, y también las porciones. Lo que tú cocinas en tu casa.»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Q058 · Mujeres n=305.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47.8% DE LAS MUJERES NOMBRA LA ECONOMÍA COMO SU MAYOR FUENTE DE ESTRÉS. </a:t>
            </a:r>
            <a:r>
              <a:rPr sz="5000" b="0" i="1" kern="0" spc="0">
                <a:solidFill>
                  <a:srgbClr val="FFFFFF"/>
                </a:solidFill>
                <a:latin typeface="Instrument Serif"/>
              </a:rPr>
              <a:t>LA CRIANZA Y EL HOGAR NO SE ACERCAN: EL MIEDO MÁS GRANDE ES LA PLATA.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48%</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Economía</a:t>
            </a:r>
            <a:r>
              <a:rPr sz="1300" b="0" i="0" kern="0" spc="0">
                <a:solidFill>
                  <a:srgbClr val="FFFFFF"/>
                </a:solidFill>
                <a:latin typeface="Poppins"/>
              </a:rPr>
              <a:t>" como factor que más estrés genera; sumada a "Realidad económica" (28.4%), lo económico domina el ranking.</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nombra explícitamente "</a:t>
            </a:r>
            <a:r>
              <a:rPr sz="1300" b="1" i="0" kern="0" spc="0">
                <a:solidFill>
                  <a:srgbClr val="FFFFFF"/>
                </a:solidFill>
                <a:latin typeface="Poppins"/>
              </a:rPr>
              <a:t>Falta de tiempo personal</a:t>
            </a:r>
            <a:r>
              <a:rPr sz="1300" b="0" i="0" kern="0" spc="0">
                <a:solidFill>
                  <a:srgbClr val="FFFFFF"/>
                </a:solidFill>
                <a:latin typeface="Poppins"/>
              </a:rPr>
              <a:t>" como fuente de estrés. Un quinto de las mujeres pone nombre a la ausencia de tiempo propio.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16%</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Crianza de los hijos</a:t>
            </a:r>
            <a:r>
              <a:rPr sz="1300" b="0" i="0" kern="0" spc="0">
                <a:solidFill>
                  <a:srgbClr val="FFFFFF"/>
                </a:solidFill>
                <a:latin typeface="Poppins"/>
              </a:rPr>
              <a:t>" 16.2% y "Responsabilidades del hogar" 16.2%. El trabajo de cuidado estresa menos que la incertidumbre del dinero.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Q059 · Mujeres n=305.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«No tengo paciencia cuando no tengo dinero. Cuando no tengo dinero, que no sé qué voy a hacer con los compromisos, entonces yo pienso, le doy vuelta a la cosa, un estrés. La mayor parte del problema hoy en día es el dinero, todo lo resuelve el dinero aunque la gente no lo quiera admitir.»</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Q059 · Mujeres n=305.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48.5% DE LAS MUJERES NO HACE NADA POR SU SALUD MENTAL NI FÍSICA. </a:t>
            </a:r>
            <a:r>
              <a:rPr sz="5000" b="0" i="1" kern="0" spc="0">
                <a:solidFill>
                  <a:srgbClr val="FFFFFF"/>
                </a:solidFill>
                <a:latin typeface="Instrument Serif"/>
              </a:rPr>
              <a:t>EL HOMBRE SE EJERCITA. ELLA NO TIENE ESPACIO NI PARA ESO.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48.5%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femenino</a:t>
            </a:r>
            <a:r>
              <a:rPr sz="1300" b="0" i="0" kern="0" spc="0">
                <a:solidFill>
                  <a:srgbClr val="FFFFFF"/>
                </a:solidFill>
                <a:latin typeface="Poppins"/>
              </a:rPr>
              <a:t> responde "No realizo ninguna actividad para cuidar mi salud mental y física" — frente al masculino cuya respuesta top es "Me ejercito" (43.1%).</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43%</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total</a:t>
            </a:r>
            <a:r>
              <a:rPr sz="1300" b="0" i="0" kern="0" spc="0">
                <a:solidFill>
                  <a:srgbClr val="FFFFFF"/>
                </a:solidFill>
                <a:latin typeface="Poppins"/>
              </a:rPr>
              <a:t> no hace ninguna actividad de autocuidado; solo 3.0% va a terapia.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60%</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mujeres </a:t>
            </a:r>
            <a:r>
              <a:rPr sz="1300" b="1" i="0" kern="0" spc="0">
                <a:solidFill>
                  <a:srgbClr val="FFFFFF"/>
                </a:solidFill>
                <a:latin typeface="Poppins"/>
              </a:rPr>
              <a:t>18-24 años</a:t>
            </a:r>
            <a:r>
              <a:rPr sz="1300" b="0" i="0" kern="0" spc="0">
                <a:solidFill>
                  <a:srgbClr val="FFFFFF"/>
                </a:solidFill>
                <a:latin typeface="Poppins"/>
              </a:rPr>
              <a:t> no realiza ninguna actividad de autocuidado. El abandono es mayor en las más jóvenes.</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Q060 · Mujeres n=305.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«Ese tema de que dependa de mí 24-7 lo que se vaya a hacer te da un poco de estrés.»</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Q060 · Mujeres n=305.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85.4% DE LAS MUJERES YA TIENE HIJOS. </a:t>
            </a:r>
            <a:r>
              <a:rPr sz="5000" b="0" i="1" kern="0" spc="0">
                <a:solidFill>
                  <a:srgbClr val="FFFFFF"/>
                </a:solidFill>
                <a:latin typeface="Instrument Serif"/>
              </a:rPr>
              <a:t>EL NO TENER HIJOS NO SE VIVE COMO ELECCIÓN — SE VIVE COMO ESPERA, POSTERGACIÓN O FALTA DE PAREJA.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reporta "</a:t>
            </a:r>
            <a:r>
              <a:rPr sz="1300" b="1" i="0" kern="0" spc="0">
                <a:solidFill>
                  <a:srgbClr val="FFFFFF"/>
                </a:solidFill>
                <a:latin typeface="Poppins"/>
              </a:rPr>
              <a:t>Tengo hijos actualmente</a:t>
            </a:r>
            <a:r>
              <a:rPr sz="1300" b="0" i="0" kern="0" spc="0">
                <a:solidFill>
                  <a:srgbClr val="FFFFFF"/>
                </a:solidFill>
                <a:latin typeface="Poppins"/>
              </a:rPr>
              <a:t>"; entre el 14.6% sin hijos, las razones top: "No es una prioridad" (3.8%), "No me siento lista/o" (3.6%), "Prioridad profesional" (3.4%).</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No deseo tener hijos en absoluto</a:t>
            </a:r>
            <a:r>
              <a:rPr sz="1300" b="0" i="0" kern="0" spc="0">
                <a:solidFill>
                  <a:srgbClr val="FFFFFF"/>
                </a:solidFill>
                <a:latin typeface="Poppins"/>
              </a:rPr>
              <a:t>" (n=5) y solo 0.4% "Mi pareja no quiere hijos". La elección de no maternidad por convicción aparece en menos del 1.5%.</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2.2%</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Razones económicas</a:t>
            </a:r>
            <a:r>
              <a:rPr sz="1300" b="0" i="0" kern="0" spc="0">
                <a:solidFill>
                  <a:srgbClr val="FFFFFF"/>
                </a:solidFill>
                <a:latin typeface="Poppins"/>
              </a:rPr>
              <a:t>" iguala "No tengo pareja o condiciones emocionales adecuadas" (2.2%). Ambas superan el "no quiero" rotundo.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Q055 · Mujeres n=305.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1 DE CADA 4 HOGARES DOMINICANOS ES MONOPARENTAL, Y LA MUJER OCUPA LA CABEZA. </a:t>
            </a:r>
            <a:r>
              <a:rPr sz="5000" b="0" i="1" kern="0" spc="0">
                <a:solidFill>
                  <a:srgbClr val="FFFFFF"/>
                </a:solidFill>
                <a:latin typeface="Instrument Serif"/>
              </a:rPr>
              <a:t>LA FAMILIA NUCLEAR NO ES LA NORMA — ES UNA DE VARIAS FORMAS.</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24%</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total responde "</a:t>
            </a:r>
            <a:r>
              <a:rPr sz="1300" b="1" i="0" kern="0" spc="0">
                <a:solidFill>
                  <a:srgbClr val="FFFFFF"/>
                </a:solidFill>
                <a:latin typeface="Poppins"/>
              </a:rPr>
              <a:t>Hogar monoparental</a:t>
            </a:r>
            <a:r>
              <a:rPr sz="1300" b="0" i="0" kern="0" spc="0">
                <a:solidFill>
                  <a:srgbClr val="FFFFFF"/>
                </a:solidFill>
                <a:latin typeface="Poppins"/>
              </a:rPr>
              <a:t>" (n=122 del n=500). Un cuarto de los hogares está encabezado por un solo padre o madre.</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en el </a:t>
            </a:r>
            <a:r>
              <a:rPr sz="1300" b="1" i="0" kern="0" spc="0">
                <a:solidFill>
                  <a:srgbClr val="FFFFFF"/>
                </a:solidFill>
                <a:latin typeface="Poppins"/>
              </a:rPr>
              <a:t>estrato E</a:t>
            </a:r>
            <a:r>
              <a:rPr sz="1300" b="0" i="0" kern="0" spc="0">
                <a:solidFill>
                  <a:srgbClr val="FFFFFF"/>
                </a:solidFill>
                <a:latin typeface="Poppins"/>
              </a:rPr>
              <a:t> encabeza monoparental como respuesta TOP — la única tipología donde supera a la biparental en el ranking. [NSE E n≈32: tendencia direccional.]</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31%</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hogares ya no encaja en biparental clásico ni monoparental: </a:t>
            </a:r>
            <a:r>
              <a:rPr sz="1300" b="1" i="0" kern="0" spc="0">
                <a:solidFill>
                  <a:srgbClr val="FFFFFF"/>
                </a:solidFill>
                <a:latin typeface="Poppins"/>
              </a:rPr>
              <a:t>sin hijos + mascotas</a:t>
            </a:r>
            <a:r>
              <a:rPr sz="1300" b="0" i="0" kern="0" spc="0">
                <a:solidFill>
                  <a:srgbClr val="FFFFFF"/>
                </a:solidFill>
                <a:latin typeface="Poppins"/>
              </a:rPr>
              <a:t> 7.4%, extendido 12.6%, otro 11.4%. La diversidad de formas es la norma.</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Pilar Mujer · Q053 · Mujeres n=305.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905000"/>
            <a:ext cx="18288000" cy="571500"/>
          </a:xfrm>
          <a:prstGeom prst="rect">
            <a:avLst/>
          </a:prstGeom>
          <a:noFill/>
        </p:spPr>
        <p:txBody>
          <a:bodyPr wrap="square" lIns="0" rIns="0" tIns="0" bIns="0">
            <a:spAutoFit/>
          </a:bodyPr>
          <a:lstStyle/>
          <a:p>
            <a:pPr algn="ctr"/>
            <a:r>
              <a:rPr sz="1600" b="0" i="0" kern="0" spc="0">
                <a:solidFill>
                  <a:srgbClr val="9B9B9B"/>
                </a:solidFill>
                <a:latin typeface="Poppins"/>
              </a:rPr>
              <a:t>BLOQUE B</a:t>
            </a:r>
          </a:p>
        </p:txBody>
      </p:sp>
      <p:sp>
        <p:nvSpPr>
          <p:cNvPr id="3" name="TextBox 2"/>
          <p:cNvSpPr txBox="1"/>
          <p:nvPr/>
        </p:nvSpPr>
        <p:spPr>
          <a:xfrm>
            <a:off x="952500" y="2857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PILAR MUJER — ESTUDIO MUJER Y FINANZAS</a:t>
            </a:r>
          </a:p>
        </p:txBody>
      </p:sp>
      <p:sp>
        <p:nvSpPr>
          <p:cNvPr id="4" name="TextBox 3"/>
          <p:cNvSpPr txBox="1"/>
          <p:nvPr/>
        </p:nvSpPr>
        <p:spPr>
          <a:xfrm>
            <a:off x="1905000" y="6477000"/>
            <a:ext cx="14478000" cy="1143000"/>
          </a:xfrm>
          <a:prstGeom prst="rect">
            <a:avLst/>
          </a:prstGeom>
          <a:noFill/>
        </p:spPr>
        <p:txBody>
          <a:bodyPr wrap="square" lIns="0" rIns="0" tIns="0" bIns="0">
            <a:spAutoFit/>
          </a:bodyPr>
          <a:lstStyle/>
          <a:p>
            <a:pPr algn="ctr"/>
            <a:r>
              <a:rPr sz="1800" b="0" i="1" kern="0" spc="0">
                <a:solidFill>
                  <a:srgbClr val="9B9B9B"/>
                </a:solidFill>
                <a:latin typeface="Poppins"/>
              </a:rPr>
              <a:t>Comportamiento financiero, sueños, barreras y autonomía económica. Mujeres n=240.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META FINANCIERA #1 DE LA MUJER DEL ESTUDIO FW ES UN TECHO PROPIO. </a:t>
            </a:r>
            <a:r>
              <a:rPr sz="5000" b="0" i="1" kern="0" spc="0">
                <a:solidFill>
                  <a:srgbClr val="FFFFFF"/>
                </a:solidFill>
                <a:latin typeface="Instrument Serif"/>
              </a:rPr>
              <a:t>EL SUEÑO ES NO DEPENDER DEL PRÓXIMO SUELDO.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elige "</a:t>
            </a:r>
            <a:r>
              <a:rPr sz="1300" b="1" i="0" kern="0" spc="0">
                <a:solidFill>
                  <a:srgbClr val="FFFFFF"/>
                </a:solidFill>
                <a:latin typeface="Poppins"/>
              </a:rPr>
              <a:t>Comprar vivienda</a:t>
            </a:r>
            <a:r>
              <a:rPr sz="1300" b="0" i="0" kern="0" spc="0">
                <a:solidFill>
                  <a:srgbClr val="FFFFFF"/>
                </a:solidFill>
                <a:latin typeface="Poppins"/>
              </a:rPr>
              <a:t>" como meta financiera actual (1ª selección); 50.8% "Lograr estabilidad para no depender del próximo sueldo"; 48.3% "Emprender / Invertir".</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Comprar vivienda</a:t>
            </a:r>
            <a:r>
              <a:rPr sz="1300" b="0" i="0" kern="0" spc="0">
                <a:solidFill>
                  <a:srgbClr val="FFFFFF"/>
                </a:solidFill>
                <a:latin typeface="Poppins"/>
              </a:rPr>
              <a:t>" se repite como #1 en la 2ª selección (47.9%) y "Salir de deudas" sube a #2 (32.1%). La prioridad no cambia.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14%</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Mejorar imagen personal</a:t>
            </a:r>
            <a:r>
              <a:rPr sz="1300" b="0" i="0" kern="0" spc="0">
                <a:solidFill>
                  <a:srgbClr val="FFFFFF"/>
                </a:solidFill>
                <a:latin typeface="Poppins"/>
              </a:rPr>
              <a:t>" queda último o penúltimo en ambas selecciones (13.8% y 2.1%). El prejuicio de la mujer que sueña con consumo estético no aguanta la data.</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M20, M21 · Mujeres n=240.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«Siempre ha sido mi sueño, siempre ha sido como que pagar mi cosa yo, si yo pudiera pagar todo, o sea, todo lo mío yo.»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Jóvenes</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M20, M21 · Mujeres n=240.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74.9% SIENTE QUE ALGO LE BLOQUEA EL SUEÑO FINANCIERO. </a:t>
            </a:r>
            <a:r>
              <a:rPr sz="5000" b="0" i="1" kern="0" spc="0">
                <a:solidFill>
                  <a:srgbClr val="FFFFFF"/>
                </a:solidFill>
                <a:latin typeface="Instrument Serif"/>
              </a:rPr>
              <a:t>87.1% APUNTA A LO MISMO: FALTA PLATA.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75%</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"Sí" a si siente que hay algo que le impide lograr su </a:t>
            </a:r>
            <a:r>
              <a:rPr sz="1300" b="1" i="0" kern="0" spc="0">
                <a:solidFill>
                  <a:srgbClr val="FFFFFF"/>
                </a:solidFill>
                <a:latin typeface="Poppins"/>
              </a:rPr>
              <a:t>sueño financiero</a:t>
            </a:r>
            <a:r>
              <a:rPr sz="1300" b="0" i="0" kern="0" spc="0">
                <a:solidFill>
                  <a:srgbClr val="FFFFFF"/>
                </a:solidFill>
                <a:latin typeface="Poppins"/>
              </a:rPr>
              <a:t>.</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87%</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que sienten un bloqueo señala "</a:t>
            </a:r>
            <a:r>
              <a:rPr sz="1300" b="1" i="0" kern="0" spc="0">
                <a:solidFill>
                  <a:srgbClr val="FFFFFF"/>
                </a:solidFill>
                <a:latin typeface="Poppins"/>
              </a:rPr>
              <a:t>Falta de ingresos</a:t>
            </a:r>
            <a:r>
              <a:rPr sz="1300" b="0" i="0" kern="0" spc="0">
                <a:solidFill>
                  <a:srgbClr val="FFFFFF"/>
                </a:solidFill>
                <a:latin typeface="Poppins"/>
              </a:rPr>
              <a:t>" como impedimento; muy por encima de "Falta de hábitos" (44.9%) o "Falta de educación financiera" (35.4%).</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60%</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todas las mujeres nombra "</a:t>
            </a:r>
            <a:r>
              <a:rPr sz="1300" b="1" i="0" kern="0" spc="0">
                <a:solidFill>
                  <a:srgbClr val="FFFFFF"/>
                </a:solidFill>
                <a:latin typeface="Poppins"/>
              </a:rPr>
              <a:t>Falta de ingresos</a:t>
            </a:r>
            <a:r>
              <a:rPr sz="1300" b="0" i="0" kern="0" spc="0">
                <a:solidFill>
                  <a:srgbClr val="FFFFFF"/>
                </a:solidFill>
                <a:latin typeface="Poppins"/>
              </a:rPr>
              <a:t>" como lo que le impide tomar mejores decisiones financieras hoy.</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M23, M24, M54 · Mujeres n=240.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«Comparado con un año atrás que yo no tenía libertad financiera, tenía que depender de otro y es difícil, porque aunque el otro quiera, a veces uno quiere hacer algo y no puede. Ahora como yo tengo mi negocio, si quiero comprar algo lo compro, si le quiero comprar algo a mis hijos no tengo que esperar que otro me dé.»</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Emprendedoras</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M23, M24, M54 · Mujeres n=240.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74.2% TIENE PRESUPUESTO, 74.1% PLANIFICA SIEMPRE O CASI SIEMPRE, 78.7% REVISA SUS CUENTAS CADA SEMANA O CADA DÍA. </a:t>
            </a:r>
            <a:r>
              <a:rPr sz="5000" b="0" i="1" kern="0" spc="0">
                <a:solidFill>
                  <a:srgbClr val="FFFFFF"/>
                </a:solidFill>
                <a:latin typeface="Instrument Serif"/>
              </a:rPr>
              <a:t>LA ADMINISTRADORA ES LA NORMA, NO LA EXCEPCIÓN.</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74%</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tiene un </a:t>
            </a:r>
            <a:r>
              <a:rPr sz="1300" b="1" i="0" kern="0" spc="0">
                <a:solidFill>
                  <a:srgbClr val="FFFFFF"/>
                </a:solidFill>
                <a:latin typeface="Poppins"/>
              </a:rPr>
              <a:t>presupuesto mensual</a:t>
            </a:r>
            <a:r>
              <a:rPr sz="1300" b="0" i="0" kern="0" spc="0">
                <a:solidFill>
                  <a:srgbClr val="FFFFFF"/>
                </a:solidFill>
                <a:latin typeface="Poppins"/>
              </a:rPr>
              <a:t>. Y 74.1% planifica sus gastos "Siempre" (42.1%) o "Casi siempre" (32.1%).</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79%</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revisa sus cuentas a </a:t>
            </a:r>
            <a:r>
              <a:rPr sz="1300" b="1" i="0" kern="0" spc="0">
                <a:solidFill>
                  <a:srgbClr val="FFFFFF"/>
                </a:solidFill>
                <a:latin typeface="Poppins"/>
              </a:rPr>
              <a:t>diario o semanalmente</a:t>
            </a:r>
            <a:r>
              <a:rPr sz="1300" b="0" i="0" kern="0" spc="0">
                <a:solidFill>
                  <a:srgbClr val="FFFFFF"/>
                </a:solidFill>
                <a:latin typeface="Poppins"/>
              </a:rPr>
              <a:t> (44.2% diario, 34.6% semanal). Control financiero activo como práctica cotidiana.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describe como "</a:t>
            </a:r>
            <a:r>
              <a:rPr sz="1300" b="1" i="0" kern="0" spc="0">
                <a:solidFill>
                  <a:srgbClr val="FFFFFF"/>
                </a:solidFill>
                <a:latin typeface="Poppins"/>
              </a:rPr>
              <a:t>Cuidadosa</a:t>
            </a:r>
            <a:r>
              <a:rPr sz="1300" b="0" i="0" kern="0" spc="0">
                <a:solidFill>
                  <a:srgbClr val="FFFFFF"/>
                </a:solidFill>
                <a:latin typeface="Poppins"/>
              </a:rPr>
              <a:t>" con el dinero y 20% como "Práctica"; solo 6.7% se define "Libre". La autopercepción es de control, no de derroche.</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M16, M28, M32, M60 · Mujeres n=240.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«Hay mujeres que no, que son ocultas, que si se presenta un caso, ellas siempre están ahí tapando la falta del esposo. Hay mujeres que son muy honradas con el dinero.»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M16, M28, M32, M60 · Mujeres n=240.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39.2% SIENTE QUE SE ESPERA ALGO DISTINTO DE ELLA EN DINERO POR SER MUJER. </a:t>
            </a:r>
            <a:r>
              <a:rPr sz="5000" b="0" i="1" kern="0" spc="0">
                <a:solidFill>
                  <a:srgbClr val="FFFFFF"/>
                </a:solidFill>
                <a:latin typeface="Instrument Serif"/>
              </a:rPr>
              <a:t>LA ESPERAN DERROCHADORA Y A LA VEZ LE EXIGEN SER LA ADMINISTRADORA PERFECTA DEL HOGAR.</a:t>
            </a:r>
          </a:p>
        </p:txBody>
      </p:sp>
      <p:sp>
        <p:nvSpPr>
          <p:cNvPr id="3" name="Rectangle 2"/>
          <p:cNvSpPr/>
          <p:nvPr/>
        </p:nvSpPr>
        <p:spPr>
          <a:xfrm>
            <a:off x="9134475"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1002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39%</a:t>
            </a:r>
          </a:p>
        </p:txBody>
      </p:sp>
      <p:sp>
        <p:nvSpPr>
          <p:cNvPr id="5" name="TextBox 4"/>
          <p:cNvSpPr txBox="1"/>
          <p:nvPr/>
        </p:nvSpPr>
        <p:spPr>
          <a:xfrm>
            <a:off x="459105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"Sí" a si se espera algo distinto de ella en temas de </a:t>
            </a:r>
            <a:r>
              <a:rPr sz="1300" b="1" i="0" kern="0" spc="0">
                <a:solidFill>
                  <a:srgbClr val="FFFFFF"/>
                </a:solidFill>
                <a:latin typeface="Poppins"/>
              </a:rPr>
              <a:t>dinero por ser mujer</a:t>
            </a:r>
            <a:r>
              <a:rPr sz="1300" b="0" i="0" kern="0" spc="0">
                <a:solidFill>
                  <a:srgbClr val="FFFFFF"/>
                </a:solidFill>
                <a:latin typeface="Poppins"/>
              </a:rPr>
              <a:t>; solo 31.7% dice "No" y 29.2% "No estoy segura". La mayoría no descarta la presión.</a:t>
            </a:r>
          </a:p>
        </p:txBody>
      </p:sp>
      <p:sp>
        <p:nvSpPr>
          <p:cNvPr id="6" name="TextBox 5"/>
          <p:cNvSpPr txBox="1"/>
          <p:nvPr/>
        </p:nvSpPr>
        <p:spPr>
          <a:xfrm>
            <a:off x="951547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94</a:t>
            </a:r>
          </a:p>
        </p:txBody>
      </p:sp>
      <p:sp>
        <p:nvSpPr>
          <p:cNvPr id="7" name="TextBox 6"/>
          <p:cNvSpPr txBox="1"/>
          <p:nvPr/>
        </p:nvSpPr>
        <p:spPr>
          <a:xfrm>
            <a:off x="1009650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respuestas abiertas (M45b) muestran dos polos: "que sea </a:t>
            </a:r>
            <a:r>
              <a:rPr sz="1300" b="1" i="0" kern="0" spc="0">
                <a:solidFill>
                  <a:srgbClr val="FFFFFF"/>
                </a:solidFill>
                <a:latin typeface="Poppins"/>
              </a:rPr>
              <a:t>buena administradora</a:t>
            </a:r>
            <a:r>
              <a:rPr sz="1300" b="0" i="0" kern="0" spc="0">
                <a:solidFill>
                  <a:srgbClr val="FFFFFF"/>
                </a:solidFill>
                <a:latin typeface="Poppins"/>
              </a:rPr>
              <a:t>, que siempre tenga guardado" vs "siempre piensan que las mujeres malgastan". El doble estándar en una sola pregunta.</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M45, M45b · Mujeres n=240.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DOS PREJUICIOS, UNA MUJER: </a:t>
            </a:r>
            <a:r>
              <a:rPr sz="5000" b="0" i="1" kern="0" spc="0">
                <a:solidFill>
                  <a:srgbClr val="FFFFFF"/>
                </a:solidFill>
                <a:latin typeface="Instrument Serif"/>
              </a:rPr>
              <a:t>DERROCHADORA Y MALA ADMINISTRADORA AL MISMO TIEMPO.</a:t>
            </a:r>
          </a:p>
        </p:txBody>
      </p:sp>
      <p:sp>
        <p:nvSpPr>
          <p:cNvPr id="3" name="Rounded Rectangle 2"/>
          <p:cNvSpPr/>
          <p:nvPr/>
        </p:nvSpPr>
        <p:spPr>
          <a:xfrm>
            <a:off x="3362325"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«Algunas personas tienen la mentalidad que las mujeres son derrochadoras. El otro extremo es que la mujer siempre siempre debe guardar. Ambos extremos son malos.»</a:t>
            </a:r>
          </a:p>
          <a:p>
            <a:pPr algn="ctr">
              <a:spcBef>
                <a:spcPts val="800"/>
              </a:spcBef>
            </a:pPr>
            <a:r>
              <a:rPr sz="1200" i="1" b="0" kern="0" spc="0">
                <a:solidFill>
                  <a:srgbClr val="FFFFFF"/>
                </a:solidFill>
                <a:latin typeface="Poppins"/>
              </a:rPr>
              <a:t>— Respuesta abierta M45b · FW</a:t>
            </a:r>
          </a:p>
        </p:txBody>
      </p:sp>
      <p:sp>
        <p:nvSpPr>
          <p:cNvPr id="5" name="Rounded Rectangle 4"/>
          <p:cNvSpPr/>
          <p:nvPr/>
        </p:nvSpPr>
        <p:spPr>
          <a:xfrm>
            <a:off x="95250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«Que al no ser proveedoras no somos buenas administradoras.»</a:t>
            </a:r>
          </a:p>
          <a:p>
            <a:pPr algn="ctr">
              <a:spcBef>
                <a:spcPts val="800"/>
              </a:spcBef>
            </a:pPr>
            <a:r>
              <a:rPr sz="1200" i="1" b="0" kern="0" spc="0">
                <a:solidFill>
                  <a:srgbClr val="FFFFFF"/>
                </a:solidFill>
                <a:latin typeface="Poppins"/>
              </a:rPr>
              <a:t>— Familia Masivo Jefas de Hogar</a:t>
            </a:r>
          </a:p>
        </p:txBody>
      </p:sp>
      <p:sp>
        <p:nvSpPr>
          <p:cNvPr id="7" name="TextBox 6"/>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M45, M45b · Mujeres n=240.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EMOCIÓN QUE MÁS SIENTE LA MUJER AL PENSAR EN SU DINERO ES ESTRÉS (44.3%). </a:t>
            </a:r>
            <a:r>
              <a:rPr sz="5000" b="0" i="1" kern="0" spc="0">
                <a:solidFill>
                  <a:srgbClr val="FFFFFF"/>
                </a:solidFill>
                <a:latin typeface="Instrument Serif"/>
              </a:rPr>
              <a:t>EL ORGULLO SOLO LLEGA AL 5.5%: EL DINERO SE VIVE COMO AMENAZA, NO COMO LOGRO.</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44%</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Estrés</a:t>
            </a:r>
            <a:r>
              <a:rPr sz="1300" b="0" i="0" kern="0" spc="0">
                <a:solidFill>
                  <a:srgbClr val="FFFFFF"/>
                </a:solidFill>
                <a:latin typeface="Poppins"/>
              </a:rPr>
              <a:t>" como la emoción que más siente al pensar en sus finanzas; "Tranquilidad" 29.8%, "Miedo" 12.3%, "Culpa" 8.1%, "Orgullo" apenas 5.5%.</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siente </a:t>
            </a:r>
            <a:r>
              <a:rPr sz="1300" b="1" i="0" kern="0" spc="0">
                <a:solidFill>
                  <a:srgbClr val="FFFFFF"/>
                </a:solidFill>
                <a:latin typeface="Poppins"/>
              </a:rPr>
              <a:t>ansiedad o estrés financiero</a:t>
            </a:r>
            <a:r>
              <a:rPr sz="1300" b="0" i="0" kern="0" spc="0">
                <a:solidFill>
                  <a:srgbClr val="FFFFFF"/>
                </a:solidFill>
                <a:latin typeface="Poppins"/>
              </a:rPr>
              <a:t> con frecuencia (top-2, 4+5); el promedio en escala 1-5 es 3.48.</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22%</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está satisfecha con su </a:t>
            </a:r>
            <a:r>
              <a:rPr sz="1300" b="1" i="0" kern="0" spc="0">
                <a:solidFill>
                  <a:srgbClr val="FFFFFF"/>
                </a:solidFill>
                <a:latin typeface="Poppins"/>
              </a:rPr>
              <a:t>situación financiera actual</a:t>
            </a:r>
            <a:r>
              <a:rPr sz="1300" b="0" i="0" kern="0" spc="0">
                <a:solidFill>
                  <a:srgbClr val="FFFFFF"/>
                </a:solidFill>
                <a:latin typeface="Poppins"/>
              </a:rPr>
              <a:t> (top-2 22.5%); 30.8% insatisfecha (bottom-2). Promedio 2.75 sobre 5.</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M19, M43, M44 · Mujeres n=240.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«Tengo miedo a no ser lo que yo espero ser, o a que las cosas no se den como yo quiero. Siento que el tiempo está pasando muy rápido, que no tengo una casa mía o no tengo un auto propio.»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Jóvenes</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M19, M43, M44 · Mujeres n=240.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47.9% HIZO UNA COMPRA IMPULSIVA EL ÚLTIMO MES. </a:t>
            </a:r>
            <a:r>
              <a:rPr sz="5000" b="0" i="1" kern="0" spc="0">
                <a:solidFill>
                  <a:srgbClr val="FFFFFF"/>
                </a:solidFill>
                <a:latin typeface="Instrument Serif"/>
              </a:rPr>
              <a:t>EL MOTIVO #1 ES CONSENTIRSE — EL ÚNICO ESPACIO QUE EL ROL LE DEJA SOLO PARA ELLA.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48%</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hizo una </a:t>
            </a:r>
            <a:r>
              <a:rPr sz="1300" b="1" i="0" kern="0" spc="0">
                <a:solidFill>
                  <a:srgbClr val="FFFFFF"/>
                </a:solidFill>
                <a:latin typeface="Poppins"/>
              </a:rPr>
              <a:t>compra impulsiva</a:t>
            </a:r>
            <a:r>
              <a:rPr sz="1300" b="0" i="0" kern="0" spc="0">
                <a:solidFill>
                  <a:srgbClr val="FFFFFF"/>
                </a:solidFill>
                <a:latin typeface="Poppins"/>
              </a:rPr>
              <a:t> en el último mes; 42.5% admite haber comprado algo recientemente solo para sentirse mejor emocionalmente.</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44%</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 motivo #1: "</a:t>
            </a:r>
            <a:r>
              <a:rPr sz="1300" b="1" i="0" kern="0" spc="0">
                <a:solidFill>
                  <a:srgbClr val="FFFFFF"/>
                </a:solidFill>
                <a:latin typeface="Poppins"/>
              </a:rPr>
              <a:t>Para consentirme o darme un gusto</a:t>
            </a:r>
            <a:r>
              <a:rPr sz="1300" b="0" i="0" kern="0" spc="0">
                <a:solidFill>
                  <a:srgbClr val="FFFFFF"/>
                </a:solidFill>
                <a:latin typeface="Poppins"/>
              </a:rPr>
              <a:t>" (44.2%), por encima de "buena oportunidad" (39.2%) o "promoción" (33.8%). 25.8% compra cuando está estresada.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73%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Comidas/Bebidas</a:t>
            </a:r>
            <a:r>
              <a:rPr sz="1300" b="0" i="0" kern="0" spc="0">
                <a:solidFill>
                  <a:srgbClr val="FFFFFF"/>
                </a:solidFill>
                <a:latin typeface="Poppins"/>
              </a:rPr>
              <a:t>" 72.6% y "Ropa/Accesorios" 59.8% lideran las categorías. "Electrónica" apenas 5.0%. Desahogo cotidiano, no derroche aspiracional.</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M33, M34, M36, M37 · Mujeres n=240.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«Uno se siente como empoderada y señor me lo merezco, por eso yo trabajo. Tiene como su momento, le llega de vez en vez, no siempre. Déjame comprar ese porchecito, porque se me suba el ánimo.»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M33, M34, M36, M37 · Mujeres n=240.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50% NO LOGRA AHORRAR CON FACILIDAD. LA ESTRATEGIA QUE MÁS FUNCIONA: </a:t>
            </a:r>
            <a:r>
              <a:rPr sz="5000" b="0" i="1" kern="0" spc="0">
                <a:solidFill>
                  <a:srgbClr val="FFFFFF"/>
                </a:solidFill>
                <a:latin typeface="Instrument Serif"/>
              </a:rPr>
              <a:t>ESCONDERSE EL DINERO DE SÍ MISMAS ANTES DE QUE LLEGUE A LA CUENTA.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50%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que NO le resulta fácil </a:t>
            </a:r>
            <a:r>
              <a:rPr sz="1300" b="1" i="0" kern="0" spc="0">
                <a:solidFill>
                  <a:srgbClr val="FFFFFF"/>
                </a:solidFill>
                <a:latin typeface="Poppins"/>
              </a:rPr>
              <a:t>ahorrar</a:t>
            </a:r>
            <a:r>
              <a:rPr sz="1300" b="0" i="0" kern="0" spc="0">
                <a:solidFill>
                  <a:srgbClr val="FFFFFF"/>
                </a:solidFill>
                <a:latin typeface="Poppins"/>
              </a:rPr>
              <a:t>. En escala 1-5, el bottom-2 (35.8%) supera al top-2 (35%).</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24%</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 destina ningún porcentaje de su dinero al </a:t>
            </a:r>
            <a:r>
              <a:rPr sz="1300" b="1" i="0" kern="0" spc="0">
                <a:solidFill>
                  <a:srgbClr val="FFFFFF"/>
                </a:solidFill>
                <a:latin typeface="Poppins"/>
              </a:rPr>
              <a:t>ahorro</a:t>
            </a:r>
            <a:r>
              <a:rPr sz="1300" b="0" i="0" kern="0" spc="0">
                <a:solidFill>
                  <a:srgbClr val="FFFFFF"/>
                </a:solidFill>
                <a:latin typeface="Poppins"/>
              </a:rPr>
              <a:t>; otro 28.3% destina menos del 5%. Más de la mitad ahorra poco o nada.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66%</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No me alcanza el dinero</a:t>
            </a:r>
            <a:r>
              <a:rPr sz="1300" b="0" i="0" kern="0" spc="0">
                <a:solidFill>
                  <a:srgbClr val="FFFFFF"/>
                </a:solidFill>
                <a:latin typeface="Poppins"/>
              </a:rPr>
              <a:t>" es el obstáculo #1 (65.5%), por encima de "Falta de educación financiera" (58.4%). La brecha de ahorro es de ingresos, no de conocimiento.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M38, M39, M40, M61 · Mujeres n=240.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MECANISMO DEL AHORRO: </a:t>
            </a:r>
            <a:r>
              <a:rPr sz="5000" b="0" i="1" kern="0" spc="0">
                <a:solidFill>
                  <a:srgbClr val="FFFFFF"/>
                </a:solidFill>
                <a:latin typeface="Instrument Serif"/>
              </a:rPr>
              <a:t>INTERCEPTAR EL DINERO ANTES DE QUE LLEGUE A LA MANO.</a:t>
            </a:r>
          </a:p>
        </p:txBody>
      </p:sp>
      <p:sp>
        <p:nvSpPr>
          <p:cNvPr id="3" name="Rounded Rectangle 2"/>
          <p:cNvSpPr/>
          <p:nvPr/>
        </p:nvSpPr>
        <p:spPr>
          <a:xfrm>
            <a:off x="3362325"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«Me entré a la cooperativa de la empresa, no me lo van a extraer de la cuenta. Lo hice con ese fin porque una de mis metas al principio del año fue esa: ahorrar, porque crear un fondo de emergencia.»</a:t>
            </a:r>
          </a:p>
          <a:p>
            <a:pPr algn="ctr">
              <a:spcBef>
                <a:spcPts val="800"/>
              </a:spcBef>
            </a:pPr>
            <a:r>
              <a:rPr sz="1200" i="1" b="0" kern="0" spc="0">
                <a:solidFill>
                  <a:srgbClr val="FFFFFF"/>
                </a:solidFill>
                <a:latin typeface="Poppins"/>
              </a:rPr>
              <a:t>— Familia Preferente Jefas de Hogar</a:t>
            </a:r>
          </a:p>
        </p:txBody>
      </p:sp>
      <p:sp>
        <p:nvSpPr>
          <p:cNvPr id="5" name="Rounded Rectangle 4"/>
          <p:cNvSpPr/>
          <p:nvPr/>
        </p:nvSpPr>
        <p:spPr>
          <a:xfrm>
            <a:off x="95250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«Me entré en la cooperativa del trabajo, que es la única forma que ese dinero no entre a mi cuenta y salga.»</a:t>
            </a:r>
          </a:p>
          <a:p>
            <a:pPr algn="ctr">
              <a:spcBef>
                <a:spcPts val="800"/>
              </a:spcBef>
            </a:pPr>
            <a:r>
              <a:rPr sz="1200" i="1" b="0" kern="0" spc="0">
                <a:solidFill>
                  <a:srgbClr val="FFFFFF"/>
                </a:solidFill>
                <a:latin typeface="Poppins"/>
              </a:rPr>
              <a:t>— Familia Preferente Jefas de Hogar</a:t>
            </a:r>
          </a:p>
        </p:txBody>
      </p:sp>
      <p:sp>
        <p:nvSpPr>
          <p:cNvPr id="7" name="TextBox 6"/>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M38, M39, M40, M61 · Mujeres n=240.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40% DE LAS MUJERES DEL ESTUDIO FW ES LA PRINCIPAL PROVEEDORA DE SU HOGAR. </a:t>
            </a:r>
            <a:r>
              <a:rPr sz="5000" b="0" i="1" kern="0" spc="0">
                <a:solidFill>
                  <a:srgbClr val="FFFFFF"/>
                </a:solidFill>
                <a:latin typeface="Instrument Serif"/>
              </a:rPr>
              <a:t>EL ROL QUE SE LE ATRIBUYE AL HOMBRE LO OCUPA ELLA.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que sí es la </a:t>
            </a:r>
            <a:r>
              <a:rPr sz="1300" b="1" i="0" kern="0" spc="0">
                <a:solidFill>
                  <a:srgbClr val="FFFFFF"/>
                </a:solidFill>
                <a:latin typeface="Poppins"/>
              </a:rPr>
              <a:t>principal proveedora</a:t>
            </a:r>
            <a:r>
              <a:rPr sz="1300" b="0" i="0" kern="0" spc="0">
                <a:solidFill>
                  <a:srgbClr val="FFFFFF"/>
                </a:solidFill>
                <a:latin typeface="Poppins"/>
              </a:rPr>
              <a:t> de su hogar. [FW — perfil: jóvenes, jefas de hogar, líderes, emprendedoras. No proyectable a población general.]</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tiene </a:t>
            </a:r>
            <a:r>
              <a:rPr sz="1300" b="1" i="0" kern="0" spc="0">
                <a:solidFill>
                  <a:srgbClr val="FFFFFF"/>
                </a:solidFill>
                <a:latin typeface="Poppins"/>
              </a:rPr>
              <a:t>trabajo formal</a:t>
            </a:r>
            <a:r>
              <a:rPr sz="1300" b="0" i="0" kern="0" spc="0">
                <a:solidFill>
                  <a:srgbClr val="FFFFFF"/>
                </a:solidFill>
                <a:latin typeface="Poppins"/>
              </a:rPr>
              <a:t>; 13.9% informal o emprendimiento; solo 4.2% se declara ama de casa. La mujer del estudio FW está mayoritariamente vinculada al ingreso.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Las tomo yo sola</a:t>
            </a:r>
            <a:r>
              <a:rPr sz="1300" b="0" i="0" kern="0" spc="0">
                <a:solidFill>
                  <a:srgbClr val="FFFFFF"/>
                </a:solidFill>
                <a:latin typeface="Poppins"/>
              </a:rPr>
              <a:t>" es la frase con mayor acuerdo top-2 en decisiones financieras (42.5%, μ=3.01). "No las tomo yo, lo hace mi esposo" tiene el mayor desacuerdo (bottom-2 79.6%).</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 M8, M17 · Mujeres n=240.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DISCURSO DEL PROVEEDOR NO CEDIÓ. </a:t>
            </a:r>
            <a:r>
              <a:rPr sz="5000" b="0" i="1" kern="0" spc="0">
                <a:solidFill>
                  <a:srgbClr val="FFFFFF"/>
                </a:solidFill>
                <a:latin typeface="Instrument Serif"/>
              </a:rPr>
              <a:t>ELLAS PROVEEN, EL ROL SIGUE SIENDO DEL HOMBRE EN EL CUENTO SOCIAL.</a:t>
            </a:r>
          </a:p>
        </p:txBody>
      </p:sp>
      <p:sp>
        <p:nvSpPr>
          <p:cNvPr id="3" name="Rounded Rectangle 2"/>
          <p:cNvSpPr/>
          <p:nvPr/>
        </p:nvSpPr>
        <p:spPr>
          <a:xfrm>
            <a:off x="3362325"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«No, por tu trabajo tú eres proveedor. Pero se supone que el rol del proveedor siempre ha sido el hombre.»</a:t>
            </a:r>
          </a:p>
          <a:p>
            <a:pPr algn="ctr">
              <a:spcBef>
                <a:spcPts val="800"/>
              </a:spcBef>
            </a:pPr>
            <a:r>
              <a:rPr sz="1200" i="1" b="0" kern="0" spc="0">
                <a:solidFill>
                  <a:srgbClr val="FFFFFF"/>
                </a:solidFill>
                <a:latin typeface="Poppins"/>
              </a:rPr>
              <a:t>— Familia Masivo Jefas de Hogar</a:t>
            </a:r>
          </a:p>
        </p:txBody>
      </p:sp>
      <p:sp>
        <p:nvSpPr>
          <p:cNvPr id="5" name="Rounded Rectangle 4"/>
          <p:cNvSpPr/>
          <p:nvPr/>
        </p:nvSpPr>
        <p:spPr>
          <a:xfrm>
            <a:off x="95250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no resuelvo de nadie. Mi esposo es la madre. [Modismo: ella ocupa el rol de proveedor que culturalmente se le asigna al hombre.]»</a:t>
            </a:r>
          </a:p>
          <a:p>
            <a:pPr algn="ctr">
              <a:spcBef>
                <a:spcPts val="800"/>
              </a:spcBef>
            </a:pPr>
            <a:r>
              <a:rPr sz="1200" i="1" b="0" kern="0" spc="0">
                <a:solidFill>
                  <a:srgbClr val="FFFFFF"/>
                </a:solidFill>
                <a:latin typeface="Poppins"/>
              </a:rPr>
              <a:t>— Familia Masivo Jefas de Hogar</a:t>
            </a:r>
          </a:p>
        </p:txBody>
      </p:sp>
      <p:sp>
        <p:nvSpPr>
          <p:cNvPr id="7" name="TextBox 6"/>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 M8, M17 · Mujeres n=240.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60% APRENDIÓ DE FINANZAS POR SU CUENTA Y SOLO 11.7% EN LA ESCUELA O UNIVERSIDAD. </a:t>
            </a:r>
            <a:r>
              <a:rPr sz="5000" b="0" i="1" kern="0" spc="0">
                <a:solidFill>
                  <a:srgbClr val="FFFFFF"/>
                </a:solidFill>
                <a:latin typeface="Instrument Serif"/>
              </a:rPr>
              <a:t>EL SISTEMA FORMAL NO LE ENSEÑÓ; ELLA SE ENSEÑÓ.</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60%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reporta haber aprendido sobre finanzas "</a:t>
            </a:r>
            <a:r>
              <a:rPr sz="1300" b="1" i="0" kern="0" spc="0">
                <a:solidFill>
                  <a:srgbClr val="FFFFFF"/>
                </a:solidFill>
                <a:latin typeface="Poppins"/>
              </a:rPr>
              <a:t>Por tu cuenta</a:t>
            </a:r>
            <a:r>
              <a:rPr sz="1300" b="0" i="0" kern="0" spc="0">
                <a:solidFill>
                  <a:srgbClr val="FFFFFF"/>
                </a:solidFill>
                <a:latin typeface="Poppins"/>
              </a:rPr>
              <a:t>", seguido de "Familia" (45%); "Escuela/universidad" apenas 11.7%, "Trabajo" 15%; 9.6% responde "No he aprendido".</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55%</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cree que la responsable de la educación financiera debería ser "</a:t>
            </a:r>
            <a:r>
              <a:rPr sz="1300" b="1" i="0" kern="0" spc="0">
                <a:solidFill>
                  <a:srgbClr val="FFFFFF"/>
                </a:solidFill>
                <a:latin typeface="Poppins"/>
              </a:rPr>
              <a:t>Las escuelas/colegios</a:t>
            </a:r>
            <a:r>
              <a:rPr sz="1300" b="0" i="0" kern="0" spc="0">
                <a:solidFill>
                  <a:srgbClr val="FFFFFF"/>
                </a:solidFill>
                <a:latin typeface="Poppins"/>
              </a:rPr>
              <a:t>" (54.6%); solo 15.1% nombra "Los bancos" y 8.8% "Yo misma". El Estado es el responsable esperado.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30%</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(4+5) en conocimiento sobre </a:t>
            </a:r>
            <a:r>
              <a:rPr sz="1300" b="1" i="0" kern="0" spc="0">
                <a:solidFill>
                  <a:srgbClr val="FFFFFF"/>
                </a:solidFill>
                <a:latin typeface="Poppins"/>
              </a:rPr>
              <a:t>productos financieros</a:t>
            </a:r>
            <a:r>
              <a:rPr sz="1300" b="0" i="0" kern="0" spc="0">
                <a:solidFill>
                  <a:srgbClr val="FFFFFF"/>
                </a:solidFill>
                <a:latin typeface="Poppins"/>
              </a:rPr>
              <a:t> (29.6%); promedio 3.12 sobre 5. La mayoría se ubica en neutro.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M11, M12, M14 · Mujeres n=240.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«Yo cuando chiquita, porque mi mamá me enseñó desde pequeña cómo yo tenía que manejarme y guardar mi dinero desde pequeña, pero me enseñó que primero tengo que ganarme. Me compraba artículos para que yo los vendiera en la escuela. Me enseñó lo que era la venta desde pequeña.»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Masivo Emprendedoras</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M11, M12, M14 · Mujeres n=240.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46.7% SE RECONOCE APRENDIENDO POCO A POCO POR SU CUENTA Y SOLO 3.3% TIENE UN ALTO NIVEL DE CONOCIMIENTO. </a:t>
            </a:r>
            <a:r>
              <a:rPr sz="5000" b="0" i="1" kern="0" spc="0">
                <a:solidFill>
                  <a:srgbClr val="FFFFFF"/>
                </a:solidFill>
                <a:latin typeface="Instrument Serif"/>
              </a:rPr>
              <a:t>LA SEGURIDAD FINANCIERA ESTÁ EN CONSTRUCCIÓN, NO ASUMIDA.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47%</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identifica con "</a:t>
            </a:r>
            <a:r>
              <a:rPr sz="1300" b="1" i="0" kern="0" spc="0">
                <a:solidFill>
                  <a:srgbClr val="FFFFFF"/>
                </a:solidFill>
                <a:latin typeface="Poppins"/>
              </a:rPr>
              <a:t>Estoy aprendiendo poco a poco por mi cuenta</a:t>
            </a:r>
            <a:r>
              <a:rPr sz="1300" b="0" i="0" kern="0" spc="0">
                <a:solidFill>
                  <a:srgbClr val="FFFFFF"/>
                </a:solidFill>
                <a:latin typeface="Poppins"/>
              </a:rPr>
              <a:t>"; 24.2% con "Sé lo básico, pero no me siento segura"; solo 3.3% con "Tengo un alto nivel de conocimiento".</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en </a:t>
            </a:r>
            <a:r>
              <a:rPr sz="1300" b="1" i="0" kern="0" spc="0">
                <a:solidFill>
                  <a:srgbClr val="FFFFFF"/>
                </a:solidFill>
                <a:latin typeface="Poppins"/>
              </a:rPr>
              <a:t>seguridad tomando decisiones financieras</a:t>
            </a:r>
            <a:r>
              <a:rPr sz="1300" b="0" i="0" kern="0" spc="0">
                <a:solidFill>
                  <a:srgbClr val="FFFFFF"/>
                </a:solidFill>
                <a:latin typeface="Poppins"/>
              </a:rPr>
              <a:t> (μ=3.34); 50.8% se sitúa en neutro. La confianza es moderada.</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93%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considera muy importante el </a:t>
            </a:r>
            <a:r>
              <a:rPr sz="1300" b="1" i="0" kern="0" spc="0">
                <a:solidFill>
                  <a:srgbClr val="FFFFFF"/>
                </a:solidFill>
                <a:latin typeface="Poppins"/>
              </a:rPr>
              <a:t>conocimiento sobre el dinero</a:t>
            </a:r>
            <a:r>
              <a:rPr sz="1300" b="0" i="0" kern="0" spc="0">
                <a:solidFill>
                  <a:srgbClr val="FFFFFF"/>
                </a:solidFill>
                <a:latin typeface="Poppins"/>
              </a:rPr>
              <a:t> en su vida (μ=4.58). La importancia es absoluta; el conocimiento real, modesto.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M15, M18, M29 · Mujeres n=240.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GASTO #1 SON ALIMENTOS. EL AHORRO QUEDA EN POSICIÓN 8 DE 10. </a:t>
            </a:r>
            <a:r>
              <a:rPr sz="5000" b="0" i="1" kern="0" spc="0">
                <a:solidFill>
                  <a:srgbClr val="FFFFFF"/>
                </a:solidFill>
                <a:latin typeface="Instrument Serif"/>
              </a:rPr>
              <a:t>EL CUIDADO PERSONAL Y EL ENTRETENIMIENTO VAN ÚLTIMOS PORQUE NO CABEN.</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#1</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Alimentos y productos básicos</a:t>
            </a:r>
            <a:r>
              <a:rPr sz="1300" b="0" i="0" kern="0" spc="0">
                <a:solidFill>
                  <a:srgbClr val="FFFFFF"/>
                </a:solidFill>
                <a:latin typeface="Poppins"/>
              </a:rPr>
              <a:t>" (μ=3.07) ocupa la posición 1 en el ranking de gastos; "Pago de servicios" en posición 2 (μ=4.10).</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Ahorro</a:t>
            </a:r>
            <a:r>
              <a:rPr sz="1300" b="0" i="0" kern="0" spc="0">
                <a:solidFill>
                  <a:srgbClr val="FFFFFF"/>
                </a:solidFill>
                <a:latin typeface="Poppins"/>
              </a:rPr>
              <a:t>" queda en posición 8 (μ=6.04); solo 7.6% lo coloca como #1. "Cuidado personal" en posición 9 y "Entretenimiento" en posición 10.</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36%</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bottom-2 en facilidad para </a:t>
            </a:r>
            <a:r>
              <a:rPr sz="1300" b="1" i="0" kern="0" spc="0">
                <a:solidFill>
                  <a:srgbClr val="FFFFFF"/>
                </a:solidFill>
                <a:latin typeface="Poppins"/>
              </a:rPr>
              <a:t>ahorrar</a:t>
            </a:r>
            <a:r>
              <a:rPr sz="1300" b="0" i="0" kern="0" spc="0">
                <a:solidFill>
                  <a:srgbClr val="FFFFFF"/>
                </a:solidFill>
                <a:latin typeface="Poppins"/>
              </a:rPr>
              <a:t> (35.8%). La mitad ahorra poco o nada mensualmente.</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M22, M39 · Mujeres n=240.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49.2% TOMARÍA UN PRÉSTAMO SOLO SI ES PARA COMPRAR UNA CASA. </a:t>
            </a:r>
            <a:r>
              <a:rPr sz="5000" b="0" i="1" kern="0" spc="0">
                <a:solidFill>
                  <a:srgbClr val="FFFFFF"/>
                </a:solidFill>
                <a:latin typeface="Instrument Serif"/>
              </a:rPr>
              <a:t>LA DEUDA SE ACEPTA COMO PALANCA, NO COMO RECOMPENSA.</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49%</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Comprar casa</a:t>
            </a:r>
            <a:r>
              <a:rPr sz="1300" b="0" i="0" kern="0" spc="0">
                <a:solidFill>
                  <a:srgbClr val="FFFFFF"/>
                </a:solidFill>
                <a:latin typeface="Poppins"/>
              </a:rPr>
              <a:t>" como única razón para tomar un préstamo; 21.7% "Iniciar/expandir un negocio"; 13.8% "Comprar un vehículo"; 8.3% "Emergencia médica".</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1%</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solo </a:t>
            </a:r>
            <a:r>
              <a:rPr sz="1300" b="1" i="0" kern="0" spc="0">
                <a:solidFill>
                  <a:srgbClr val="FFFFFF"/>
                </a:solidFill>
                <a:latin typeface="Poppins"/>
              </a:rPr>
              <a:t>0.8% tomaría un préstamo para "Viajes o experiencias"</a:t>
            </a:r>
            <a:r>
              <a:rPr sz="1300" b="0" i="0" kern="0" spc="0">
                <a:solidFill>
                  <a:srgbClr val="FFFFFF"/>
                </a:solidFill>
                <a:latin typeface="Poppins"/>
              </a:rPr>
              <a:t> y 2.9% para "Educación"; 3.3% responde "Ninguna". La deuda no se justifica como consumo.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38%</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en comodidad </a:t>
            </a:r>
            <a:r>
              <a:rPr sz="1300" b="1" i="0" kern="0" spc="0">
                <a:solidFill>
                  <a:srgbClr val="FFFFFF"/>
                </a:solidFill>
                <a:latin typeface="Poppins"/>
              </a:rPr>
              <a:t>manejando deudas</a:t>
            </a:r>
            <a:r>
              <a:rPr sz="1300" b="0" i="0" kern="0" spc="0">
                <a:solidFill>
                  <a:srgbClr val="FFFFFF"/>
                </a:solidFill>
                <a:latin typeface="Poppins"/>
              </a:rPr>
              <a:t> (μ=3.30); 18.3% bottom-2. Más cómoda que incómoda, pero la mitad se ubica en neutro.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M30, M31 · Mujeres n=240.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«Se me dañó la lavadora y dije no, no voy a fuñir con lavadora pequeña, voy a comprarme mi torre. Y en ese momento, como gracias a Dios tengo un buen historial crediticio, pues nada, la saqué financiada. Eso sí, me he cuidado de manejarme con mis tarjetas y con mis préstamos al día, gracias a Dios, sin faltar.»</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M30, M31 · Mujeres n=240.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79.6% RECHAZA LA FRASE 'NO LAS TOMO YO, LAS TOMA MI ESPOSO'. </a:t>
            </a:r>
            <a:r>
              <a:rPr sz="5000" b="0" i="1" kern="0" spc="0">
                <a:solidFill>
                  <a:srgbClr val="FFFFFF"/>
                </a:solidFill>
                <a:latin typeface="Instrument Serif"/>
              </a:rPr>
              <a:t>ELLA DECIDE SOLA O LO DISCUTE — PERO NO LE ENTREGA LA DECISIÓN A ÉL.</a:t>
            </a:r>
          </a:p>
        </p:txBody>
      </p:sp>
      <p:sp>
        <p:nvSpPr>
          <p:cNvPr id="3" name="Rectangle 2"/>
          <p:cNvSpPr/>
          <p:nvPr/>
        </p:nvSpPr>
        <p:spPr>
          <a:xfrm>
            <a:off x="685800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10950"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98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80%</a:t>
            </a:r>
          </a:p>
        </p:txBody>
      </p:sp>
      <p:sp>
        <p:nvSpPr>
          <p:cNvPr id="6" name="TextBox 5"/>
          <p:cNvSpPr txBox="1"/>
          <p:nvPr/>
        </p:nvSpPr>
        <p:spPr>
          <a:xfrm>
            <a:off x="27908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bottom-2 (en desacuerdo) frente a "</a:t>
            </a:r>
            <a:r>
              <a:rPr sz="1300" b="1" i="0" kern="0" spc="0">
                <a:solidFill>
                  <a:srgbClr val="FFFFFF"/>
                </a:solidFill>
                <a:latin typeface="Poppins"/>
              </a:rPr>
              <a:t>No las tomo yo, lo hace mi esposo</a:t>
            </a:r>
            <a:r>
              <a:rPr sz="1300" b="0" i="0" kern="0" spc="0">
                <a:solidFill>
                  <a:srgbClr val="FFFFFF"/>
                </a:solidFill>
                <a:latin typeface="Poppins"/>
              </a:rPr>
              <a:t>"; solo 7.9% top-2; μ=1.67. Rechazo masivo de la dependencia financiera.</a:t>
            </a:r>
          </a:p>
        </p:txBody>
      </p:sp>
      <p:sp>
        <p:nvSpPr>
          <p:cNvPr id="7" name="TextBox 6"/>
          <p:cNvSpPr txBox="1"/>
          <p:nvPr/>
        </p:nvSpPr>
        <p:spPr>
          <a:xfrm>
            <a:off x="676275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37%</a:t>
            </a:r>
          </a:p>
        </p:txBody>
      </p:sp>
      <p:sp>
        <p:nvSpPr>
          <p:cNvPr id="8" name="TextBox 7"/>
          <p:cNvSpPr txBox="1"/>
          <p:nvPr/>
        </p:nvSpPr>
        <p:spPr>
          <a:xfrm>
            <a:off x="734377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frente a "Mi esposo y yo tomamos las decisiones </a:t>
            </a:r>
            <a:r>
              <a:rPr sz="1300" b="1" i="0" kern="0" spc="0">
                <a:solidFill>
                  <a:srgbClr val="FFFFFF"/>
                </a:solidFill>
                <a:latin typeface="Poppins"/>
              </a:rPr>
              <a:t>equitativamente</a:t>
            </a:r>
            <a:r>
              <a:rPr sz="1300" b="0" i="0" kern="0" spc="0">
                <a:solidFill>
                  <a:srgbClr val="FFFFFF"/>
                </a:solidFill>
                <a:latin typeface="Poppins"/>
              </a:rPr>
              <a:t>"; pero 44.6% bottom-2; μ=2.77. Más rechazo que acuerdo al equitativo declarado.</a:t>
            </a:r>
          </a:p>
        </p:txBody>
      </p:sp>
      <p:sp>
        <p:nvSpPr>
          <p:cNvPr id="9" name="TextBox 8"/>
          <p:cNvSpPr txBox="1"/>
          <p:nvPr/>
        </p:nvSpPr>
        <p:spPr>
          <a:xfrm>
            <a:off x="11315700" y="4000500"/>
            <a:ext cx="4762500" cy="1905000"/>
          </a:xfrm>
          <a:prstGeom prst="rect">
            <a:avLst/>
          </a:prstGeom>
          <a:noFill/>
        </p:spPr>
        <p:txBody>
          <a:bodyPr wrap="square" lIns="0" rIns="0" tIns="0" bIns="0">
            <a:spAutoFit/>
          </a:bodyPr>
          <a:lstStyle/>
          <a:p>
            <a:pPr algn="ctr"/>
            <a:r>
              <a:rPr sz="15000" b="0" i="1" kern="0" spc="0">
                <a:solidFill>
                  <a:srgbClr val="FFFFFF"/>
                </a:solidFill>
                <a:latin typeface="Instrument Serif"/>
              </a:rPr>
              <a:t>43%</a:t>
            </a:r>
          </a:p>
        </p:txBody>
      </p:sp>
      <p:sp>
        <p:nvSpPr>
          <p:cNvPr id="10" name="TextBox 9"/>
          <p:cNvSpPr txBox="1"/>
          <p:nvPr/>
        </p:nvSpPr>
        <p:spPr>
          <a:xfrm>
            <a:off x="11896725"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Las tomo yo sola</a:t>
            </a:r>
            <a:r>
              <a:rPr sz="1300" b="0" i="0" kern="0" spc="0">
                <a:solidFill>
                  <a:srgbClr val="FFFFFF"/>
                </a:solidFill>
                <a:latin typeface="Poppins"/>
              </a:rPr>
              <a:t>" — top-2 42.5%, μ=3.01. La frase con mayor adhesión en toda la batería de decisiones financieras.</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M17 · Mujeres n=240.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«Mi pareja y yo, parecido, trabajamos juntos, entonces como que es difícil que me digan, no, no he cobrado, cobramos juntos. Pero sí somos muy claros, yo desde un principio, y le dije, yo soy muy desorganizada, estoy aprendiendo, estoy pidiendo ayuda por aquí, mis amigos que trabajan en bancas, les pregunto, ¿qué tarjeta tú me recomiendas?»</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M17 · Mujeres n=240.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LAS MUJERES DEL ESTUDIO ENSEÑAN FINANZAS A SUS HIJOS COMO LES ENSEÑARON A ELLAS. </a:t>
            </a:r>
            <a:r>
              <a:rPr sz="5000" b="0" i="1" kern="0" spc="0">
                <a:solidFill>
                  <a:srgbClr val="FFFFFF"/>
                </a:solidFill>
                <a:latin typeface="Instrument Serif"/>
              </a:rPr>
              <a:t>ALCANCÍA DE LECHE EVAPORADA, MONEDAS DE 5 Y 10, Y 'GUARDA PAN PA' MAYO' ANTES QUE CUALQUIER APP.</a:t>
            </a:r>
          </a:p>
        </p:txBody>
      </p:sp>
      <p:sp>
        <p:nvSpPr>
          <p:cNvPr id="3" name="Rectangle 2"/>
          <p:cNvSpPr/>
          <p:nvPr/>
        </p:nvSpPr>
        <p:spPr>
          <a:xfrm>
            <a:off x="9134475"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1002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19%</a:t>
            </a:r>
          </a:p>
        </p:txBody>
      </p:sp>
      <p:sp>
        <p:nvSpPr>
          <p:cNvPr id="5" name="TextBox 4"/>
          <p:cNvSpPr txBox="1"/>
          <p:nvPr/>
        </p:nvSpPr>
        <p:spPr>
          <a:xfrm>
            <a:off x="459105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identifica con "</a:t>
            </a:r>
            <a:r>
              <a:rPr sz="1300" b="1" i="0" kern="0" spc="0">
                <a:solidFill>
                  <a:srgbClr val="FFFFFF"/>
                </a:solidFill>
                <a:latin typeface="Poppins"/>
              </a:rPr>
              <a:t>Guarda pan pa' mayo</a:t>
            </a:r>
            <a:r>
              <a:rPr sz="1300" b="0" i="0" kern="0" spc="0">
                <a:solidFill>
                  <a:srgbClr val="FFFFFF"/>
                </a:solidFill>
                <a:latin typeface="Poppins"/>
              </a:rPr>
              <a:t>" como filosofía de dinero (18.8%), empatando con "Dios proveerá" (18.8%). "El dinero da libertad" lidera con 23.3%.</a:t>
            </a:r>
          </a:p>
        </p:txBody>
      </p:sp>
      <p:sp>
        <p:nvSpPr>
          <p:cNvPr id="6" name="TextBox 5"/>
          <p:cNvSpPr txBox="1"/>
          <p:nvPr/>
        </p:nvSpPr>
        <p:spPr>
          <a:xfrm>
            <a:off x="951547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45%</a:t>
            </a:r>
          </a:p>
        </p:txBody>
      </p:sp>
      <p:sp>
        <p:nvSpPr>
          <p:cNvPr id="7" name="TextBox 6"/>
          <p:cNvSpPr txBox="1"/>
          <p:nvPr/>
        </p:nvSpPr>
        <p:spPr>
          <a:xfrm>
            <a:off x="1009650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reportó haber aprendido finanzas de su </a:t>
            </a:r>
            <a:r>
              <a:rPr sz="1300" b="1" i="0" kern="0" spc="0">
                <a:solidFill>
                  <a:srgbClr val="FFFFFF"/>
                </a:solidFill>
                <a:latin typeface="Poppins"/>
              </a:rPr>
              <a:t>Familia</a:t>
            </a:r>
            <a:r>
              <a:rPr sz="1300" b="0" i="0" kern="0" spc="0">
                <a:solidFill>
                  <a:srgbClr val="FFFFFF"/>
                </a:solidFill>
                <a:latin typeface="Poppins"/>
              </a:rPr>
              <a:t> — la segunda fuente después de "Por tu cuenta" (60%). La transmisión informal es la escuela real.</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M11, M46 · Mujeres n=240.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ALCANCÍA ARTESANAL COMO PRIMER CURSO DE FINANZAS: </a:t>
            </a:r>
            <a:r>
              <a:rPr sz="5000" b="0" i="1" kern="0" spc="0">
                <a:solidFill>
                  <a:srgbClr val="FFFFFF"/>
                </a:solidFill>
                <a:latin typeface="Instrument Serif"/>
              </a:rPr>
              <a:t>EL MÉTODO DE LA MADRE, TRANSMITIDO A LOS HIJOS.</a:t>
            </a:r>
          </a:p>
        </p:txBody>
      </p:sp>
      <p:sp>
        <p:nvSpPr>
          <p:cNvPr id="3" name="Rounded Rectangle 2"/>
          <p:cNvSpPr/>
          <p:nvPr/>
        </p:nvSpPr>
        <p:spPr>
          <a:xfrm>
            <a:off x="3362325"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soy de pinterón. Las alcancías a tres meses — en latas de leche rica. Es una alcancía natural, yo la lavo, la seco, y esa la uso de 5 y de 10, porque me di cuenta que de los 5 y los 10 yo boto mucho dinero.»</a:t>
            </a:r>
          </a:p>
          <a:p>
            <a:pPr algn="ctr">
              <a:spcBef>
                <a:spcPts val="800"/>
              </a:spcBef>
            </a:pPr>
            <a:r>
              <a:rPr sz="1200" i="1" b="0" kern="0" spc="0">
                <a:solidFill>
                  <a:srgbClr val="FFFFFF"/>
                </a:solidFill>
                <a:latin typeface="Poppins"/>
              </a:rPr>
              <a:t>— Familia Masivo Jefas de Hogar</a:t>
            </a:r>
          </a:p>
        </p:txBody>
      </p:sp>
      <p:sp>
        <p:nvSpPr>
          <p:cNvPr id="5" name="Rounded Rectangle 4"/>
          <p:cNvSpPr/>
          <p:nvPr/>
        </p:nvSpPr>
        <p:spPr>
          <a:xfrm>
            <a:off x="95250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«Con los muchachos, con los niños hay que — yo quiero para diciembre tal, este año es bueno, dame ya una alcancía, lo voy a empezar a echar.»</a:t>
            </a:r>
          </a:p>
          <a:p>
            <a:pPr algn="ctr">
              <a:spcBef>
                <a:spcPts val="800"/>
              </a:spcBef>
            </a:pPr>
            <a:r>
              <a:rPr sz="1200" i="1" b="0" kern="0" spc="0">
                <a:solidFill>
                  <a:srgbClr val="FFFFFF"/>
                </a:solidFill>
                <a:latin typeface="Poppins"/>
              </a:rPr>
              <a:t>— Familia Masivo Jefas de Hogar</a:t>
            </a:r>
          </a:p>
        </p:txBody>
      </p:sp>
      <p:sp>
        <p:nvSpPr>
          <p:cNvPr id="7" name="TextBox 6"/>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M11, M46 · Mujeres n=240.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22.3% QUERRÍA TENER UN FONDO DE EMERGENCIA Y 13.4% UNA HERRAMIENTA PARA LLEVAR SU PRESUPUESTO. </a:t>
            </a:r>
            <a:r>
              <a:rPr sz="5000" b="0" i="1" kern="0" spc="0">
                <a:solidFill>
                  <a:srgbClr val="FFFFFF"/>
                </a:solidFill>
                <a:latin typeface="Instrument Serif"/>
              </a:rPr>
              <a:t>LO QUE PIDE ES RESPALDO PARA SOSTENER LO QUE YA HACE.</a:t>
            </a:r>
          </a:p>
        </p:txBody>
      </p:sp>
      <p:sp>
        <p:nvSpPr>
          <p:cNvPr id="3" name="Rectangle 2"/>
          <p:cNvSpPr/>
          <p:nvPr/>
        </p:nvSpPr>
        <p:spPr>
          <a:xfrm>
            <a:off x="9134475"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1002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22%</a:t>
            </a:r>
          </a:p>
        </p:txBody>
      </p:sp>
      <p:sp>
        <p:nvSpPr>
          <p:cNvPr id="5" name="TextBox 4"/>
          <p:cNvSpPr txBox="1"/>
          <p:nvPr/>
        </p:nvSpPr>
        <p:spPr>
          <a:xfrm>
            <a:off x="459105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responde "</a:t>
            </a:r>
            <a:r>
              <a:rPr sz="1300" b="1" i="0" kern="0" spc="0">
                <a:solidFill>
                  <a:srgbClr val="FFFFFF"/>
                </a:solidFill>
                <a:latin typeface="Poppins"/>
              </a:rPr>
              <a:t>Un fondo de emergencia</a:t>
            </a:r>
            <a:r>
              <a:rPr sz="1300" b="0" i="0" kern="0" spc="0">
                <a:solidFill>
                  <a:srgbClr val="FFFFFF"/>
                </a:solidFill>
                <a:latin typeface="Poppins"/>
              </a:rPr>
              <a:t>" como producto financiero que le gustaría tener; 20.6% "Cuenta de ahorro con beneficios"; 18.1% "Fondo de inversión líquido".</a:t>
            </a:r>
          </a:p>
        </p:txBody>
      </p:sp>
      <p:sp>
        <p:nvSpPr>
          <p:cNvPr id="6" name="TextBox 5"/>
          <p:cNvSpPr txBox="1"/>
          <p:nvPr/>
        </p:nvSpPr>
        <p:spPr>
          <a:xfrm>
            <a:off x="951547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35%</a:t>
            </a:r>
          </a:p>
        </p:txBody>
      </p:sp>
      <p:sp>
        <p:nvSpPr>
          <p:cNvPr id="7" name="TextBox 6"/>
          <p:cNvSpPr txBox="1"/>
          <p:nvPr/>
        </p:nvSpPr>
        <p:spPr>
          <a:xfrm>
            <a:off x="1009650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elige "Necesito opciones de ahorro que se ajusten a mis </a:t>
            </a:r>
            <a:r>
              <a:rPr sz="1300" b="1" i="0" kern="0" spc="0">
                <a:solidFill>
                  <a:srgbClr val="FFFFFF"/>
                </a:solidFill>
                <a:latin typeface="Poppins"/>
              </a:rPr>
              <a:t>ingresos irregulares</a:t>
            </a:r>
            <a:r>
              <a:rPr sz="1300" b="0" i="0" kern="0" spc="0">
                <a:solidFill>
                  <a:srgbClr val="FFFFFF"/>
                </a:solidFill>
                <a:latin typeface="Poppins"/>
              </a:rPr>
              <a:t>" (34.6%); 33.8% "Quisiera beneficios para emprender"; 31.3% "Herramientas para manejar mejor mi dinero".</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M52, M56 · Mujeres n=240.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«Ahorro y salir de deudas. Es lo que pude, porque lo miré más de cerca, yo no puedo estar sin un dinero para una emergencia, entonces hice lo mismo que Andy, me entré en la cooperativa del trabajo, que es la única forma que ese dinero no entre a mi cuenta y salga.»</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M52, M56 · Mujeres n=240.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39.2% NO ACCEDE A PRODUCTOS FINANCIEROS PORQUE LE DA MIEDO ENDEUDARSE. </a:t>
            </a:r>
            <a:r>
              <a:rPr sz="5000" b="0" i="1" kern="0" spc="0">
                <a:solidFill>
                  <a:srgbClr val="FFFFFF"/>
                </a:solidFill>
                <a:latin typeface="Instrument Serif"/>
              </a:rPr>
              <a:t>DOS DE CADA DIEZ AGREGAN: NADIE ME HA ORIENTADO BIEN.</a:t>
            </a:r>
          </a:p>
        </p:txBody>
      </p:sp>
      <p:sp>
        <p:nvSpPr>
          <p:cNvPr id="3" name="Rectangle 2"/>
          <p:cNvSpPr/>
          <p:nvPr/>
        </p:nvSpPr>
        <p:spPr>
          <a:xfrm>
            <a:off x="9134475"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1002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39%</a:t>
            </a:r>
          </a:p>
        </p:txBody>
      </p:sp>
      <p:sp>
        <p:nvSpPr>
          <p:cNvPr id="5" name="TextBox 4"/>
          <p:cNvSpPr txBox="1"/>
          <p:nvPr/>
        </p:nvSpPr>
        <p:spPr>
          <a:xfrm>
            <a:off x="459105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a:t>
            </a:r>
            <a:r>
              <a:rPr sz="1300" b="1" i="0" kern="0" spc="0">
                <a:solidFill>
                  <a:srgbClr val="FFFFFF"/>
                </a:solidFill>
                <a:latin typeface="Poppins"/>
              </a:rPr>
              <a:t>Me da miedo endeudarme</a:t>
            </a:r>
            <a:r>
              <a:rPr sz="1300" b="0" i="0" kern="0" spc="0">
                <a:solidFill>
                  <a:srgbClr val="FFFFFF"/>
                </a:solidFill>
                <a:latin typeface="Poppins"/>
              </a:rPr>
              <a:t>" es la barrera principal (39.2%); 30.2% "No tengo ingresos fijos"; 27.2% "No califico por mi historial crediticio"; 22.8% "Nadie me ha orientado bien".</a:t>
            </a:r>
          </a:p>
        </p:txBody>
      </p:sp>
      <p:sp>
        <p:nvSpPr>
          <p:cNvPr id="6" name="TextBox 5"/>
          <p:cNvSpPr txBox="1"/>
          <p:nvPr/>
        </p:nvSpPr>
        <p:spPr>
          <a:xfrm>
            <a:off x="951547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22%</a:t>
            </a:r>
          </a:p>
        </p:txBody>
      </p:sp>
      <p:sp>
        <p:nvSpPr>
          <p:cNvPr id="7" name="TextBox 6"/>
          <p:cNvSpPr txBox="1"/>
          <p:nvPr/>
        </p:nvSpPr>
        <p:spPr>
          <a:xfrm>
            <a:off x="1009650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reconoce "</a:t>
            </a:r>
            <a:r>
              <a:rPr sz="1300" b="1" i="0" kern="0" spc="0">
                <a:solidFill>
                  <a:srgbClr val="FFFFFF"/>
                </a:solidFill>
                <a:latin typeface="Poppins"/>
              </a:rPr>
              <a:t>No sé cómo funcionan</a:t>
            </a:r>
            <a:r>
              <a:rPr sz="1300" b="0" i="0" kern="0" spc="0">
                <a:solidFill>
                  <a:srgbClr val="FFFFFF"/>
                </a:solidFill>
                <a:latin typeface="Poppins"/>
              </a:rPr>
              <a:t>" (22.4%); 21.1% "Mi falta de hábitos"; 19.0% "No he tenido tiempo para averiguar". Solo 6.9% nombra "No me siento cómoda con los bancos".</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M57 · Mujeres n=240.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«Yo estoy averiguando en diferentes instrumentos de inversión para ver cuál se acomoda mejor a mí, a mi objetivo, a mi estilo de ser porque no quiero correr muchos riesgos. Entonces estoy como que ahorrando para invertir.»</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Preferente Jefas de Hogar</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M57 · Mujeres n=240.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42.9% VE POSIBLE UNA VIDA FINANCIERA PLENA. EN LA ABIERTA, EL PATRÓN DOMINANTE ES UNO: </a:t>
            </a:r>
            <a:r>
              <a:rPr sz="5000" b="0" i="1" kern="0" spc="0">
                <a:solidFill>
                  <a:srgbClr val="FFFFFF"/>
                </a:solidFill>
                <a:latin typeface="Instrument Serif"/>
              </a:rPr>
              <a:t>ME TOCA A MÍ, CON ORGANIZACIÓN Y MÁS INGRESOS.</a:t>
            </a:r>
          </a:p>
        </p:txBody>
      </p:sp>
      <p:sp>
        <p:nvSpPr>
          <p:cNvPr id="3" name="Rectangle 2"/>
          <p:cNvSpPr/>
          <p:nvPr/>
        </p:nvSpPr>
        <p:spPr>
          <a:xfrm>
            <a:off x="9134475" y="3810000"/>
            <a:ext cx="19050" cy="361950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1002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43%</a:t>
            </a:r>
          </a:p>
        </p:txBody>
      </p:sp>
      <p:sp>
        <p:nvSpPr>
          <p:cNvPr id="5" name="TextBox 4"/>
          <p:cNvSpPr txBox="1"/>
          <p:nvPr/>
        </p:nvSpPr>
        <p:spPr>
          <a:xfrm>
            <a:off x="459105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top-2 (4+5) ve "muy posible" o "posible" tener una </a:t>
            </a:r>
            <a:r>
              <a:rPr sz="1300" b="1" i="0" kern="0" spc="0">
                <a:solidFill>
                  <a:srgbClr val="FFFFFF"/>
                </a:solidFill>
                <a:latin typeface="Poppins"/>
              </a:rPr>
              <a:t>vida financiera plena</a:t>
            </a:r>
            <a:r>
              <a:rPr sz="1300" b="0" i="0" kern="0" spc="0">
                <a:solidFill>
                  <a:srgbClr val="FFFFFF"/>
                </a:solidFill>
                <a:latin typeface="Poppins"/>
              </a:rPr>
              <a:t> en su situación actual; 18.3% bottom-2 la ve imposible; μ=3.38.</a:t>
            </a:r>
          </a:p>
        </p:txBody>
      </p:sp>
      <p:sp>
        <p:nvSpPr>
          <p:cNvPr id="6" name="TextBox 5"/>
          <p:cNvSpPr txBox="1"/>
          <p:nvPr/>
        </p:nvSpPr>
        <p:spPr>
          <a:xfrm>
            <a:off x="9515475" y="4000500"/>
            <a:ext cx="4762500" cy="1905000"/>
          </a:xfrm>
          <a:prstGeom prst="rect">
            <a:avLst/>
          </a:prstGeom>
          <a:noFill/>
        </p:spPr>
        <p:txBody>
          <a:bodyPr wrap="square" lIns="0" rIns="0" tIns="0" bIns="0">
            <a:spAutoFit/>
          </a:bodyPr>
          <a:lstStyle/>
          <a:p>
            <a:pPr algn="ctr"/>
            <a:r>
              <a:rPr sz="18000" b="0" i="1" kern="0" spc="0">
                <a:solidFill>
                  <a:srgbClr val="FFFFFF"/>
                </a:solidFill>
                <a:latin typeface="Instrument Serif"/>
              </a:rPr>
              <a:t>238</a:t>
            </a:r>
          </a:p>
        </p:txBody>
      </p:sp>
      <p:sp>
        <p:nvSpPr>
          <p:cNvPr id="7" name="TextBox 6"/>
          <p:cNvSpPr txBox="1"/>
          <p:nvPr/>
        </p:nvSpPr>
        <p:spPr>
          <a:xfrm>
            <a:off x="10096500" y="6286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respuestas abiertas (M63) muestran el patrón: "</a:t>
            </a:r>
            <a:r>
              <a:rPr sz="1300" b="1" i="0" kern="0" spc="0">
                <a:solidFill>
                  <a:srgbClr val="FFFFFF"/>
                </a:solidFill>
                <a:latin typeface="Poppins"/>
              </a:rPr>
              <a:t>falta de ingresos</a:t>
            </a:r>
            <a:r>
              <a:rPr sz="1300" b="0" i="0" kern="0" spc="0">
                <a:solidFill>
                  <a:srgbClr val="FFFFFF"/>
                </a:solidFill>
                <a:latin typeface="Poppins"/>
              </a:rPr>
              <a:t>" + "organización" + "estoy trabajando para ello". La lectura es activa individual, no estructural pasiva.</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M62, M63 · Mujeres n=240.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333750"/>
            <a:ext cx="15592425" cy="4762500"/>
          </a:xfrm>
          <a:prstGeom prst="rect">
            <a:avLst/>
          </a:prstGeom>
          <a:noFill/>
        </p:spPr>
        <p:txBody>
          <a:bodyPr wrap="square" lIns="0" rIns="0" tIns="0" bIns="0">
            <a:spAutoFit/>
          </a:bodyPr>
          <a:lstStyle/>
          <a:p>
            <a:pPr algn="ctr"/>
            <a:r>
              <a:rPr sz="5000" b="0" i="0" kern="0" spc="0">
                <a:solidFill>
                  <a:srgbClr val="FFFFFF"/>
                </a:solidFill>
                <a:latin typeface="Instrument Serif"/>
              </a:rPr>
              <a:t>«Al no tener ingresos fijos, no te puedes planificar. Eso limita todo.»</a:t>
            </a:r>
          </a:p>
        </p:txBody>
      </p:sp>
      <p:sp>
        <p:nvSpPr>
          <p:cNvPr id="4" name="TextBox 3"/>
          <p:cNvSpPr txBox="1"/>
          <p:nvPr/>
        </p:nvSpPr>
        <p:spPr>
          <a:xfrm>
            <a:off x="0" y="8286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Respuesta abierta M63 · FW</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Finance Women — Estudio cuantitativo 2025 · M62, M63 · Mujeres n=240.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