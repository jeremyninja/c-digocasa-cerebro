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8001000" y="1143000"/>
            <a:ext cx="2286000" cy="476250"/>
          </a:xfrm>
          <a:prstGeom prst="roundRect">
            <a:avLst>
              <a:gd name="adj" fmla="val 40000"/>
            </a:avLst>
          </a:prstGeom>
          <a:solidFill>
            <a:srgbClr val="C8F56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kern="0" spc="0">
                <a:solidFill>
                  <a:srgbClr val="000000"/>
                </a:solidFill>
                <a:latin typeface="Poppins"/>
              </a:rPr>
              <a:t>TENSIÓN 01</a:t>
            </a:r>
          </a:p>
        </p:txBody>
      </p:sp>
      <p:sp>
        <p:nvSpPr>
          <p:cNvPr id="3" name="TextBox 2"/>
          <p:cNvSpPr txBox="1"/>
          <p:nvPr/>
        </p:nvSpPr>
        <p:spPr>
          <a:xfrm>
            <a:off x="1143000" y="2381250"/>
            <a:ext cx="16002000" cy="4762500"/>
          </a:xfrm>
          <a:prstGeom prst="rect">
            <a:avLst/>
          </a:prstGeom>
          <a:noFill/>
        </p:spPr>
        <p:txBody>
          <a:bodyPr wrap="square" lIns="0" rIns="0" tIns="0" bIns="0">
            <a:spAutoFit/>
          </a:bodyPr>
          <a:lstStyle/>
          <a:p>
            <a:pPr algn="ctr"/>
            <a:r>
              <a:rPr sz="7000" b="0" i="0" kern="0" spc="0">
                <a:solidFill>
                  <a:srgbClr val="FFFFFF"/>
                </a:solidFill>
                <a:latin typeface="Instrument Serif"/>
              </a:rPr>
              <a:t>EL CONSUMIDOR QUE </a:t>
            </a:r>
            <a:r>
              <a:rPr sz="7000" b="0" i="1" kern="0" spc="0">
                <a:solidFill>
                  <a:srgbClr val="FFFFFF"/>
                </a:solidFill>
                <a:latin typeface="Instrument Serif"/>
              </a:rPr>
              <a:t>NO COMPRA VERDE.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LA MAYORÍA DECLARA SIN CRITERIO: </a:t>
            </a:r>
            <a:r>
              <a:rPr sz="5000" b="0" i="1" kern="0" spc="0">
                <a:solidFill>
                  <a:srgbClr val="FFFFFF"/>
                </a:solidFill>
                <a:latin typeface="Instrument Serif"/>
              </a:rPr>
              <a:t>42.8% COMPRA SIN CONSIDERAR EL MEDIO AMBIENTE.</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43%</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declara que </a:t>
            </a:r>
            <a:r>
              <a:rPr sz="1300" b="1" i="0" kern="0" spc="0">
                <a:solidFill>
                  <a:srgbClr val="FFFFFF"/>
                </a:solidFill>
                <a:latin typeface="Poppins"/>
              </a:rPr>
              <a:t>no toma decisiones de compra con criterios ecológicos</a:t>
            </a:r>
            <a:r>
              <a:rPr sz="1300" b="0" i="0" kern="0" spc="0">
                <a:solidFill>
                  <a:srgbClr val="FFFFFF"/>
                </a:solidFill>
                <a:latin typeface="Poppins"/>
              </a:rPr>
              <a:t> — la opción más votada de P35. Supera cualquier práctica verde concreta. P35, Base 500.</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30%</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menciona la </a:t>
            </a:r>
            <a:r>
              <a:rPr sz="1300" b="1" i="0" kern="0" spc="0">
                <a:solidFill>
                  <a:srgbClr val="FFFFFF"/>
                </a:solidFill>
                <a:latin typeface="Poppins"/>
              </a:rPr>
              <a:t>bolsa reusable</a:t>
            </a:r>
            <a:r>
              <a:rPr sz="1300" b="0" i="0" kern="0" spc="0">
                <a:solidFill>
                  <a:srgbClr val="FFFFFF"/>
                </a:solidFill>
                <a:latin typeface="Poppins"/>
              </a:rPr>
              <a:t> como única práctica ecológica activa al comprar — el gesto más común. 12 puntos por debajo de la abstención declarada. P35, Base 500.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1905000"/>
            <a:ext cx="15592425" cy="4953000"/>
          </a:xfrm>
          <a:prstGeom prst="rect">
            <a:avLst/>
          </a:prstGeom>
          <a:noFill/>
        </p:spPr>
        <p:txBody>
          <a:bodyPr wrap="square" lIns="0" rIns="0" tIns="0" bIns="0">
            <a:spAutoFit/>
          </a:bodyPr>
          <a:lstStyle/>
          <a:p>
            <a:pPr algn="ctr"/>
            <a:r>
              <a:rPr sz="5000" i="0" b="0" kern="0" spc="0">
                <a:solidFill>
                  <a:srgbClr val="FFFFFF"/>
                </a:solidFill>
                <a:latin typeface="Instrument Serif"/>
              </a:rPr>
              <a:t>«Yo no uso bolsas de plástico de la del supermercado, yo uso de las bolsas que son reusables. Cuando por ejemplo yo trato de pedir, cuando en Amazon tú tienes la opción de pedir paquetería que sea (...) que no tiene plástico, que no tiene el envoltorio de papel y así por el estilo. Son pequeñas cosas que uno hace.»</a:t>
            </a:r>
          </a:p>
        </p:txBody>
      </p:sp>
      <p:sp>
        <p:nvSpPr>
          <p:cNvPr id="4" name="TextBox 3"/>
          <p:cNvSpPr txBox="1"/>
          <p:nvPr/>
        </p:nvSpPr>
        <p:spPr>
          <a:xfrm>
            <a:off x="0" y="54292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Mixta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EL CONSUMIDOR DOMINICANO NO LE EXIGE NADA A LA MARCA: </a:t>
            </a:r>
            <a:r>
              <a:rPr sz="5000" b="0" i="1" kern="0" spc="0">
                <a:solidFill>
                  <a:srgbClr val="FFFFFF"/>
                </a:solidFill>
                <a:latin typeface="Instrument Serif"/>
              </a:rPr>
              <a:t>7.4% COMPRA POR POLÍTICA AMBIENTAL; 6% POR ORIGEN LOCAL.</a:t>
            </a:r>
          </a:p>
        </p:txBody>
      </p:sp>
      <p:sp>
        <p:nvSpPr>
          <p:cNvPr id="3" name="Rectangle 2"/>
          <p:cNvSpPr/>
          <p:nvPr/>
        </p:nvSpPr>
        <p:spPr>
          <a:xfrm>
            <a:off x="6848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20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7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7.4%</a:t>
            </a:r>
          </a:p>
        </p:txBody>
      </p:sp>
      <p:sp>
        <p:nvSpPr>
          <p:cNvPr id="6" name="TextBox 5"/>
          <p:cNvSpPr txBox="1"/>
          <p:nvPr/>
        </p:nvSpPr>
        <p:spPr>
          <a:xfrm>
            <a:off x="277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compra marcas con </a:t>
            </a:r>
            <a:r>
              <a:rPr sz="1300" b="1" i="0" kern="0" spc="0">
                <a:solidFill>
                  <a:srgbClr val="FFFFFF"/>
                </a:solidFill>
                <a:latin typeface="Poppins"/>
              </a:rPr>
              <a:t>políticas ambientales responsables</a:t>
            </a:r>
            <a:r>
              <a:rPr sz="1300" b="0" i="0" kern="0" spc="0">
                <a:solidFill>
                  <a:srgbClr val="FFFFFF"/>
                </a:solidFill>
                <a:latin typeface="Poppins"/>
              </a:rPr>
              <a:t> — la opción de mayor sofisticación ecológica en P35. La minoría más exigente. P35, Base 500.</a:t>
            </a:r>
          </a:p>
        </p:txBody>
      </p:sp>
      <p:sp>
        <p:nvSpPr>
          <p:cNvPr id="7" name="TextBox 6"/>
          <p:cNvSpPr txBox="1"/>
          <p:nvPr/>
        </p:nvSpPr>
        <p:spPr>
          <a:xfrm>
            <a:off x="7343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6%</a:t>
            </a:r>
          </a:p>
        </p:txBody>
      </p:sp>
      <p:sp>
        <p:nvSpPr>
          <p:cNvPr id="8" name="TextBox 7"/>
          <p:cNvSpPr txBox="1"/>
          <p:nvPr/>
        </p:nvSpPr>
        <p:spPr>
          <a:xfrm>
            <a:off x="7343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prefiere </a:t>
            </a:r>
            <a:r>
              <a:rPr sz="1300" b="1" i="0" kern="0" spc="0">
                <a:solidFill>
                  <a:srgbClr val="FFFFFF"/>
                </a:solidFill>
                <a:latin typeface="Poppins"/>
              </a:rPr>
              <a:t>productos locales o de producción sostenible</a:t>
            </a:r>
            <a:r>
              <a:rPr sz="1300" b="0" i="0" kern="0" spc="0">
                <a:solidFill>
                  <a:srgbClr val="FFFFFF"/>
                </a:solidFill>
                <a:latin typeface="Poppins"/>
              </a:rPr>
              <a:t>. Origen y sostenibilidad como criterio de compra: uso marginal. P35, Base 500.</a:t>
            </a:r>
          </a:p>
        </p:txBody>
      </p:sp>
      <p:sp>
        <p:nvSpPr>
          <p:cNvPr id="9" name="TextBox 8"/>
          <p:cNvSpPr txBox="1"/>
          <p:nvPr/>
        </p:nvSpPr>
        <p:spPr>
          <a:xfrm>
            <a:off x="1191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3.8%</a:t>
            </a:r>
          </a:p>
        </p:txBody>
      </p:sp>
      <p:sp>
        <p:nvSpPr>
          <p:cNvPr id="10" name="TextBox 9"/>
          <p:cNvSpPr txBox="1"/>
          <p:nvPr/>
        </p:nvSpPr>
        <p:spPr>
          <a:xfrm>
            <a:off x="1191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compra </a:t>
            </a:r>
            <a:r>
              <a:rPr sz="1300" b="1" i="0" kern="0" spc="0">
                <a:solidFill>
                  <a:srgbClr val="FFFFFF"/>
                </a:solidFill>
                <a:latin typeface="Poppins"/>
              </a:rPr>
              <a:t>a granel o sin empaque</a:t>
            </a:r>
            <a:r>
              <a:rPr sz="1300" b="0" i="0" kern="0" spc="0">
                <a:solidFill>
                  <a:srgbClr val="FFFFFF"/>
                </a:solidFill>
                <a:latin typeface="Poppins"/>
              </a:rPr>
              <a:t>. Las tres cifras juntas no llegan al 20%: menos de 1 de cada 5 ejerce algún filtro ambiental sobre la marca. P35.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EL SILENCIO CUALI CONFIRMA LA CIFRA: </a:t>
            </a:r>
            <a:r>
              <a:rPr sz="5000" b="0" i="1" kern="0" spc="0">
                <a:solidFill>
                  <a:srgbClr val="FFFFFF"/>
                </a:solidFill>
                <a:latin typeface="Instrument Serif"/>
              </a:rPr>
              <a:t>NADIE NOMBRÓ UNA MARCA AMBIENTAL COMO CRITERIO DE SELECCIÓN.</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0</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grupos donde emergió una </a:t>
            </a:r>
            <a:r>
              <a:rPr sz="1300" b="1" i="0" kern="0" spc="0">
                <a:solidFill>
                  <a:srgbClr val="FFFFFF"/>
                </a:solidFill>
                <a:latin typeface="Poppins"/>
              </a:rPr>
              <a:t>marca con política ambiental</a:t>
            </a:r>
            <a:r>
              <a:rPr sz="1300" b="0" i="0" kern="0" spc="0">
                <a:solidFill>
                  <a:srgbClr val="FFFFFF"/>
                </a:solidFill>
                <a:latin typeface="Poppins"/>
              </a:rPr>
              <a:t> como criterio activo de compra. La conversación ecológica vive en la gestión doméstica, no en el punto de venta. 11 FGs revisados.</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51%</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declara querer practicar </a:t>
            </a:r>
            <a:r>
              <a:rPr sz="1300" b="1" i="0" kern="0" spc="0">
                <a:solidFill>
                  <a:srgbClr val="FFFFFF"/>
                </a:solidFill>
                <a:latin typeface="Poppins"/>
              </a:rPr>
              <a:t>consumo responsable</a:t>
            </a:r>
            <a:r>
              <a:rPr sz="1300" b="0" i="0" kern="0" spc="0">
                <a:solidFill>
                  <a:srgbClr val="FFFFFF"/>
                </a:solidFill>
                <a:latin typeface="Poppins"/>
              </a:rPr>
              <a:t> (P36) — pero la marca no recibe ese deseo. La exigencia ambiental no llega al punto de venta. Base 500.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EL GESTO DOMÉSTICO NO ES </a:t>
            </a:r>
            <a:r>
              <a:rPr sz="5000" b="0" i="1" kern="0" spc="0">
                <a:solidFill>
                  <a:srgbClr val="FFFFFF"/>
                </a:solidFill>
                <a:latin typeface="Instrument Serif"/>
              </a:rPr>
              <a:t>UN CRITERIO DE COMPRA.</a:t>
            </a:r>
          </a:p>
        </p:txBody>
      </p:sp>
      <p:sp>
        <p:nvSpPr>
          <p:cNvPr id="3" name="Rounded Rectangle 2"/>
          <p:cNvSpPr/>
          <p:nvPr/>
        </p:nvSpPr>
        <p:spPr>
          <a:xfrm>
            <a:off x="6438900" y="4086225"/>
            <a:ext cx="5400675" cy="2162175"/>
          </a:xfrm>
          <a:prstGeom prst="roundRect">
            <a:avLst>
              <a:gd name="adj" fmla="val 6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724650"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«Son pequeñas cosas que uno hace.»</a:t>
            </a:r>
          </a:p>
          <a:p>
            <a:pPr algn="ctr">
              <a:spcBef>
                <a:spcPts val="800"/>
              </a:spcBef>
            </a:pPr>
            <a:r>
              <a:rPr sz="1200" i="1" b="0" kern="0" spc="0">
                <a:solidFill>
                  <a:srgbClr val="FFFFFF"/>
                </a:solidFill>
                <a:latin typeface="Poppins"/>
              </a:rPr>
              <a:t>— Familia Mixta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571500"/>
            <a:ext cx="18288000" cy="571500"/>
          </a:xfrm>
          <a:prstGeom prst="rect">
            <a:avLst/>
          </a:prstGeom>
          <a:noFill/>
        </p:spPr>
        <p:txBody>
          <a:bodyPr wrap="square" lIns="0" rIns="0" tIns="0" bIns="0">
            <a:spAutoFit/>
          </a:bodyPr>
          <a:lstStyle/>
          <a:p>
            <a:pPr algn="ctr"/>
            <a:r>
              <a:rPr sz="1400" b="0" i="0" kern="0" spc="0">
                <a:solidFill>
                  <a:srgbClr val="9B9B9B"/>
                </a:solidFill>
                <a:latin typeface="Poppins"/>
              </a:rPr>
              <a:t>TENSIÓN 01 — SÍNTESIS</a:t>
            </a:r>
          </a:p>
        </p:txBody>
      </p:sp>
      <p:sp>
        <p:nvSpPr>
          <p:cNvPr id="3" name="TextBox 2"/>
          <p:cNvSpPr txBox="1"/>
          <p:nvPr/>
        </p:nvSpPr>
        <p:spPr>
          <a:xfrm>
            <a:off x="1143000" y="1428750"/>
            <a:ext cx="16002000" cy="762000"/>
          </a:xfrm>
          <a:prstGeom prst="rect">
            <a:avLst/>
          </a:prstGeom>
          <a:noFill/>
        </p:spPr>
        <p:txBody>
          <a:bodyPr wrap="square" lIns="0" rIns="0" tIns="0" bIns="0">
            <a:spAutoFit/>
          </a:bodyPr>
          <a:lstStyle/>
          <a:p>
            <a:pPr algn="ctr"/>
            <a:r>
              <a:rPr sz="5000" b="0" i="1" kern="0" spc="0">
                <a:solidFill>
                  <a:srgbClr val="FFFFFF"/>
                </a:solidFill>
                <a:latin typeface="Instrument Serif"/>
              </a:rPr>
              <a:t>EL CONSUMIDOR QUE NO COMPRA VERDE</a:t>
            </a:r>
          </a:p>
        </p:txBody>
      </p:sp>
      <p:sp>
        <p:nvSpPr>
          <p:cNvPr id="4" name="TextBox 3"/>
          <p:cNvSpPr txBox="1"/>
          <p:nvPr/>
        </p:nvSpPr>
        <p:spPr>
          <a:xfrm>
            <a:off x="2286000" y="2857500"/>
            <a:ext cx="13716000" cy="1143000"/>
          </a:xfrm>
          <a:prstGeom prst="rect">
            <a:avLst/>
          </a:prstGeom>
          <a:noFill/>
        </p:spPr>
        <p:txBody>
          <a:bodyPr wrap="square" lIns="0" rIns="0" tIns="0" bIns="0">
            <a:spAutoFit/>
          </a:bodyPr>
          <a:lstStyle/>
          <a:p>
            <a:pPr algn="l"/>
            <a:r>
              <a:rPr sz="1800" b="0" i="0" kern="0" spc="0">
                <a:solidFill>
                  <a:srgbClr val="FFFFFF"/>
                </a:solidFill>
                <a:latin typeface="Poppins"/>
              </a:rPr>
              <a:t>43% declara no filtrar por ecología al comprar. Es la respuesta más votada.</a:t>
            </a:r>
          </a:p>
        </p:txBody>
      </p:sp>
      <p:sp>
        <p:nvSpPr>
          <p:cNvPr id="5" name="TextBox 4"/>
          <p:cNvSpPr txBox="1"/>
          <p:nvPr/>
        </p:nvSpPr>
        <p:spPr>
          <a:xfrm>
            <a:off x="2286000" y="3905250"/>
            <a:ext cx="13716000" cy="1143000"/>
          </a:xfrm>
          <a:prstGeom prst="rect">
            <a:avLst/>
          </a:prstGeom>
          <a:noFill/>
        </p:spPr>
        <p:txBody>
          <a:bodyPr wrap="square" lIns="0" rIns="0" tIns="0" bIns="0">
            <a:spAutoFit/>
          </a:bodyPr>
          <a:lstStyle/>
          <a:p>
            <a:pPr algn="l"/>
            <a:r>
              <a:rPr sz="1800" b="0" i="0" kern="0" spc="0">
                <a:solidFill>
                  <a:srgbClr val="FFFFFF"/>
                </a:solidFill>
                <a:latin typeface="Poppins"/>
              </a:rPr>
              <a:t>El gesto verde existe pero opera en el hogar, no en la tienda.</a:t>
            </a:r>
          </a:p>
        </p:txBody>
      </p:sp>
      <p:sp>
        <p:nvSpPr>
          <p:cNvPr id="6" name="TextBox 5"/>
          <p:cNvSpPr txBox="1"/>
          <p:nvPr/>
        </p:nvSpPr>
        <p:spPr>
          <a:xfrm>
            <a:off x="2286000" y="4953000"/>
            <a:ext cx="13716000" cy="1143000"/>
          </a:xfrm>
          <a:prstGeom prst="rect">
            <a:avLst/>
          </a:prstGeom>
          <a:noFill/>
        </p:spPr>
        <p:txBody>
          <a:bodyPr wrap="square" lIns="0" rIns="0" tIns="0" bIns="0">
            <a:spAutoFit/>
          </a:bodyPr>
          <a:lstStyle/>
          <a:p>
            <a:pPr algn="l"/>
            <a:r>
              <a:rPr sz="1800" b="0" i="0" kern="0" spc="0">
                <a:solidFill>
                  <a:srgbClr val="FFFFFF"/>
                </a:solidFill>
                <a:latin typeface="Poppins"/>
              </a:rPr>
              <a:t>Menos del 20% ejerce algún filtro ambiental sobre la marca.</a:t>
            </a:r>
          </a:p>
        </p:txBody>
      </p:sp>
      <p:sp>
        <p:nvSpPr>
          <p:cNvPr id="7" name="TextBox 6"/>
          <p:cNvSpPr txBox="1"/>
          <p:nvPr/>
        </p:nvSpPr>
        <p:spPr>
          <a:xfrm>
            <a:off x="2286000" y="6000750"/>
            <a:ext cx="13716000" cy="1143000"/>
          </a:xfrm>
          <a:prstGeom prst="rect">
            <a:avLst/>
          </a:prstGeom>
          <a:noFill/>
        </p:spPr>
        <p:txBody>
          <a:bodyPr wrap="square" lIns="0" rIns="0" tIns="0" bIns="0">
            <a:spAutoFit/>
          </a:bodyPr>
          <a:lstStyle/>
          <a:p>
            <a:pPr algn="l"/>
            <a:r>
              <a:rPr sz="1800" b="0" i="0" kern="0" spc="0">
                <a:solidFill>
                  <a:srgbClr val="FFFFFF"/>
                </a:solidFill>
                <a:latin typeface="Poppins"/>
              </a:rPr>
              <a:t>El silencio de los grupos confirma: ningún participante nombró una marca verde como criterio.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571500"/>
            <a:ext cx="18288000" cy="571500"/>
          </a:xfrm>
          <a:prstGeom prst="rect">
            <a:avLst/>
          </a:prstGeom>
          <a:noFill/>
        </p:spPr>
        <p:txBody>
          <a:bodyPr wrap="square" lIns="0" rIns="0" tIns="0" bIns="0">
            <a:spAutoFit/>
          </a:bodyPr>
          <a:lstStyle/>
          <a:p>
            <a:pPr algn="ctr"/>
            <a:r>
              <a:rPr sz="1400" b="0" i="0" kern="0" spc="0">
                <a:solidFill>
                  <a:srgbClr val="9B9B9B"/>
                </a:solidFill>
                <a:latin typeface="Poppins"/>
              </a:rPr>
              <a:t>TENSIÓN 01 — PREGUNTA PARA LA MARCA</a:t>
            </a:r>
          </a:p>
        </p:txBody>
      </p:sp>
      <p:sp>
        <p:nvSpPr>
          <p:cNvPr id="3" name="TextBox 2"/>
          <p:cNvSpPr txBox="1"/>
          <p:nvPr/>
        </p:nvSpPr>
        <p:spPr>
          <a:xfrm>
            <a:off x="1143000" y="2667000"/>
            <a:ext cx="16002000" cy="4762500"/>
          </a:xfrm>
          <a:prstGeom prst="rect">
            <a:avLst/>
          </a:prstGeom>
          <a:noFill/>
        </p:spPr>
        <p:txBody>
          <a:bodyPr wrap="square" lIns="0" rIns="0" tIns="0" bIns="0">
            <a:spAutoFit/>
          </a:bodyPr>
          <a:lstStyle/>
          <a:p>
            <a:pPr algn="ctr"/>
            <a:r>
              <a:rPr sz="4200" b="0" i="1" kern="0" spc="0">
                <a:solidFill>
                  <a:srgbClr val="FFFFFF"/>
                </a:solidFill>
                <a:latin typeface="Instrument Serif"/>
              </a:rPr>
              <a:t>¿TU MARCA PUEDE HACER EL PUENTE ENTRE EL GESTO DOMÉSTICO Y EL CRITERIO DE COMPRA?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8001000" y="1143000"/>
            <a:ext cx="2286000" cy="476250"/>
          </a:xfrm>
          <a:prstGeom prst="roundRect">
            <a:avLst>
              <a:gd name="adj" fmla="val 40000"/>
            </a:avLst>
          </a:prstGeom>
          <a:solidFill>
            <a:srgbClr val="C8F56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kern="0" spc="0">
                <a:solidFill>
                  <a:srgbClr val="000000"/>
                </a:solidFill>
                <a:latin typeface="Poppins"/>
              </a:rPr>
              <a:t>TENSIÓN 02</a:t>
            </a:r>
          </a:p>
        </p:txBody>
      </p:sp>
      <p:sp>
        <p:nvSpPr>
          <p:cNvPr id="3" name="TextBox 2"/>
          <p:cNvSpPr txBox="1"/>
          <p:nvPr/>
        </p:nvSpPr>
        <p:spPr>
          <a:xfrm>
            <a:off x="1143000" y="2381250"/>
            <a:ext cx="16002000" cy="4762500"/>
          </a:xfrm>
          <a:prstGeom prst="rect">
            <a:avLst/>
          </a:prstGeom>
          <a:noFill/>
        </p:spPr>
        <p:txBody>
          <a:bodyPr wrap="square" lIns="0" rIns="0" tIns="0" bIns="0">
            <a:spAutoFit/>
          </a:bodyPr>
          <a:lstStyle/>
          <a:p>
            <a:pPr algn="ctr"/>
            <a:r>
              <a:rPr sz="7000" b="0" i="0" kern="0" spc="0">
                <a:solidFill>
                  <a:srgbClr val="FFFFFF"/>
                </a:solidFill>
                <a:latin typeface="Instrument Serif"/>
              </a:rPr>
              <a:t>LA RESPONSABILIDAD AMBIENTAL </a:t>
            </a:r>
            <a:r>
              <a:rPr sz="7000" b="0" i="1" kern="0" spc="0">
                <a:solidFill>
                  <a:srgbClr val="FFFFFF"/>
                </a:solidFill>
                <a:latin typeface="Instrument Serif"/>
              </a:rPr>
              <a:t>EXTERNALIZADA.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LA CONCIENCIA AMBIENTAL EXISTE. </a:t>
            </a:r>
            <a:r>
              <a:rPr sz="5000" b="0" i="1" kern="0" spc="0">
                <a:solidFill>
                  <a:srgbClr val="FFFFFF"/>
                </a:solidFill>
                <a:latin typeface="Instrument Serif"/>
              </a:rPr>
              <a:t>LA RESPONSABILIDAD, SE LA DEJAN AL GOBIERNO.</a:t>
            </a:r>
          </a:p>
        </p:txBody>
      </p:sp>
      <p:sp>
        <p:nvSpPr>
          <p:cNvPr id="3" name="TextBox 2"/>
          <p:cNvSpPr txBox="1"/>
          <p:nvPr/>
        </p:nvSpPr>
        <p:spPr>
          <a:xfrm>
            <a:off x="7343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43%</a:t>
            </a:r>
          </a:p>
        </p:txBody>
      </p:sp>
      <p:sp>
        <p:nvSpPr>
          <p:cNvPr id="4" name="TextBox 3"/>
          <p:cNvSpPr txBox="1"/>
          <p:nvPr/>
        </p:nvSpPr>
        <p:spPr>
          <a:xfrm>
            <a:off x="7343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declara que </a:t>
            </a:r>
            <a:r>
              <a:rPr sz="1300" b="1" i="0" kern="0" spc="0">
                <a:solidFill>
                  <a:srgbClr val="FFFFFF"/>
                </a:solidFill>
                <a:latin typeface="Poppins"/>
              </a:rPr>
              <a:t>no toma decisiones de compra con criterios ecológicos</a:t>
            </a:r>
            <a:r>
              <a:rPr sz="1300" b="0" i="0" kern="0" spc="0">
                <a:solidFill>
                  <a:srgbClr val="FFFFFF"/>
                </a:solidFill>
                <a:latin typeface="Poppins"/>
              </a:rPr>
              <a:t>. Cuando se pregunta quién debería actuar, el diagnóstico cierra rápido: "eso se lo adjudicamos al gobierno." P35, Base 500.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619500"/>
            <a:ext cx="15592425" cy="4953000"/>
          </a:xfrm>
          <a:prstGeom prst="rect">
            <a:avLst/>
          </a:prstGeom>
          <a:noFill/>
        </p:spPr>
        <p:txBody>
          <a:bodyPr wrap="square" lIns="0" rIns="0" tIns="0" bIns="0">
            <a:spAutoFit/>
          </a:bodyPr>
          <a:lstStyle/>
          <a:p>
            <a:pPr algn="ctr"/>
            <a:r>
              <a:rPr sz="5000" i="0" b="0" kern="0" spc="0">
                <a:solidFill>
                  <a:srgbClr val="FFFFFF"/>
                </a:solidFill>
                <a:latin typeface="Instrument Serif"/>
              </a:rPr>
              <a:t>«Y se lo adjudicamos mucho, se lo adjudicamos mucho al gobierno, el gobierno de la basura.»</a:t>
            </a:r>
          </a:p>
        </p:txBody>
      </p:sp>
      <p:sp>
        <p:nvSpPr>
          <p:cNvPr id="4" name="TextBox 3"/>
          <p:cNvSpPr txBox="1"/>
          <p:nvPr/>
        </p:nvSpPr>
        <p:spPr>
          <a:xfrm>
            <a:off x="0" y="7143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Sin Hijos con Mascota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SI EL SISTEMA NO RECICLA, </a:t>
            </a:r>
            <a:r>
              <a:rPr sz="5000" b="0" i="1" kern="0" spc="0">
                <a:solidFill>
                  <a:srgbClr val="FFFFFF"/>
                </a:solidFill>
                <a:latin typeface="Instrument Serif"/>
              </a:rPr>
              <a:t>SEPARAR ES TRABAJO PERDIDO.</a:t>
            </a:r>
          </a:p>
        </p:txBody>
      </p:sp>
      <p:sp>
        <p:nvSpPr>
          <p:cNvPr id="3" name="Rounded Rectangle 2"/>
          <p:cNvSpPr/>
          <p:nvPr/>
        </p:nvSpPr>
        <p:spPr>
          <a:xfrm>
            <a:off x="6438900" y="4086225"/>
            <a:ext cx="5400675" cy="2162175"/>
          </a:xfrm>
          <a:prstGeom prst="roundRect">
            <a:avLst>
              <a:gd name="adj" fmla="val 6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724650"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«¿Qué hago yo separando vainas? Al final van a ir todos a la tercera riqueza. No lo van a reciclar, no lo van a separar, no van a hacer nada. Yo puedo tener tres zafacones y separar la basura y a la hora del [camión], la van a recoger toda y la van a echar en el mismo camión.»</a:t>
            </a:r>
          </a:p>
          <a:p>
            <a:pPr algn="ctr">
              <a:spcBef>
                <a:spcPts val="800"/>
              </a:spcBef>
            </a:pPr>
            <a:r>
              <a:rPr sz="1200" i="1" b="0" kern="0" spc="0">
                <a:solidFill>
                  <a:srgbClr val="FFFFFF"/>
                </a:solidFill>
                <a:latin typeface="Poppins"/>
              </a:rPr>
              <a:t>— Familia Homoparental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EN EL HOGAR DOMINICANO SE REUSA POR COSTUMBRE, </a:t>
            </a:r>
            <a:r>
              <a:rPr sz="5000" b="0" i="1" kern="0" spc="0">
                <a:solidFill>
                  <a:srgbClr val="FFFFFF"/>
                </a:solidFill>
                <a:latin typeface="Instrument Serif"/>
              </a:rPr>
              <a:t>NO POR CONCIENCIA AMBIENTAL.</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30%</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usa </a:t>
            </a:r>
            <a:r>
              <a:rPr sz="1300" b="1" i="0" kern="0" spc="0">
                <a:solidFill>
                  <a:srgbClr val="FFFFFF"/>
                </a:solidFill>
                <a:latin typeface="Poppins"/>
              </a:rPr>
              <a:t>bolsas reusables</a:t>
            </a:r>
            <a:r>
              <a:rPr sz="1300" b="0" i="0" kern="0" spc="0">
                <a:solidFill>
                  <a:srgbClr val="FFFFFF"/>
                </a:solidFill>
                <a:latin typeface="Poppins"/>
              </a:rPr>
              <a:t> al comprar — segunda práctica ecológica más mencionada. El hogar que reusa lo hace por economía doméstica, no por huella. P35, Base 500.</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43%</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declara </a:t>
            </a:r>
            <a:r>
              <a:rPr sz="1300" b="1" i="0" kern="0" spc="0">
                <a:solidFill>
                  <a:srgbClr val="FFFFFF"/>
                </a:solidFill>
                <a:latin typeface="Poppins"/>
              </a:rPr>
              <a:t>no filtrar por ecología</a:t>
            </a:r>
            <a:r>
              <a:rPr sz="1300" b="0" i="0" kern="0" spc="0">
                <a:solidFill>
                  <a:srgbClr val="FFFFFF"/>
                </a:solidFill>
                <a:latin typeface="Poppins"/>
              </a:rPr>
              <a:t> — supera por 12 puntos a quienes reusaron bolsa. Mismo hogar: reconoce que no filtra y, como máximo, reutiliza la bolsa. P35, Base 500.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2286000"/>
            <a:ext cx="15592425" cy="4953000"/>
          </a:xfrm>
          <a:prstGeom prst="rect">
            <a:avLst/>
          </a:prstGeom>
          <a:noFill/>
        </p:spPr>
        <p:txBody>
          <a:bodyPr wrap="square" lIns="0" rIns="0" tIns="0" bIns="0">
            <a:spAutoFit/>
          </a:bodyPr>
          <a:lstStyle/>
          <a:p>
            <a:pPr algn="ctr"/>
            <a:r>
              <a:rPr sz="5000" i="0" b="0" kern="0" spc="0">
                <a:solidFill>
                  <a:srgbClr val="FFFFFF"/>
                </a:solidFill>
                <a:latin typeface="Instrument Serif"/>
              </a:rPr>
              <a:t>«Yo siempre trato de que no se compre mucho desechable. Ellos lo que dicen es que yo soy una abusadora porque yo ando fregando. Pero yo les digo, sí, pero estamos creando menos basura. Un parque más y lo fregaste y ya todos tienen menos basura.»</a:t>
            </a:r>
          </a:p>
        </p:txBody>
      </p:sp>
      <p:sp>
        <p:nvSpPr>
          <p:cNvPr id="4" name="TextBox 3"/>
          <p:cNvSpPr txBox="1"/>
          <p:nvPr/>
        </p:nvSpPr>
        <p:spPr>
          <a:xfrm>
            <a:off x="0" y="58102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Biparental con Hijos Pequeños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571500"/>
            <a:ext cx="18288000" cy="571500"/>
          </a:xfrm>
          <a:prstGeom prst="rect">
            <a:avLst/>
          </a:prstGeom>
          <a:noFill/>
        </p:spPr>
        <p:txBody>
          <a:bodyPr wrap="square" lIns="0" rIns="0" tIns="0" bIns="0">
            <a:spAutoFit/>
          </a:bodyPr>
          <a:lstStyle/>
          <a:p>
            <a:pPr algn="ctr"/>
            <a:r>
              <a:rPr sz="1400" b="0" i="0" kern="0" spc="0">
                <a:solidFill>
                  <a:srgbClr val="9B9B9B"/>
                </a:solidFill>
                <a:latin typeface="Poppins"/>
              </a:rPr>
              <a:t>TENSIÓN 02 — SÍNTESIS</a:t>
            </a:r>
          </a:p>
        </p:txBody>
      </p:sp>
      <p:sp>
        <p:nvSpPr>
          <p:cNvPr id="3" name="TextBox 2"/>
          <p:cNvSpPr txBox="1"/>
          <p:nvPr/>
        </p:nvSpPr>
        <p:spPr>
          <a:xfrm>
            <a:off x="1143000" y="1428750"/>
            <a:ext cx="16002000" cy="762000"/>
          </a:xfrm>
          <a:prstGeom prst="rect">
            <a:avLst/>
          </a:prstGeom>
          <a:noFill/>
        </p:spPr>
        <p:txBody>
          <a:bodyPr wrap="square" lIns="0" rIns="0" tIns="0" bIns="0">
            <a:spAutoFit/>
          </a:bodyPr>
          <a:lstStyle/>
          <a:p>
            <a:pPr algn="ctr"/>
            <a:r>
              <a:rPr sz="5000" b="0" i="1" kern="0" spc="0">
                <a:solidFill>
                  <a:srgbClr val="FFFFFF"/>
                </a:solidFill>
                <a:latin typeface="Instrument Serif"/>
              </a:rPr>
              <a:t>LA RESPONSABILIDAD AMBIENTAL EXTERNALIZADA</a:t>
            </a:r>
          </a:p>
        </p:txBody>
      </p:sp>
      <p:sp>
        <p:nvSpPr>
          <p:cNvPr id="4" name="TextBox 3"/>
          <p:cNvSpPr txBox="1"/>
          <p:nvPr/>
        </p:nvSpPr>
        <p:spPr>
          <a:xfrm>
            <a:off x="2286000" y="2857500"/>
            <a:ext cx="13716000" cy="1143000"/>
          </a:xfrm>
          <a:prstGeom prst="rect">
            <a:avLst/>
          </a:prstGeom>
          <a:noFill/>
        </p:spPr>
        <p:txBody>
          <a:bodyPr wrap="square" lIns="0" rIns="0" tIns="0" bIns="0">
            <a:spAutoFit/>
          </a:bodyPr>
          <a:lstStyle/>
          <a:p>
            <a:pPr algn="l"/>
            <a:r>
              <a:rPr sz="1800" b="0" i="0" kern="0" spc="0">
                <a:solidFill>
                  <a:srgbClr val="FFFFFF"/>
                </a:solidFill>
                <a:latin typeface="Poppins"/>
              </a:rPr>
              <a:t>La conciencia existe. La responsabilidad termina en el Estado, no en el ciudadano ni en la marca.</a:t>
            </a:r>
          </a:p>
        </p:txBody>
      </p:sp>
      <p:sp>
        <p:nvSpPr>
          <p:cNvPr id="5" name="TextBox 4"/>
          <p:cNvSpPr txBox="1"/>
          <p:nvPr/>
        </p:nvSpPr>
        <p:spPr>
          <a:xfrm>
            <a:off x="2286000" y="3905250"/>
            <a:ext cx="13716000" cy="1143000"/>
          </a:xfrm>
          <a:prstGeom prst="rect">
            <a:avLst/>
          </a:prstGeom>
          <a:noFill/>
        </p:spPr>
        <p:txBody>
          <a:bodyPr wrap="square" lIns="0" rIns="0" tIns="0" bIns="0">
            <a:spAutoFit/>
          </a:bodyPr>
          <a:lstStyle/>
          <a:p>
            <a:pPr algn="l"/>
            <a:r>
              <a:rPr sz="1800" b="0" i="0" kern="0" spc="0">
                <a:solidFill>
                  <a:srgbClr val="FFFFFF"/>
                </a:solidFill>
                <a:latin typeface="Poppins"/>
              </a:rPr>
              <a:t>El argumento de la infraestructura no es apatía: es lógica. Si el sistema no recicla, separar es trabajo perdido.</a:t>
            </a:r>
          </a:p>
        </p:txBody>
      </p:sp>
      <p:sp>
        <p:nvSpPr>
          <p:cNvPr id="6" name="TextBox 5"/>
          <p:cNvSpPr txBox="1"/>
          <p:nvPr/>
        </p:nvSpPr>
        <p:spPr>
          <a:xfrm>
            <a:off x="2286000" y="4953000"/>
            <a:ext cx="13716000" cy="1143000"/>
          </a:xfrm>
          <a:prstGeom prst="rect">
            <a:avLst/>
          </a:prstGeom>
          <a:noFill/>
        </p:spPr>
        <p:txBody>
          <a:bodyPr wrap="square" lIns="0" rIns="0" tIns="0" bIns="0">
            <a:spAutoFit/>
          </a:bodyPr>
          <a:lstStyle/>
          <a:p>
            <a:pPr algn="l"/>
            <a:r>
              <a:rPr sz="1800" b="0" i="0" kern="0" spc="0">
                <a:solidFill>
                  <a:srgbClr val="FFFFFF"/>
                </a:solidFill>
                <a:latin typeface="Poppins"/>
              </a:rPr>
              <a:t>El reuso doméstico ocurre, pero por economía familiar — no como convicción ambiental.</a:t>
            </a:r>
          </a:p>
        </p:txBody>
      </p:sp>
      <p:sp>
        <p:nvSpPr>
          <p:cNvPr id="7" name="TextBox 6"/>
          <p:cNvSpPr txBox="1"/>
          <p:nvPr/>
        </p:nvSpPr>
        <p:spPr>
          <a:xfrm>
            <a:off x="2286000" y="6000750"/>
            <a:ext cx="13716000" cy="1143000"/>
          </a:xfrm>
          <a:prstGeom prst="rect">
            <a:avLst/>
          </a:prstGeom>
          <a:noFill/>
        </p:spPr>
        <p:txBody>
          <a:bodyPr wrap="square" lIns="0" rIns="0" tIns="0" bIns="0">
            <a:spAutoFit/>
          </a:bodyPr>
          <a:lstStyle/>
          <a:p>
            <a:pPr algn="l"/>
            <a:r>
              <a:rPr sz="1800" b="0" i="0" kern="0" spc="0">
                <a:solidFill>
                  <a:srgbClr val="FFFFFF"/>
                </a:solidFill>
                <a:latin typeface="Poppins"/>
              </a:rPr>
              <a:t>La marca ambiental sigue invisible en este espacio.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571500"/>
            <a:ext cx="18288000" cy="571500"/>
          </a:xfrm>
          <a:prstGeom prst="rect">
            <a:avLst/>
          </a:prstGeom>
          <a:noFill/>
        </p:spPr>
        <p:txBody>
          <a:bodyPr wrap="square" lIns="0" rIns="0" tIns="0" bIns="0">
            <a:spAutoFit/>
          </a:bodyPr>
          <a:lstStyle/>
          <a:p>
            <a:pPr algn="ctr"/>
            <a:r>
              <a:rPr sz="1400" b="0" i="0" kern="0" spc="0">
                <a:solidFill>
                  <a:srgbClr val="9B9B9B"/>
                </a:solidFill>
                <a:latin typeface="Poppins"/>
              </a:rPr>
              <a:t>TENSIÓN 02 — PREGUNTA PARA LA MARCA</a:t>
            </a:r>
          </a:p>
        </p:txBody>
      </p:sp>
      <p:sp>
        <p:nvSpPr>
          <p:cNvPr id="3" name="TextBox 2"/>
          <p:cNvSpPr txBox="1"/>
          <p:nvPr/>
        </p:nvSpPr>
        <p:spPr>
          <a:xfrm>
            <a:off x="1143000" y="2667000"/>
            <a:ext cx="16002000" cy="4762500"/>
          </a:xfrm>
          <a:prstGeom prst="rect">
            <a:avLst/>
          </a:prstGeom>
          <a:noFill/>
        </p:spPr>
        <p:txBody>
          <a:bodyPr wrap="square" lIns="0" rIns="0" tIns="0" bIns="0">
            <a:spAutoFit/>
          </a:bodyPr>
          <a:lstStyle/>
          <a:p>
            <a:pPr algn="ctr"/>
            <a:r>
              <a:rPr sz="4200" b="0" i="1" kern="0" spc="0">
                <a:solidFill>
                  <a:srgbClr val="FFFFFF"/>
                </a:solidFill>
                <a:latin typeface="Instrument Serif"/>
              </a:rPr>
              <a:t>¿TU MARCA PUEDE OPERAR DONDE EL ESTADO FALLÓ? ¿O PREFIERES CULPAR AL CONSUMIDOR POR NO EXIGIRTE MÁS?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8001000" y="1143000"/>
            <a:ext cx="2286000" cy="476250"/>
          </a:xfrm>
          <a:prstGeom prst="roundRect">
            <a:avLst>
              <a:gd name="adj" fmla="val 40000"/>
            </a:avLst>
          </a:prstGeom>
          <a:solidFill>
            <a:srgbClr val="C8F56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kern="0" spc="0">
                <a:solidFill>
                  <a:srgbClr val="000000"/>
                </a:solidFill>
                <a:latin typeface="Poppins"/>
              </a:rPr>
              <a:t>TENSIÓN 03</a:t>
            </a:r>
          </a:p>
        </p:txBody>
      </p:sp>
      <p:sp>
        <p:nvSpPr>
          <p:cNvPr id="3" name="TextBox 2"/>
          <p:cNvSpPr txBox="1"/>
          <p:nvPr/>
        </p:nvSpPr>
        <p:spPr>
          <a:xfrm>
            <a:off x="1143000" y="2381250"/>
            <a:ext cx="16002000" cy="4762500"/>
          </a:xfrm>
          <a:prstGeom prst="rect">
            <a:avLst/>
          </a:prstGeom>
          <a:noFill/>
        </p:spPr>
        <p:txBody>
          <a:bodyPr wrap="square" lIns="0" rIns="0" tIns="0" bIns="0">
            <a:spAutoFit/>
          </a:bodyPr>
          <a:lstStyle/>
          <a:p>
            <a:pPr algn="ctr"/>
            <a:r>
              <a:rPr sz="7000" b="0" i="0" kern="0" spc="0">
                <a:solidFill>
                  <a:srgbClr val="FFFFFF"/>
                </a:solidFill>
                <a:latin typeface="Instrument Serif"/>
              </a:rPr>
              <a:t>SOSTENIBILIDAD COMO </a:t>
            </a:r>
            <a:r>
              <a:rPr sz="7000" b="0" i="1" kern="0" spc="0">
                <a:solidFill>
                  <a:srgbClr val="FFFFFF"/>
                </a:solidFill>
                <a:latin typeface="Instrument Serif"/>
              </a:rPr>
              <a:t>DESEO SIN INFRAESTRUCTURA.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EL DOMINICANO QUIERE CONSUMIR RESPONSABLE: </a:t>
            </a:r>
            <a:r>
              <a:rPr sz="5000" b="0" i="1" kern="0" spc="0">
                <a:solidFill>
                  <a:srgbClr val="FFFFFF"/>
                </a:solidFill>
                <a:latin typeface="Instrument Serif"/>
              </a:rPr>
              <a:t>LO QUE ENTIENDE POR ESO ES APAGAR LA LUZ Y NO DESPERDICIAR EL AGUA.</a:t>
            </a:r>
          </a:p>
        </p:txBody>
      </p:sp>
      <p:sp>
        <p:nvSpPr>
          <p:cNvPr id="3" name="Rectangle 2"/>
          <p:cNvSpPr/>
          <p:nvPr/>
        </p:nvSpPr>
        <p:spPr>
          <a:xfrm>
            <a:off x="6848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20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7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51%</a:t>
            </a:r>
          </a:p>
        </p:txBody>
      </p:sp>
      <p:sp>
        <p:nvSpPr>
          <p:cNvPr id="6" name="TextBox 5"/>
          <p:cNvSpPr txBox="1"/>
          <p:nvPr/>
        </p:nvSpPr>
        <p:spPr>
          <a:xfrm>
            <a:off x="277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menciona </a:t>
            </a:r>
            <a:r>
              <a:rPr sz="1300" b="1" i="0" kern="0" spc="0">
                <a:solidFill>
                  <a:srgbClr val="FFFFFF"/>
                </a:solidFill>
                <a:latin typeface="Poppins"/>
              </a:rPr>
              <a:t>consumo responsable</a:t>
            </a:r>
            <a:r>
              <a:rPr sz="1300" b="0" i="0" kern="0" spc="0">
                <a:solidFill>
                  <a:srgbClr val="FFFFFF"/>
                </a:solidFill>
                <a:latin typeface="Poppins"/>
              </a:rPr>
              <a:t> como acción deseada en su hogar — primer lugar de P36. 51.2% exacto. Base 500.</a:t>
            </a:r>
          </a:p>
        </p:txBody>
      </p:sp>
      <p:sp>
        <p:nvSpPr>
          <p:cNvPr id="7" name="TextBox 6"/>
          <p:cNvSpPr txBox="1"/>
          <p:nvPr/>
        </p:nvSpPr>
        <p:spPr>
          <a:xfrm>
            <a:off x="7343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51%</a:t>
            </a:r>
          </a:p>
        </p:txBody>
      </p:sp>
      <p:sp>
        <p:nvSpPr>
          <p:cNvPr id="8" name="TextBox 7"/>
          <p:cNvSpPr txBox="1"/>
          <p:nvPr/>
        </p:nvSpPr>
        <p:spPr>
          <a:xfrm>
            <a:off x="7343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menciona </a:t>
            </a:r>
            <a:r>
              <a:rPr sz="1300" b="1" i="0" kern="0" spc="0">
                <a:solidFill>
                  <a:srgbClr val="FFFFFF"/>
                </a:solidFill>
                <a:latin typeface="Poppins"/>
              </a:rPr>
              <a:t>ahorro de agua</a:t>
            </a:r>
            <a:r>
              <a:rPr sz="1300" b="0" i="0" kern="0" spc="0">
                <a:solidFill>
                  <a:srgbClr val="FFFFFF"/>
                </a:solidFill>
                <a:latin typeface="Poppins"/>
              </a:rPr>
              <a:t>, prácticamente empatado con consumo responsable (50.6%). El empate revela colapso semántico: son la misma cosa. P36, Base 500.</a:t>
            </a:r>
          </a:p>
        </p:txBody>
      </p:sp>
      <p:sp>
        <p:nvSpPr>
          <p:cNvPr id="9" name="TextBox 8"/>
          <p:cNvSpPr txBox="1"/>
          <p:nvPr/>
        </p:nvSpPr>
        <p:spPr>
          <a:xfrm>
            <a:off x="1191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28%</a:t>
            </a:r>
          </a:p>
        </p:txBody>
      </p:sp>
      <p:sp>
        <p:nvSpPr>
          <p:cNvPr id="10" name="TextBox 9"/>
          <p:cNvSpPr txBox="1"/>
          <p:nvPr/>
        </p:nvSpPr>
        <p:spPr>
          <a:xfrm>
            <a:off x="1191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quiere </a:t>
            </a:r>
            <a:r>
              <a:rPr sz="1300" b="1" i="0" kern="0" spc="0">
                <a:solidFill>
                  <a:srgbClr val="FFFFFF"/>
                </a:solidFill>
                <a:latin typeface="Poppins"/>
              </a:rPr>
              <a:t>reciclar</a:t>
            </a:r>
            <a:r>
              <a:rPr sz="1300" b="0" i="0" kern="0" spc="0">
                <a:solidFill>
                  <a:srgbClr val="FFFFFF"/>
                </a:solidFill>
                <a:latin typeface="Poppins"/>
              </a:rPr>
              <a:t>; 18.4% quiere reducir plásticos. El ranking muestra que la sostenibilidad se traduce en administrar mejor la factura. P36.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238500"/>
            <a:ext cx="15592425" cy="4953000"/>
          </a:xfrm>
          <a:prstGeom prst="rect">
            <a:avLst/>
          </a:prstGeom>
          <a:noFill/>
        </p:spPr>
        <p:txBody>
          <a:bodyPr wrap="square" lIns="0" rIns="0" tIns="0" bIns="0">
            <a:spAutoFit/>
          </a:bodyPr>
          <a:lstStyle/>
          <a:p>
            <a:pPr algn="ctr"/>
            <a:r>
              <a:rPr sz="5000" i="0" b="0" kern="0" spc="0">
                <a:solidFill>
                  <a:srgbClr val="FFFFFF"/>
                </a:solidFill>
                <a:latin typeface="Instrument Serif"/>
              </a:rPr>
              <a:t>«El bombillo, a mí no me gusta tener un bombillo prendido en mi casa. Yo paro con el bombillo y me llaman. (...) En mi casa me molesta un bombillo prendido.»</a:t>
            </a:r>
          </a:p>
        </p:txBody>
      </p:sp>
      <p:sp>
        <p:nvSpPr>
          <p:cNvPr id="4" name="TextBox 3"/>
          <p:cNvSpPr txBox="1"/>
          <p:nvPr/>
        </p:nvSpPr>
        <p:spPr>
          <a:xfrm>
            <a:off x="0" y="6762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Mixta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EL 28% QUIERE RECICLAR. </a:t>
            </a:r>
            <a:r>
              <a:rPr sz="5000" b="0" i="1" kern="0" spc="0">
                <a:solidFill>
                  <a:srgbClr val="FFFFFF"/>
                </a:solidFill>
                <a:latin typeface="Instrument Serif"/>
              </a:rPr>
              <a:t>EL CAMIÓN MUNICIPAL RECOGE TODO EN EL MISMO CARRO.</a:t>
            </a:r>
          </a:p>
        </p:txBody>
      </p:sp>
      <p:sp>
        <p:nvSpPr>
          <p:cNvPr id="3" name="TextBox 2"/>
          <p:cNvSpPr txBox="1"/>
          <p:nvPr/>
        </p:nvSpPr>
        <p:spPr>
          <a:xfrm>
            <a:off x="7343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28%</a:t>
            </a:r>
          </a:p>
        </p:txBody>
      </p:sp>
      <p:sp>
        <p:nvSpPr>
          <p:cNvPr id="4" name="TextBox 3"/>
          <p:cNvSpPr txBox="1"/>
          <p:nvPr/>
        </p:nvSpPr>
        <p:spPr>
          <a:xfrm>
            <a:off x="7343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declara que le gustaría </a:t>
            </a:r>
            <a:r>
              <a:rPr sz="1300" b="1" i="0" kern="0" spc="0">
                <a:solidFill>
                  <a:srgbClr val="FFFFFF"/>
                </a:solidFill>
                <a:latin typeface="Poppins"/>
              </a:rPr>
              <a:t>reciclar en su hogar</a:t>
            </a:r>
            <a:r>
              <a:rPr sz="1300" b="0" i="0" kern="0" spc="0">
                <a:solidFill>
                  <a:srgbClr val="FFFFFF"/>
                </a:solidFill>
                <a:latin typeface="Poppins"/>
              </a:rPr>
              <a:t> — tercera acción más mencionada en P36. El deseo existe. La cadena operativa, no. P36, Base 500.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1905000"/>
            <a:ext cx="15592425" cy="4953000"/>
          </a:xfrm>
          <a:prstGeom prst="rect">
            <a:avLst/>
          </a:prstGeom>
          <a:noFill/>
        </p:spPr>
        <p:txBody>
          <a:bodyPr wrap="square" lIns="0" rIns="0" tIns="0" bIns="0">
            <a:spAutoFit/>
          </a:bodyPr>
          <a:lstStyle/>
          <a:p>
            <a:pPr algn="ctr"/>
            <a:r>
              <a:rPr sz="5000" i="0" b="0" kern="0" spc="0">
                <a:solidFill>
                  <a:srgbClr val="FFFFFF"/>
                </a:solidFill>
                <a:latin typeface="Instrument Serif"/>
              </a:rPr>
              <a:t>«Yo hago el reciclado, o sea, yo tengo mis zafacones, separo latas, botella, ta, ta, ta. El único inconveniente para mí es cómo botarle, porque tengo que ir a un lugar específico, no siempre está cerca de mí o no siempre tengo mi vehículo disponible (...) la basura se va acumulando, al final tú te cansas. Y la echan en el mismo club en donde estaban todos.»</a:t>
            </a:r>
          </a:p>
        </p:txBody>
      </p:sp>
      <p:sp>
        <p:nvSpPr>
          <p:cNvPr id="4" name="TextBox 3"/>
          <p:cNvSpPr txBox="1"/>
          <p:nvPr/>
        </p:nvSpPr>
        <p:spPr>
          <a:xfrm>
            <a:off x="0" y="54292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Mixta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LA CONCIENCIA ECOLÓGICA SE APRENDE EN ESTADOS UNIDOS. </a:t>
            </a:r>
            <a:r>
              <a:rPr sz="5000" b="0" i="1" kern="0" spc="0">
                <a:solidFill>
                  <a:srgbClr val="FFFFFF"/>
                </a:solidFill>
                <a:latin typeface="Instrument Serif"/>
              </a:rPr>
              <a:t>EN RD NO HAY QUIEN LA ENSEÑE.</a:t>
            </a:r>
          </a:p>
        </p:txBody>
      </p:sp>
      <p:sp>
        <p:nvSpPr>
          <p:cNvPr id="3" name="TextBox 2"/>
          <p:cNvSpPr txBox="1"/>
          <p:nvPr/>
        </p:nvSpPr>
        <p:spPr>
          <a:xfrm>
            <a:off x="7343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51%</a:t>
            </a:r>
          </a:p>
        </p:txBody>
      </p:sp>
      <p:sp>
        <p:nvSpPr>
          <p:cNvPr id="4" name="TextBox 3"/>
          <p:cNvSpPr txBox="1"/>
          <p:nvPr/>
        </p:nvSpPr>
        <p:spPr>
          <a:xfrm>
            <a:off x="7343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declara querer practicar </a:t>
            </a:r>
            <a:r>
              <a:rPr sz="1300" b="1" i="0" kern="0" spc="0">
                <a:solidFill>
                  <a:srgbClr val="FFFFFF"/>
                </a:solidFill>
                <a:latin typeface="Poppins"/>
              </a:rPr>
              <a:t>consumo responsable</a:t>
            </a:r>
            <a:r>
              <a:rPr sz="1300" b="0" i="0" kern="0" spc="0">
                <a:solidFill>
                  <a:srgbClr val="FFFFFF"/>
                </a:solidFill>
                <a:latin typeface="Poppins"/>
              </a:rPr>
              <a:t> (P36). El deseo es masivo. La pregunta que la batería no hace es dónde lo aprendió. P36, Base 500.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238500"/>
            <a:ext cx="15592425" cy="4953000"/>
          </a:xfrm>
          <a:prstGeom prst="rect">
            <a:avLst/>
          </a:prstGeom>
          <a:noFill/>
        </p:spPr>
        <p:txBody>
          <a:bodyPr wrap="square" lIns="0" rIns="0" tIns="0" bIns="0">
            <a:spAutoFit/>
          </a:bodyPr>
          <a:lstStyle/>
          <a:p>
            <a:pPr algn="ctr"/>
            <a:r>
              <a:rPr sz="5000" i="0" b="0" kern="0" spc="0">
                <a:solidFill>
                  <a:srgbClr val="FFFFFF"/>
                </a:solidFill>
                <a:latin typeface="Instrument Serif"/>
              </a:rPr>
              <a:t>«Justamente en la parte del reciclado, porque justamente lo aprendí en varios viajes que he dado a Estados Unidos. El hijo mío también ya está con esa doctrina.»</a:t>
            </a:r>
          </a:p>
        </p:txBody>
      </p:sp>
      <p:sp>
        <p:nvSpPr>
          <p:cNvPr id="4" name="TextBox 3"/>
          <p:cNvSpPr txBox="1"/>
          <p:nvPr/>
        </p:nvSpPr>
        <p:spPr>
          <a:xfrm>
            <a:off x="0" y="6762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Mixta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571500"/>
            <a:ext cx="18288000" cy="571500"/>
          </a:xfrm>
          <a:prstGeom prst="rect">
            <a:avLst/>
          </a:prstGeom>
          <a:noFill/>
        </p:spPr>
        <p:txBody>
          <a:bodyPr wrap="square" lIns="0" rIns="0" tIns="0" bIns="0">
            <a:spAutoFit/>
          </a:bodyPr>
          <a:lstStyle/>
          <a:p>
            <a:pPr algn="ctr"/>
            <a:r>
              <a:rPr sz="1400" b="0" i="0" kern="0" spc="0">
                <a:solidFill>
                  <a:srgbClr val="9B9B9B"/>
                </a:solidFill>
                <a:latin typeface="Poppins"/>
              </a:rPr>
              <a:t>TENSIÓN 03 — SÍNTESIS</a:t>
            </a:r>
          </a:p>
        </p:txBody>
      </p:sp>
      <p:sp>
        <p:nvSpPr>
          <p:cNvPr id="3" name="TextBox 2"/>
          <p:cNvSpPr txBox="1"/>
          <p:nvPr/>
        </p:nvSpPr>
        <p:spPr>
          <a:xfrm>
            <a:off x="1143000" y="1428750"/>
            <a:ext cx="16002000" cy="762000"/>
          </a:xfrm>
          <a:prstGeom prst="rect">
            <a:avLst/>
          </a:prstGeom>
          <a:noFill/>
        </p:spPr>
        <p:txBody>
          <a:bodyPr wrap="square" lIns="0" rIns="0" tIns="0" bIns="0">
            <a:spAutoFit/>
          </a:bodyPr>
          <a:lstStyle/>
          <a:p>
            <a:pPr algn="ctr"/>
            <a:r>
              <a:rPr sz="5000" b="0" i="1" kern="0" spc="0">
                <a:solidFill>
                  <a:srgbClr val="FFFFFF"/>
                </a:solidFill>
                <a:latin typeface="Instrument Serif"/>
              </a:rPr>
              <a:t>SOSTENIBILIDAD COMO DESEO SIN INFRAESTRUCTURA</a:t>
            </a:r>
          </a:p>
        </p:txBody>
      </p:sp>
      <p:sp>
        <p:nvSpPr>
          <p:cNvPr id="4" name="TextBox 3"/>
          <p:cNvSpPr txBox="1"/>
          <p:nvPr/>
        </p:nvSpPr>
        <p:spPr>
          <a:xfrm>
            <a:off x="2286000" y="2857500"/>
            <a:ext cx="13716000" cy="1143000"/>
          </a:xfrm>
          <a:prstGeom prst="rect">
            <a:avLst/>
          </a:prstGeom>
          <a:noFill/>
        </p:spPr>
        <p:txBody>
          <a:bodyPr wrap="square" lIns="0" rIns="0" tIns="0" bIns="0">
            <a:spAutoFit/>
          </a:bodyPr>
          <a:lstStyle/>
          <a:p>
            <a:pPr algn="l"/>
            <a:r>
              <a:rPr sz="1800" b="0" i="0" kern="0" spc="0">
                <a:solidFill>
                  <a:srgbClr val="FFFFFF"/>
                </a:solidFill>
                <a:latin typeface="Poppins"/>
              </a:rPr>
              <a:t>51% quiere consumo responsable. Lo que entiende por eso: apagar luces, no desperdiciar agua.</a:t>
            </a:r>
          </a:p>
        </p:txBody>
      </p:sp>
      <p:sp>
        <p:nvSpPr>
          <p:cNvPr id="5" name="TextBox 4"/>
          <p:cNvSpPr txBox="1"/>
          <p:nvPr/>
        </p:nvSpPr>
        <p:spPr>
          <a:xfrm>
            <a:off x="2286000" y="3905250"/>
            <a:ext cx="13716000" cy="1143000"/>
          </a:xfrm>
          <a:prstGeom prst="rect">
            <a:avLst/>
          </a:prstGeom>
          <a:noFill/>
        </p:spPr>
        <p:txBody>
          <a:bodyPr wrap="square" lIns="0" rIns="0" tIns="0" bIns="0">
            <a:spAutoFit/>
          </a:bodyPr>
          <a:lstStyle/>
          <a:p>
            <a:pPr algn="l"/>
            <a:r>
              <a:rPr sz="1800" b="0" i="0" kern="0" spc="0">
                <a:solidFill>
                  <a:srgbClr val="FFFFFF"/>
                </a:solidFill>
                <a:latin typeface="Poppins"/>
              </a:rPr>
              <a:t>28% quiere reciclar. El camión lo revuelve todo. El ciudadano abandona — por lógica, no por pereza.</a:t>
            </a:r>
          </a:p>
        </p:txBody>
      </p:sp>
      <p:sp>
        <p:nvSpPr>
          <p:cNvPr id="6" name="TextBox 5"/>
          <p:cNvSpPr txBox="1"/>
          <p:nvPr/>
        </p:nvSpPr>
        <p:spPr>
          <a:xfrm>
            <a:off x="2286000" y="4953000"/>
            <a:ext cx="13716000" cy="1143000"/>
          </a:xfrm>
          <a:prstGeom prst="rect">
            <a:avLst/>
          </a:prstGeom>
          <a:noFill/>
        </p:spPr>
        <p:txBody>
          <a:bodyPr wrap="square" lIns="0" rIns="0" tIns="0" bIns="0">
            <a:spAutoFit/>
          </a:bodyPr>
          <a:lstStyle/>
          <a:p>
            <a:pPr algn="l"/>
            <a:r>
              <a:rPr sz="1800" b="0" i="0" kern="0" spc="0">
                <a:solidFill>
                  <a:srgbClr val="FFFFFF"/>
                </a:solidFill>
                <a:latin typeface="Poppins"/>
              </a:rPr>
              <a:t>La conciencia ecológica tiene un origen geográfico: el viaje al exterior.</a:t>
            </a:r>
          </a:p>
        </p:txBody>
      </p:sp>
      <p:sp>
        <p:nvSpPr>
          <p:cNvPr id="7" name="TextBox 6"/>
          <p:cNvSpPr txBox="1"/>
          <p:nvPr/>
        </p:nvSpPr>
        <p:spPr>
          <a:xfrm>
            <a:off x="2286000" y="6000750"/>
            <a:ext cx="13716000" cy="1143000"/>
          </a:xfrm>
          <a:prstGeom prst="rect">
            <a:avLst/>
          </a:prstGeom>
          <a:noFill/>
        </p:spPr>
        <p:txBody>
          <a:bodyPr wrap="square" lIns="0" rIns="0" tIns="0" bIns="0">
            <a:spAutoFit/>
          </a:bodyPr>
          <a:lstStyle/>
          <a:p>
            <a:pPr algn="l"/>
            <a:r>
              <a:rPr sz="1800" b="0" i="0" kern="0" spc="0">
                <a:solidFill>
                  <a:srgbClr val="FFFFFF"/>
                </a:solidFill>
                <a:latin typeface="Poppins"/>
              </a:rPr>
              <a:t>Quien no viaja, no aprende. El sistema educativo local no cierra esa brecha.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8001000" y="1143000"/>
            <a:ext cx="2286000" cy="476250"/>
          </a:xfrm>
          <a:prstGeom prst="roundRect">
            <a:avLst>
              <a:gd name="adj" fmla="val 40000"/>
            </a:avLst>
          </a:prstGeom>
          <a:solidFill>
            <a:srgbClr val="C8F56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kern="0" spc="0">
                <a:solidFill>
                  <a:srgbClr val="000000"/>
                </a:solidFill>
                <a:latin typeface="Poppins"/>
              </a:rPr>
              <a:t>TENSIÓN 04</a:t>
            </a:r>
          </a:p>
        </p:txBody>
      </p:sp>
      <p:sp>
        <p:nvSpPr>
          <p:cNvPr id="3" name="TextBox 2"/>
          <p:cNvSpPr txBox="1"/>
          <p:nvPr/>
        </p:nvSpPr>
        <p:spPr>
          <a:xfrm>
            <a:off x="1143000" y="2381250"/>
            <a:ext cx="16002000" cy="4762500"/>
          </a:xfrm>
          <a:prstGeom prst="rect">
            <a:avLst/>
          </a:prstGeom>
          <a:noFill/>
        </p:spPr>
        <p:txBody>
          <a:bodyPr wrap="square" lIns="0" rIns="0" tIns="0" bIns="0">
            <a:spAutoFit/>
          </a:bodyPr>
          <a:lstStyle/>
          <a:p>
            <a:pPr algn="ctr"/>
            <a:r>
              <a:rPr sz="7000" b="0" i="0" kern="0" spc="0">
                <a:solidFill>
                  <a:srgbClr val="FFFFFF"/>
                </a:solidFill>
                <a:latin typeface="Instrument Serif"/>
              </a:rPr>
              <a:t>LA COMPRA POR REDES: </a:t>
            </a:r>
            <a:r>
              <a:rPr sz="7000" b="0" i="1" kern="0" spc="0">
                <a:solidFill>
                  <a:srgbClr val="FFFFFF"/>
                </a:solidFill>
                <a:latin typeface="Instrument Serif"/>
              </a:rPr>
              <a:t>EXCLUSIÓN, NO DESINTERÉS.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2 DE CADA 3 DECLARAN QUE NO COMPRAN POR REDES. </a:t>
            </a:r>
            <a:r>
              <a:rPr sz="5000" b="0" i="1" kern="0" spc="0">
                <a:solidFill>
                  <a:srgbClr val="FFFFFF"/>
                </a:solidFill>
                <a:latin typeface="Instrument Serif"/>
              </a:rPr>
              <a:t>LA COMPRA POR ESTÍMULO DIGITAL ES MINORÍA REAL.</a:t>
            </a:r>
          </a:p>
        </p:txBody>
      </p:sp>
      <p:sp>
        <p:nvSpPr>
          <p:cNvPr id="3" name="Rectangle 2"/>
          <p:cNvSpPr/>
          <p:nvPr/>
        </p:nvSpPr>
        <p:spPr>
          <a:xfrm>
            <a:off x="6848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20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7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65%</a:t>
            </a:r>
          </a:p>
        </p:txBody>
      </p:sp>
      <p:sp>
        <p:nvSpPr>
          <p:cNvPr id="6" name="TextBox 5"/>
          <p:cNvSpPr txBox="1"/>
          <p:nvPr/>
        </p:nvSpPr>
        <p:spPr>
          <a:xfrm>
            <a:off x="277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no compró </a:t>
            </a:r>
            <a:r>
              <a:rPr sz="1300" b="1" i="0" kern="0" spc="0">
                <a:solidFill>
                  <a:srgbClr val="FFFFFF"/>
                </a:solidFill>
                <a:latin typeface="Poppins"/>
              </a:rPr>
              <a:t>ninguna vez</a:t>
            </a:r>
            <a:r>
              <a:rPr sz="1300" b="0" i="0" kern="0" spc="0">
                <a:solidFill>
                  <a:srgbClr val="FFFFFF"/>
                </a:solidFill>
                <a:latin typeface="Poppins"/>
              </a:rPr>
              <a:t> en los últimos 6 meses por algo visto en redes sociales. 65.4% exacto. P52, Base 500.</a:t>
            </a:r>
          </a:p>
        </p:txBody>
      </p:sp>
      <p:sp>
        <p:nvSpPr>
          <p:cNvPr id="7" name="TextBox 6"/>
          <p:cNvSpPr txBox="1"/>
          <p:nvPr/>
        </p:nvSpPr>
        <p:spPr>
          <a:xfrm>
            <a:off x="7343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20%</a:t>
            </a:r>
          </a:p>
        </p:txBody>
      </p:sp>
      <p:sp>
        <p:nvSpPr>
          <p:cNvPr id="8" name="TextBox 7"/>
          <p:cNvSpPr txBox="1"/>
          <p:nvPr/>
        </p:nvSpPr>
        <p:spPr>
          <a:xfrm>
            <a:off x="7343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compró </a:t>
            </a:r>
            <a:r>
              <a:rPr sz="1300" b="1" i="0" kern="0" spc="0">
                <a:solidFill>
                  <a:srgbClr val="FFFFFF"/>
                </a:solidFill>
                <a:latin typeface="Poppins"/>
              </a:rPr>
              <a:t>1 a 2 veces</a:t>
            </a:r>
            <a:r>
              <a:rPr sz="1300" b="0" i="0" kern="0" spc="0">
                <a:solidFill>
                  <a:srgbClr val="FFFFFF"/>
                </a:solidFill>
                <a:latin typeface="Poppins"/>
              </a:rPr>
              <a:t>; 10.6% compró 3 a 5 veces. La frecuencia media es baja — no hay masa de compradores habituales. P52, Base 500.</a:t>
            </a:r>
          </a:p>
        </p:txBody>
      </p:sp>
      <p:sp>
        <p:nvSpPr>
          <p:cNvPr id="9" name="TextBox 8"/>
          <p:cNvSpPr txBox="1"/>
          <p:nvPr/>
        </p:nvSpPr>
        <p:spPr>
          <a:xfrm>
            <a:off x="1191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4%</a:t>
            </a:r>
          </a:p>
        </p:txBody>
      </p:sp>
      <p:sp>
        <p:nvSpPr>
          <p:cNvPr id="10" name="TextBox 9"/>
          <p:cNvSpPr txBox="1"/>
          <p:nvPr/>
        </p:nvSpPr>
        <p:spPr>
          <a:xfrm>
            <a:off x="1191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compró </a:t>
            </a:r>
            <a:r>
              <a:rPr sz="1300" b="1" i="0" kern="0" spc="0">
                <a:solidFill>
                  <a:srgbClr val="FFFFFF"/>
                </a:solidFill>
                <a:latin typeface="Poppins"/>
              </a:rPr>
              <a:t>6 o más veces</a:t>
            </a:r>
            <a:r>
              <a:rPr sz="1300" b="0" i="0" kern="0" spc="0">
                <a:solidFill>
                  <a:srgbClr val="FFFFFF"/>
                </a:solidFill>
                <a:latin typeface="Poppins"/>
              </a:rPr>
              <a:t> en ese período. La compra impulsiva digital no es masa — es el perfil de una minoría de alta frecuencia. P52, Base 500.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A MÁS POBREZA, MENOS CLIC: </a:t>
            </a:r>
            <a:r>
              <a:rPr sz="5000" b="0" i="1" kern="0" spc="0">
                <a:solidFill>
                  <a:srgbClr val="FFFFFF"/>
                </a:solidFill>
                <a:latin typeface="Instrument Serif"/>
              </a:rPr>
              <a:t>87.5% DEL ESTRATO E NO COMPRA NADA POR REDES; 60.6% DEL ESTRATO C TAMPOCO, PERO POR OTRA RAZÓN.</a:t>
            </a:r>
          </a:p>
        </p:txBody>
      </p:sp>
      <p:sp>
        <p:nvSpPr>
          <p:cNvPr id="3" name="Rectangle 2"/>
          <p:cNvSpPr/>
          <p:nvPr/>
        </p:nvSpPr>
        <p:spPr>
          <a:xfrm>
            <a:off x="6848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20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7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88%</a:t>
            </a:r>
          </a:p>
        </p:txBody>
      </p:sp>
      <p:sp>
        <p:nvSpPr>
          <p:cNvPr id="6" name="TextBox 5"/>
          <p:cNvSpPr txBox="1"/>
          <p:nvPr/>
        </p:nvSpPr>
        <p:spPr>
          <a:xfrm>
            <a:off x="277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a:t>
            </a:r>
            <a:r>
              <a:rPr sz="1300" b="1" i="0" kern="0" spc="0">
                <a:solidFill>
                  <a:srgbClr val="FFFFFF"/>
                </a:solidFill>
                <a:latin typeface="Poppins"/>
              </a:rPr>
              <a:t>NSE E</a:t>
            </a:r>
            <a:r>
              <a:rPr sz="1300" b="0" i="0" kern="0" spc="0">
                <a:solidFill>
                  <a:srgbClr val="FFFFFF"/>
                </a:solidFill>
                <a:latin typeface="Poppins"/>
              </a:rPr>
              <a:t> (n≈32) declaró "ninguna" compra por redes — el subset con mayor abstención. 87.5% exacto. Tendencia direccional. P52 × NSE.</a:t>
            </a:r>
          </a:p>
        </p:txBody>
      </p:sp>
      <p:sp>
        <p:nvSpPr>
          <p:cNvPr id="7" name="TextBox 6"/>
          <p:cNvSpPr txBox="1"/>
          <p:nvPr/>
        </p:nvSpPr>
        <p:spPr>
          <a:xfrm>
            <a:off x="7343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74%</a:t>
            </a:r>
          </a:p>
        </p:txBody>
      </p:sp>
      <p:sp>
        <p:nvSpPr>
          <p:cNvPr id="8" name="TextBox 7"/>
          <p:cNvSpPr txBox="1"/>
          <p:nvPr/>
        </p:nvSpPr>
        <p:spPr>
          <a:xfrm>
            <a:off x="7343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a:t>
            </a:r>
            <a:r>
              <a:rPr sz="1300" b="1" i="0" kern="0" spc="0">
                <a:solidFill>
                  <a:srgbClr val="FFFFFF"/>
                </a:solidFill>
                <a:latin typeface="Poppins"/>
              </a:rPr>
              <a:t>NSE D</a:t>
            </a:r>
            <a:r>
              <a:rPr sz="1300" b="0" i="0" kern="0" spc="0">
                <a:solidFill>
                  <a:srgbClr val="FFFFFF"/>
                </a:solidFill>
                <a:latin typeface="Poppins"/>
              </a:rPr>
              <a:t> (n≈172) no compró nada — 73.8% exacto. La abstinencia cae sostenidamente al subir el nivel socioeconómico. P52 × NSE.</a:t>
            </a:r>
          </a:p>
        </p:txBody>
      </p:sp>
      <p:sp>
        <p:nvSpPr>
          <p:cNvPr id="9" name="TextBox 8"/>
          <p:cNvSpPr txBox="1"/>
          <p:nvPr/>
        </p:nvSpPr>
        <p:spPr>
          <a:xfrm>
            <a:off x="1191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61%</a:t>
            </a:r>
          </a:p>
        </p:txBody>
      </p:sp>
      <p:sp>
        <p:nvSpPr>
          <p:cNvPr id="10" name="TextBox 9"/>
          <p:cNvSpPr txBox="1"/>
          <p:nvPr/>
        </p:nvSpPr>
        <p:spPr>
          <a:xfrm>
            <a:off x="1191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a:t>
            </a:r>
            <a:r>
              <a:rPr sz="1300" b="1" i="0" kern="0" spc="0">
                <a:solidFill>
                  <a:srgbClr val="FFFFFF"/>
                </a:solidFill>
                <a:latin typeface="Poppins"/>
              </a:rPr>
              <a:t>NSE C</a:t>
            </a:r>
            <a:r>
              <a:rPr sz="1300" b="0" i="0" kern="0" spc="0">
                <a:solidFill>
                  <a:srgbClr val="FFFFFF"/>
                </a:solidFill>
                <a:latin typeface="Poppins"/>
              </a:rPr>
              <a:t> (n≈218) no compró nada. 60.6% exacto. Brecha E vs C: 27 puntos. El gradiente es lineal. NSE AB excluido (n&lt;30). P52 × NSE.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LA GENERACIÓN MÁS JOVEN COMPRA POR REDES EL DOBLE QUE LA MAYOR: </a:t>
            </a:r>
            <a:r>
              <a:rPr sz="5000" b="0" i="1" kern="0" spc="0">
                <a:solidFill>
                  <a:srgbClr val="FFFFFF"/>
                </a:solidFill>
                <a:latin typeface="Instrument Serif"/>
              </a:rPr>
              <a:t>BRECHA DE 29 PUNTOS ENTRE 18–24 Y 55+.</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47%</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subset </a:t>
            </a:r>
            <a:r>
              <a:rPr sz="1300" b="1" i="0" kern="0" spc="0">
                <a:solidFill>
                  <a:srgbClr val="FFFFFF"/>
                </a:solidFill>
                <a:latin typeface="Poppins"/>
              </a:rPr>
              <a:t>18–24 años</a:t>
            </a:r>
            <a:r>
              <a:rPr sz="1300" b="0" i="0" kern="0" spc="0">
                <a:solidFill>
                  <a:srgbClr val="FFFFFF"/>
                </a:solidFill>
                <a:latin typeface="Poppins"/>
              </a:rPr>
              <a:t> (n≈55) declaró "ninguna" compra — el grupo menos abstencionista. 47.3% exacto. Más de la mitad del grupo joven sí compró al menos una vez. P52 × Edad.</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77%</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subset </a:t>
            </a:r>
            <a:r>
              <a:rPr sz="1300" b="1" i="0" kern="0" spc="0">
                <a:solidFill>
                  <a:srgbClr val="FFFFFF"/>
                </a:solidFill>
                <a:latin typeface="Poppins"/>
              </a:rPr>
              <a:t>55+</a:t>
            </a:r>
            <a:r>
              <a:rPr sz="1300" b="0" i="0" kern="0" spc="0">
                <a:solidFill>
                  <a:srgbClr val="FFFFFF"/>
                </a:solidFill>
                <a:latin typeface="Poppins"/>
              </a:rPr>
              <a:t> (n≈119) no compró nada. 76.5% exacto. Abstención crece lineal con la edad. Brecha entre extremos generacionales: 29 puntos. P52 × Edad.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EL HOGAR SIN HIJOS CON MASCOTA ES EL MÁS PERMEABLE A LAS REDES: </a:t>
            </a:r>
            <a:r>
              <a:rPr sz="5000" b="0" i="1" kern="0" spc="0">
                <a:solidFill>
                  <a:srgbClr val="FFFFFF"/>
                </a:solidFill>
                <a:latin typeface="Instrument Serif"/>
              </a:rPr>
              <a:t>CASI LA MITAD COMPRÓ AL MENOS UNA VEZ EN 6 MESES.</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51%</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subset </a:t>
            </a:r>
            <a:r>
              <a:rPr sz="1300" b="1" i="0" kern="0" spc="0">
                <a:solidFill>
                  <a:srgbClr val="FFFFFF"/>
                </a:solidFill>
                <a:latin typeface="Poppins"/>
              </a:rPr>
              <a:t>sin hijos con mascotas</a:t>
            </a:r>
            <a:r>
              <a:rPr sz="1300" b="0" i="0" kern="0" spc="0">
                <a:solidFill>
                  <a:srgbClr val="FFFFFF"/>
                </a:solidFill>
                <a:latin typeface="Poppins"/>
              </a:rPr>
              <a:t> (n≈37) declaró "ninguna" compra — la tipología menos abstencionista. 51.4% exacto. Casi la mitad sí compró. Tendencia direccional. P52 × Tipología.</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74%</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subset </a:t>
            </a:r>
            <a:r>
              <a:rPr sz="1300" b="1" i="0" kern="0" spc="0">
                <a:solidFill>
                  <a:srgbClr val="FFFFFF"/>
                </a:solidFill>
                <a:latin typeface="Poppins"/>
              </a:rPr>
              <a:t>monoparental</a:t>
            </a:r>
            <a:r>
              <a:rPr sz="1300" b="0" i="0" kern="0" spc="0">
                <a:solidFill>
                  <a:srgbClr val="FFFFFF"/>
                </a:solidFill>
                <a:latin typeface="Poppins"/>
              </a:rPr>
              <a:t> (n≈122) no compró nada — 73.8% exacto. La mayor abstención. Vs 60.0% biparental (n≈190). Más dependientes = menos compra digital. P52 × Tipología.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571500"/>
            <a:ext cx="18288000" cy="571500"/>
          </a:xfrm>
          <a:prstGeom prst="rect">
            <a:avLst/>
          </a:prstGeom>
          <a:noFill/>
        </p:spPr>
        <p:txBody>
          <a:bodyPr wrap="square" lIns="0" rIns="0" tIns="0" bIns="0">
            <a:spAutoFit/>
          </a:bodyPr>
          <a:lstStyle/>
          <a:p>
            <a:pPr algn="ctr"/>
            <a:r>
              <a:rPr sz="1400" b="0" i="0" kern="0" spc="0">
                <a:solidFill>
                  <a:srgbClr val="9B9B9B"/>
                </a:solidFill>
                <a:latin typeface="Poppins"/>
              </a:rPr>
              <a:t>TENSIÓN 04 — SÍNTESIS</a:t>
            </a:r>
          </a:p>
        </p:txBody>
      </p:sp>
      <p:sp>
        <p:nvSpPr>
          <p:cNvPr id="3" name="TextBox 2"/>
          <p:cNvSpPr txBox="1"/>
          <p:nvPr/>
        </p:nvSpPr>
        <p:spPr>
          <a:xfrm>
            <a:off x="1143000" y="1428750"/>
            <a:ext cx="16002000" cy="762000"/>
          </a:xfrm>
          <a:prstGeom prst="rect">
            <a:avLst/>
          </a:prstGeom>
          <a:noFill/>
        </p:spPr>
        <p:txBody>
          <a:bodyPr wrap="square" lIns="0" rIns="0" tIns="0" bIns="0">
            <a:spAutoFit/>
          </a:bodyPr>
          <a:lstStyle/>
          <a:p>
            <a:pPr algn="ctr"/>
            <a:r>
              <a:rPr sz="5000" b="0" i="1" kern="0" spc="0">
                <a:solidFill>
                  <a:srgbClr val="FFFFFF"/>
                </a:solidFill>
                <a:latin typeface="Instrument Serif"/>
              </a:rPr>
              <a:t>LA COMPRA POR REDES: EXCLUSIÓN, NO DESINTERÉS</a:t>
            </a:r>
          </a:p>
        </p:txBody>
      </p:sp>
      <p:sp>
        <p:nvSpPr>
          <p:cNvPr id="4" name="TextBox 3"/>
          <p:cNvSpPr txBox="1"/>
          <p:nvPr/>
        </p:nvSpPr>
        <p:spPr>
          <a:xfrm>
            <a:off x="2286000" y="2857500"/>
            <a:ext cx="13716000" cy="1143000"/>
          </a:xfrm>
          <a:prstGeom prst="rect">
            <a:avLst/>
          </a:prstGeom>
          <a:noFill/>
        </p:spPr>
        <p:txBody>
          <a:bodyPr wrap="square" lIns="0" rIns="0" tIns="0" bIns="0">
            <a:spAutoFit/>
          </a:bodyPr>
          <a:lstStyle/>
          <a:p>
            <a:pPr algn="l"/>
            <a:r>
              <a:rPr sz="1800" b="0" i="0" kern="0" spc="0">
                <a:solidFill>
                  <a:srgbClr val="FFFFFF"/>
                </a:solidFill>
                <a:latin typeface="Poppins"/>
              </a:rPr>
              <a:t>65% dice que no compra por redes. Pero los cruces revelan que la abstención no es uniforme.</a:t>
            </a:r>
          </a:p>
        </p:txBody>
      </p:sp>
      <p:sp>
        <p:nvSpPr>
          <p:cNvPr id="5" name="TextBox 4"/>
          <p:cNvSpPr txBox="1"/>
          <p:nvPr/>
        </p:nvSpPr>
        <p:spPr>
          <a:xfrm>
            <a:off x="2286000" y="3905250"/>
            <a:ext cx="13716000" cy="1143000"/>
          </a:xfrm>
          <a:prstGeom prst="rect">
            <a:avLst/>
          </a:prstGeom>
          <a:noFill/>
        </p:spPr>
        <p:txBody>
          <a:bodyPr wrap="square" lIns="0" rIns="0" tIns="0" bIns="0">
            <a:spAutoFit/>
          </a:bodyPr>
          <a:lstStyle/>
          <a:p>
            <a:pPr algn="l"/>
            <a:r>
              <a:rPr sz="1800" b="0" i="0" kern="0" spc="0">
                <a:solidFill>
                  <a:srgbClr val="FFFFFF"/>
                </a:solidFill>
                <a:latin typeface="Poppins"/>
              </a:rPr>
              <a:t>NSE E: 88% no compra. NSE C: 61%. La brecha es de 27 puntos — y el cuestionario no preguntó por qué.</a:t>
            </a:r>
          </a:p>
        </p:txBody>
      </p:sp>
      <p:sp>
        <p:nvSpPr>
          <p:cNvPr id="6" name="TextBox 5"/>
          <p:cNvSpPr txBox="1"/>
          <p:nvPr/>
        </p:nvSpPr>
        <p:spPr>
          <a:xfrm>
            <a:off x="2286000" y="4953000"/>
            <a:ext cx="13716000" cy="1143000"/>
          </a:xfrm>
          <a:prstGeom prst="rect">
            <a:avLst/>
          </a:prstGeom>
          <a:noFill/>
        </p:spPr>
        <p:txBody>
          <a:bodyPr wrap="square" lIns="0" rIns="0" tIns="0" bIns="0">
            <a:spAutoFit/>
          </a:bodyPr>
          <a:lstStyle/>
          <a:p>
            <a:pPr algn="l"/>
            <a:r>
              <a:rPr sz="1800" b="0" i="0" kern="0" spc="0">
                <a:solidFill>
                  <a:srgbClr val="FFFFFF"/>
                </a:solidFill>
                <a:latin typeface="Poppins"/>
              </a:rPr>
              <a:t>Los jóvenes 18–24: solo 47% abstención — la mitad sí compró. Los 55+: 77% abstención.</a:t>
            </a:r>
          </a:p>
        </p:txBody>
      </p:sp>
      <p:sp>
        <p:nvSpPr>
          <p:cNvPr id="7" name="TextBox 6"/>
          <p:cNvSpPr txBox="1"/>
          <p:nvPr/>
        </p:nvSpPr>
        <p:spPr>
          <a:xfrm>
            <a:off x="2286000" y="6000750"/>
            <a:ext cx="13716000" cy="1143000"/>
          </a:xfrm>
          <a:prstGeom prst="rect">
            <a:avLst/>
          </a:prstGeom>
          <a:noFill/>
        </p:spPr>
        <p:txBody>
          <a:bodyPr wrap="square" lIns="0" rIns="0" tIns="0" bIns="0">
            <a:spAutoFit/>
          </a:bodyPr>
          <a:lstStyle/>
          <a:p>
            <a:pPr algn="l"/>
            <a:r>
              <a:rPr sz="1800" b="0" i="0" kern="0" spc="0">
                <a:solidFill>
                  <a:srgbClr val="FFFFFF"/>
                </a:solidFill>
                <a:latin typeface="Poppins"/>
              </a:rPr>
              <a:t>La abstención del NSE bajo refleja exclusión digital, no desinterés. La marca que lee 65% plano pierde el dato real.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571500"/>
            <a:ext cx="18288000" cy="571500"/>
          </a:xfrm>
          <a:prstGeom prst="rect">
            <a:avLst/>
          </a:prstGeom>
          <a:noFill/>
        </p:spPr>
        <p:txBody>
          <a:bodyPr wrap="square" lIns="0" rIns="0" tIns="0" bIns="0">
            <a:spAutoFit/>
          </a:bodyPr>
          <a:lstStyle/>
          <a:p>
            <a:pPr algn="ctr"/>
            <a:r>
              <a:rPr sz="1400" b="0" i="0" kern="0" spc="0">
                <a:solidFill>
                  <a:srgbClr val="9B9B9B"/>
                </a:solidFill>
                <a:latin typeface="Poppins"/>
              </a:rPr>
              <a:t>TENSIÓN 04 — PREGUNTA PARA LA MARCA</a:t>
            </a:r>
          </a:p>
        </p:txBody>
      </p:sp>
      <p:sp>
        <p:nvSpPr>
          <p:cNvPr id="3" name="TextBox 2"/>
          <p:cNvSpPr txBox="1"/>
          <p:nvPr/>
        </p:nvSpPr>
        <p:spPr>
          <a:xfrm>
            <a:off x="1143000" y="2667000"/>
            <a:ext cx="16002000" cy="4762500"/>
          </a:xfrm>
          <a:prstGeom prst="rect">
            <a:avLst/>
          </a:prstGeom>
          <a:noFill/>
        </p:spPr>
        <p:txBody>
          <a:bodyPr wrap="square" lIns="0" rIns="0" tIns="0" bIns="0">
            <a:spAutoFit/>
          </a:bodyPr>
          <a:lstStyle/>
          <a:p>
            <a:pPr algn="ctr"/>
            <a:r>
              <a:rPr sz="4200" b="0" i="1" kern="0" spc="0">
                <a:solidFill>
                  <a:srgbClr val="FFFFFF"/>
                </a:solidFill>
                <a:latin typeface="Instrument Serif"/>
              </a:rPr>
              <a:t>SI LA ABSTENCIÓN DE COMPRA DIGITAL ES EXCLUSIÓN, ¿QUÉ HACE TU MARCA PARA SER ACCESIBLE ANTES DEL CLIC?</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EL 65% DECLARA SIN TRANSACCIÓN. </a:t>
            </a:r>
            <a:r>
              <a:rPr sz="5000" b="0" i="1" kern="0" spc="0">
                <a:solidFill>
                  <a:srgbClr val="FFFFFF"/>
                </a:solidFill>
                <a:latin typeface="Instrument Serif"/>
              </a:rPr>
              <a:t>EL DESEO DIGITAL OPERA ANTES DEL CLIC.</a:t>
            </a:r>
          </a:p>
        </p:txBody>
      </p:sp>
      <p:sp>
        <p:nvSpPr>
          <p:cNvPr id="3" name="TextBox 2"/>
          <p:cNvSpPr txBox="1"/>
          <p:nvPr/>
        </p:nvSpPr>
        <p:spPr>
          <a:xfrm>
            <a:off x="7343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65%</a:t>
            </a:r>
          </a:p>
        </p:txBody>
      </p:sp>
      <p:sp>
        <p:nvSpPr>
          <p:cNvPr id="4" name="TextBox 3"/>
          <p:cNvSpPr txBox="1"/>
          <p:nvPr/>
        </p:nvSpPr>
        <p:spPr>
          <a:xfrm>
            <a:off x="7343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declara </a:t>
            </a:r>
            <a:r>
              <a:rPr sz="1300" b="1" i="0" kern="0" spc="0">
                <a:solidFill>
                  <a:srgbClr val="FFFFFF"/>
                </a:solidFill>
                <a:latin typeface="Poppins"/>
              </a:rPr>
              <a:t>"ninguna compra por redes"</a:t>
            </a:r>
            <a:r>
              <a:rPr sz="1300" b="0" i="0" kern="0" spc="0">
                <a:solidFill>
                  <a:srgbClr val="FFFFFF"/>
                </a:solidFill>
                <a:latin typeface="Poppins"/>
              </a:rPr>
              <a:t> (P52). Pero el cuali de T5 revela que la influencia de redes opera como aspiración, no como transacción. El clic no ocurrió; el deseo, sí. P52, Base 500.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8001000" y="1143000"/>
            <a:ext cx="2286000" cy="476250"/>
          </a:xfrm>
          <a:prstGeom prst="roundRect">
            <a:avLst>
              <a:gd name="adj" fmla="val 40000"/>
            </a:avLst>
          </a:prstGeom>
          <a:solidFill>
            <a:srgbClr val="C8F56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i="0" kern="0" spc="0">
                <a:solidFill>
                  <a:srgbClr val="000000"/>
                </a:solidFill>
                <a:latin typeface="Poppins"/>
              </a:rPr>
              <a:t>TENSIÓN 05</a:t>
            </a:r>
          </a:p>
        </p:txBody>
      </p:sp>
      <p:sp>
        <p:nvSpPr>
          <p:cNvPr id="3" name="TextBox 2"/>
          <p:cNvSpPr txBox="1"/>
          <p:nvPr/>
        </p:nvSpPr>
        <p:spPr>
          <a:xfrm>
            <a:off x="1143000" y="2381250"/>
            <a:ext cx="16002000" cy="4762500"/>
          </a:xfrm>
          <a:prstGeom prst="rect">
            <a:avLst/>
          </a:prstGeom>
          <a:noFill/>
        </p:spPr>
        <p:txBody>
          <a:bodyPr wrap="square" lIns="0" rIns="0" tIns="0" bIns="0">
            <a:spAutoFit/>
          </a:bodyPr>
          <a:lstStyle/>
          <a:p>
            <a:pPr algn="ctr"/>
            <a:r>
              <a:rPr sz="7000" b="0" i="0" kern="0" spc="0">
                <a:solidFill>
                  <a:srgbClr val="FFFFFF"/>
                </a:solidFill>
                <a:latin typeface="Instrument Serif"/>
              </a:rPr>
              <a:t>LA FILOSOFÍA DEL </a:t>
            </a:r>
            <a:r>
              <a:rPr sz="7000" b="0" i="1" kern="0" spc="0">
                <a:solidFill>
                  <a:srgbClr val="FFFFFF"/>
                </a:solidFill>
                <a:latin typeface="Instrument Serif"/>
              </a:rPr>
              <a:t>GASTO FAMILIAR.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OBLIGATORIO, NECESARIO, SUPERFLUO: </a:t>
            </a:r>
            <a:r>
              <a:rPr sz="5000" b="0" i="1" kern="0" spc="0">
                <a:solidFill>
                  <a:srgbClr val="FFFFFF"/>
                </a:solidFill>
                <a:latin typeface="Instrument Serif"/>
              </a:rPr>
              <a:t>LA JERARQUÍA MORAL DEL GASTO SE HEREDA DE PADRES A HIJOS.</a:t>
            </a:r>
          </a:p>
        </p:txBody>
      </p:sp>
      <p:sp>
        <p:nvSpPr>
          <p:cNvPr id="3" name="Rounded Rectangle 2"/>
          <p:cNvSpPr/>
          <p:nvPr/>
        </p:nvSpPr>
        <p:spPr>
          <a:xfrm>
            <a:off x="6438900" y="4086225"/>
            <a:ext cx="5400675" cy="2162175"/>
          </a:xfrm>
          <a:prstGeom prst="roundRect">
            <a:avLst>
              <a:gd name="adj" fmla="val 6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724650"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«Mi papá me enseñó que existen tres cosas que se compran: lo obligatorio, lo necesario y lo superfluo. (...) Tú tienes que comprar lo que es obligatorio, no necesariamente es necesario, y luego entonces tus gustos son notables porque tú resuelves todas las cosas. Con mis hijos trato de hacer lo mismo.»</a:t>
            </a:r>
          </a:p>
          <a:p>
            <a:pPr algn="ctr">
              <a:spcBef>
                <a:spcPts val="800"/>
              </a:spcBef>
            </a:pPr>
            <a:r>
              <a:rPr sz="1200" i="1" b="0" kern="0" spc="0">
                <a:solidFill>
                  <a:srgbClr val="FFFFFF"/>
                </a:solidFill>
                <a:latin typeface="Poppins"/>
              </a:rPr>
              <a:t>— Familia Mixta</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TRES GENERACIONES. </a:t>
            </a:r>
            <a:r>
              <a:rPr sz="5000" b="0" i="1" kern="0" spc="0">
                <a:solidFill>
                  <a:srgbClr val="FFFFFF"/>
                </a:solidFill>
                <a:latin typeface="Instrument Serif"/>
              </a:rPr>
              <a:t>EL MISMO SISTEMA DE DECISIÓN DE COMPRA.</a:t>
            </a:r>
          </a:p>
        </p:txBody>
      </p:sp>
      <p:sp>
        <p:nvSpPr>
          <p:cNvPr id="3" name="Rounded Rectangle 2"/>
          <p:cNvSpPr/>
          <p:nvPr/>
        </p:nvSpPr>
        <p:spPr>
          <a:xfrm>
            <a:off x="6438900" y="4086225"/>
            <a:ext cx="5400675" cy="2162175"/>
          </a:xfrm>
          <a:prstGeom prst="roundRect">
            <a:avLst>
              <a:gd name="adj" fmla="val 6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724650"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«Con mis hijos trato de hacer lo mismo.»</a:t>
            </a:r>
          </a:p>
          <a:p>
            <a:pPr algn="ctr">
              <a:spcBef>
                <a:spcPts val="800"/>
              </a:spcBef>
            </a:pPr>
            <a:r>
              <a:rPr sz="1200" i="1" b="0" kern="0" spc="0">
                <a:solidFill>
                  <a:srgbClr val="FFFFFF"/>
                </a:solidFill>
                <a:latin typeface="Poppins"/>
              </a:rPr>
              <a:t>— Familia Mixta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LAS REDES NO VENDEN PRODUCTOS. </a:t>
            </a:r>
            <a:r>
              <a:rPr sz="5000" b="0" i="1" kern="0" spc="0">
                <a:solidFill>
                  <a:srgbClr val="FFFFFF"/>
                </a:solidFill>
                <a:latin typeface="Instrument Serif"/>
              </a:rPr>
              <a:t>VENDEN VIDAS QUE EL DOMINICANO SIENTE QUE NO LE TOCAN.</a:t>
            </a:r>
          </a:p>
        </p:txBody>
      </p:sp>
      <p:sp>
        <p:nvSpPr>
          <p:cNvPr id="3" name="TextBox 2"/>
          <p:cNvSpPr txBox="1"/>
          <p:nvPr/>
        </p:nvSpPr>
        <p:spPr>
          <a:xfrm>
            <a:off x="7343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65%</a:t>
            </a:r>
          </a:p>
        </p:txBody>
      </p:sp>
      <p:sp>
        <p:nvSpPr>
          <p:cNvPr id="4" name="TextBox 3"/>
          <p:cNvSpPr txBox="1"/>
          <p:nvPr/>
        </p:nvSpPr>
        <p:spPr>
          <a:xfrm>
            <a:off x="7343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declara que no compró nada por redes en 6 meses (</a:t>
            </a:r>
            <a:r>
              <a:rPr sz="1300" b="1" i="0" kern="0" spc="0">
                <a:solidFill>
                  <a:srgbClr val="FFFFFF"/>
                </a:solidFill>
                <a:latin typeface="Poppins"/>
              </a:rPr>
              <a:t>P52</a:t>
            </a:r>
            <a:r>
              <a:rPr sz="1300" b="0" i="0" kern="0" spc="0">
                <a:solidFill>
                  <a:srgbClr val="FFFFFF"/>
                </a:solidFill>
                <a:latin typeface="Poppins"/>
              </a:rPr>
              <a:t>). La cifra dice: sin transacción. Lo que el cuali añade: la influencia opera antes de la transacción, en la formación del deseo. Base 500.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2762250"/>
            <a:ext cx="15592425" cy="4953000"/>
          </a:xfrm>
          <a:prstGeom prst="rect">
            <a:avLst/>
          </a:prstGeom>
          <a:noFill/>
        </p:spPr>
        <p:txBody>
          <a:bodyPr wrap="square" lIns="0" rIns="0" tIns="0" bIns="0">
            <a:spAutoFit/>
          </a:bodyPr>
          <a:lstStyle/>
          <a:p>
            <a:pPr algn="ctr"/>
            <a:r>
              <a:rPr sz="5000" i="0" b="0" kern="0" spc="0">
                <a:solidFill>
                  <a:srgbClr val="FFFFFF"/>
                </a:solidFill>
                <a:latin typeface="Instrument Serif"/>
              </a:rPr>
              <a:t>«Todo es una pámpara, como dice un buen dominicano. O sea, las personas quieren vivir una vida que no es la que les toca vivir. Las personas quieren — yo se lo atribuyo a las redes sociales. La gente se desespera.»</a:t>
            </a:r>
          </a:p>
        </p:txBody>
      </p:sp>
      <p:sp>
        <p:nvSpPr>
          <p:cNvPr id="4" name="TextBox 3"/>
          <p:cNvSpPr txBox="1"/>
          <p:nvPr/>
        </p:nvSpPr>
        <p:spPr>
          <a:xfrm>
            <a:off x="0" y="628650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Homoparental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571500"/>
            <a:ext cx="18288000" cy="571500"/>
          </a:xfrm>
          <a:prstGeom prst="rect">
            <a:avLst/>
          </a:prstGeom>
          <a:noFill/>
        </p:spPr>
        <p:txBody>
          <a:bodyPr wrap="square" lIns="0" rIns="0" tIns="0" bIns="0">
            <a:spAutoFit/>
          </a:bodyPr>
          <a:lstStyle/>
          <a:p>
            <a:pPr algn="ctr"/>
            <a:r>
              <a:rPr sz="1400" b="0" i="0" kern="0" spc="0">
                <a:solidFill>
                  <a:srgbClr val="9B9B9B"/>
                </a:solidFill>
                <a:latin typeface="Poppins"/>
              </a:rPr>
              <a:t>TENSIÓN 05 — SÍNTESIS</a:t>
            </a:r>
          </a:p>
        </p:txBody>
      </p:sp>
      <p:sp>
        <p:nvSpPr>
          <p:cNvPr id="3" name="TextBox 2"/>
          <p:cNvSpPr txBox="1"/>
          <p:nvPr/>
        </p:nvSpPr>
        <p:spPr>
          <a:xfrm>
            <a:off x="1143000" y="1428750"/>
            <a:ext cx="16002000" cy="762000"/>
          </a:xfrm>
          <a:prstGeom prst="rect">
            <a:avLst/>
          </a:prstGeom>
          <a:noFill/>
        </p:spPr>
        <p:txBody>
          <a:bodyPr wrap="square" lIns="0" rIns="0" tIns="0" bIns="0">
            <a:spAutoFit/>
          </a:bodyPr>
          <a:lstStyle/>
          <a:p>
            <a:pPr algn="ctr"/>
            <a:r>
              <a:rPr sz="5000" b="0" i="1" kern="0" spc="0">
                <a:solidFill>
                  <a:srgbClr val="FFFFFF"/>
                </a:solidFill>
                <a:latin typeface="Instrument Serif"/>
              </a:rPr>
              <a:t>LA FILOSOFÍA DEL GASTO FAMILIAR</a:t>
            </a:r>
          </a:p>
        </p:txBody>
      </p:sp>
      <p:sp>
        <p:nvSpPr>
          <p:cNvPr id="4" name="TextBox 3"/>
          <p:cNvSpPr txBox="1"/>
          <p:nvPr/>
        </p:nvSpPr>
        <p:spPr>
          <a:xfrm>
            <a:off x="2286000" y="2857500"/>
            <a:ext cx="13716000" cy="1143000"/>
          </a:xfrm>
          <a:prstGeom prst="rect">
            <a:avLst/>
          </a:prstGeom>
          <a:noFill/>
        </p:spPr>
        <p:txBody>
          <a:bodyPr wrap="square" lIns="0" rIns="0" tIns="0" bIns="0">
            <a:spAutoFit/>
          </a:bodyPr>
          <a:lstStyle/>
          <a:p>
            <a:pPr algn="l"/>
            <a:r>
              <a:rPr sz="1800" b="0" i="0" kern="0" spc="0">
                <a:solidFill>
                  <a:srgbClr val="FFFFFF"/>
                </a:solidFill>
                <a:latin typeface="Poppins"/>
              </a:rPr>
              <a:t>El hogar dominicano tiene una taxonomía del gasto heredada: obligatorio → necesario → superfluo.</a:t>
            </a:r>
          </a:p>
        </p:txBody>
      </p:sp>
      <p:sp>
        <p:nvSpPr>
          <p:cNvPr id="5" name="TextBox 4"/>
          <p:cNvSpPr txBox="1"/>
          <p:nvPr/>
        </p:nvSpPr>
        <p:spPr>
          <a:xfrm>
            <a:off x="2286000" y="3905250"/>
            <a:ext cx="13716000" cy="1143000"/>
          </a:xfrm>
          <a:prstGeom prst="rect">
            <a:avLst/>
          </a:prstGeom>
          <a:noFill/>
        </p:spPr>
        <p:txBody>
          <a:bodyPr wrap="square" lIns="0" rIns="0" tIns="0" bIns="0">
            <a:spAutoFit/>
          </a:bodyPr>
          <a:lstStyle/>
          <a:p>
            <a:pPr algn="l"/>
            <a:r>
              <a:rPr sz="1800" b="0" i="0" kern="0" spc="0">
                <a:solidFill>
                  <a:srgbClr val="FFFFFF"/>
                </a:solidFill>
                <a:latin typeface="Poppins"/>
              </a:rPr>
              <a:t>La cadena es intergeneracional. Del padre a los hijos. Tres generaciones, el mismo sistema.</a:t>
            </a:r>
          </a:p>
        </p:txBody>
      </p:sp>
      <p:sp>
        <p:nvSpPr>
          <p:cNvPr id="6" name="TextBox 5"/>
          <p:cNvSpPr txBox="1"/>
          <p:nvPr/>
        </p:nvSpPr>
        <p:spPr>
          <a:xfrm>
            <a:off x="2286000" y="4953000"/>
            <a:ext cx="13716000" cy="1143000"/>
          </a:xfrm>
          <a:prstGeom prst="rect">
            <a:avLst/>
          </a:prstGeom>
          <a:noFill/>
        </p:spPr>
        <p:txBody>
          <a:bodyPr wrap="square" lIns="0" rIns="0" tIns="0" bIns="0">
            <a:spAutoFit/>
          </a:bodyPr>
          <a:lstStyle/>
          <a:p>
            <a:pPr algn="l"/>
            <a:r>
              <a:rPr sz="1800" b="0" i="0" kern="0" spc="0">
                <a:solidFill>
                  <a:srgbClr val="FFFFFF"/>
                </a:solidFill>
                <a:latin typeface="Poppins"/>
              </a:rPr>
              <a:t>Las redes no generan transacciones masivas — generan deseos que el ingreso no puede costear.</a:t>
            </a:r>
          </a:p>
        </p:txBody>
      </p:sp>
      <p:sp>
        <p:nvSpPr>
          <p:cNvPr id="7" name="TextBox 6"/>
          <p:cNvSpPr txBox="1"/>
          <p:nvPr/>
        </p:nvSpPr>
        <p:spPr>
          <a:xfrm>
            <a:off x="2286000" y="6000750"/>
            <a:ext cx="13716000" cy="1143000"/>
          </a:xfrm>
          <a:prstGeom prst="rect">
            <a:avLst/>
          </a:prstGeom>
          <a:noFill/>
        </p:spPr>
        <p:txBody>
          <a:bodyPr wrap="square" lIns="0" rIns="0" tIns="0" bIns="0">
            <a:spAutoFit/>
          </a:bodyPr>
          <a:lstStyle/>
          <a:p>
            <a:pPr algn="l"/>
            <a:r>
              <a:rPr sz="1800" b="0" i="0" kern="0" spc="0">
                <a:solidFill>
                  <a:srgbClr val="FFFFFF"/>
                </a:solidFill>
                <a:latin typeface="Poppins"/>
              </a:rPr>
              <a:t>El 65% que 'no compra por redes' puede ser honesto en lo transaccional y activo en lo aspiracional.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571500"/>
            <a:ext cx="18288000" cy="571500"/>
          </a:xfrm>
          <a:prstGeom prst="rect">
            <a:avLst/>
          </a:prstGeom>
          <a:noFill/>
        </p:spPr>
        <p:txBody>
          <a:bodyPr wrap="square" lIns="0" rIns="0" tIns="0" bIns="0">
            <a:spAutoFit/>
          </a:bodyPr>
          <a:lstStyle/>
          <a:p>
            <a:pPr algn="ctr"/>
            <a:r>
              <a:rPr sz="1400" b="0" i="0" kern="0" spc="0">
                <a:solidFill>
                  <a:srgbClr val="9B9B9B"/>
                </a:solidFill>
                <a:latin typeface="Poppins"/>
              </a:rPr>
              <a:t>TENSIÓN 05 — PREGUNTA PARA LA MARCA</a:t>
            </a:r>
          </a:p>
        </p:txBody>
      </p:sp>
      <p:sp>
        <p:nvSpPr>
          <p:cNvPr id="3" name="TextBox 2"/>
          <p:cNvSpPr txBox="1"/>
          <p:nvPr/>
        </p:nvSpPr>
        <p:spPr>
          <a:xfrm>
            <a:off x="1143000" y="2667000"/>
            <a:ext cx="16002000" cy="4762500"/>
          </a:xfrm>
          <a:prstGeom prst="rect">
            <a:avLst/>
          </a:prstGeom>
          <a:noFill/>
        </p:spPr>
        <p:txBody>
          <a:bodyPr wrap="square" lIns="0" rIns="0" tIns="0" bIns="0">
            <a:spAutoFit/>
          </a:bodyPr>
          <a:lstStyle/>
          <a:p>
            <a:pPr algn="ctr"/>
            <a:r>
              <a:rPr sz="4200" b="0" i="1" kern="0" spc="0">
                <a:solidFill>
                  <a:srgbClr val="FFFFFF"/>
                </a:solidFill>
                <a:latin typeface="Instrument Serif"/>
              </a:rPr>
              <a:t>SI LAS REDES VENDEN ASPIRACIÓN, NO TRANSACCIÓN, ¿DÓNDE ENTRA TU MARCA — EN EL DESEO O EN EL CLIC?</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571500"/>
            <a:ext cx="18288000" cy="571500"/>
          </a:xfrm>
          <a:prstGeom prst="rect">
            <a:avLst/>
          </a:prstGeom>
          <a:noFill/>
        </p:spPr>
        <p:txBody>
          <a:bodyPr wrap="square" lIns="0" rIns="0" tIns="0" bIns="0">
            <a:spAutoFit/>
          </a:bodyPr>
          <a:lstStyle/>
          <a:p>
            <a:pPr algn="ctr"/>
            <a:r>
              <a:rPr sz="1400" b="0" i="0" kern="0" spc="0">
                <a:solidFill>
                  <a:srgbClr val="9B9B9B"/>
                </a:solidFill>
                <a:latin typeface="Poppins"/>
              </a:rPr>
              <a:t>CONSUMOS — CÓDIGO CASA 2025</a:t>
            </a:r>
          </a:p>
        </p:txBody>
      </p:sp>
      <p:sp>
        <p:nvSpPr>
          <p:cNvPr id="3" name="TextBox 2"/>
          <p:cNvSpPr txBox="1"/>
          <p:nvPr/>
        </p:nvSpPr>
        <p:spPr>
          <a:xfrm>
            <a:off x="1143000" y="2286000"/>
            <a:ext cx="16002000" cy="5334000"/>
          </a:xfrm>
          <a:prstGeom prst="rect">
            <a:avLst/>
          </a:prstGeom>
          <a:noFill/>
        </p:spPr>
        <p:txBody>
          <a:bodyPr wrap="square" lIns="0" rIns="0" tIns="0" bIns="0">
            <a:spAutoFit/>
          </a:bodyPr>
          <a:lstStyle/>
          <a:p>
            <a:pPr algn="ctr"/>
            <a:r>
              <a:rPr sz="4200" b="0" i="0" kern="0" spc="0">
                <a:solidFill>
                  <a:srgbClr val="FFFFFF"/>
                </a:solidFill>
                <a:latin typeface="Instrument Serif"/>
              </a:rPr>
              <a:t>EL PILAR CONSUMOS ES ESTRUCTURALMENTE UN PILAR DE BRECHAS SEMÁNTICAS: </a:t>
            </a:r>
            <a:r>
              <a:rPr sz="4200" b="0" i="1" kern="0" spc="0">
                <a:solidFill>
                  <a:srgbClr val="FFFFFF"/>
                </a:solidFill>
                <a:latin typeface="Instrument Serif"/>
              </a:rPr>
              <a:t>EL DOMINICANO DECLARA UNA COSA Y VIVE OTRA.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