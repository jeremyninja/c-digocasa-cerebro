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tag/voto&#250;til" TargetMode="External"/><Relationship Id="rId4" Type="http://schemas.openxmlformats.org/officeDocument/2006/relationships/image" Target="../media/image2.png"/><Relationship Id="rId5" Type="http://schemas.openxmlformats.org/officeDocument/2006/relationships/hyperlink" Target="https://en.unav.edu/web/global-affairs/latinoam%C3%A9rica-del-desencanto-de-la-pol%C3%ADtica-a-la-redefinici%C3%B3n-de-la-democracia" TargetMode="External"/><Relationship Id="rId6" Type="http://schemas.openxmlformats.org/officeDocument/2006/relationships/image" Target="../media/image3.png"/><Relationship Id="rId7" Type="http://schemas.openxmlformats.org/officeDocument/2006/relationships/hyperlink" Target="https://www.bakerinstitute.org/research/latinobarometro-most-dissatisfied-gov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tag/salirdelpais" TargetMode="External"/><Relationship Id="rId4" Type="http://schemas.openxmlformats.org/officeDocument/2006/relationships/image" Target="../media/image5.png"/><Relationship Id="rId5" Type="http://schemas.openxmlformats.org/officeDocument/2006/relationships/hyperlink" Target="https://www.diariolibre.com/opinion/mas-firmas/2024/09/16/migracion-los-dominicanos-tambien-emigran/2851533" TargetMode="External"/><Relationship Id="rId6" Type="http://schemas.openxmlformats.org/officeDocument/2006/relationships/image" Target="../media/image6.png"/><Relationship Id="rId7" Type="http://schemas.openxmlformats.org/officeDocument/2006/relationships/hyperlink" Target="https://www.prensa-latina.cu/2025/07/17/mas-de-27-mil-dominicanos-emigraron-en-2024-revela-investigacion/"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securityjournalamericas.com/caribbean-latin-american-security-2026/" TargetMode="External"/><Relationship Id="rId4" Type="http://schemas.openxmlformats.org/officeDocument/2006/relationships/image" Target="../media/image2.png"/><Relationship Id="rId5" Type="http://schemas.openxmlformats.org/officeDocument/2006/relationships/hyperlink" Target="https://en.unav.edu/web/global-affairs/latinoam%C3%A9rica-del-desencanto-de-la-pol%C3%ADtica-a-la-redefinici%C3%B3n-de-la-democracia"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shoutoutuk.org/2025/09/19/gen-z-and-the-rise-of-performative-activism/" TargetMode="External"/><Relationship Id="rId4" Type="http://schemas.openxmlformats.org/officeDocument/2006/relationships/image" Target="../media/image9.png"/><Relationship Id="rId5" Type="http://schemas.openxmlformats.org/officeDocument/2006/relationships/hyperlink" Target="https://www.montclair.edu/college-of-communication-and-media/2024/12/05/negativity-activism-division-and-fatigue-gen-z-social-media-and-the-2024-electio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www.tiktok.com/tag/newsdetox" TargetMode="External"/><Relationship Id="rId4" Type="http://schemas.openxmlformats.org/officeDocument/2006/relationships/image" Target="../media/image9.png"/><Relationship Id="rId5" Type="http://schemas.openxmlformats.org/officeDocument/2006/relationships/hyperlink" Target="https://www.montclair.edu/college-of-communication-and-media/2024/12/05/negativity-activism-division-and-fatigue-gen-z-social-media-and-the-2024-election/" TargetMode="External"/><Relationship Id="rId6" Type="http://schemas.openxmlformats.org/officeDocument/2006/relationships/image" Target="../media/image2.png"/><Relationship Id="rId7" Type="http://schemas.openxmlformats.org/officeDocument/2006/relationships/hyperlink" Target="https://en.unav.edu/web/global-affairs/latinoam%C3%A9rica-del-desencanto-de-la-pol%C3%ADtica-a-la-redefinici%C3%B3n-de-la-democraci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www.tiktok.com/tag/deepfake" TargetMode="External"/><Relationship Id="rId4" Type="http://schemas.openxmlformats.org/officeDocument/2006/relationships/image" Target="../media/image12.png"/><Relationship Id="rId5" Type="http://schemas.openxmlformats.org/officeDocument/2006/relationships/hyperlink" Target="https://n.com.do/2024/05/14/el-deep-fake-irrumpe-en-las-elecciones-de-rd/" TargetMode="External"/><Relationship Id="rId6" Type="http://schemas.openxmlformats.org/officeDocument/2006/relationships/image" Target="../media/image13.png"/><Relationship Id="rId7"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www.tiktok.com/tag/fakenews" TargetMode="External"/><Relationship Id="rId4" Type="http://schemas.openxmlformats.org/officeDocument/2006/relationships/image" Target="../media/image15.png"/><Relationship Id="rId5" Type="http://schemas.openxmlformats.org/officeDocument/2006/relationships/hyperlink" Target="https://techxplore.com/news/2025-06-hey-chatbot-true-ai-factchecks.html" TargetMode="External"/><Relationship Id="rId6" Type="http://schemas.openxmlformats.org/officeDocument/2006/relationships/image" Target="../media/image16.png"/><Relationship Id="rId7" Type="http://schemas.openxmlformats.org/officeDocument/2006/relationships/hyperlink" Target="https://www.aurorainbox.com/en/2025/05/15/future-chatbots-whatsapp-trends-ai-automa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www.tiktok.com/tag/factchecking" TargetMode="External"/><Relationship Id="rId4" Type="http://schemas.openxmlformats.org/officeDocument/2006/relationships/image" Target="../media/image18.png"/><Relationship Id="rId5" Type="http://schemas.openxmlformats.org/officeDocument/2006/relationships/hyperlink" Target="https://www.unesco.org/en/articles/unesco-promotes-media-and-information-literacy-means-counteract-disinformation-dominican-republic" TargetMode="External"/><Relationship Id="rId6" Type="http://schemas.openxmlformats.org/officeDocument/2006/relationships/image" Target="../media/image16.png"/><Relationship Id="rId7" Type="http://schemas.openxmlformats.org/officeDocument/2006/relationships/hyperlink" Target="https://www.aurorainbox.com/en/2025/05/15/future-chatbots-whatsapp-trends-ai-automati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www.tiktok.com/tag/deepfake" TargetMode="External"/><Relationship Id="rId4" Type="http://schemas.openxmlformats.org/officeDocument/2006/relationships/image" Target="../media/image19.png"/><Relationship Id="rId5" Type="http://schemas.openxmlformats.org/officeDocument/2006/relationships/hyperlink" Target="https://n.com.do/2024/05/14/el-deep-fake-irrumpe-en-las-elecciones-de-rd/" TargetMode="External"/><Relationship Id="rId6" Type="http://schemas.openxmlformats.org/officeDocument/2006/relationships/image" Target="../media/image20.png"/><Relationship Id="rId7" Type="http://schemas.openxmlformats.org/officeDocument/2006/relationships/hyperlink" Target="https://www.globenewswire.com/news-release/2025/10/10/3164963/0/en/AI-Disinformation-amp-Security-Threats-South-America-amp-Caribbean-2026-Assessment-Reveals-a-350-550-Projected-Increase-in-AI-Disinformation-Campaigns.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www.emarketer.com/content/tiktok-becomes-key-battleground-gen-z-voters-2024-election" TargetMode="External"/><Relationship Id="rId4" Type="http://schemas.openxmlformats.org/officeDocument/2006/relationships/image" Target="../media/image22.png"/><Relationship Id="rId5" Type="http://schemas.openxmlformats.org/officeDocument/2006/relationships/hyperlink" Target="https://www.pewresearch.org/short-reads/2025/01/17/a-closer-look-at-americans-experiences-with-news-on-tiktok/" TargetMode="External"/><Relationship Id="rId6" Type="http://schemas.openxmlformats.org/officeDocument/2006/relationships/image" Target="../media/image23.png"/><Relationship Id="rId7" Type="http://schemas.openxmlformats.org/officeDocument/2006/relationships/hyperlink" Target="https://misinforeview.hks.harvard.edu/article/toxic-politics-and-tiktok-engagement-in-the-2024-u-s-elec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www.tiktok.com/tag/newsinfluencer" TargetMode="External"/><Relationship Id="rId4" Type="http://schemas.openxmlformats.org/officeDocument/2006/relationships/image" Target="../media/image25.png"/><Relationship Id="rId5" Type="http://schemas.openxmlformats.org/officeDocument/2006/relationships/hyperlink" Target="https://www.pewresearch.org/journalism/2025/12/03/young-adults-and-the-future-of-news/" TargetMode="External"/><Relationship Id="rId6" Type="http://schemas.openxmlformats.org/officeDocument/2006/relationships/image" Target="../media/image26.png"/><Relationship Id="rId7" Type="http://schemas.openxmlformats.org/officeDocument/2006/relationships/hyperlink" Target="https://www.cnn.com/2024/11/18/media/news-influencers-social-media-conservative-stud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misinforeview.hks.harvard.edu/article/toxic-politics-and-tiktok-engagement-in-the-2024-u-s-election/" TargetMode="External"/><Relationship Id="rId4" Type="http://schemas.openxmlformats.org/officeDocument/2006/relationships/image" Target="../media/image28.png"/><Relationship Id="rId5" Type="http://schemas.openxmlformats.org/officeDocument/2006/relationships/hyperlink" Target="https://pubmed.ncbi.nlm.nih.gov/41308156/" TargetMode="External"/><Relationship Id="rId6" Type="http://schemas.openxmlformats.org/officeDocument/2006/relationships/image" Target="../media/image29.png"/><Relationship Id="rId7" Type="http://schemas.openxmlformats.org/officeDocument/2006/relationships/hyperlink" Target="https://www.tiktok.com/tag/outragebai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hyperlink" Target="https://www.pewresearch.org/journalism/fact-sheet/social-media-and-news-fact-sheet/" TargetMode="External"/><Relationship Id="rId4" Type="http://schemas.openxmlformats.org/officeDocument/2006/relationships/image" Target="../media/image31.png"/><Relationship Id="rId5" Type="http://schemas.openxmlformats.org/officeDocument/2006/relationships/hyperlink" Target="https://www.marketingbrew.com/stories/2024/10/08/tiktok-users-prefer-entertainment-over-news-pew-find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hyperlink" Target="https://www.tiktok.com/tag/performativeactivism" TargetMode="External"/><Relationship Id="rId4" Type="http://schemas.openxmlformats.org/officeDocument/2006/relationships/image" Target="../media/image33.png"/><Relationship Id="rId5" Type="http://schemas.openxmlformats.org/officeDocument/2006/relationships/hyperlink" Target="https://www.montclair.edu/college-of-communication-and-media/2024/12/05/negativity-activism-division-and-fatigue-gen-z-social-media-and-the-2024-election/" TargetMode="External"/><Relationship Id="rId6" Type="http://schemas.openxmlformats.org/officeDocument/2006/relationships/image" Target="../media/image34.png"/><Relationship Id="rId7" Type="http://schemas.openxmlformats.org/officeDocument/2006/relationships/hyperlink" Target="https://www.tiktok.com/tag/slacktivis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hyperlink" Target="https://securityjournalamericas.com/caribbean-latin-american-security-2026/" TargetMode="External"/><Relationship Id="rId4" Type="http://schemas.openxmlformats.org/officeDocument/2006/relationships/hyperlink" Target="https://www.pewresearch.org/topic/internet-technology/platforms-services/social-medi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267047" y="1783080"/>
            <a:ext cx="3657600" cy="365760"/>
          </a:xfrm>
          <a:prstGeom prst="rect">
            <a:avLst/>
          </a:prstGeom>
          <a:noFill/>
        </p:spPr>
        <p:txBody>
          <a:bodyPr wrap="square" lIns="0" rIns="0" tIns="0" bIns="0" anchor="t">
            <a:spAutoFit/>
          </a:bodyPr>
          <a:lstStyle/>
          <a:p>
            <a:pPr algn="ctr">
              <a:lnSpc>
                <a:spcPct val="100000"/>
              </a:lnSpc>
            </a:pPr>
            <a:r>
              <a:rPr sz="1400" b="1" i="0">
                <a:solidFill>
                  <a:srgbClr val="A0A0A0"/>
                </a:solidFill>
                <a:latin typeface="Poppins"/>
              </a:rPr>
              <a:t>MACRO 1</a:t>
            </a:r>
          </a:p>
        </p:txBody>
      </p:sp>
      <p:sp>
        <p:nvSpPr>
          <p:cNvPr id="4" name="TextBox 3"/>
          <p:cNvSpPr txBox="1"/>
          <p:nvPr/>
        </p:nvSpPr>
        <p:spPr>
          <a:xfrm>
            <a:off x="380847" y="2453640"/>
            <a:ext cx="11430000" cy="2286000"/>
          </a:xfrm>
          <a:prstGeom prst="rect">
            <a:avLst/>
          </a:prstGeom>
          <a:noFill/>
        </p:spPr>
        <p:txBody>
          <a:bodyPr wrap="square" lIns="0" rIns="0" tIns="0" bIns="0" anchor="t">
            <a:spAutoFit/>
          </a:bodyPr>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1066647" y="4942840"/>
            <a:ext cx="10058400" cy="548640"/>
          </a:xfrm>
          <a:prstGeom prst="rect">
            <a:avLst/>
          </a:prstGeom>
          <a:noFill/>
        </p:spPr>
        <p:txBody>
          <a:bodyPr wrap="square" lIns="0" rIns="0" tIns="0" bIns="0" anchor="t">
            <a:spAutoFit/>
          </a:bodyPr>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VOTA PORQUE TOCA, NO PORQUE CREA: EL SUFRAGIO SOBREVIVE COMO RITUAL MIENTRAS LA FE EN QUE CAMBIE ALGO SE EROSIONA EN TODA LATAM.</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Antes votar y creer venían juntos. Hoy se separan. En LATAM convive una tasa de voto declarado alta con desconfianza profunda en que el sistema sea justo: solo 45% de los jóvenes está satisfecho con la democracia y casi 40% desconfía de su gobierno (Latinobarómetro 2024). El acto se mantiene como hábito cívico — la esperanza no. Aparece un lenguaje de "el menos malo" que convierte el voto en cálculo de daño, no en proyecto.</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#elmenosmalo · #votoútil · #desencanto</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VACÍO · MIEDO · RESENTIMIENTO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45%</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LATINOBARÓMETRO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Jóvenes LATAM satisfechos con la democracia; casi 40% desconfía del gobierno.</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"el menos malo"</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Lenguaje del voto estratégico — cálculo de daño, no proyecto de futuro.</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77%</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CÓDIGO CASA · 2024</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dominicanos votó en la última elección mientras 46.6% ve el sistema como nada justo.</a:t>
            </a:r>
          </a:p>
        </p:txBody>
      </p:sp>
      <p:pic>
        <p:nvPicPr>
          <p:cNvPr id="27" name="Picture 26" descr="macro-1-1-tiktok-votoutil-hashtag.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Página hashtag #votoútil en TikTok — grid de videos sobre voto estratégico sin entusiasmo.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1-1-unav-desencanto-latam.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Artículo U. Navarra: LATAM del desencanto político a la redefinición de la democracia.</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GLOBAL AFFAIRS U. NAVARRA · 2024</a:t>
            </a:r>
          </a:p>
        </p:txBody>
      </p:sp>
      <p:pic>
        <p:nvPicPr>
          <p:cNvPr id="37" name="Picture 36" descr="macro-1-0-baker-latinobarometro-2024.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Baker Institute: análisis Latinobarómetro 2024 — satisfacción con democracia en mínimos.</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BAKER INSTITUTE ·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LA SALIDA EN VEZ DE LA VOZ: ANTE UN SISTEMA QUE SE SIENTE INJUSTO, LA RESPUESTA DE MUCHOS JÓVENES NO ES PROTESTA, ES PASAPORTE.</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La teoría cívica clásica decía: si algo te molesta, alza la voz. Una generación está cambiando la voz por la salida. Emigrar funciona como voto con los pies — una respuesta personal a un problema que se percibe colectivo. Los vlogs de "me voy del país" ordenan el futuro como proyecto migratorio antes que como proyecto cívico. La energía que antes iba a la plaza ahora va al trámite de la visa.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#salirdelpaís · #diáspora · #dominicanosporelmundo</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SOLEDAD · MIEDO · INVISIBILIDAD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66.1%</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DIARIO LIBRE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Jóvenes dominicanos 18-21 que ha considerado vivir fuera del país.</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2.87M</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PRENSA LATINA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Dominicanos en la diáspora al cierre de 2024 — 37.2% menor de 25 años.</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#salirdelpaís</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Migration vlogs como narrativa de futuro joven — la salida como género propio en TikTok.</a:t>
            </a:r>
          </a:p>
        </p:txBody>
      </p:sp>
      <p:pic>
        <p:nvPicPr>
          <p:cNvPr id="27" name="Picture 26" descr="macro-1-2-tiktok-salirdelpais-hashtag.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Página hashtag #salirdelpaís en TikTok — vlogs de emigración como futura narrativa.</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1-2-diariolibre-migracion-dominicana.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Diario Libre: 66.1% de jóvenes 18-21 ha considerado emigrar — dato local duro.</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DIARIO LIBRE · 2024</a:t>
            </a:r>
          </a:p>
        </p:txBody>
      </p:sp>
      <p:pic>
        <p:nvPicPr>
          <p:cNvPr id="37" name="Picture 36" descr="macro-1-2-prensalatina-emigracion-rd.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Prensa Latina: 2.87M dominicanos en la diáspora, +27,408 vs 2023.</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PRENSA LATINA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SUEÑO DEJÓ DE SER UN LÍDER Y PASÓ A SER UNA REGLA QUE SE CUMPLA: LA LEALTAD DE BANDERA CEDE ANTE EL DESEO DE INSTITUCIONES QUE FUNCIONEN.</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ideal cívico migra de la persona a la regla. Antes la aspiración tenía cara y bandera. Ahora la aspiración es más seca: que las leyes y los servicios operen igual para todos, sin importar quién esté arriba. En LATAM la confianza en instituciones formales cae mientras sube la confianza en pares y líderes comunitarios (Security Journal Americas 2026). El lenguaje cambia de "es de los míos" a "que cumpla lo que prometió". Se premia y castiga gestión por resultado, no por color.</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#queseaolacumplan · #instituciones · #resultados</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RESENTIMIENTO · VACÍO · INVISIBILIDAD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46.6%</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CÓDIGO CASA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Dominicanos que considera el sistema nada justo — aspiran a regla, no a caudillo.</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 confianza</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SECURITY JOURNAL AMERICAS · 2026</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En instituciones formales LATAM/Caribe; sube en pares, comunitarios e influencers.</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"gestión"</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Contenido "vota por la política, no por el partido" crece entre jóvenes en TikTok.</a:t>
            </a:r>
          </a:p>
        </p:txBody>
      </p:sp>
      <p:pic>
        <p:nvPicPr>
          <p:cNvPr id="27" name="Picture 26" descr="macro-1-3-securityjournal-trust-gap.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Security Journal Americas 2026: brecha de confianza institucional LATAM/Caribe.</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SECURITY JOURNAL AMERICAS · 2026</a:t>
            </a:r>
          </a:p>
        </p:txBody>
      </p:sp>
      <p:pic>
        <p:nvPicPr>
          <p:cNvPr id="32" name="Picture 31" descr="macro-1-1-unav-desencanto-latam.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 Navarra: de la identidad partidista al resultado — ciudadano exige gestión.</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GLOBAL AFFAIRS U. NAVARRA · 2024</a:t>
            </a:r>
          </a:p>
        </p:txBody>
      </p:sp>
      <p:pic>
        <p:nvPicPr>
          <p:cNvPr id="37" name="Picture 36" descr="macro-1-3-securityjournal-trust-gap.png"/>
          <p:cNvPicPr>
            <a:picLocks noChangeAspect="1"/>
          </p:cNvPicPr>
          <p:nvPr/>
        </p:nvPicPr>
        <p:blipFill>
          <a:blip r:embed="rId2"/>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3"/>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Brecha de confianza institucional en el Caribe — contexto del report 2026.</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SECURITY JOURNAL AMERICAS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CIUDADANÍA DE CAUSA, NO DE CARNET: EL 70% DE LA GEN Z GLOBAL APOYA ALGO, PERO LO HACE POR TEMA PUNTUAL Y ONLINE, NO POR MILITANCIA NI MEMBRESÍA.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La adultez cívica nueva no se afilia: se activa. Antes pertenecer era firmar una membresía estable. Ahora el compromiso es por tema — clima, género, justicia — y por temporada. El 70% de la Gen Z global dice estar involucrado en alguna causa social o política, pero la mayoría lo hace online y de forma intermitente (ShoutOut UK 2025). El mismo estudio detecta activismo, fatiga y división conviviendo en la misma persona. Se apoya sin atarse.</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#causa · #cambiosocial · #sinpartido</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SOLEDAD · VACÍO · MIEDO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70%</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SHOUTOUT UK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Gen Z global involucrado en una causa social/política; un tercio son activistas regulares.</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58%</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CÓDIGO CASA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Dominicanos nada interesados en política — pero "política" significa aparato, no causa.</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activismo
+ fatiga</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MONTCLAIR STATE · 2024</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Activismo, fatiga y división simultáneos en torno a la participación Gen Z.</a:t>
            </a:r>
          </a:p>
        </p:txBody>
      </p:sp>
      <p:pic>
        <p:nvPicPr>
          <p:cNvPr id="27" name="Picture 26" descr="macro-1-4-shoutoutuk-genz-activism.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ShoutOut UK: 70% de Gen Z apoya causas, mayormente online — auge del activismo selectivo.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SHOUTOUT UK · 2025</a:t>
            </a:r>
          </a:p>
        </p:txBody>
      </p:sp>
      <p:pic>
        <p:nvPicPr>
          <p:cNvPr id="32" name="Picture 31" descr="macro-1-5-montclair-genz-fatigue.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Montclair 2024: activismo + fatiga + división conviviendo en la misma persona Gen Z.</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MONTCLAIR STATE UNIVERSITY · 2024</a:t>
            </a:r>
          </a:p>
        </p:txBody>
      </p:sp>
      <p:pic>
        <p:nvPicPr>
          <p:cNvPr id="37" name="Picture 36" descr="macro-1-4-shoutoutuk-genz-activism.png"/>
          <p:cNvPicPr>
            <a:picLocks noChangeAspect="1"/>
          </p:cNvPicPr>
          <p:nvPr/>
        </p:nvPicPr>
        <p:blipFill>
          <a:blip r:embed="rId2"/>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3"/>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El carnet murió. La causa, no — activismo sin afiliación como nueva forma de pertenecer.</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SHOUTOUT UK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1</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INVENTOLOGÍA</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DECIR "NO ME INTERESA LA POLÍTICA" DEJÓ DE SER IGNORANCIA: PARA EL JOVEN LATAM ES BLINDAJE EMOCIONAL, AUTOCUIDADO CONTRA UN SISTEMA QUE SOLO LE DA FRUSTRACIÓN.</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Lo que parecía apatía es, cada vez más, una postura activa. Antes desconectarse de la política se leía como falta de información. Hoy buena parte del joven LATAM ve el sistema como distante, burocrático e inefectivo para resolver lo cotidiano (Latinobarómetro 2024) — y se aparta a propósito. La "fatiga" aparece como uno de los cuatro ejes de la relación Gen Z con la política (Montclair 2024). Mutear noticias se vuelve contenido de bienestar. El detox no es vacío: es defensa.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#newsdetox · #apolítico · #desconectar</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SOLEDAD · MIEDO · VACÍO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58%</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CÓDIGO CASA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Dominicanos que se declara nada interesado en política — leído como protección, no descuido.</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fatiga</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MONTCLAIR STATE UNIVERSITY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Uno de los cuatro ejes de la relación Gen Z con la política — Montclair 2024.</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#newsdetox</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Mutear noticias como contenido de bienestar y protección emocional en TikTok.</a:t>
            </a:r>
          </a:p>
        </p:txBody>
      </p:sp>
      <p:pic>
        <p:nvPicPr>
          <p:cNvPr id="27" name="Picture 26" descr="macro-1-5-tiktok-newsdetox-hashtag.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#newsdetox en TikTok — detox de noticias como bienestar y autocuidado.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1-5-montclair-genz-fatigue.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Montclair 2024: negatividad, activismo, división y fatiga — los 4 ejes Gen Z y política.</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MONTCLAIR STATE UNIVERSITY · 2024</a:t>
            </a:r>
          </a:p>
        </p:txBody>
      </p:sp>
      <p:pic>
        <p:nvPicPr>
          <p:cNvPr id="37" name="Picture 36" descr="macro-1-1-unav-desencanto-latam.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La política vista como distante e inefectiva para lo cotidiano — el LATAM se aparta.</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LATINOBARÓMETRO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267047" y="1783080"/>
            <a:ext cx="3657600" cy="365760"/>
          </a:xfrm>
          <a:prstGeom prst="rect">
            <a:avLst/>
          </a:prstGeom>
          <a:noFill/>
        </p:spPr>
        <p:txBody>
          <a:bodyPr wrap="square" lIns="0" rIns="0" tIns="0" bIns="0" anchor="t">
            <a:spAutoFit/>
          </a:bodyPr>
          <a:lstStyle/>
          <a:p>
            <a:pPr algn="ctr">
              <a:lnSpc>
                <a:spcPct val="100000"/>
              </a:lnSpc>
            </a:pPr>
            <a:r>
              <a:rPr sz="1400" b="1" i="0">
                <a:solidFill>
                  <a:srgbClr val="A0A0A0"/>
                </a:solidFill>
                <a:latin typeface="Poppins"/>
              </a:rPr>
              <a:t>MACRO 2</a:t>
            </a:r>
          </a:p>
        </p:txBody>
      </p:sp>
      <p:sp>
        <p:nvSpPr>
          <p:cNvPr id="4" name="TextBox 3"/>
          <p:cNvSpPr txBox="1"/>
          <p:nvPr/>
        </p:nvSpPr>
        <p:spPr>
          <a:xfrm>
            <a:off x="380847" y="2453640"/>
            <a:ext cx="11430000" cy="2286000"/>
          </a:xfrm>
          <a:prstGeom prst="rect">
            <a:avLst/>
          </a:prstGeom>
          <a:noFill/>
        </p:spPr>
        <p:txBody>
          <a:bodyPr wrap="square" lIns="0" rIns="0" tIns="0" bIns="0" anchor="t">
            <a:spAutoFit/>
          </a:bodyPr>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1066647" y="4942840"/>
            <a:ext cx="10058400" cy="548640"/>
          </a:xfrm>
          <a:prstGeom prst="rect">
            <a:avLst/>
          </a:prstGeom>
          <a:noFill/>
        </p:spPr>
        <p:txBody>
          <a:bodyPr wrap="square" lIns="0" rIns="0" tIns="0" bIns="0" anchor="t">
            <a:spAutoFit/>
          </a:bodyPr>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DEEPFAKE QUE HABLA COMO TU PRESIDENTE: LA IA YA FALSIFICA VOZ Y CARA DE FIGURAS PÚBLICAS, Y EN RD 2024 UN AUDIO PRESIDENCIAL FALSO CIRCULÓ POR BOTS.</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La voz y la cara de figuras públicas se volvieron material falsificable. Antes oír era creer. Ya no. En la campaña RD 2024 circuló un audio deepfake presidencial sobre un tema sensible, difundido por cientos de bots IA vía una interfaz falsa de WhatsApp (N Digital 2024). La consecuencia es un reflejo nuevo: el votante duda de lo que oye antes de reenviarlo. "¿Esto es real o es IA?" se vuelve pregunta de rutina.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#deepfake · #esIA · #verifica</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MIEDO · RESENTIMIENTO · VACÍO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+350-550%</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GLOBENEWSWIRE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Proyección de campañas de desinformación con IA en Sudamérica y el Caribe para 2026.</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bots IA</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N DIGITAL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Cientos de bots IA difundieron el audio deepfake presidencial en RD 2024 vía WhatsApp falso.</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#deepfake</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Auge de videos "esto es un deepfake" desmontando contenido político falso en TikTok.</a:t>
            </a:r>
          </a:p>
        </p:txBody>
      </p:sp>
      <p:pic>
        <p:nvPicPr>
          <p:cNvPr id="27" name="Picture 26" descr="macro-2-1-tiktok-deepfake-hashtag.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#deepfake en TikTok — desmontaje ciudadano de contenido político falso.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2-1-ndigital-deepfake-rd.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N Digital: hero image del artículo sobre deepfake presidencial RD 2024 — el caso local.</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N DIGITAL · 2024</a:t>
            </a:r>
          </a:p>
        </p:txBody>
      </p:sp>
      <p:pic>
        <p:nvPicPr>
          <p:cNvPr id="37" name="Picture 36" descr="macro-2-1-globenewswire-disinfo-550pct.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GlobeNewswire: proyección +350-550% de desinformación IA en Sudamérica/Caribe a 2026.</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GLOBENEWSWIRE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LE PREGUNTÓ AL CHATBOT SI ERA VERDAD Y LE MINTIÓ: EL CIUDADANO USA GROK O CHATGPT PARA VERIFICAR NOTICIAS, PERO LOS ESTUDIOS MUESTRAN QUE REPITEN EL BULO.</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árbitro de la verdad cambió de cara. Antes se verificaba en el buscador o el medio. Ahora se le pregunta al chatbot. El problema: AFP documentó que Grok, ChatGPT y Gemini repiten desinformación cuando se usan como fact-checkers, sobre todo en breaking news (TechXplore 2025). El comportamiento observable es citar la respuesta del bot como prueba ante otros — "lo dijo Grok". La herramienta de verificación se convierte en fuente de error con cara de autoridad.</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#preguntéalachat · #grok · #verifica</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MIEDO · SOLEDAD · VACÍO</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Grok</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AFP / TECHXPLORE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Usuarios citan a Grok como evidencia de clips reales cuando eran generados por IA.</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WhatsApp</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AURORA INBOX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Mercado clave de chatbots IA en LATAM — terreno de verificación y desinformación.</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"lo dijo Grok"</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Formato viral: "le pregunté a ChatGPT si esto era verdad" como verificación amateur.</a:t>
            </a:r>
          </a:p>
        </p:txBody>
      </p:sp>
      <p:pic>
        <p:nvPicPr>
          <p:cNvPr id="27" name="Picture 26" descr="macro-2-2-tiktok-fakenews-hashtag.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#fakenews en TikTok — videos de verificación y denuncia de contenido falso.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2-2-techxplore-chatbot-factcheck.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TechXplore/AFP: Grok, ChatGPT y Gemini repiten desinformación como fact-checkers.</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TECHXPLORE / AFP · 2025</a:t>
            </a:r>
          </a:p>
        </p:txBody>
      </p:sp>
      <p:pic>
        <p:nvPicPr>
          <p:cNvPr id="37" name="Picture 36" descr="macro-2-3-aurora-whatsapp-chatbot-latam.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Aurora Inbox: chatbots IA en WhatsApp LATAM — el árbitro de la verdad en la app familiar.</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AURORA INBOX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LA VERIFICACIÓN ENTRA AL WHATSAPP DE LA FAMILIA: FRENTE A LA CADENA DEL TÍO SURGE LA CIVIC TECH QUE CHEQUEA EL BULO EN LA MISMA APP DONDE CIRCULA.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Contra la cadena de WhatsApp aparece una respuesta del mismo formato. Antes el bulo familiar no tenía contrapeso conversacional — circulaba y se quedaba. Ahora la civic tech entra al chat: chatbots y servicios de fact-checking (AFP, Maldita) que verifican por la misma app donde llega el audio sospechoso. AFP opera fact-checking en 26 idiomas dentro del programa de Meta, LATAM incluida (TechXplore 2025). El gesto nuevo: reenviar el audio al bot antes de creerlo.</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#factchecking · #verificado · #cadenadewhatsapp</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MIEDO · INVISIBILIDAD · SOLEDAD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26 idiomas</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AFP / TECHXPLORE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AFP opera fact-checking en 26 idiomas dentro del programa de Meta, LATAM incluida.</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UNESCO RD</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UNESCO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UNESCO impulsa alfabetización mediática en RD — taller Santo Domingo, oct 2024.</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#factchecking</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Cómo verificar una cadena de WhatsApp — civic tech como contenido en TikTok.</a:t>
            </a:r>
          </a:p>
        </p:txBody>
      </p:sp>
      <p:pic>
        <p:nvPicPr>
          <p:cNvPr id="27" name="Picture 26" descr="macro-2-3-tiktok-factchecking-hashtag.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#factchecking en TikTok — tutoriales de verificación y civic tech doméstica.</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2-3-unesco-alfabetizacion-rd.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UNESCO: taller de alfabetización mediática en Santo Domingo para combatir desinformación.</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UNESCO · 2024</a:t>
            </a:r>
          </a:p>
        </p:txBody>
      </p:sp>
      <p:pic>
        <p:nvPicPr>
          <p:cNvPr id="37" name="Picture 36" descr="macro-2-3-aurora-whatsapp-chatbot-latam.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Chatbots de verificación en WhatsApp LATAM — la civic tech en la misma app del bulo.</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AURORA INBOX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BOTS, NO MILITANTES: LA "BASE" QUE VES APOYANDO ONLINE PUEDE SER SINTÉTICA; CIENTOS DE CUENTAS IA AMPLIFICAN A UNA ESCALA QUE NINGÚN HUMANO ALCANZA.</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La movilización política se automatiza. Antes la base de apoyo eran personas que tú podías contar. Ahora cientos de bots IA amplifican narrativas y contenido falso a una escala que ningún militante humano alcanza — el deepfake presidencial RD 2024 se difundió justo así (N Digital 2024). La consecuencia es un reflejo de sospecha: cuando algo se vuelve tendencia muy rápido, la pregunta es si los comentarios coordinados son gente o cuentas. La "base" del feed puede no existir.</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#bots · #cuentasfalsas · #manipulación</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MIEDO · RESENTIMIENTO · INVISIBILIDAD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cientos</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N DIGITAL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bots IA detrás de la difusión del audio deepfake presidencial RD 2024.</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+350-550%</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GLOBENEWSWIRE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Operaciones de desinformación IA apuntan a procesos electorales en la región.</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3200" b="0" i="0">
                <a:solidFill>
                  <a:srgbClr val="FFFFFF"/>
                </a:solidFill>
                <a:latin typeface="Instrument Serif"/>
              </a:rPr>
              <a:t>"¿es bot?"</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"Cómo detectar un bot o cuenta falsa" — contenido de educación digital en TikTok.</a:t>
            </a:r>
          </a:p>
        </p:txBody>
      </p:sp>
      <p:pic>
        <p:nvPicPr>
          <p:cNvPr id="27" name="Picture 26" descr="macro-2-1-tiktok-deepfake-hashtag.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#deepfake en TikTok — "cómo detectar una cuenta falsa" como educación digital.</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2-1-ndigital-deepfake-article.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N Digital: cientos de bots IA en la difusión del deepfake presidencial RD 2024.</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N DIGITAL · 2024</a:t>
            </a:r>
          </a:p>
        </p:txBody>
      </p:sp>
      <p:pic>
        <p:nvPicPr>
          <p:cNvPr id="37" name="Picture 36" descr="macro-2-4-globenewswire-ai-disinfo.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GlobeNewswire: operaciones de desinformación IA dirigidas a procesos electorales.</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GLOBENEWSWIRE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2</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HERNÁNDEZ PROMPTED</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ALGORITMO COMO ASESOR DE CAMPAÑA: KAMALA HQ HIZO 1.5B DE VISTAS EN TIKTOK. LA POLÍTICA YA OPERA COMO CUENTA DE CREADOR — REMIX, CLIP Y ENGAGEMENT.</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La campaña dejó de hablar como institución y empezó a hablar como creador. Antes el mensaje político venía en discurso y debate. Ahora viene en clip de 15 segundos, remix y meme. En 2024 la cuenta KamalaHQ acumuló 1.5B de vistas con 5M de seguidores; la de Trump, 1B de vistas con 12M (eMarketer 2024). El 48% de los usuarios de TikTok 18-29 usa la plataforma para seguir política (Pew 2024). Y el feed tiene sesgo: el contenido tóxico atrae más engagement (HKS 2024).</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#campañatiktok · #clips · #remix</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VACÍO · RESENTIMIENTO · SOLEDAD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1.5B</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EMARKETER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Vistas de KamalaHQ en TikTok 2024 (5M seguidores) — la campaña como cuenta de creador.</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48%</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Usuarios TikTok 18-29 que usa la plataforma para seguir política.</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51,680</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HKS MISINFORMATION REVIEW · 2024</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Videos políticos analizados — el contenido tóxico atrae más engagement en todos.</a:t>
            </a:r>
          </a:p>
        </p:txBody>
      </p:sp>
      <p:pic>
        <p:nvPicPr>
          <p:cNvPr id="27" name="Picture 26" descr="macro-2-5-emarketer-tiktok-election.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eMarketer: KamalaHQ 1.5B vistas — TikTok como campo de batalla político en 2024.</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EMARKETER · 2024</a:t>
            </a:r>
          </a:p>
        </p:txBody>
      </p:sp>
      <p:pic>
        <p:nvPicPr>
          <p:cNvPr id="32" name="Picture 31" descr="macro-2-5-pew-tiktok-news.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Pew Research: 48% de usuarios TikTok 18-29 usa la plataforma para seguir política.</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2025</a:t>
            </a:r>
          </a:p>
        </p:txBody>
      </p:sp>
      <p:pic>
        <p:nvPicPr>
          <p:cNvPr id="37" name="Picture 36" descr="macro-2-5-hks-toxic-tiktok-article.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HKS Misinformation Review: análisis de 51,680 videos políticos 2024 — lo tóxico engancha.</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HKS MISINFORMATION REVIEW ·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267047" y="1783080"/>
            <a:ext cx="3657600" cy="365760"/>
          </a:xfrm>
          <a:prstGeom prst="rect">
            <a:avLst/>
          </a:prstGeom>
          <a:noFill/>
        </p:spPr>
        <p:txBody>
          <a:bodyPr wrap="square" lIns="0" rIns="0" tIns="0" bIns="0" anchor="t">
            <a:spAutoFit/>
          </a:bodyPr>
          <a:lstStyle/>
          <a:p>
            <a:pPr algn="ctr">
              <a:lnSpc>
                <a:spcPct val="100000"/>
              </a:lnSpc>
            </a:pPr>
            <a:r>
              <a:rPr sz="1400" b="1" i="0">
                <a:solidFill>
                  <a:srgbClr val="A0A0A0"/>
                </a:solidFill>
                <a:latin typeface="Poppins"/>
              </a:rPr>
              <a:t>MACRO 3</a:t>
            </a:r>
          </a:p>
        </p:txBody>
      </p:sp>
      <p:sp>
        <p:nvSpPr>
          <p:cNvPr id="4" name="TextBox 3"/>
          <p:cNvSpPr txBox="1"/>
          <p:nvPr/>
        </p:nvSpPr>
        <p:spPr>
          <a:xfrm>
            <a:off x="380847" y="2453640"/>
            <a:ext cx="11430000" cy="2286000"/>
          </a:xfrm>
          <a:prstGeom prst="rect">
            <a:avLst/>
          </a:prstGeom>
          <a:noFill/>
        </p:spPr>
        <p:txBody>
          <a:bodyPr wrap="square" lIns="0" rIns="0" tIns="0" bIns="0" anchor="t">
            <a:spAutoFit/>
          </a:bodyPr>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1066647" y="4942840"/>
            <a:ext cx="10058400" cy="548640"/>
          </a:xfrm>
          <a:prstGeom prst="rect">
            <a:avLst/>
          </a:prstGeom>
          <a:noFill/>
        </p:spPr>
        <p:txBody>
          <a:bodyPr wrap="square" lIns="0" rIns="0" tIns="0" bIns="0" anchor="t">
            <a:spAutoFit/>
          </a:bodyPr>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NOTICIERO ERES TÚ, NO EL CANAL: 38% DE LOS MENORES DE 30 RECIBE NOTICIAS DE CREADORES, Y 77% DE ELLOS NUNCA TRABAJÓ EN PERIODISMO.</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medio dejó de ser una institución y pasó a ser una persona. Antes la noticia venía de un canal con nombre y redacción. Ahora viene de un creador con cara y voz. El 38% de los menores de 30 obtiene noticias de news influencers y el 77% de esos creadores nunca trabajó en periodismo — 84% de ellos opera en TikTok (Pew 2024). La credibilidad se vuelve parasocial: confío en él, no en su fuente. El comportamiento observable es seguir a un creador como "mi" fuente y citarlo como autoridad.</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#newsinfluencer · #creadordenoticias · #fuente</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SOLEDAD · VACÍO · INVISIBILIDAD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38%</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Menores de 30 que recibe noticias de news influencers — 77% sin experiencia periodística.</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84%</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los news influencers opera en TikTok — sin editorial ni editor detrás.</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40%</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CNN BUSINESS · 2024</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 jóvenes EE.UU. recibe noticias de influencers — la cercanía gana a la credencial.</a:t>
            </a:r>
          </a:p>
        </p:txBody>
      </p:sp>
      <p:pic>
        <p:nvPicPr>
          <p:cNvPr id="27" name="Picture 26" descr="macro-3-0-tiktok-newsinfluencer-hashtag.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#newsinfluencer en TikTok — grid de creadores de noticias como medio principal.</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3-1-pew-news-influencers.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Pew Research: 77% de news influencers sin experiencia periodística, 84% en TikTok.</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2025</a:t>
            </a:r>
          </a:p>
        </p:txBody>
      </p:sp>
      <p:pic>
        <p:nvPicPr>
          <p:cNvPr id="37" name="Picture 36" descr="macro-3-1-cnn-news-influencers.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CNN Business: casi 40% de jóvenes EE.UU. recibe noticias de influencers.</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CNN BUSINESS · 2024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EL FEED PREMIA LA RABIA: EN 51,680 VIDEOS POLÍTICOS, EL CONTENIDO TÓXICO GANÓ MÁS ENGAGEMENT. LA INDIGNACIÓN VIRALIZA MEJOR QUE EL MATIZ.</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algoritmo no es un espejo neutral. Un análisis de 51,680 videos políticos de 2024 encontró que el contenido tóxico y partidista atrae consistentemente más engagement; inmigración y fraude electoral están entre los temas más tóxicos (HKS 2024). Hay evidencia causal: rerankear la animosidad partidista en el feed altera la polarización afectiva de la gente (PNAS 2025). La consecuencia observable es que se interactúa más con lo que indigna que con lo que informa.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#outragebait · #polarización · #indignación</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RESENTIMIENTO · MIEDO · SOLEDAD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4200" b="0" i="0">
                <a:solidFill>
                  <a:srgbClr val="FFFFFF"/>
                </a:solidFill>
                <a:latin typeface="Instrument Serif"/>
              </a:rPr>
              <a:t>51,680</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HKS MISINFORMATION REVIEW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Videos políticos 2024 analizados — el contenido tóxico y partidista atrae más engagement.</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evidencia
causal</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PNAS / PUBMED · 2025</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Rerankear la animosidad partidista en feeds altera la polarización afectiva.</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#outragebait</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Outrage bait político como formato de alto alcance — la rabia cobra en métricas.</a:t>
            </a:r>
          </a:p>
        </p:txBody>
      </p:sp>
      <p:pic>
        <p:nvPicPr>
          <p:cNvPr id="27" name="Picture 26" descr="macro-3-2-hks-toxic-politics-chart.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HKS: chart de toxicidad — contenido tóxico y partidista atrae más engagement.</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HKS MISINFORMATION REVIEW · 2024</a:t>
            </a:r>
          </a:p>
        </p:txBody>
      </p:sp>
      <p:pic>
        <p:nvPicPr>
          <p:cNvPr id="32" name="Picture 31" descr="macro-3-2-pubmed-reranking-polarization.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PNAS / PubMed: rerankear animosidad partidista en el feed altera la polarización afectiva.</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PNAS / PUBMED · 2025</a:t>
            </a:r>
          </a:p>
        </p:txBody>
      </p:sp>
      <p:pic>
        <p:nvPicPr>
          <p:cNvPr id="37" name="Picture 36" descr="macro-3-2-tiktok-outragebait-hashtag.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#outragebait en TikTok — la indignación como formato de alto alcance.</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LA NOTICIA EN 60 SEGUNDOS O NO EXISTE: 55% DE USUARIOS DE TIKTOK SE INFORMA AHÍ (22% EN 2020), Y EL EVENTO QUE NO ENTRA EN UN CLIP NO ENTRA A LA CONVERSACIÓN.</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El consumo político se comprimió al formato del feed. Antes informarse pedía tiempo de lectura. Ahora pide 60 segundos verticales. El 55% de los usuarios de TikTok obtiene noticias en la app, frente a 22% en 2020 (Pew 2024), y los mismos usuarios prefieren entretenimiento sobre noticia (Marketing Brew 2024). La consecuencia es dura para el evento complejo: lo que no se explica en un clip corto se cae de la conversación. El artículo largo y el debate completo quedan fuera del scroll.</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#en60segundos · #explainer · #tldr</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VACÍO · INVISIBILIDAD · SOLEDAD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55%</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2024</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Usuarios TikTok que obtiene noticias en la app — vs 22% en 2020.</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80%</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CÓDIGO CASA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Dominicanos 18-24 que se informa por redes — el clip corto es su política.</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entretenimiento
&gt; noticias</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MARKETING BREW · 2024</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Usuarios de TikTok prefieren entretenimiento sobre noticias — Pew findings.</a:t>
            </a:r>
          </a:p>
        </p:txBody>
      </p:sp>
      <p:pic>
        <p:nvPicPr>
          <p:cNvPr id="27" name="Picture 26" descr="macro-3-3-pew-social-media-news.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Pew Research fact sheet: 55% usuarios TikTok obtiene noticias ahí vs 22% en 2020.</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2024</a:t>
            </a:r>
          </a:p>
        </p:txBody>
      </p:sp>
      <p:pic>
        <p:nvPicPr>
          <p:cNvPr id="32" name="Picture 31" descr="macro-3-3-marketingbrew-tiktok-entertainment.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Marketing Brew: usuarios TikTok prefieren entretenimiento sobre noticias según Pew.</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MARKETING BREW · 2024</a:t>
            </a:r>
          </a:p>
        </p:txBody>
      </p:sp>
      <p:pic>
        <p:nvPicPr>
          <p:cNvPr id="37" name="Picture 36" descr="macro-3-3-pew-social-media-news.png"/>
          <p:cNvPicPr>
            <a:picLocks noChangeAspect="1"/>
          </p:cNvPicPr>
          <p:nvPr/>
        </p:nvPicPr>
        <p:blipFill>
          <a:blip r:embed="rId2"/>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3"/>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El evento que no cabe en 60 segundos no entra a la conversación — la compresión del feed.</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3000" b="0" i="0">
                <a:solidFill>
                  <a:srgbClr val="FFFFFF"/>
                </a:solidFill>
                <a:latin typeface="Instrument Serif"/>
              </a:rPr>
              <a:t>POSTEAR ES PARTICIPAR: EL 70% DE LA GEN Z DICE APOYAR UNA CAUSA, CASI TODO ONLINE. COMPARTIR LA STORY SE SIENTE COMO ACCIÓN AUNQUE RARA VEZ SALGA DEL FEED.</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Para mucha gente, el gesto digital reemplazó la acción offline. Antes participar tenía un costo físico: ir, marchar, organizarse. Ahora el 70% de la Gen Z global dice apoyar una causa, mayormente online (ShoutOut UK 2025), y el estudio Montclair 2024 describe ese activismo como más performativo que sustantivo. El comportamiento observable es compartir la story, cambiar la foto de perfil o comentar como forma principal de involucrarse. Se siente como acción. Casi nunca cruza la pantalla.</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#performativeactivism · #slacktivism · #posteo</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VACÍO · SOLEDAD · CULPA</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7200" b="0" i="0">
                <a:solidFill>
                  <a:srgbClr val="FFFFFF"/>
                </a:solidFill>
                <a:latin typeface="Instrument Serif"/>
              </a:rPr>
              <a:t>70%</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SHOUTOUT UK · 2025</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Gen Z global apoya una causa, mayormente online — auge del activismo performativo.</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performativo</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MONTCLAIR STATE UNIVERSITY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El activismo Gen Z online suele ser más performativo que sustantivo — Montclair 2024.</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#slacktivism</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Debate autorreflexivo sobre el post como acción — la crítica al activismo de pantalla.</a:t>
            </a:r>
          </a:p>
        </p:txBody>
      </p:sp>
      <p:pic>
        <p:nvPicPr>
          <p:cNvPr id="27" name="Picture 26" descr="macro-3-4-tiktok-performative-activism.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#performativeactivism en TikTok — crítica autorreflexiva del activismo de pantalla.</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pic>
        <p:nvPicPr>
          <p:cNvPr id="32" name="Picture 31" descr="macro-3-4-montclair-performative-activism.png"/>
          <p:cNvPicPr>
            <a:picLocks noChangeAspect="1"/>
          </p:cNvPicPr>
          <p:nvPr/>
        </p:nvPicPr>
        <p:blipFill>
          <a:blip r:embed="rId4"/>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5"/>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Montclair 2024: activismo Gen Z online más performativo que sustantivo — la story como gesto.</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MONTCLAIR STATE UNIVERSITY · 2024</a:t>
            </a:r>
          </a:p>
        </p:txBody>
      </p:sp>
      <p:pic>
        <p:nvPicPr>
          <p:cNvPr id="37" name="Picture 36" descr="macro-3-4-tiktok-slacktivism-hashtag.png"/>
          <p:cNvPicPr>
            <a:picLocks noChangeAspect="1"/>
          </p:cNvPicPr>
          <p:nvPr/>
        </p:nvPicPr>
        <p:blipFill>
          <a:blip r:embed="rId6"/>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7"/>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Hashtag #slacktivism en TikTok — debate sobre participación digital vs acción real.</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TIKTOK ·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320040"/>
            <a:ext cx="777240" cy="201168"/>
          </a:xfrm>
          <a:prstGeom prst="rect">
            <a:avLst/>
          </a:prstGeom>
          <a:solidFill>
            <a:srgbClr val="E8E8E8"/>
          </a:solidFill>
          <a:ln w="3175">
            <a:solidFill>
              <a:srgbClr val="E8E8E8"/>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1" i="0">
                <a:solidFill>
                  <a:srgbClr val="000000"/>
                </a:solidFill>
                <a:latin typeface="Poppins"/>
              </a:rPr>
              <a:t>MACRO 3</a:t>
            </a:r>
          </a:p>
        </p:txBody>
      </p:sp>
      <p:sp>
        <p:nvSpPr>
          <p:cNvPr id="4" name="Rectangle 3"/>
          <p:cNvSpPr/>
          <p:nvPr/>
        </p:nvSpPr>
        <p:spPr>
          <a:xfrm>
            <a:off x="1143000" y="320040"/>
            <a:ext cx="2011680" cy="201168"/>
          </a:xfrm>
          <a:prstGeom prst="rect">
            <a:avLst/>
          </a:prstGeom>
          <a:noFill/>
          <a:ln w="3175">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800" b="0" i="0">
                <a:solidFill>
                  <a:srgbClr val="A0A0A0"/>
                </a:solidFill>
                <a:latin typeface="Poppins"/>
              </a:rPr>
              <a:t>ALGORITMO DEL HOGAR</a:t>
            </a:r>
          </a:p>
        </p:txBody>
      </p:sp>
      <p:sp>
        <p:nvSpPr>
          <p:cNvPr id="5" name="TextBox 4"/>
          <p:cNvSpPr txBox="1"/>
          <p:nvPr/>
        </p:nvSpPr>
        <p:spPr>
          <a:xfrm>
            <a:off x="365760"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DEFINICIÓN</a:t>
            </a:r>
          </a:p>
        </p:txBody>
      </p:sp>
      <p:sp>
        <p:nvSpPr>
          <p:cNvPr id="6" name="TextBox 5"/>
          <p:cNvSpPr txBox="1"/>
          <p:nvPr/>
        </p:nvSpPr>
        <p:spPr>
          <a:xfrm>
            <a:off x="4246778"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TRIGGERS</a:t>
            </a:r>
          </a:p>
        </p:txBody>
      </p:sp>
      <p:sp>
        <p:nvSpPr>
          <p:cNvPr id="7" name="TextBox 6"/>
          <p:cNvSpPr txBox="1"/>
          <p:nvPr/>
        </p:nvSpPr>
        <p:spPr>
          <a:xfrm>
            <a:off x="8127796" y="749808"/>
            <a:ext cx="3698138" cy="228600"/>
          </a:xfrm>
          <a:prstGeom prst="rect">
            <a:avLst/>
          </a:prstGeom>
          <a:noFill/>
        </p:spPr>
        <p:txBody>
          <a:bodyPr wrap="square" lIns="0" rIns="0" tIns="0" bIns="0" anchor="t">
            <a:spAutoFit/>
          </a:bodyPr>
          <a:lstStyle/>
          <a:p>
            <a:pPr algn="l">
              <a:lnSpc>
                <a:spcPct val="100000"/>
              </a:lnSpc>
            </a:pPr>
            <a:r>
              <a:rPr sz="800" b="1" i="0">
                <a:solidFill>
                  <a:srgbClr val="A0A0A0"/>
                </a:solidFill>
                <a:latin typeface="Poppins"/>
              </a:rPr>
              <a:t>SEÑALES</a:t>
            </a:r>
          </a:p>
        </p:txBody>
      </p:sp>
      <p:cxnSp>
        <p:nvCxnSpPr>
          <p:cNvPr id="8" name="Connector 7"/>
          <p:cNvCxnSpPr/>
          <p:nvPr/>
        </p:nvCxnSpPr>
        <p:spPr>
          <a:xfrm>
            <a:off x="365760" y="1014984"/>
            <a:ext cx="11460175" cy="0"/>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55338"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36356" y="1152144"/>
            <a:ext cx="0" cy="5431536"/>
          </a:xfrm>
          <a:prstGeom prst="line">
            <a:avLst/>
          </a:prstGeom>
          <a:ln w="9525">
            <a:solidFill>
              <a:srgbClr val="FFFFFF">
                <a:alpha val="6000"/>
              </a:srgbClr>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65760" y="1152144"/>
            <a:ext cx="3606698" cy="2011680"/>
          </a:xfrm>
          <a:prstGeom prst="rect">
            <a:avLst/>
          </a:prstGeom>
          <a:noFill/>
        </p:spPr>
        <p:txBody>
          <a:bodyPr wrap="square" lIns="0" rIns="0" tIns="0" bIns="0">
            <a:spAutoFit/>
          </a:bodyPr>
          <a:lstStyle/>
          <a:p>
            <a:pPr>
              <a:lnSpc>
                <a:spcPct val="95000"/>
              </a:lnSpc>
            </a:pPr>
            <a:r>
              <a:rPr sz="2200" b="0" i="0">
                <a:solidFill>
                  <a:srgbClr val="FFFFFF"/>
                </a:solidFill>
                <a:latin typeface="Instrument Serif"/>
              </a:rPr>
              <a:t>EL FEED MIDE LA GESTIÓN: LA EVALUACIÓN DEL GOBIERNO SE ARMA EN TIEMPO REAL CON CLIPS VIRALES, DONDE LA NARRATIVA SIMPLE LE GANA A LA DATA Y EL DESMENTIDO NUNCA ALCANZA AL BULO.</a:t>
            </a:r>
          </a:p>
        </p:txBody>
      </p:sp>
      <p:sp>
        <p:nvSpPr>
          <p:cNvPr id="12" name="TextBox 11"/>
          <p:cNvSpPr txBox="1"/>
          <p:nvPr/>
        </p:nvSpPr>
        <p:spPr>
          <a:xfrm>
            <a:off x="365760" y="32552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EL FENÓMENO</a:t>
            </a:r>
          </a:p>
        </p:txBody>
      </p:sp>
      <p:sp>
        <p:nvSpPr>
          <p:cNvPr id="13" name="TextBox 12"/>
          <p:cNvSpPr txBox="1"/>
          <p:nvPr/>
        </p:nvSpPr>
        <p:spPr>
          <a:xfrm>
            <a:off x="365760" y="3438144"/>
            <a:ext cx="3606698" cy="1371600"/>
          </a:xfrm>
          <a:prstGeom prst="rect">
            <a:avLst/>
          </a:prstGeom>
          <a:noFill/>
        </p:spPr>
        <p:txBody>
          <a:bodyPr wrap="square" lIns="0" rIns="0" tIns="0" bIns="0">
            <a:spAutoFit/>
          </a:bodyPr>
          <a:lstStyle/>
          <a:p>
            <a:pPr>
              <a:lnSpc>
                <a:spcPct val="100000"/>
              </a:lnSpc>
            </a:pPr>
            <a:r>
              <a:rPr sz="1000" b="0" i="0">
                <a:solidFill>
                  <a:srgbClr val="FFFFFF"/>
                </a:solidFill>
                <a:latin typeface="Poppins"/>
              </a:rPr>
              <a:t>La evaluación de un gobierno ya no espera al noticiero ni al informe. Se construye en el feed, en vivo. Las narrativas simples superan al mensaje institucional complejo y la desinformación corre más rápido que las aclaraciones oficiales en LATAM y el Caribe (Security Journal Americas 2026). Los motores de recomendación moldean política con efectos medibles (Pew 2024-2025). El comportamiento observable: formarse un juicio sobre la gestión a partir de clips y narrativas del feed, no de cifras ni reportes.</a:t>
            </a:r>
          </a:p>
        </p:txBody>
      </p:sp>
      <p:sp>
        <p:nvSpPr>
          <p:cNvPr id="14" name="TextBox 13"/>
          <p:cNvSpPr txBox="1"/>
          <p:nvPr/>
        </p:nvSpPr>
        <p:spPr>
          <a:xfrm>
            <a:off x="365760" y="485546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HASHTAGS</a:t>
            </a:r>
          </a:p>
        </p:txBody>
      </p:sp>
      <p:sp>
        <p:nvSpPr>
          <p:cNvPr id="15" name="TextBox 14"/>
          <p:cNvSpPr txBox="1"/>
          <p:nvPr/>
        </p:nvSpPr>
        <p:spPr>
          <a:xfrm>
            <a:off x="365760" y="5038344"/>
            <a:ext cx="3606698" cy="640080"/>
          </a:xfrm>
          <a:prstGeom prst="rect">
            <a:avLst/>
          </a:prstGeom>
          <a:noFill/>
        </p:spPr>
        <p:txBody>
          <a:bodyPr wrap="square" lIns="0" rIns="0" tIns="0" bIns="0">
            <a:spAutoFit/>
          </a:bodyPr>
          <a:lstStyle/>
          <a:p>
            <a:pPr>
              <a:lnSpc>
                <a:spcPct val="110000"/>
              </a:lnSpc>
            </a:pPr>
            <a:r>
              <a:rPr sz="2300" b="0" i="0">
                <a:solidFill>
                  <a:srgbClr val="FFFFFF"/>
                </a:solidFill>
                <a:latin typeface="Instrument Serif"/>
              </a:rPr>
              <a:t>#loqueprometió · #gestión · #narrativa</a:t>
            </a:r>
          </a:p>
        </p:txBody>
      </p:sp>
      <p:sp>
        <p:nvSpPr>
          <p:cNvPr id="16" name="TextBox 15"/>
          <p:cNvSpPr txBox="1"/>
          <p:nvPr/>
        </p:nvSpPr>
        <p:spPr>
          <a:xfrm>
            <a:off x="365760" y="5724144"/>
            <a:ext cx="3698138" cy="164592"/>
          </a:xfrm>
          <a:prstGeom prst="rect">
            <a:avLst/>
          </a:prstGeom>
          <a:noFill/>
        </p:spPr>
        <p:txBody>
          <a:bodyPr wrap="square" lIns="0" rIns="0" tIns="0" bIns="0" anchor="t">
            <a:spAutoFit/>
          </a:bodyPr>
          <a:lstStyle/>
          <a:p>
            <a:pPr algn="l">
              <a:lnSpc>
                <a:spcPct val="100000"/>
              </a:lnSpc>
            </a:pPr>
            <a:r>
              <a:rPr sz="700" b="1" i="0">
                <a:solidFill>
                  <a:srgbClr val="A0A0A0"/>
                </a:solidFill>
                <a:latin typeface="Poppins"/>
              </a:rPr>
              <a:t>3 NEEDS</a:t>
            </a:r>
          </a:p>
        </p:txBody>
      </p:sp>
      <p:sp>
        <p:nvSpPr>
          <p:cNvPr id="17" name="TextBox 16"/>
          <p:cNvSpPr txBox="1"/>
          <p:nvPr/>
        </p:nvSpPr>
        <p:spPr>
          <a:xfrm>
            <a:off x="365760" y="5907024"/>
            <a:ext cx="3606698" cy="457200"/>
          </a:xfrm>
          <a:prstGeom prst="rect">
            <a:avLst/>
          </a:prstGeom>
          <a:noFill/>
        </p:spPr>
        <p:txBody>
          <a:bodyPr wrap="square" lIns="0" rIns="0" tIns="0" bIns="0">
            <a:spAutoFit/>
          </a:bodyPr>
          <a:lstStyle/>
          <a:p>
            <a:pPr>
              <a:lnSpc>
                <a:spcPct val="105000"/>
              </a:lnSpc>
            </a:pPr>
            <a:r>
              <a:rPr sz="1400" b="0" i="0">
                <a:solidFill>
                  <a:srgbClr val="FFFFFF"/>
                </a:solidFill>
                <a:latin typeface="Instrument Serif"/>
              </a:rPr>
              <a:t>RESENTIMIENTO · VACÍO · INVISIBILIDAD</a:t>
            </a:r>
          </a:p>
        </p:txBody>
      </p:sp>
      <p:sp>
        <p:nvSpPr>
          <p:cNvPr id="18" name="TextBox 17"/>
          <p:cNvSpPr txBox="1"/>
          <p:nvPr/>
        </p:nvSpPr>
        <p:spPr>
          <a:xfrm>
            <a:off x="4246778" y="1152144"/>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narrativa
vs dato</a:t>
            </a:r>
          </a:p>
        </p:txBody>
      </p:sp>
      <p:sp>
        <p:nvSpPr>
          <p:cNvPr id="19" name="TextBox 18"/>
          <p:cNvSpPr txBox="1"/>
          <p:nvPr/>
        </p:nvSpPr>
        <p:spPr>
          <a:xfrm>
            <a:off x="4246778" y="2295144"/>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SECURITY JOURNAL AMERICAS · 2026</a:t>
            </a:r>
          </a:p>
        </p:txBody>
      </p:sp>
      <p:sp>
        <p:nvSpPr>
          <p:cNvPr id="20" name="TextBox 19"/>
          <p:cNvSpPr txBox="1"/>
          <p:nvPr/>
        </p:nvSpPr>
        <p:spPr>
          <a:xfrm>
            <a:off x="566409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Narrativas simplistas superan al mensaje complejo; desinformación corre más rápido que aclaraciones.</a:t>
            </a:r>
          </a:p>
        </p:txBody>
      </p:sp>
      <p:sp>
        <p:nvSpPr>
          <p:cNvPr id="21" name="TextBox 20"/>
          <p:cNvSpPr txBox="1"/>
          <p:nvPr/>
        </p:nvSpPr>
        <p:spPr>
          <a:xfrm>
            <a:off x="4246778" y="2962656"/>
            <a:ext cx="1371600" cy="1097280"/>
          </a:xfrm>
          <a:prstGeom prst="rect">
            <a:avLst/>
          </a:prstGeom>
          <a:noFill/>
        </p:spPr>
        <p:txBody>
          <a:bodyPr wrap="square" lIns="0" rIns="0" tIns="0" bIns="0">
            <a:spAutoFit/>
          </a:bodyPr>
          <a:lstStyle/>
          <a:p>
            <a:pPr>
              <a:lnSpc>
                <a:spcPct val="100000"/>
              </a:lnSpc>
            </a:pPr>
            <a:r>
              <a:rPr sz="5400" b="0" i="0">
                <a:solidFill>
                  <a:srgbClr val="FFFFFF"/>
                </a:solidFill>
                <a:latin typeface="Instrument Serif"/>
              </a:rPr>
              <a:t>46.6%</a:t>
            </a:r>
          </a:p>
        </p:txBody>
      </p:sp>
      <p:sp>
        <p:nvSpPr>
          <p:cNvPr id="22" name="TextBox 21"/>
          <p:cNvSpPr txBox="1"/>
          <p:nvPr/>
        </p:nvSpPr>
        <p:spPr>
          <a:xfrm>
            <a:off x="4246778" y="4105656"/>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CÓDIGO CASA · 2024</a:t>
            </a:r>
          </a:p>
        </p:txBody>
      </p:sp>
      <p:sp>
        <p:nvSpPr>
          <p:cNvPr id="23" name="TextBox 22"/>
          <p:cNvSpPr txBox="1"/>
          <p:nvPr/>
        </p:nvSpPr>
        <p:spPr>
          <a:xfrm>
            <a:off x="566409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Dominicanos que ve el sistema como nada justo — el clip confirmador viaja sin fricción.</a:t>
            </a:r>
          </a:p>
        </p:txBody>
      </p:sp>
      <p:sp>
        <p:nvSpPr>
          <p:cNvPr id="24" name="TextBox 23"/>
          <p:cNvSpPr txBox="1"/>
          <p:nvPr/>
        </p:nvSpPr>
        <p:spPr>
          <a:xfrm>
            <a:off x="4246778" y="4773168"/>
            <a:ext cx="1371600" cy="1097280"/>
          </a:xfrm>
          <a:prstGeom prst="rect">
            <a:avLst/>
          </a:prstGeom>
          <a:noFill/>
        </p:spPr>
        <p:txBody>
          <a:bodyPr wrap="square" lIns="0" rIns="0" tIns="0" bIns="0">
            <a:spAutoFit/>
          </a:bodyPr>
          <a:lstStyle/>
          <a:p>
            <a:pPr>
              <a:lnSpc>
                <a:spcPct val="100000"/>
              </a:lnSpc>
            </a:pPr>
            <a:r>
              <a:rPr sz="2400" b="0" i="0">
                <a:solidFill>
                  <a:srgbClr val="FFFFFF"/>
                </a:solidFill>
                <a:latin typeface="Instrument Serif"/>
              </a:rPr>
              <a:t>recomendación</a:t>
            </a:r>
          </a:p>
        </p:txBody>
      </p:sp>
      <p:sp>
        <p:nvSpPr>
          <p:cNvPr id="25" name="TextBox 24"/>
          <p:cNvSpPr txBox="1"/>
          <p:nvPr/>
        </p:nvSpPr>
        <p:spPr>
          <a:xfrm>
            <a:off x="4246778" y="5916168"/>
            <a:ext cx="13716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2024-2025</a:t>
            </a:r>
          </a:p>
        </p:txBody>
      </p:sp>
      <p:sp>
        <p:nvSpPr>
          <p:cNvPr id="26" name="TextBox 25"/>
          <p:cNvSpPr txBox="1"/>
          <p:nvPr/>
        </p:nvSpPr>
        <p:spPr>
          <a:xfrm>
            <a:off x="566409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Motores de recomendación moldean política, crianza y fe con efectos medibles.</a:t>
            </a:r>
          </a:p>
        </p:txBody>
      </p:sp>
      <p:pic>
        <p:nvPicPr>
          <p:cNvPr id="27" name="Picture 26" descr="macro-3-5-securityjournal-latam-2026.png"/>
          <p:cNvPicPr>
            <a:picLocks noChangeAspect="1"/>
          </p:cNvPicPr>
          <p:nvPr/>
        </p:nvPicPr>
        <p:blipFill>
          <a:blip r:embed="rId2"/>
          <a:stretch>
            <a:fillRect/>
          </a:stretch>
        </p:blipFill>
        <p:spPr>
          <a:xfrm>
            <a:off x="8127796" y="1152144"/>
            <a:ext cx="1892300" cy="2794000"/>
          </a:xfrm>
          <a:prstGeom prst="rect">
            <a:avLst/>
          </a:prstGeom>
        </p:spPr>
      </p:pic>
      <p:sp>
        <p:nvSpPr>
          <p:cNvPr id="28" name="Rounded Rectangle 27"/>
          <p:cNvSpPr/>
          <p:nvPr/>
        </p:nvSpPr>
        <p:spPr>
          <a:xfrm>
            <a:off x="9537496" y="1075944"/>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29" name="Rectangle 28">
            <a:hlinkClick r:id="rId3"/>
          </p:cNvPr>
          <p:cNvSpPr/>
          <p:nvPr/>
        </p:nvSpPr>
        <p:spPr>
          <a:xfrm>
            <a:off x="8127796" y="1152144"/>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93248" y="1289304"/>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Security Journal Americas 2026: la narrativa simple le gana al mensaje institucional complejo.</a:t>
            </a:r>
          </a:p>
        </p:txBody>
      </p:sp>
      <p:sp>
        <p:nvSpPr>
          <p:cNvPr id="31" name="TextBox 30"/>
          <p:cNvSpPr txBox="1"/>
          <p:nvPr/>
        </p:nvSpPr>
        <p:spPr>
          <a:xfrm>
            <a:off x="10093248" y="1752092"/>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SECURITY JOURNAL AMERICAS · 2026</a:t>
            </a:r>
          </a:p>
        </p:txBody>
      </p:sp>
      <p:pic>
        <p:nvPicPr>
          <p:cNvPr id="32" name="Picture 31" descr="macro-3-5-securityjournal-latam-2026.png"/>
          <p:cNvPicPr>
            <a:picLocks noChangeAspect="1"/>
          </p:cNvPicPr>
          <p:nvPr/>
        </p:nvPicPr>
        <p:blipFill>
          <a:blip r:embed="rId2"/>
          <a:stretch>
            <a:fillRect/>
          </a:stretch>
        </p:blipFill>
        <p:spPr>
          <a:xfrm>
            <a:off x="8127796" y="2962656"/>
            <a:ext cx="1892300" cy="2794000"/>
          </a:xfrm>
          <a:prstGeom prst="rect">
            <a:avLst/>
          </a:prstGeom>
        </p:spPr>
      </p:pic>
      <p:sp>
        <p:nvSpPr>
          <p:cNvPr id="33" name="Rounded Rectangle 32"/>
          <p:cNvSpPr/>
          <p:nvPr/>
        </p:nvSpPr>
        <p:spPr>
          <a:xfrm>
            <a:off x="9537496" y="2886456"/>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4" name="Rectangle 33">
            <a:hlinkClick r:id="rId3"/>
          </p:cNvPr>
          <p:cNvSpPr/>
          <p:nvPr/>
        </p:nvSpPr>
        <p:spPr>
          <a:xfrm>
            <a:off x="8127796" y="2962656"/>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93248" y="3099816"/>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La desinformación corre más rápido que las aclaraciones oficiales en LATAM/Caribe.</a:t>
            </a:r>
          </a:p>
        </p:txBody>
      </p:sp>
      <p:sp>
        <p:nvSpPr>
          <p:cNvPr id="36" name="TextBox 35"/>
          <p:cNvSpPr txBox="1"/>
          <p:nvPr/>
        </p:nvSpPr>
        <p:spPr>
          <a:xfrm>
            <a:off x="10093248" y="3562604"/>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SECURITY JOURNAL AMERICAS · 2026</a:t>
            </a:r>
          </a:p>
        </p:txBody>
      </p:sp>
      <p:pic>
        <p:nvPicPr>
          <p:cNvPr id="37" name="Picture 36" descr="macro-3-5-securityjournal-latam-2026.png"/>
          <p:cNvPicPr>
            <a:picLocks noChangeAspect="1"/>
          </p:cNvPicPr>
          <p:nvPr/>
        </p:nvPicPr>
        <p:blipFill>
          <a:blip r:embed="rId2"/>
          <a:stretch>
            <a:fillRect/>
          </a:stretch>
        </p:blipFill>
        <p:spPr>
          <a:xfrm>
            <a:off x="8127796" y="4773168"/>
            <a:ext cx="1892300" cy="2794000"/>
          </a:xfrm>
          <a:prstGeom prst="rect">
            <a:avLst/>
          </a:prstGeom>
        </p:spPr>
      </p:pic>
      <p:sp>
        <p:nvSpPr>
          <p:cNvPr id="38" name="Rounded Rectangle 37"/>
          <p:cNvSpPr/>
          <p:nvPr/>
        </p:nvSpPr>
        <p:spPr>
          <a:xfrm>
            <a:off x="9537496" y="4696968"/>
            <a:ext cx="584200" cy="1778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1" i="0">
                <a:solidFill>
                  <a:srgbClr val="FFFFFF"/>
                </a:solidFill>
                <a:latin typeface="Poppins"/>
              </a:rPr>
              <a:t>CLICK ME</a:t>
            </a:r>
          </a:p>
        </p:txBody>
      </p:sp>
      <p:sp>
        <p:nvSpPr>
          <p:cNvPr id="39" name="Rectangle 38">
            <a:hlinkClick r:id="rId4"/>
          </p:cNvPr>
          <p:cNvSpPr/>
          <p:nvPr/>
        </p:nvSpPr>
        <p:spPr>
          <a:xfrm>
            <a:off x="8127796" y="4773168"/>
            <a:ext cx="1892300" cy="2794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248" y="4910328"/>
            <a:ext cx="2159000" cy="444500"/>
          </a:xfrm>
          <a:prstGeom prst="rect">
            <a:avLst/>
          </a:prstGeom>
          <a:noFill/>
        </p:spPr>
        <p:txBody>
          <a:bodyPr wrap="square" lIns="0" rIns="0" tIns="0" bIns="0">
            <a:spAutoFit/>
          </a:bodyPr>
          <a:lstStyle/>
          <a:p>
            <a:pPr>
              <a:lnSpc>
                <a:spcPct val="100000"/>
              </a:lnSpc>
            </a:pPr>
            <a:r>
              <a:rPr sz="1000" b="0" i="0">
                <a:solidFill>
                  <a:srgbClr val="FFFFFF"/>
                </a:solidFill>
                <a:latin typeface="Poppins"/>
              </a:rPr>
              <a:t>Pew Research: motores de recomendación moldean política y percepciones con efectos medibles.</a:t>
            </a:r>
          </a:p>
        </p:txBody>
      </p:sp>
      <p:sp>
        <p:nvSpPr>
          <p:cNvPr id="41" name="TextBox 40"/>
          <p:cNvSpPr txBox="1"/>
          <p:nvPr/>
        </p:nvSpPr>
        <p:spPr>
          <a:xfrm>
            <a:off x="10093248" y="5373116"/>
            <a:ext cx="2159000" cy="164592"/>
          </a:xfrm>
          <a:prstGeom prst="rect">
            <a:avLst/>
          </a:prstGeom>
          <a:noFill/>
        </p:spPr>
        <p:txBody>
          <a:bodyPr wrap="square" lIns="0" rIns="0" tIns="0" bIns="0" anchor="t">
            <a:spAutoFit/>
          </a:bodyPr>
          <a:lstStyle/>
          <a:p>
            <a:pPr algn="l">
              <a:lnSpc>
                <a:spcPct val="100000"/>
              </a:lnSpc>
            </a:pPr>
            <a:r>
              <a:rPr sz="700" b="0" i="0">
                <a:solidFill>
                  <a:srgbClr val="666666"/>
                </a:solidFill>
                <a:latin typeface="Poppins"/>
              </a:rPr>
              <a:t>PEW RESEARCH · 2024-2025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