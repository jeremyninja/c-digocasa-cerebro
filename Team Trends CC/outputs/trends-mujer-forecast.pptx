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tiktok.com/@vivianhoorn/video/7565108605943336225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s://www.tiktok.com/@lowsachira/video/7638409055706385685" TargetMode="External"/><Relationship Id="rId6" Type="http://schemas.openxmlformats.org/officeDocument/2006/relationships/hyperlink" Target="https://www.instagram.com/reel/DToS1uIDCrh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www.tiktok.com/@claudinenova/video/7617926178254458130" TargetMode="External"/><Relationship Id="rId4" Type="http://schemas.openxmlformats.org/officeDocument/2006/relationships/image" Target="../media/image4.jpg"/><Relationship Id="rId5" Type="http://schemas.openxmlformats.org/officeDocument/2006/relationships/hyperlink" Target="https://www.tiktok.com/@morgenschick/video/7569813164540448055" TargetMode="External"/><Relationship Id="rId6" Type="http://schemas.openxmlformats.org/officeDocument/2006/relationships/image" Target="../media/image5.png"/><Relationship Id="rId7" Type="http://schemas.openxmlformats.org/officeDocument/2006/relationships/hyperlink" Target="https://www.trendwatching.com/innovation-of-the-day/o-botic%C3%A1ri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www.tiktok.com/@camilaburbanovlogs/video/7593189179668974869" TargetMode="External"/><Relationship Id="rId4" Type="http://schemas.openxmlformats.org/officeDocument/2006/relationships/image" Target="../media/image7.jpg"/><Relationship Id="rId5" Type="http://schemas.openxmlformats.org/officeDocument/2006/relationships/hyperlink" Target="https://www.tiktok.com/@kathraamirez/video/7637308884318801173" TargetMode="External"/><Relationship Id="rId6" Type="http://schemas.openxmlformats.org/officeDocument/2006/relationships/image" Target="../media/image8.png"/><Relationship Id="rId7" Type="http://schemas.openxmlformats.org/officeDocument/2006/relationships/hyperlink" Target="https://www.mckinsey.com/featured-insights/destacados/la-nueva-cara-de-la-mujer-inversionista/e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app.trendwatching.com/innovations/dubai-fragrance-brand-kayali-pairs-perfume-purchases-with-three-months-of-calm" TargetMode="External"/><Relationship Id="rId4" Type="http://schemas.openxmlformats.org/officeDocument/2006/relationships/image" Target="../media/image10.png"/><Relationship Id="rId5" Type="http://schemas.openxmlformats.org/officeDocument/2006/relationships/hyperlink" Target="https://app.trendwatching.com/innovations/functional-beverage-offers-calm-without-the-drowsiness" TargetMode="External"/><Relationship Id="rId6" Type="http://schemas.openxmlformats.org/officeDocument/2006/relationships/image" Target="../media/image11.jpg"/><Relationship Id="rId7" Type="http://schemas.openxmlformats.org/officeDocument/2006/relationships/hyperlink" Target="https://www.beveragedaily.com/Article/2026/04/24/trip-expands-night-time-offering-with-new-sleep-supplements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tiktok.com/@nataliacalongeac/video/7617274171868990740" TargetMode="External"/><Relationship Id="rId4" Type="http://schemas.openxmlformats.org/officeDocument/2006/relationships/image" Target="../media/image13.jpg"/><Relationship Id="rId5" Type="http://schemas.openxmlformats.org/officeDocument/2006/relationships/hyperlink" Target="https://www.tiktok.com/@mitzknight/video/7594909534548790541" TargetMode="External"/><Relationship Id="rId6" Type="http://schemas.openxmlformats.org/officeDocument/2006/relationships/image" Target="../media/image14.png"/><Relationship Id="rId7" Type="http://schemas.openxmlformats.org/officeDocument/2006/relationships/hyperlink" Target="https://support.ouraring.com/hc/es/articles/10785345623827-Integraci%C3%B3n-con-Natural-Cycle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hyperlink" Target="https://www.tiktok.com/@brooklynandbailey/video/7626949687144123662" TargetMode="External"/><Relationship Id="rId4" Type="http://schemas.openxmlformats.org/officeDocument/2006/relationships/image" Target="../media/image16.jpg"/><Relationship Id="rId5" Type="http://schemas.openxmlformats.org/officeDocument/2006/relationships/hyperlink" Target="https://www.tiktok.com/@glowwithava/video/7608668198992497951" TargetMode="External"/><Relationship Id="rId6" Type="http://schemas.openxmlformats.org/officeDocument/2006/relationships/image" Target="../media/image17.jpg"/><Relationship Id="rId7" Type="http://schemas.openxmlformats.org/officeDocument/2006/relationships/hyperlink" Target="https://www.tiktok.com/@lifewith.marisa/video/7602321967907179806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hyperlink" Target="https://www.tiktok.com/@mya._istiredfr/video/7605222707583520030" TargetMode="External"/><Relationship Id="rId4" Type="http://schemas.openxmlformats.org/officeDocument/2006/relationships/image" Target="../media/image19.jpg"/><Relationship Id="rId5" Type="http://schemas.openxmlformats.org/officeDocument/2006/relationships/hyperlink" Target="https://www.tiktok.com/@monibasila/video/7625030481288891666" TargetMode="External"/><Relationship Id="rId6" Type="http://schemas.openxmlformats.org/officeDocument/2006/relationships/image" Target="../media/image20.png"/><Relationship Id="rId7" Type="http://schemas.openxmlformats.org/officeDocument/2006/relationships/hyperlink" Target="https://www.apa.org/topics/artificial-intelligence-machine-learning/health-advisory-chatbots-wellness-app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tiktok.com/@marjorihaddad/video/7593437135760264459" TargetMode="External"/><Relationship Id="rId4" Type="http://schemas.openxmlformats.org/officeDocument/2006/relationships/image" Target="../media/image22.png"/><Relationship Id="rId5" Type="http://schemas.openxmlformats.org/officeDocument/2006/relationships/hyperlink" Target="https://founderz.com/es/blog/ai-skills-4-women-2026/" TargetMode="External"/><Relationship Id="rId6" Type="http://schemas.openxmlformats.org/officeDocument/2006/relationships/image" Target="../media/image23.png"/><Relationship Id="rId7" Type="http://schemas.openxmlformats.org/officeDocument/2006/relationships/hyperlink" Target="https://www.sheai.co/blog/women-in-ai-key-statistic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hyperlink" Target="https://www.tiktok.com/@hidekel.lebron/video/7636099060423806228" TargetMode="External"/><Relationship Id="rId4" Type="http://schemas.openxmlformats.org/officeDocument/2006/relationships/image" Target="../media/image25.jpg"/><Relationship Id="rId5" Type="http://schemas.openxmlformats.org/officeDocument/2006/relationships/hyperlink" Target="https://www.tiktok.com/@soypauortiz/video/7600113003614293266" TargetMode="External"/><Relationship Id="rId6" Type="http://schemas.openxmlformats.org/officeDocument/2006/relationships/image" Target="../media/image26.jpg"/><Relationship Id="rId7" Type="http://schemas.openxmlformats.org/officeDocument/2006/relationships/hyperlink" Target="https://www.tiktok.com/@vane_grwm01/video/7626112581098294536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hyperlink" Target="https://www.tiktok.com/@anadelapaz_/video/7613540742455250206" TargetMode="External"/><Relationship Id="rId4" Type="http://schemas.openxmlformats.org/officeDocument/2006/relationships/image" Target="../media/image28.jpg"/><Relationship Id="rId5" Type="http://schemas.openxmlformats.org/officeDocument/2006/relationships/hyperlink" Target="https://www.tiktok.com/@divarum_/video/7608214991958707463" TargetMode="External"/><Relationship Id="rId6" Type="http://schemas.openxmlformats.org/officeDocument/2006/relationships/image" Target="../media/image29.png"/><Relationship Id="rId7" Type="http://schemas.openxmlformats.org/officeDocument/2006/relationships/hyperlink" Target="https://www.retaildive.com/news/target-expands-beauty-assortment-60-new-brands-supergoop-morphe/810704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hyperlink" Target="https://www.tiktok.com/@byamandaleee/video/7625420609173867790" TargetMode="External"/><Relationship Id="rId4" Type="http://schemas.openxmlformats.org/officeDocument/2006/relationships/image" Target="../media/image31.jpg"/><Relationship Id="rId5" Type="http://schemas.openxmlformats.org/officeDocument/2006/relationships/hyperlink" Target="https://www.tiktok.com/@lizturra/video/7593036454272503061" TargetMode="External"/><Relationship Id="rId6" Type="http://schemas.openxmlformats.org/officeDocument/2006/relationships/image" Target="../media/image32.png"/><Relationship Id="rId7" Type="http://schemas.openxmlformats.org/officeDocument/2006/relationships/hyperlink" Target="https://www.usetwirl.com/for-creator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hyperlink" Target="https://www.tiktok.com/@angelinamrivera/video/7592851050508422431" TargetMode="External"/><Relationship Id="rId4" Type="http://schemas.openxmlformats.org/officeDocument/2006/relationships/image" Target="../media/image34.jpg"/><Relationship Id="rId5" Type="http://schemas.openxmlformats.org/officeDocument/2006/relationships/hyperlink" Target="https://www.tiktok.com/@here_for_animals/video/7635425480522353942" TargetMode="External"/><Relationship Id="rId6" Type="http://schemas.openxmlformats.org/officeDocument/2006/relationships/image" Target="../media/image35.png"/><Relationship Id="rId7" Type="http://schemas.openxmlformats.org/officeDocument/2006/relationships/hyperlink" Target="https://www.basf.com/ar/es/media/news-releases/2026/Febrero/Belleza-clim-tica-e-inclusiva--las-tendencias-que-definen-la-industria-del-skincare-y-haircare-para-202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67047" y="2286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A0A0A0"/>
                </a:solidFill>
                <a:latin typeface="Poppins"/>
              </a:rPr>
              <a:t>MACRO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27432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>
                <a:solidFill>
                  <a:srgbClr val="FFFFFF"/>
                </a:solidFill>
                <a:latin typeface="Instrument Serif"/>
              </a:rPr>
              <a:t>INVENTOLOGÍA DE LA ADULTEZ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847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1">
                <a:solidFill>
                  <a:srgbClr val="A0A0A0"/>
                </a:solidFill>
                <a:latin typeface="Instrument Serif"/>
              </a:rPr>
              <a:t>"Un mundo en crisis está reescribiendo qué significa ser adulto y formar familia."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INVENTOLOGÍA DE LA ADULTEZ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LA MATERNIDAD DEJÓ DE SER EL DEFAULT: LAS MUJERES CONGELAN ÓVULOS PARA PLANIFICAR, NO POR DESESPERO, Y LA RAZÓN #1 PARA NO TENER HIJOS YA NO ES "TODAVÍA NO"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Tener hijos era el destino asumido. Hoy es una casilla que se marca o se deja en blanco. Las mujeres eligen no tener hijos, o tenerlos en su propia ventana, y el egg freezing pasó de plan B de emergencia a herramienta de planificación. La decisión dejó de explicarse con "todavía no llega el momento" — ahora se explica con "no es mi prioridad".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#childfreebychoice · #eggfreezing · #fertiplan · #mybodymytimeline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47%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adultos menores de 50 no quiere hijos (vs 37% en 2018). Crece cada medición, liderado por mujeres.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PEW RESEARCH ·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la norma RD fija la maternidad ideal a los 20-29 — pero las razones para no tener hijos ya son "no es prioridad".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CÓDIGO CASA N=500 · NINJA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#eggfreezing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y #childfreebychoice circulan como contenido de planificación femenina, no de duelo.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TIKTOK · 2025</a:t>
            </a:r>
          </a:p>
        </p:txBody>
      </p:sp>
      <p:pic>
        <p:nvPicPr>
          <p:cNvPr id="25" name="Picture 24" descr="macro-1-1-egg-freezing-planificacion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Egg freezing como planificación racional, no como último recurso.</a:t>
            </a:r>
          </a:p>
        </p:txBody>
      </p:sp>
      <p:pic>
        <p:nvPicPr>
          <p:cNvPr id="28" name="Picture 27" descr="macro-1-1-no-lista-mama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Lista las razones por las que no está lista para ser mamá, sin disculparse.</a:t>
            </a:r>
          </a:p>
        </p:txBody>
      </p:sp>
      <p:sp>
        <p:nvSpPr>
          <p:cNvPr id="31" name="Rectangle 30">
            <a:hlinkClick r:id="rId6"/>
          </p:cNvPr>
          <p:cNvSpPr/>
          <p:nvPr/>
        </p:nvSpPr>
        <p:spPr>
          <a:xfrm>
            <a:off x="8170468" y="4727448"/>
            <a:ext cx="1207008" cy="1783080"/>
          </a:xfrm>
          <a:prstGeom prst="rect">
            <a:avLst/>
          </a:prstGeom>
          <a:solidFill>
            <a:srgbClr val="0D0D0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66666"/>
                </a:solidFill>
                <a:latin typeface="Poppins"/>
              </a:rPr>
              <a:t>CAPTURA MANUAL
- JEREMY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"Tengo 30, soltera y próspera" como reencuadre cultural con humor.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INVENTOLOGÍA DE LA ADULTEZ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LA MUJER DE 60 DEJÓ DE PEDIR PERMISO: EL SEGMENTO 60+ CONFÍA EN CREADORES CASI COMO LA GEN Z Y MARILIA BARBOSA JUNTA 2.5M DE SEGUIDORES A LOS 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Las mujeres de 50, 60 y 70 producen contenido, muestran sus outfits y toman el control narrativo de cómo se ven. Afluencer mide que el 71% de los mayores de 60 confía en los creadores — el segundo nivel de confianza más alto, justo detrás de la Gen 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#womenover50 · #ageless · #mamatiktok · #midlifewomen · #noexpirydate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los mayores de 60 confía en los influencers — segundo porcentaje más alto, detrás de Gen 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AFLUENCER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2.5M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seguidores tiene Marilia Barbosa, creadora brasileña de 62 años enfocada en mujeres de 50+. Más de 500K en YouTube.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AFLUENCER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#WomenInFashion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creció interanual en TikTok en 2025, con mujeres de todas las edades tomando control de cómo se ven.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TIKTOK NEWSROOM · 2025</a:t>
            </a:r>
          </a:p>
        </p:txBody>
      </p:sp>
      <p:pic>
        <p:nvPicPr>
          <p:cNvPr id="25" name="Picture 24" descr="macro-1-2-claudinenova-outfi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Comparte su día a día y sus outfits sin filtro de edad.</a:t>
            </a:r>
          </a:p>
        </p:txBody>
      </p:sp>
      <p:pic>
        <p:nvPicPr>
          <p:cNvPr id="28" name="Picture 27" descr="macro-1-2-morgenschick-60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"Lo que me hubiera gustado saber a los 20, a mis 60".</a:t>
            </a:r>
          </a:p>
        </p:txBody>
      </p:sp>
      <p:pic>
        <p:nvPicPr>
          <p:cNvPr id="31" name="Picture 30" descr="macro-1-2-oboticario-botik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Entrena 200 mujeres de 40+ como creadoras digitales de su línea Botik.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INVENTOLOGÍA DE LA ADULTEZ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LA MUJER COMPRA CASA E INVIERTE ANTES DEL ANILLO: 1 DE CADA 4 PRIMEROS COMPRADORES EN EE.UU. ES MUJER SOLTERA Y VIENEN $30T EN HERENCIA HACIA ELLAS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Las mujeres compran vivienda solas e invierten como acto de autonomía, no de necesidad. NAR mide que el 21% de las compras de casa en EE.UU. son de mujeres solteras, contra 8% de hombres solteros — récord histórico.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#womeninvesting · #independenciafinanciera · #sologirl · #sheconomy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las compras de vivienda en EE.UU. son de mujeres solteras, vs 8% de hombres. 1 de cada 4 primeros compradores es mujer soltera.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NAR / FORTUNE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$30T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se transferirán a mujeres en EE.UU. en la próxima década solo por herencia.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MCKINSEY / CHASE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24%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los hogares RD son monoparentales con jefatura femenina. BID estima pérdida de $185.4B en capital humano por desigualdad de género.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CÓDIGO CASA / BID / WORLD BANK · 2025</a:t>
            </a:r>
          </a:p>
        </p:txBody>
      </p:sp>
      <p:pic>
        <p:nvPicPr>
          <p:cNvPr id="25" name="Picture 24" descr="macro-1-3-mudarse-sola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Impulsa a otras mujeres a mudarse solas como crecimiento personal.</a:t>
            </a:r>
          </a:p>
        </p:txBody>
      </p:sp>
      <p:pic>
        <p:nvPicPr>
          <p:cNvPr id="28" name="Picture 27" descr="macro-1-3-sin-dinero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La mujer ya no teme quedarse sola, teme quedarse sin dinero.</a:t>
            </a:r>
          </a:p>
        </p:txBody>
      </p:sp>
      <p:pic>
        <p:nvPicPr>
          <p:cNvPr id="31" name="Picture 30" descr="macro-1-3-mujer-inversora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La mujer inversora rinde mejor a largo plazo; el producto sigue diseñado para el hombre.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INVENTOLOGÍA DE LA ADULTEZ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LAS MUJERES YA HABLAN EL IDIOMA DE SU CORTISOL: EL MERCADO DE ADAPTÓGENOS LLEGA A $11.92B Y LOS SUPLEMENTOS DE SALUD MENTAL FEMENINA ARRANCAN EN $1.51B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El adaptógeno pasó de nicho de wellness alternativo a vocabulario cotidiano: ashwagandha, magnesio, calma. Innova mide que las conversaciones digitales sobre salud hormonal femenina crecieron 118% entre 2022 y 2024.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#functionalbeverages · #adaptogen · #guthealth · #soberlife · #calmwithoutdrowsy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+118%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crecieron las conversaciones digitales sobre salud hormonal femenina en food y beverage entre 2022 y 2024.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INNOVA MARKET INSIGHTS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$11.92B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vale el mercado global de adaptógenos en 2025, rumbo a $18.82B en 2032. Ashwagandha domina con 38%.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FORTUNE BUSINESS INSIGHTS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$1.51B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vale el mercado de suplementos de salud mental femenina en 2026, el segmento de más rápido crecimiento en nutracéuticos.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TOWARDS HEALTHCARE · 2026</a:t>
            </a:r>
          </a:p>
        </p:txBody>
      </p:sp>
      <p:pic>
        <p:nvPicPr>
          <p:cNvPr id="25" name="Picture 24" descr="macro-1-4-kayali-calm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Mete 3 meses de Calm dentro del ritual de ponerse perfume.</a:t>
            </a:r>
          </a:p>
        </p:txBody>
      </p:sp>
      <p:pic>
        <p:nvPicPr>
          <p:cNvPr id="28" name="Picture 27" descr="macro-1-4-savvy-menopausia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Primera bebida funcional antiestrés con apoyo menopáusico.</a:t>
            </a:r>
          </a:p>
        </p:txBody>
      </p:sp>
      <p:pic>
        <p:nvPicPr>
          <p:cNvPr id="31" name="Picture 30" descr="macro-1-4-trip-dream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Gummies nocturnos con magnesio, valeriana y L-theanine, sin CBD.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67047" y="2286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A0A0A0"/>
                </a:solidFill>
                <a:latin typeface="Poppins"/>
              </a:rPr>
              <a:t>MACRO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27432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>
                <a:solidFill>
                  <a:srgbClr val="FFFFFF"/>
                </a:solidFill>
                <a:latin typeface="Instrument Serif"/>
              </a:rPr>
              <a:t>LOS HERNÁNDEZ ARE PROMPTED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847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1">
                <a:solidFill>
                  <a:srgbClr val="A0A0A0"/>
                </a:solidFill>
                <a:latin typeface="Instrument Serif"/>
              </a:rPr>
              <a:t>"El dominicano ya entró al mundo prompteado. Solo no lo nombra así."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LOS HERNÁNDEZ ARE PROMPTED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EL WEARABLE APRENDIÓ A HABLAR EL IDIOMA DEL CICLO: +50% DE MUJERES 18-45 RASTREA SU OVULACIÓN CON UN ANILLO Y OURA YA VALE $11 BILLONES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El wearable dejó de medir solo pasos y sueño. Ahora lee el ciclo, predice la ovulación y monitorea síntomas menstruales. PatentPC mide que más del 50% de las mujeres entre 18 y 45 ya usa un dispositivo para esto.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#ouraring · #cycletracking · #wearableshealth · #bodyliteracy · #femtech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+50%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mujeres 18-45 usa wearables para rastrear ciclo, ovulación y síntomas menstruales.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PATENTPC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mujeres prefiere wearables con datos de salud reproductiva integrados.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BELLE HEALTH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5.5M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anillos Oura vendidos desde 2015, la mitad en el último año. Valuación de $11 billones en oct. 2025.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FUTURE FEM HEALTH · 2025</a:t>
            </a:r>
          </a:p>
        </p:txBody>
      </p:sp>
      <p:pic>
        <p:nvPicPr>
          <p:cNvPr id="25" name="Picture 24" descr="macro-2-1-oura-anticonceptivo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Dejó las anticonceptivas y se cuida solo con el Oura Ring.</a:t>
            </a:r>
          </a:p>
        </p:txBody>
      </p:sp>
      <p:pic>
        <p:nvPicPr>
          <p:cNvPr id="28" name="Picture 27" descr="macro-2-1-oura-advisor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Usa Oura Advisor, IA de salud femenina para ciclo, fertilidad y menopausia.</a:t>
            </a:r>
          </a:p>
        </p:txBody>
      </p:sp>
      <p:pic>
        <p:nvPicPr>
          <p:cNvPr id="31" name="Picture 30" descr="macro-2-1-natural-cycles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Primera integración de wearable con app anticonceptiva aprobada por FDA.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LOS HERNÁNDEZ ARE PROMPTED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BUSCAR EMBARAZO SE VOLVIÓ CONTENIDO MASIVO Y LA IA LLEGÓ COMO ALIADA Y RIESGO: #TTCJOURNEY JUNTA 747.8K POSTS MIENTRAS EL FEMTECH REPRODUCTIVO CRECE 14% 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Buscar embarazo era tema médico privado. Hoy es contenido público con su propio hashtag. #ttcjourney acumula 747.8K publicaciones de mujeres narrando su proceso de concebir. La IA entró por dos lados: informa y desinforma al mismo tiempo.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#TTC · #fertilityAI · #ovulationtracking · #reproductivehealth · #saludreproductiva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747.8K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publicaciones bajo #ttcjourney de mujeres documentando su proceso para concebir.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TIKTOK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6-13%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mujeres en edad reproductiva tiene PCOS, históricamente subdiagnosticado. Las apps de IA detectan patrones antes que el ginecólogo.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OMS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14%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CAGR del mercado FemTech reproductivo 2025-2032: tests hormonales en casa e IA para ovulación democratizan lo que era de clínica privada.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DELVEINSIGHT · 2025</a:t>
            </a:r>
          </a:p>
        </p:txBody>
      </p:sp>
      <p:pic>
        <p:nvPicPr>
          <p:cNvPr id="25" name="Picture 24" descr="macro-2-2-ttcjourney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747.8K mujeres narrando su camino para concebir.</a:t>
            </a:r>
          </a:p>
        </p:txBody>
      </p:sp>
      <p:pic>
        <p:nvPicPr>
          <p:cNvPr id="28" name="Picture 27" descr="macro-2-2-get-pregnant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Convierte el "come get pregnant with me" en formato de contenido.</a:t>
            </a:r>
          </a:p>
        </p:txBody>
      </p:sp>
      <p:pic>
        <p:nvPicPr>
          <p:cNvPr id="31" name="Picture 30" descr="macro-2-2-tiktok-fuente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TikTok como la fuente más rápida de respuesta para embarazadas.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LOS HERNÁNDEZ ARE PROMPTED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LE CUENTA SUS PROBLEMAS A UNA APP ANTES QUE A SU MAMÁ: 48.7% DE ADULTOS YA USÓ UN LLM PARA SALUD MENTAL Y LAS APPS DE COMPAÑÍA CRECIERON 700%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Las mujeres usan IA para procesar lo que el sistema de salud mental no alcanza a atender: es caro, lento y todavía estigmatizado. JMIR mide que el 48.7% de los adultos usó un LLM para soporte de salud mental el último año.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#mentalhealthai · #aitherapy · #saludmentaldigital · #chatgpttherapy · #digitalwellness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48.7%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adultos usó un LLM para soporte de salud mental el último año; las mujeres, el segmento de mayor crecimiento.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JMIR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700%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crecieron las apps de IA de compañía entre 2022 y mediados de 2025. La terapia emocional es el caso de uso líder.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TECHCRUNCH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92.7%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usuarios jóvenes encontró útil el consejo de IA para salud mental.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RAND / JAMA NETWORK OPEN · 2025</a:t>
            </a:r>
          </a:p>
        </p:txBody>
      </p:sp>
      <p:pic>
        <p:nvPicPr>
          <p:cNvPr id="25" name="Picture 24" descr="macro-2-3-gpt-terapeuta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Comparte conversaciones largas con GPT como su terapeuta.</a:t>
            </a:r>
          </a:p>
        </p:txBody>
      </p:sp>
      <p:pic>
        <p:nvPicPr>
          <p:cNvPr id="28" name="Picture 27" descr="macro-2-3-amiga-chatgpt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"La amiga que tiene a ChatGPT como su terapeuta".</a:t>
            </a:r>
          </a:p>
        </p:txBody>
      </p:sp>
      <p:pic>
        <p:nvPicPr>
          <p:cNvPr id="31" name="Picture 30" descr="macro-2-3-apa-advisory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La APA emite advertencia sanitaria sobre chatbots de salud mental.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LOS HERNÁNDEZ ARE PROMPTED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USÓ LA IA PARA CERRAR LA BRECHA QUE LA UNIVERSIDAD NO LE CERRÓ: LAS MUJERES TRIPLICARON SU ADOPCIÓN DE IA GENERATIVA MIENTRAS 244K DESPIDOS GOLPEAN ROLES DONDE SON MAYORÍA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La IA llegó como amenaza directa a los empleos donde las mujeres son mayoría. Las más rápidas la convirtieron en herramienta de nivelación. Deloitte mide que las mujeres triplicaron su adopción de IA generativa entre 2023 y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#mujeresenIA · #aiskills · #techfemale · #digitalupskilling · #womenintech · #prompteate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creció la adopción de IA generativa entre mujeres de 2023 a 2025, más rápido que el 2.2x masculino. La brecha bajó de 50% a 25%.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DELOITTE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57,000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mujeres entrenadas en IA por Microsoft + Founderz en 2025 en 30 países — 570% sobre la meta de 10,000.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FOUNDERZ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244K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despidos en tech en 2025, concentrados en roles donde las mujeres son mayoría.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SHEAI · 2025</a:t>
            </a:r>
          </a:p>
        </p:txBody>
      </p:sp>
      <p:pic>
        <p:nvPicPr>
          <p:cNvPr id="25" name="Picture 24" descr="macro-2-4-gemini-dashboard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Arma dashboards en Gemini: los datos se entienden de un vistazo.</a:t>
            </a:r>
          </a:p>
        </p:txBody>
      </p:sp>
      <p:pic>
        <p:nvPicPr>
          <p:cNvPr id="28" name="Picture 27" descr="macro-2-4-ai-skills-women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Programa gratuito en 13+ idiomas, el más grande de alfabetización en IA femenina.</a:t>
            </a:r>
          </a:p>
        </p:txBody>
      </p:sp>
      <p:pic>
        <p:nvPicPr>
          <p:cNvPr id="31" name="Picture 30" descr="macro-2-4-despidos-tech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Documenta los 244K despidos tech concentrados en roles de mayoría femenina.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67047" y="2286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A0A0A0"/>
                </a:solidFill>
                <a:latin typeface="Poppins"/>
              </a:rPr>
              <a:t>MACRO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27432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>
                <a:solidFill>
                  <a:srgbClr val="FFFFFF"/>
                </a:solidFill>
                <a:latin typeface="Instrument Serif"/>
              </a:rPr>
              <a:t>ALGORITMO DEL HOGAR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847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1">
                <a:solidFill>
                  <a:srgbClr val="A0A0A0"/>
                </a:solidFill>
                <a:latin typeface="Instrument Serif"/>
              </a:rPr>
              <a:t>"El feed se sentó en la mesa y nadie le ofreció silla."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ALGORITMO DEL HOGAR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LA SALA ES OFICINA Y LA COCINA ES NEGOCIO: 49% DE MUJERES EN LATAM YA EMPRENDE —LA MENOR BRECHA DEL MUNDO— PORQUE EL BANCO LES DIJO QUE 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El hogar femenino dejó de ser solo espacio de consumo para volverse espacio de producción. La mujer que vende, enseña y presta servicios desde casa no está improvisando: opera un modelo económico con infraestructura digital propia.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#emprendedora · #madreemprendedora · #womenowned · #homeoffice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49%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mujeres en LATAM ya inició su negocio; la menor brecha de intención emprendedora del mundo. Pero 73% no accede a recursos para crecer.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GEM REPORT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$185.4B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perdió RD en capital humano en 2018 por desigualdad de género — 2.2% del PIB.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WORLD BANK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$100B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es el gap de financiamiento para MSMEs en LAC, más profundo para negocios de mujeres: más rechazos, peores términos.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IFC · 2025</a:t>
            </a:r>
          </a:p>
        </p:txBody>
      </p:sp>
      <p:pic>
        <p:nvPicPr>
          <p:cNvPr id="25" name="Picture 24" descr="macro-3-1-madre-remoto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Trabaja remoto para cumplir responsabilidades mientras cuida a sus hijos.</a:t>
            </a:r>
          </a:p>
        </p:txBody>
      </p:sp>
      <p:pic>
        <p:nvPicPr>
          <p:cNvPr id="28" name="Picture 27" descr="macro-3-1-business-owner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Un día en la vida de una business owner desde el hogar.</a:t>
            </a:r>
          </a:p>
        </p:txBody>
      </p:sp>
      <p:pic>
        <p:nvPicPr>
          <p:cNvPr id="31" name="Picture 30" descr="macro-3-1-emprender-14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Una niña de 14 emprendiendo desde la terraza de su casa.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ALGORITMO DEL HOGAR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EL ALGORITMO CONVIRTIÓ LA DUCHA EN CARRITO: EL EVERYTHING SHOWER LLEGÓ A BILLONES DE VISTAS Y VOLVIÓ 16 PRODUCTOS LO QUE ANTES ERAN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El algoritmo entró al baño. Un jabón y un champú se volvieron una rutina de 16 productos que el feed vendió uno por uno. El #everythingshower nació en TikTok y acumula billones de vistas. La categoría de cuidado personal va camino a $500B globales para 2030.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#everythingshower · #potelover · #showertok · #bodycareroutine · #overconsumption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Billones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vistas acumuladas en #showertok y tendencias relacionadas. #everythingshower crece en vistas individuales.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ACCIO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$500B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valdrá el mercado global de cuidado personal en 2030. Las mujeres son el 80% del gasto.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STATISTA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productos de body wash tiene una pote lover típica, según contenido viral. El número que detonó el debate #overconsumption vs. #underconsumptioncore.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PAJIBA · 2025</a:t>
            </a:r>
          </a:p>
        </p:txBody>
      </p:sp>
      <p:pic>
        <p:nvPicPr>
          <p:cNvPr id="25" name="Picture 24" descr="macro-3-2-potes-humor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Vuelve humor la obsesión con el consumismo de potes.</a:t>
            </a:r>
          </a:p>
        </p:txBody>
      </p:sp>
      <p:pic>
        <p:nvPicPr>
          <p:cNvPr id="28" name="Picture 27" descr="macro-3-2-14-pasos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Rutina de ducha de 14 pasos para oler como Clean Girl.</a:t>
            </a:r>
          </a:p>
        </p:txBody>
      </p:sp>
      <p:pic>
        <p:nvPicPr>
          <p:cNvPr id="31" name="Picture 30" descr="macro-3-2-walmart-layout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Rediseña su layout para poner la belleza en zonas de mayor tráfico.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ALGORITMO DEL HOGAR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GRABA DESDE LA COCINA Y COBRA SIN TENER SEGUIDORES: 96% DE LOS CREADORES DE UGC SON MUJERES Y UNA A TIEMPO COMPLETO FACTURA $116K AL 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El UGC hizo posible monetizar sin ser influencer. La mujer graba desde su sala, baño o cocina, le entrega el contenido a las marcas y cobra sin depender de cuántos la sigan. Collabstr midió que el 96% de los creadores de UGC son mujeres.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#ugccreator · #ugclatina · #contentcreator · #creadoradecontenido · #branddeals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96%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los creadores de UGC son mujeres (estudio de +1,000 creadores).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COLLABSTR / WHOP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93%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creció el número de creadores de UGC entre 2024 y 2025. El mercado superará $10B en EE.UU. en 2025.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WHOP / FEMFOUNDED.ORG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$116K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factura al año una creadora de UGC a tiempo completo en EE.UU. Sin seguir a nadie, sin que nadie la siga.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ZIPRECRUITER / FEMFOUNDED.ORG · 2025</a:t>
            </a:r>
          </a:p>
        </p:txBody>
      </p:sp>
      <p:pic>
        <p:nvPicPr>
          <p:cNvPr id="25" name="Picture 24" descr="macro-3-3-day-ugc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Day in the life creando contenido como UGC.</a:t>
            </a:r>
          </a:p>
        </p:txBody>
      </p:sp>
      <p:pic>
        <p:nvPicPr>
          <p:cNvPr id="28" name="Picture 27" descr="macro-3-3-tips-ugc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Tips para conseguir marcas siendo UGC.</a:t>
            </a:r>
          </a:p>
        </p:txBody>
      </p:sp>
      <p:pic>
        <p:nvPicPr>
          <p:cNvPr id="31" name="Picture 30" descr="macro-3-3-twirl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7,000+ creadoras, equipo all-women, 87,334 assets para +900 marcas.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239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5604" y="201168"/>
            <a:ext cx="380177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A0A0A0"/>
                </a:solidFill>
                <a:latin typeface="Poppins"/>
              </a:rPr>
              <a:t>SEÑALES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38912"/>
            <a:ext cx="116796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4924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2452" y="201168"/>
            <a:ext cx="9525" cy="6455664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66928"/>
            <a:ext cx="658368" cy="2377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000000"/>
                </a:solidFill>
                <a:latin typeface="Poppins"/>
              </a:rPr>
              <a:t>MACRO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566928"/>
            <a:ext cx="2011680" cy="237744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>
                <a:solidFill>
                  <a:srgbClr val="A0A0A0"/>
                </a:solidFill>
                <a:latin typeface="Poppins"/>
              </a:rPr>
              <a:t>ALGORITMO DEL HOGAR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896112"/>
            <a:ext cx="3637178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95000"/>
              </a:lnSpc>
            </a:pPr>
            <a:r>
              <a:rPr sz="2000">
                <a:solidFill>
                  <a:srgbClr val="FFFFFF"/>
                </a:solidFill>
                <a:latin typeface="Instrument Serif"/>
              </a:rPr>
              <a:t>LEYÓ LA ETIQUETA Y NO TE COMPRÓ MÁS: 60% YA PRIORIZA EL CRUELTY-FREE Y 78% DE LAS GEN Z PREFIERE MARCAS ECO-CONSCIENTES —Y LO DOCUMENTA EN TIKTOK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31566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EL FENÓMENO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51022"/>
            <a:ext cx="363717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Las mujeres empezaron a leer las etiquetas y las marcas tuvieron que reescribirlas. ReAnIn mide que el 60% de los compradores prioriza el etiquetado cruelty-free, y más del 55% cambia de marca cuando hay una alternativa cruelty-free al mismo precio.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51399"/>
            <a:ext cx="36371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A0A0A0"/>
                </a:solidFill>
                <a:latin typeface="Poppins"/>
              </a:rPr>
              <a:t>HASHTAGS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470855"/>
            <a:ext cx="36371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Instrument Serif"/>
              </a:rPr>
              <a:t>#crueltyfree · #veganbeauty · #cleanbeauty · #leapingbunny · #ethicalbeauty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658368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499616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compradores prioriza el etiquetado cruelty-free. Más del 55% cambia de marca si hay alternativa cruelty-free al mismo precio.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85416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REANIN MARKET RESEARCH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7258" y="2679192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$20B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3520440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vale el mercado global de cosméticos veganos en 2025, rumbo a $32.5B en 2032. El segmento femenino captura el 42.8%.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7258" y="4206240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FORTUNE BUSINESS INSIGHTS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7258" y="4700016"/>
            <a:ext cx="363717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>
                <a:solidFill>
                  <a:srgbClr val="FFFFFF"/>
                </a:solidFill>
                <a:latin typeface="Instrument Serif"/>
              </a:rPr>
              <a:t>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5541264"/>
            <a:ext cx="363717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de mujeres Gen Z prefiere marcas eco-conscientes; el 80% dejó de apoyar marcas por prácticas éticas cuestionables.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6227064"/>
            <a:ext cx="363717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666666"/>
                </a:solidFill>
                <a:latin typeface="Poppins"/>
              </a:rPr>
              <a:t>KEITARO · 2025</a:t>
            </a:r>
          </a:p>
        </p:txBody>
      </p:sp>
      <p:pic>
        <p:nvPicPr>
          <p:cNvPr id="25" name="Picture 24" descr="macro-3-4-leer-composicion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68" y="685800"/>
            <a:ext cx="1207008" cy="1783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74556" y="685800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8916" y="685800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Lee composiciones en video; la transparencia ya no es opcional.</a:t>
            </a:r>
          </a:p>
        </p:txBody>
      </p:sp>
      <p:pic>
        <p:nvPicPr>
          <p:cNvPr id="28" name="Picture 27" descr="macro-3-4-dove-peta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706624"/>
            <a:ext cx="1207008" cy="17830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874556" y="2706624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916" y="2706624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Multinacionales declarándose cruelty-free, certificadas por PETA.</a:t>
            </a:r>
          </a:p>
        </p:txBody>
      </p:sp>
      <p:pic>
        <p:nvPicPr>
          <p:cNvPr id="31" name="Picture 30" descr="macro-3-4-basf-ingredientes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468" y="4727448"/>
            <a:ext cx="1207008" cy="17830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874556" y="4727448"/>
            <a:ext cx="502920" cy="164592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Poppins"/>
              </a:rPr>
              <a:t>CLICK 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916" y="4727448"/>
            <a:ext cx="233873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FFFFFF"/>
                </a:solidFill>
                <a:latin typeface="Poppins"/>
              </a:rPr>
              <a:t>Rediseña sus ingredientes de belleza para clima y diversidad.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