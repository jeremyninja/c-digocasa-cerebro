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tiktok.com/@morechulaa/video/7636986702262717704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www.tiktok.com/@viviank.h/video/7620501104765177108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www.marketreportsworld.com/market-reports/meal-prep-market-14713709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tiktok.com/@toyantoja/video/7610215257000234247" TargetMode="External"/><Relationship Id="rId4" Type="http://schemas.openxmlformats.org/officeDocument/2006/relationships/image" Target="../media/image5.png"/><Relationship Id="rId5" Type="http://schemas.openxmlformats.org/officeDocument/2006/relationships/hyperlink" Target="https://fripick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www.tiktok.com/@liellewaldman17/video/7617943870797630750" TargetMode="External"/><Relationship Id="rId4" Type="http://schemas.openxmlformats.org/officeDocument/2006/relationships/image" Target="../media/image7.png"/><Relationship Id="rId5" Type="http://schemas.openxmlformats.org/officeDocument/2006/relationships/hyperlink" Target="https://www.tiktok.com/@nourvilaa/video/7642383470026657046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www.tiktok.com/@josheilyndls1/video/7549991019169811768" TargetMode="External"/><Relationship Id="rId4" Type="http://schemas.openxmlformats.org/officeDocument/2006/relationships/image" Target="../media/image9.png"/><Relationship Id="rId5" Type="http://schemas.openxmlformats.org/officeDocument/2006/relationships/hyperlink" Target="https://www.tiktok.com/@mariannycorderoo/video/7643570804885572882" TargetMode="External"/><Relationship Id="rId6" Type="http://schemas.openxmlformats.org/officeDocument/2006/relationships/image" Target="../media/image10.png"/><Relationship Id="rId7" Type="http://schemas.openxmlformats.org/officeDocument/2006/relationships/hyperlink" Target="https://www.tiktok.com/@macaseason/video/7625031259835665685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www.pedidosya.com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sensortower.com" TargetMode="External"/><Relationship Id="rId6" Type="http://schemas.openxmlformats.org/officeDocument/2006/relationships/image" Target="../media/image13.png"/><Relationship Id="rId7" Type="http://schemas.openxmlformats.org/officeDocument/2006/relationships/hyperlink" Target="https://www.thestkittsnevisobserver.com/first-online-only-supermarket-opens-in-santo-domingo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www.myfitnesspa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resourcera.com/data/social/tiktok-shop-statistics/" TargetMode="External"/><Relationship Id="rId4" Type="http://schemas.openxmlformats.org/officeDocument/2006/relationships/image" Target="../media/image16.png"/><Relationship Id="rId5" Type="http://schemas.openxmlformats.org/officeDocument/2006/relationships/hyperlink" Target="https://www.modernretail.co/technology/sales-from-major-brands-on-tiktok-shop-nearly-doubled-in-2025-drawing-ulta-and-sally-beauty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https://www.news-medical.net/health/How-GLP-1-Weight-Loss-Drugs-Affect-Appetite-Mood-and-Behavior.aspx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www.hellolingo.com" TargetMode="External"/><Relationship Id="rId4" Type="http://schemas.openxmlformats.org/officeDocument/2006/relationships/image" Target="../media/image19.png"/><Relationship Id="rId5" Type="http://schemas.openxmlformats.org/officeDocument/2006/relationships/hyperlink" Target="https://www.scrippsnews.com/health/continuous-glucose-monitors-are-in-vogue-but-do-you-really-need-to-track-your-blood-sugar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www.modernretail.co/technology/sales-from-major-brands-on-tiktok-shop-nearly-doubled-in-2025-drawing-ulta-and-sally-beauty/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resourcera.com/data/social/tiktok-shop-statistics/" TargetMode="External"/><Relationship Id="rId6" Type="http://schemas.openxmlformats.org/officeDocument/2006/relationships/image" Target="../media/image13.png"/><Relationship Id="rId7" Type="http://schemas.openxmlformats.org/officeDocument/2006/relationships/hyperlink" Target="https://www.thestkittsnevisobserver.com/first-online-only-supermarket-opens-in-santo-domingo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https://vegnews.com/fiber-whole-foods-2026-top-tren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www.youtube.com/results?search_query=mukbang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https://www.news-medical.net/health/How-GLP-1-Weight-Loss-Drugs-Affect-Appetite-Mood-and-Behavior.aspx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https://vegnews.com/fiber-whole-foods-2026-top-tren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www.scientificamerican.com/article/ozempic-quiets-food-noise-in-the-brain-but-how/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www.news-medical.net/health/How-GLP-1-Weight-Loss-Drugs-Affect-Appetite-Mood-and-Behavior.aspx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114550"/>
            <a:ext cx="12192000" cy="279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1400" b="1" i="0">
                <a:solidFill>
                  <a:srgbClr val="A0A0A0"/>
                </a:solidFill>
                <a:latin typeface="Poppins"/>
              </a:rPr>
              <a:t>MACRO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597150"/>
            <a:ext cx="10160000" cy="1460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10000" b="0" i="0">
                <a:solidFill>
                  <a:srgbClr val="FFFFFF"/>
                </a:solidFill>
                <a:latin typeface="Instrument Serif"/>
              </a:rPr>
              <a:t>INVENTOLOGÍA DE LA ADULTEZ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423545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2400" b="0" i="1">
                <a:solidFill>
                  <a:srgbClr val="A0A0A0"/>
                </a:solidFill>
                <a:latin typeface="Instrument Serif"/>
              </a:rPr>
              <a:t>"Un mundo en crisis está reescribiendo qué significa ser adulto y formar familia."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55600"/>
            <a:ext cx="2349500" cy="254000"/>
          </a:xfrm>
          <a:prstGeom prst="rect">
            <a:avLst/>
          </a:prstGeom>
          <a:noFill/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93800" y="355600"/>
            <a:ext cx="22479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78300" y="6604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53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5600" y="812800"/>
            <a:ext cx="11544300" cy="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52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89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5600" y="914400"/>
            <a:ext cx="368300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Instrument Serif"/>
              </a:rPr>
              <a:t>LA GENERACIÓN SIN TIEMPO ENTRE SEMANA DESCUBRIÓ QUE DOS HORAS EL DOMINGO LE DEVUELVEN LA SEMANA ENTERA.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1905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2082800"/>
            <a:ext cx="3683000" cy="1117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joven dominicano prepara comidas el domingo para ahorrar tiempo, comer mejor y controlar lo que ingiere. No es dieta — es autonomía. El meal prep entra como ritual de adultez sin mamá-cocinera detrás.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302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" y="3479800"/>
            <a:ext cx="3683000" cy="660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300" b="0" i="0">
                <a:solidFill>
                  <a:srgbClr val="FFFFFF"/>
                </a:solidFill>
                <a:latin typeface="Instrument Serif"/>
              </a:rPr>
              <a:t>#MealPrepDominicano · #DomingoDePrep · #ControlDeLoQueComo · #AdultoJovenRD · #ComidaDeLaSemana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600" y="4216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4394200"/>
            <a:ext cx="3683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800" b="0" i="0">
                <a:solidFill>
                  <a:srgbClr val="FFFFFF"/>
                </a:solidFill>
                <a:latin typeface="Instrument Serif"/>
              </a:rPr>
              <a:t>CONTROL · MIEDO · SOLEDAD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300" y="9144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6400" b="0" i="0">
                <a:solidFill>
                  <a:srgbClr val="FFFFFF"/>
                </a:solidFill>
                <a:latin typeface="Instrument Serif"/>
              </a:rPr>
              <a:t>US$36B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300" y="19558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global de meal prep en 2026, CAGR 9.84% hasta 2035.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300" y="24257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MARKET REPORTS WORLD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300" y="26416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48%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300" y="36830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adultos ya practica meal prep; 62% cita falta de tiempo como driver principal.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300" y="41529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HELLOFRESH STATE OF HOME COOKING ·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300" y="43688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4800" b="0" i="0">
                <a:solidFill>
                  <a:srgbClr val="FFFFFF"/>
                </a:solidFill>
                <a:latin typeface="Instrument Serif"/>
              </a:rPr>
              <a:t>@morechulaa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8300" y="54102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Creadora RD documenta meal prep de 4 días — tuppers etiquetados por día de la semana.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300" y="58801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@MORECHULAA · 2025</a:t>
            </a:r>
          </a:p>
        </p:txBody>
      </p:sp>
      <p:pic>
        <p:nvPicPr>
          <p:cNvPr id="28" name="Picture 27" descr="macro-1-1-tiktok-morechulaa-mealprep.png"/>
          <p:cNvPicPr>
            <a:picLocks noChangeAspect="1"/>
          </p:cNvPicPr>
          <p:nvPr>
            <a:hlinkClick r:id="rId3"/>
          </p:nvPr>
        </p:nvPicPr>
        <p:blipFill>
          <a:blip r:embed="rId2"/>
          <a:stretch>
            <a:fillRect/>
          </a:stretch>
        </p:blipFill>
        <p:spPr>
          <a:xfrm>
            <a:off x="8115300" y="355600"/>
            <a:ext cx="1397000" cy="20574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3900" y="355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Creadora dominicana @morechulaa: meal prep 4 días con tuppers etiquetados por día.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3900" y="825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@MORECHULAA · 2025</a:t>
            </a:r>
          </a:p>
        </p:txBody>
      </p:sp>
      <p:pic>
        <p:nvPicPr>
          <p:cNvPr id="33" name="Picture 32" descr="macro-1-1-tiktok-viviankh-mealprep.png"/>
          <p:cNvPicPr>
            <a:picLocks noChangeAspect="1"/>
          </p:cNvPicPr>
          <p:nvPr>
            <a:hlinkClick r:id="rId5"/>
          </p:nvPr>
        </p:nvPicPr>
        <p:blipFill>
          <a:blip r:embed="rId4"/>
          <a:stretch>
            <a:fillRect/>
          </a:stretch>
        </p:blipFill>
        <p:spPr>
          <a:xfrm>
            <a:off x="8115300" y="2514600"/>
            <a:ext cx="1397000" cy="20574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3900" y="2514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@viviank.h documenta 10 sándwiches + 9 porciones congeladas — meal prep de 3 semanas.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3900" y="2984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@VIVIANK.H · 2025</a:t>
            </a:r>
          </a:p>
        </p:txBody>
      </p:sp>
      <p:pic>
        <p:nvPicPr>
          <p:cNvPr id="38" name="Picture 37" descr="macro-1-0-mktreports-mealprep-market.png"/>
          <p:cNvPicPr>
            <a:picLocks noChangeAspect="1"/>
          </p:cNvPicPr>
          <p:nvPr>
            <a:hlinkClick r:id="rId7"/>
          </p:nvPr>
        </p:nvPicPr>
        <p:blipFill>
          <a:blip r:embed="rId6"/>
          <a:stretch>
            <a:fillRect/>
          </a:stretch>
        </p:blipFill>
        <p:spPr>
          <a:xfrm>
            <a:off x="8115300" y="4673600"/>
            <a:ext cx="1397000" cy="205740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13900" y="4673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Chart: mercado global meal prep US$36,433M en 2026, CAGR 9.84% hasta 2035.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13900" y="5143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MARKET REPORTS WORLD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55600"/>
            <a:ext cx="2349500" cy="254000"/>
          </a:xfrm>
          <a:prstGeom prst="rect">
            <a:avLst/>
          </a:prstGeom>
          <a:noFill/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93800" y="355600"/>
            <a:ext cx="22479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78300" y="6604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53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5600" y="812800"/>
            <a:ext cx="11544300" cy="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52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89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5600" y="914400"/>
            <a:ext cx="368300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Instrument Serif"/>
              </a:rPr>
              <a:t>LAS EMPRESAS DESCUBRIERON QUE SI EL EMPLEADO COME BIEN AL MEDIODÍA RINDE MEJOR EN LA TARDE — Y EL MENÚ DE ALMUERZO SE VOLVIÓ BENEFICIO.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1905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2082800"/>
            <a:ext cx="3683000" cy="1117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Fripick deja que la empresa pague la comida y la descuente en quincena. La comida del mediodía dejó de ser problema individual del empleado — ahora es categoría B2B.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302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" y="3479800"/>
            <a:ext cx="3683000" cy="660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300" b="0" i="0">
                <a:solidFill>
                  <a:srgbClr val="FFFFFF"/>
                </a:solidFill>
                <a:latin typeface="Instrument Serif"/>
              </a:rPr>
              <a:t>#LunchMenuRD · #AlmuerzoDeTrabajo · #MenúDelDía · #PrecioAccesible · #NegocioOyó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600" y="4216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4394200"/>
            <a:ext cx="3683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800" b="0" i="0">
                <a:solidFill>
                  <a:srgbClr val="FFFFFF"/>
                </a:solidFill>
                <a:latin typeface="Instrument Serif"/>
              </a:rPr>
              <a:t>DIGNIDAD · VACÍO ·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300" y="9144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+13%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300" y="19558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Tráfico YoY en restauración LATAM en horario almuerzo con shoulder hour pricing.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300" y="24257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OPENTABLE DINING TRENDS / QSR MAGAZINE ·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300" y="26416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84%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300" y="36830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Percibe los precios de alimentos como "altos"; dos tercios prefieren opciones más económicas.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300" y="41529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PURDUE UNIVERSITY / FAMILY DINNER PROJECT ·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300" y="43688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6400" b="0" i="0">
                <a:solidFill>
                  <a:srgbClr val="FFFFFF"/>
                </a:solidFill>
                <a:latin typeface="Instrument Serif"/>
              </a:rPr>
              <a:t>Fripick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8300" y="54102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Plataforma RD de beneficios alimentarios corporativos B2B operando con descuento de quincena.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300" y="58801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FRIPICK.COM · 2025</a:t>
            </a:r>
          </a:p>
        </p:txBody>
      </p:sp>
      <p:pic>
        <p:nvPicPr>
          <p:cNvPr id="28" name="Picture 27" descr="macro-1-2-tiktok-toyantoja-noccila-lunch.png"/>
          <p:cNvPicPr>
            <a:picLocks noChangeAspect="1"/>
          </p:cNvPicPr>
          <p:nvPr>
            <a:hlinkClick r:id="rId3"/>
          </p:nvPr>
        </p:nvPicPr>
        <p:blipFill>
          <a:blip r:embed="rId2"/>
          <a:stretch>
            <a:fillRect/>
          </a:stretch>
        </p:blipFill>
        <p:spPr>
          <a:xfrm>
            <a:off x="8115300" y="355600"/>
            <a:ext cx="1397000" cy="20574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3900" y="355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@toyantoja muestra lunch completo en Nocciola por menos de RD$500 — dato que "vale oro".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3900" y="825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@TOYANTOJA · 2025</a:t>
            </a:r>
          </a:p>
        </p:txBody>
      </p:sp>
      <p:pic>
        <p:nvPicPr>
          <p:cNvPr id="33" name="Picture 32" descr="macro-1-2-fripick-rd-brand.png"/>
          <p:cNvPicPr>
            <a:picLocks noChangeAspect="1"/>
          </p:cNvPicPr>
          <p:nvPr>
            <a:hlinkClick r:id="rId5"/>
          </p:nvPr>
        </p:nvPicPr>
        <p:blipFill>
          <a:blip r:embed="rId4"/>
          <a:stretch>
            <a:fillRect/>
          </a:stretch>
        </p:blipFill>
        <p:spPr>
          <a:xfrm>
            <a:off x="8115300" y="2514600"/>
            <a:ext cx="1397000" cy="20574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3900" y="2514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Fripick RD — beneficio alimentario corporativo B2B, descuento directo en quincena.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3900" y="2984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FRIPICK · 2025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5300" y="4673600"/>
            <a:ext cx="1397000" cy="2057400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66100" y="5575300"/>
            <a:ext cx="12954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800" b="1" i="0">
                <a:solidFill>
                  <a:srgbClr val="666666"/>
                </a:solidFill>
                <a:latin typeface="Poppins"/>
              </a:rPr>
              <a:t>CAPTURA MANUAL — JEREMY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13900" y="4673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Inflación alimentaria RD: precios subieron 50% entre jul 2019 y jul 2025; 8.03% interanual ene 2026.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13900" y="5143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BCRD / DOMINICAN TODAY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55600"/>
            <a:ext cx="2349500" cy="254000"/>
          </a:xfrm>
          <a:prstGeom prst="rect">
            <a:avLst/>
          </a:prstGeom>
          <a:noFill/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93800" y="355600"/>
            <a:ext cx="22479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78300" y="6604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53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5600" y="812800"/>
            <a:ext cx="11544300" cy="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52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89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5600" y="914400"/>
            <a:ext cx="368300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Instrument Serif"/>
              </a:rPr>
              <a:t>TE CRIÓ CON MIEDO A LO "MALO" Y AHORA COMER SE SIENTE COMO CULPA. TIKTOK ESCUCHÓ EL TÉRMINO Y LO CONVIRTIÓ EN TREND CON MILLONES DE VIEWS.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1905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2082800"/>
            <a:ext cx="3683000" cy="1117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mamá que controlaba cada bocado crió hijas con relación rota con el plato. La almond mom no es solo un meme — es una cadena generacional. El trauma tiene hashtag ahora.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302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" y="3479800"/>
            <a:ext cx="3683000" cy="660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300" b="0" i="0">
                <a:solidFill>
                  <a:srgbClr val="FFFFFF"/>
                </a:solidFill>
                <a:latin typeface="Instrument Serif"/>
              </a:rPr>
              <a:t>#AlmondMom · #TraumasDietéticos · #ComerConCulpa · #GeneraciónSinRefresco · #LaVozDeMamá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600" y="4216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4394200"/>
            <a:ext cx="3683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800" b="0" i="0">
                <a:solidFill>
                  <a:srgbClr val="FFFFFF"/>
                </a:solidFill>
                <a:latin typeface="Instrument Serif"/>
              </a:rPr>
              <a:t>CULPA · RESENTIMIENTO · REPARACIÓN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300" y="9144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30M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300" y="19558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Americanos desarrollarán un trastorno alimentario en su vida. 2a enfermedad mental más mortal.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300" y="24257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ANAD / ABC NEWS ·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300" y="26416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42%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300" y="36830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niñas de 1°-3° quiere ser más delgada; 81% de niños de 10 años teme engordar.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300" y="41529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ANAD STATISTICS ·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300" y="43688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4800" b="0" i="0">
                <a:solidFill>
                  <a:srgbClr val="FFFFFF"/>
                </a:solidFill>
                <a:latin typeface="Instrument Serif"/>
              </a:rPr>
              <a:t>#almondmom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8300" y="54102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viral con millones de views — trauma dietético heredado como contenido de TikTok.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300" y="58801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pic>
        <p:nvPicPr>
          <p:cNvPr id="28" name="Picture 27" descr="macro-1-3-tiktok-lielle-almondmom.png"/>
          <p:cNvPicPr>
            <a:picLocks noChangeAspect="1"/>
          </p:cNvPicPr>
          <p:nvPr>
            <a:hlinkClick r:id="rId3"/>
          </p:nvPr>
        </p:nvPicPr>
        <p:blipFill>
          <a:blip r:embed="rId2"/>
          <a:stretch>
            <a:fillRect/>
          </a:stretch>
        </p:blipFill>
        <p:spPr>
          <a:xfrm>
            <a:off x="8115300" y="355600"/>
            <a:ext cx="1397000" cy="20574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3900" y="355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@Lielle &amp; Dee recrea rutina matutina bajo #almondmom — suplementos, restricción heredada sin cuestionamiento.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3900" y="825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@LIELLEWALDMAN17 · 2025</a:t>
            </a:r>
          </a:p>
        </p:txBody>
      </p:sp>
      <p:pic>
        <p:nvPicPr>
          <p:cNvPr id="33" name="Picture 32" descr="macro-1-3-tiktok-nourvilaa-almondmom.png"/>
          <p:cNvPicPr>
            <a:picLocks noChangeAspect="1"/>
          </p:cNvPicPr>
          <p:nvPr>
            <a:hlinkClick r:id="rId5"/>
          </p:nvPr>
        </p:nvPicPr>
        <p:blipFill>
          <a:blip r:embed="rId4"/>
          <a:stretch>
            <a:fillRect/>
          </a:stretch>
        </p:blipFill>
        <p:spPr>
          <a:xfrm>
            <a:off x="8115300" y="2514600"/>
            <a:ext cx="1397000" cy="20574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3900" y="2514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@nour vilà — versión francesa/LATAM del trauma dietético heredado de mamá bajo #almondmum.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3900" y="2984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@NOURVILAA · 2025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5300" y="4673600"/>
            <a:ext cx="1397000" cy="2057400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66100" y="5575300"/>
            <a:ext cx="12954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800" b="1" i="0">
                <a:solidFill>
                  <a:srgbClr val="666666"/>
                </a:solidFill>
                <a:latin typeface="Poppins"/>
              </a:rPr>
              <a:t>CAPTURA MANUAL — JEREMY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13900" y="4673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ANAD 2025: 30M americanos desarrollarán un trastorno alimentario — 2da enfermedad mental más mortal.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13900" y="5143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ANAD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55600"/>
            <a:ext cx="2349500" cy="254000"/>
          </a:xfrm>
          <a:prstGeom prst="rect">
            <a:avLst/>
          </a:prstGeom>
          <a:noFill/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93800" y="355600"/>
            <a:ext cx="22479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78300" y="6604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53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5600" y="812800"/>
            <a:ext cx="11544300" cy="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52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89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5600" y="914400"/>
            <a:ext cx="368300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Instrument Serif"/>
              </a:rPr>
              <a:t>LA DIFERENCIA ENTRE UN DOMINGO CON FAMILIA Y UNO SOLO SE MIDE EN UNA PREGUNTA: ¿QUÉ VAMOS A COMER?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1905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2082800"/>
            <a:ext cx="3683000" cy="1117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Para el foráneo que vive solo, el domingo es el día más difícil — sin ritual, sin mesa, con delivery en la cama. La mesa familiar se volvió FaceTime con plato distinto a cada lado.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302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" y="3479800"/>
            <a:ext cx="3683000" cy="660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300" b="0" i="0">
                <a:solidFill>
                  <a:srgbClr val="FFFFFF"/>
                </a:solidFill>
                <a:latin typeface="Instrument Serif"/>
              </a:rPr>
              <a:t>#DomingoSolo · #AlmuerzoDeFamilia · #SancochoDelDomingo · #ForáneoEnLaCapital · #SinMesaNoHayDomingo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600" y="4216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4394200"/>
            <a:ext cx="3683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800" b="0" i="0">
                <a:solidFill>
                  <a:srgbClr val="FFFFFF"/>
                </a:solidFill>
                <a:latin typeface="Instrument Serif"/>
              </a:rPr>
              <a:t>SOLEDAD · PERTENENCIA · INVISIBILIDAD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300" y="9144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300" y="19558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come junto menos que hace una década; 84% querría compartir más comidas.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300" y="24257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SIMIRITY / FMI FOUNDATION ·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300" y="26416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84%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300" y="36830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Querría más comidas familiares; 62% de padres no logra cenar con la frecuencia deseada.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300" y="41529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FMI FOUNDATION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300" y="43688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17%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8300" y="54102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familias dominicanas no comparte las horas de comida — el foráneo es ese porcentaje.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300" y="58801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CÓDIGO CASA · P25 · 2024</a:t>
            </a:r>
          </a:p>
        </p:txBody>
      </p:sp>
      <p:pic>
        <p:nvPicPr>
          <p:cNvPr id="28" name="Picture 27" descr="macro-1-4-tiktok-josheilyn-foranea-capital.png"/>
          <p:cNvPicPr>
            <a:picLocks noChangeAspect="1"/>
          </p:cNvPicPr>
          <p:nvPr>
            <a:hlinkClick r:id="rId3"/>
          </p:nvPr>
        </p:nvPicPr>
        <p:blipFill>
          <a:blip r:embed="rId2"/>
          <a:stretch>
            <a:fillRect/>
          </a:stretch>
        </p:blipFill>
        <p:spPr>
          <a:xfrm>
            <a:off x="8115300" y="355600"/>
            <a:ext cx="1397000" cy="20574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3900" y="355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@Josheilyn de los Santos — "yo amo estar en mi hogar los domingos" — foránea RD en la capital.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3900" y="825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@JOSHEILYNDLS1 · 2025</a:t>
            </a:r>
          </a:p>
        </p:txBody>
      </p:sp>
      <p:pic>
        <p:nvPicPr>
          <p:cNvPr id="33" name="Picture 32" descr="macro-1-4-tiktok-mariannycorderoo-domingo.png"/>
          <p:cNvPicPr>
            <a:picLocks noChangeAspect="1"/>
          </p:cNvPicPr>
          <p:nvPr>
            <a:hlinkClick r:id="rId5"/>
          </p:nvPr>
        </p:nvPicPr>
        <p:blipFill>
          <a:blip r:embed="rId4"/>
          <a:stretch>
            <a:fillRect/>
          </a:stretch>
        </p:blipFill>
        <p:spPr>
          <a:xfrm>
            <a:off x="8115300" y="2514600"/>
            <a:ext cx="1397000" cy="20574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3900" y="2514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@mariannycorderoo — domingo solo en Bogotá preparándose una tostada con #amorpropio.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3900" y="2984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@MARIANNYCORDEROO · 2025</a:t>
            </a:r>
          </a:p>
        </p:txBody>
      </p:sp>
      <p:pic>
        <p:nvPicPr>
          <p:cNvPr id="38" name="Picture 37" descr="macro-1-4-tiktok-macaseason-domingo-familiar.png"/>
          <p:cNvPicPr>
            <a:picLocks noChangeAspect="1"/>
          </p:cNvPicPr>
          <p:nvPr>
            <a:hlinkClick r:id="rId7"/>
          </p:nvPr>
        </p:nvPicPr>
        <p:blipFill>
          <a:blip r:embed="rId6"/>
          <a:stretch>
            <a:fillRect/>
          </a:stretch>
        </p:blipFill>
        <p:spPr>
          <a:xfrm>
            <a:off x="8115300" y="4673600"/>
            <a:ext cx="1397000" cy="205740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13900" y="4673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@María Camila — el domingo familiar completo; contraste con el domingo solo del foráneo.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13900" y="5143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@MACASEASON ·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55600"/>
            <a:ext cx="2349500" cy="254000"/>
          </a:xfrm>
          <a:prstGeom prst="rect">
            <a:avLst/>
          </a:prstGeom>
          <a:noFill/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93800" y="355600"/>
            <a:ext cx="22479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78300" y="6604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53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5600" y="812800"/>
            <a:ext cx="11544300" cy="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52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89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5600" y="914400"/>
            <a:ext cx="368300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Instrument Serif"/>
              </a:rPr>
              <a:t>PEDIDOSYA ES LA APP #1 DE FOOD EN RD: EL ADULTO JOVEN YA NO DECIDE QUÉ COCINAR ENTRE SEMANA, DECIDE QUÉ PEDIR — Y ESA ES SU NUEVA FORMA DE SER ADULTO.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1905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2082800"/>
            <a:ext cx="3683000" cy="1117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adultez tradicional cocinaba todos los días. La adultez 2026 delega el jueves a una app. No es flojera — es renegociación del rol de "buen adulto" en una economía donde el tiempo cuesta más que la comida.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302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" y="3479800"/>
            <a:ext cx="3683000" cy="660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300" b="0" i="0">
                <a:solidFill>
                  <a:srgbClr val="FFFFFF"/>
                </a:solidFill>
                <a:latin typeface="Instrument Serif"/>
              </a:rPr>
              <a:t>#PedidosYaRD · #DeliveryEsMiMamá · #AdultoQueNoCocina · #JuevesDeApp · #ComerSinCocinar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600" y="4216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4394200"/>
            <a:ext cx="3683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800" b="0" i="0">
                <a:solidFill>
                  <a:srgbClr val="FFFFFF"/>
                </a:solidFill>
                <a:latin typeface="Instrument Serif"/>
              </a:rPr>
              <a:t>CONTROL · SOLEDAD · CULPA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300" y="9144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#1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300" y="19558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PedidosYa app #1 food &amp; drink iOS en RD con 13K-21.7K descargas semanales Q1 2025.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300" y="24257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SENSOR TOWER · Q1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300" y="26416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50%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300" y="36830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Subida de precios alimentos en RD entre jul 2019 y jul 2025 — delivery se vuelve cálculo costo-tiempo.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300" y="41529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BCRD / DOMINICAN TODAY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300" y="43688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6400" b="0" i="0">
                <a:solidFill>
                  <a:srgbClr val="FFFFFF"/>
                </a:solidFill>
                <a:latin typeface="Instrument Serif"/>
              </a:rPr>
              <a:t>Online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8300" y="54102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Primer supermercado 100% online abre en Santo Domingo — la grocería migra a app.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300" y="58801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ST KITTS NEVIS OBSERVER · 2025</a:t>
            </a:r>
          </a:p>
        </p:txBody>
      </p:sp>
      <p:pic>
        <p:nvPicPr>
          <p:cNvPr id="28" name="Picture 27" descr="macro-1-5-pedidosya-country-selector.png"/>
          <p:cNvPicPr>
            <a:picLocks noChangeAspect="1"/>
          </p:cNvPicPr>
          <p:nvPr>
            <a:hlinkClick r:id="rId3"/>
          </p:nvPr>
        </p:nvPicPr>
        <p:blipFill>
          <a:blip r:embed="rId2"/>
          <a:stretch>
            <a:fillRect/>
          </a:stretch>
        </p:blipFill>
        <p:spPr>
          <a:xfrm>
            <a:off x="8115300" y="355600"/>
            <a:ext cx="1397000" cy="20574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3900" y="355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Pantalla PedidosYa con República Dominicana listada + badges App Store y Google Play.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3900" y="825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PEDIDOSYA · 2026</a:t>
            </a:r>
          </a:p>
        </p:txBody>
      </p:sp>
      <p:pic>
        <p:nvPicPr>
          <p:cNvPr id="33" name="Picture 32" descr="macro-1-5-sensortower-pedidosya-rd-chart.png"/>
          <p:cNvPicPr>
            <a:picLocks noChangeAspect="1"/>
          </p:cNvPicPr>
          <p:nvPr>
            <a:hlinkClick r:id="rId5"/>
          </p:nvPr>
        </p:nvPicPr>
        <p:blipFill>
          <a:blip r:embed="rId4"/>
          <a:stretch>
            <a:fillRect/>
          </a:stretch>
        </p:blipFill>
        <p:spPr>
          <a:xfrm>
            <a:off x="8115300" y="2514600"/>
            <a:ext cx="1397000" cy="20574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3900" y="2514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Bar chart Sensor Tower: PedidosYa #1 en descargas food delivery RD, Q1 2025.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3900" y="2984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SENSOR TOWER · Q1 2025</a:t>
            </a:r>
          </a:p>
        </p:txBody>
      </p:sp>
      <p:pic>
        <p:nvPicPr>
          <p:cNvPr id="38" name="Picture 37" descr="macro-1-5-stkitts-online-super-sd.png"/>
          <p:cNvPicPr>
            <a:picLocks noChangeAspect="1"/>
          </p:cNvPicPr>
          <p:nvPr>
            <a:hlinkClick r:id="rId7"/>
          </p:nvPr>
        </p:nvPicPr>
        <p:blipFill>
          <a:blip r:embed="rId6"/>
          <a:stretch>
            <a:fillRect/>
          </a:stretch>
        </p:blipFill>
        <p:spPr>
          <a:xfrm>
            <a:off x="8115300" y="4673600"/>
            <a:ext cx="1397000" cy="205740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13900" y="4673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Primer supermercado 100% online que abre en Santo Domingo — la grocería migra a app.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13900" y="5143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ST KITTS NEVIS OBSERVER ·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114550"/>
            <a:ext cx="12192000" cy="279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1400" b="1" i="0">
                <a:solidFill>
                  <a:srgbClr val="A0A0A0"/>
                </a:solidFill>
                <a:latin typeface="Poppins"/>
              </a:rPr>
              <a:t>MACRO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597150"/>
            <a:ext cx="10160000" cy="1460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10000" b="0" i="0">
                <a:solidFill>
                  <a:srgbClr val="FFFFFF"/>
                </a:solidFill>
                <a:latin typeface="Instrument Serif"/>
              </a:rPr>
              <a:t>LOS HERNÁNDEZ ARE PROMPTED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423545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2400" b="0" i="1">
                <a:solidFill>
                  <a:srgbClr val="A0A0A0"/>
                </a:solidFill>
                <a:latin typeface="Instrument Serif"/>
              </a:rPr>
              <a:t>"El dominicano ya entró al mundo prompteado. Solo no lo nombra así."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55600"/>
            <a:ext cx="2349500" cy="254000"/>
          </a:xfrm>
          <a:prstGeom prst="rect">
            <a:avLst/>
          </a:prstGeom>
          <a:noFill/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93800" y="355600"/>
            <a:ext cx="22479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78300" y="6604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53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5600" y="812800"/>
            <a:ext cx="11544300" cy="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52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89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5600" y="914400"/>
            <a:ext cx="368300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Instrument Serif"/>
              </a:rPr>
              <a:t>UNA FOTO DE TU PLATO NO SABE LO QUE COMES. PERO EL ALGORITMO TE CONVENCE DE QUE SÍ — Y LE CREES MÁS A LA APP QUE A TU PROPIO CUERPO.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1905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2082800"/>
            <a:ext cx="3683000" cy="1117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Las apps de conteo calórico pasaron de herramienta a obsesión. El algoritmo que "te ayuda a comer mejor" se convierte en la voz que condena cada nutriente. El número en pantalla pesa más que la sensación de saciedad.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302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" y="3479800"/>
            <a:ext cx="3683000" cy="660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300" b="0" i="0">
                <a:solidFill>
                  <a:srgbClr val="FFFFFF"/>
                </a:solidFill>
                <a:latin typeface="Instrument Serif"/>
              </a:rPr>
              <a:t>#AppQueEnfermó · #MyFitnessPalToxic · #AlgoritmoDeMiDieta · #ContarCalorías · #ComerConMiedo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600" y="4216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4394200"/>
            <a:ext cx="3683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800" b="0" i="0">
                <a:solidFill>
                  <a:srgbClr val="FFFFFF"/>
                </a:solidFill>
                <a:latin typeface="Instrument Serif"/>
              </a:rPr>
              <a:t>MIEDO · CULPA ·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300" y="9144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180M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300" y="19558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 de MyFitnessPal; 75% de pacientes con trastorno alimentario la usaba.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300" y="24257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GRIPROOM / PMC NLM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300" y="26416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73%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300" y="36830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pacientes con trastorno alimentario creyó que la app contribuyó a su desarrollo.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300" y="41529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PMC NLM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300" y="43688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6400" b="0" i="0">
                <a:solidFill>
                  <a:srgbClr val="FFFFFF"/>
                </a:solidFill>
                <a:latin typeface="Instrument Serif"/>
              </a:rPr>
              <a:t>#toxic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8300" y="54102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#myfitnesspaltoxic y #calorietracking — creadoras documentan recuperación de relación rota con apps.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300" y="58801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· 2025-2026</a:t>
            </a:r>
          </a:p>
        </p:txBody>
      </p:sp>
      <p:pic>
        <p:nvPicPr>
          <p:cNvPr id="28" name="Picture 27" descr="macro-2-1-myfitnesspal-app-ui.png"/>
          <p:cNvPicPr>
            <a:picLocks noChangeAspect="1"/>
          </p:cNvPicPr>
          <p:nvPr>
            <a:hlinkClick r:id="rId3"/>
          </p:nvPr>
        </p:nvPicPr>
        <p:blipFill>
          <a:blip r:embed="rId2"/>
          <a:stretch>
            <a:fillRect/>
          </a:stretch>
        </p:blipFill>
        <p:spPr>
          <a:xfrm>
            <a:off x="8115300" y="355600"/>
            <a:ext cx="1397000" cy="20574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3900" y="355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Mockup MyFitnessPal: 976 cal + macro breakdown del día — "Nutrition tracking for real life".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3900" y="825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MYFITNESSPAL · 2026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15300" y="2514600"/>
            <a:ext cx="1397000" cy="2057400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66100" y="3416300"/>
            <a:ext cx="12954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800" b="1" i="0">
                <a:solidFill>
                  <a:srgbClr val="666666"/>
                </a:solidFill>
                <a:latin typeface="Poppins"/>
              </a:rPr>
              <a:t>CAPTURA MANUAL — JEREMY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3900" y="2514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PMC NLM 2026: apps con IA de reconocimiento por foto funcionan como gateway a trastorno alimentario.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13900" y="2984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SAGE JOURNALS / OHIO STATE · 2024-2026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15300" y="4673600"/>
            <a:ext cx="1397000" cy="2057400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66100" y="5575300"/>
            <a:ext cx="12954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800" b="1" i="0">
                <a:solidFill>
                  <a:srgbClr val="666666"/>
                </a:solidFill>
                <a:latin typeface="Poppins"/>
              </a:rPr>
              <a:t>CAPTURA MANUAL — JEREMY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13900" y="4673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Búsqueda TikTok: "MyFitnessPal ruined me" — backlash de creadoras documentando recuperación.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13900" y="5143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· 2025-2026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55600"/>
            <a:ext cx="2349500" cy="254000"/>
          </a:xfrm>
          <a:prstGeom prst="rect">
            <a:avLst/>
          </a:prstGeom>
          <a:noFill/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93800" y="355600"/>
            <a:ext cx="22479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78300" y="6604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53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5600" y="812800"/>
            <a:ext cx="11544300" cy="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52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89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5600" y="914400"/>
            <a:ext cx="368300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Instrument Serif"/>
              </a:rPr>
              <a:t>ANTES MAMÁ DECIDÍA QUÉ HABÍA DE COMER. HOY LO DECIDE EL FOR YOU PAGE — Y DE PASO TE VENDE LOS INGREDIENTES EN EL MISMO SCROLL.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1905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2082800"/>
            <a:ext cx="3683000" cy="1117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joven dominicano abre TikTok antes de abrir el refrigerador. Las recetas virales compiten con la tradición oral heredada — y en muchos hogares jóvenes el algoritmo está ganando.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302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" y="3479800"/>
            <a:ext cx="3683000" cy="660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300" b="0" i="0">
                <a:solidFill>
                  <a:srgbClr val="FFFFFF"/>
                </a:solidFill>
                <a:latin typeface="Instrument Serif"/>
              </a:rPr>
              <a:t>#TikTokRecetas · #ForYouPageDeCocina · #RecetaViralVsAbuela · #QuéComiHoy · #AlgoritmoDeAlmuerzo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600" y="4216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4394200"/>
            <a:ext cx="3683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800" b="0" i="0">
                <a:solidFill>
                  <a:srgbClr val="FFFFFF"/>
                </a:solidFill>
                <a:latin typeface="Instrument Serif"/>
              </a:rPr>
              <a:t>VACÍO · CONTROL · SOLEDAD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300" y="9144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300" y="19558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Índice pico de contenido food en TikTok en enero 2026 — plataforma como primer recetario.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300" y="24257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ACCIO / TIKTOK FOOD TRENDS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300" y="26416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6400" b="0" i="0">
                <a:solidFill>
                  <a:srgbClr val="FFFFFF"/>
                </a:solidFill>
                <a:latin typeface="Instrument Serif"/>
              </a:rPr>
              <a:t>US$759M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300" y="36830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GMV food en TikTok Shop 2025 — food = 13.6% del volumen total de la plataforma.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300" y="41529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CAPITAL ONE SHOPPING ·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300" y="43688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2×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8300" y="54102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Ventas de marcas grandes en TikTok Shop casi duplicaron en 2025.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300" y="58801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MODERN RETAIL · 2025</a:t>
            </a:r>
          </a:p>
        </p:txBody>
      </p:sp>
      <p:pic>
        <p:nvPicPr>
          <p:cNvPr id="28" name="Picture 27" descr="macro-2-2-tiktokshop-food-gmv.png"/>
          <p:cNvPicPr>
            <a:picLocks noChangeAspect="1"/>
          </p:cNvPicPr>
          <p:nvPr>
            <a:hlinkClick r:id="rId3"/>
          </p:nvPr>
        </p:nvPicPr>
        <p:blipFill>
          <a:blip r:embed="rId2"/>
          <a:stretch>
            <a:fillRect/>
          </a:stretch>
        </p:blipFill>
        <p:spPr>
          <a:xfrm>
            <a:off x="8115300" y="355600"/>
            <a:ext cx="1397000" cy="20574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3900" y="355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es el nuevo recetario Y el nuevo supermercado — food = 13.6% del GMV de TikTok Shop 2025.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3900" y="825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RESOURCERA · 2026</a:t>
            </a:r>
          </a:p>
        </p:txBody>
      </p:sp>
      <p:pic>
        <p:nvPicPr>
          <p:cNvPr id="33" name="Picture 32" descr="macro-2-2-modernretail-tiktokshop-brands.png"/>
          <p:cNvPicPr>
            <a:picLocks noChangeAspect="1"/>
          </p:cNvPicPr>
          <p:nvPr>
            <a:hlinkClick r:id="rId5"/>
          </p:nvPr>
        </p:nvPicPr>
        <p:blipFill>
          <a:blip r:embed="rId4"/>
          <a:stretch>
            <a:fillRect/>
          </a:stretch>
        </p:blipFill>
        <p:spPr>
          <a:xfrm>
            <a:off x="8115300" y="2514600"/>
            <a:ext cx="1397000" cy="20574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3900" y="2514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Modern Retail: ventas de marcas grandes en TikTok Shop casi duplicaron en 2025.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3900" y="2984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MODERN RETAIL · 2025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5300" y="4673600"/>
            <a:ext cx="1397000" cy="2057400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66100" y="5575300"/>
            <a:ext cx="12954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800" b="1" i="0">
                <a:solidFill>
                  <a:srgbClr val="666666"/>
                </a:solidFill>
                <a:latin typeface="Poppins"/>
              </a:rPr>
              <a:t>CAPTURA MANUAL — JEREMY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13900" y="4673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Fine Dining Lovers 2025: creadores latinos reconocidos como "transmisión cultural adaptada a 2025".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13900" y="5143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FINE DINING LOVERS ES ·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55600"/>
            <a:ext cx="2349500" cy="254000"/>
          </a:xfrm>
          <a:prstGeom prst="rect">
            <a:avLst/>
          </a:prstGeom>
          <a:noFill/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93800" y="355600"/>
            <a:ext cx="22479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78300" y="6604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53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5600" y="812800"/>
            <a:ext cx="11544300" cy="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52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89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5600" y="914400"/>
            <a:ext cx="368300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Instrument Serif"/>
              </a:rPr>
              <a:t>EL TRUCO DE PONER UN VIDEO PARA QUE EL NIÑO COMA SE CONVIRTIÓ EN CONDICIÓN — EL IPAD ES LA ÚNICA FORMA DE QUE EL PLATO BAJE.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1905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2082800"/>
            <a:ext cx="3683000" cy="1117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niño no come sin el iPad. La pantalla dejó de ser acompañamiento y se volvió condición. La mesa familiar tiene un competidor que casi siempre gana.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302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" y="3479800"/>
            <a:ext cx="3683000" cy="660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300" b="0" i="0">
                <a:solidFill>
                  <a:srgbClr val="FFFFFF"/>
                </a:solidFill>
                <a:latin typeface="Instrument Serif"/>
              </a:rPr>
              <a:t>#iPadKid · #PantallaMientrasCome · #NetflixYCena · #MesaSinPantalla · #ComerSinPantalla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600" y="4216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4394200"/>
            <a:ext cx="3683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800" b="0" i="0">
                <a:solidFill>
                  <a:srgbClr val="FFFFFF"/>
                </a:solidFill>
                <a:latin typeface="Instrument Serif"/>
              </a:rPr>
              <a:t>CULPA · SOLEDAD · INVISIBILIDAD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300" y="9144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40%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300" y="19558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niños tiene iPad a los 2 años; 2.6 hrs/día promedio de pantalla; solo 1% cumple límites.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300" y="24257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300" y="26416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2.6h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300" y="36830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Promedio diario de pantalla en niños; comer con pantalla desconecta señales de hambre/saciedad.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300" y="41529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SCIENCEDIRECT / BUSINESS STANDARD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300" y="43688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6400" b="0" i="0">
                <a:solidFill>
                  <a:srgbClr val="FFFFFF"/>
                </a:solidFill>
                <a:latin typeface="Instrument Serif"/>
              </a:rPr>
              <a:t>UNICEF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8300" y="54102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Kids Online: exposición infantil a pantallas más temprana y menos mediada en LATAM/RD.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300" y="58801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UNICEF KIDS ONLINE · 2024-2025</a:t>
            </a:r>
          </a:p>
        </p:txBody>
      </p:sp>
      <p:pic>
        <p:nvPicPr>
          <p:cNvPr id="28" name="Picture 27" descr="macro-2-3-newsmedical-screentime-proxy.png"/>
          <p:cNvPicPr>
            <a:picLocks noChangeAspect="1"/>
          </p:cNvPicPr>
          <p:nvPr>
            <a:hlinkClick r:id="rId3"/>
          </p:nvPr>
        </p:nvPicPr>
        <p:blipFill>
          <a:blip r:embed="rId2"/>
          <a:stretch>
            <a:fillRect/>
          </a:stretch>
        </p:blipFill>
        <p:spPr>
          <a:xfrm>
            <a:off x="8115300" y="355600"/>
            <a:ext cx="1397000" cy="20574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3900" y="355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Proxy: inyección de semaglutide + headline sobre cómo la tech interviene en cómo comemos.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3900" y="825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NEWS MEDICAL · 2026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15300" y="2514600"/>
            <a:ext cx="1397000" cy="2057400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66100" y="3416300"/>
            <a:ext cx="12954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800" b="1" i="0">
                <a:solidFill>
                  <a:srgbClr val="666666"/>
                </a:solidFill>
                <a:latin typeface="Poppins"/>
              </a:rPr>
              <a:t>CAPTURA MANUAL — JEREMY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3900" y="2514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CAPTURA MANUAL: búsqueda TikTok "mi hijo no come sin tablet" RD/LATAM — verbatim madres.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13900" y="2984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15300" y="4673600"/>
            <a:ext cx="1397000" cy="2057400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66100" y="5575300"/>
            <a:ext cx="12954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800" b="1" i="0">
                <a:solidFill>
                  <a:srgbClr val="666666"/>
                </a:solidFill>
                <a:latin typeface="Poppins"/>
              </a:rPr>
              <a:t>CAPTURA MANUAL — JEREMY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13900" y="4673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Common Sense Media 2025: 40% de niños tiene iPad a los 2 años — límites de pantalla incumplidos.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13900" y="5143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55600"/>
            <a:ext cx="2349500" cy="254000"/>
          </a:xfrm>
          <a:prstGeom prst="rect">
            <a:avLst/>
          </a:prstGeom>
          <a:noFill/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93800" y="355600"/>
            <a:ext cx="22479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78300" y="6604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53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5600" y="812800"/>
            <a:ext cx="11544300" cy="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52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89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5600" y="914400"/>
            <a:ext cx="368300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Instrument Serif"/>
              </a:rPr>
              <a:t>EL CONSUMIDOR SANO SE PEGA UN SENSOR DE GLUCOSA POR DOS SEMANAS Y DESCUBRE QUE LA UVA LE SUBE MÁS EL AZÚCAR QUE EL HELADO. LA NUTRICIÓN YA ES DATO EN TIEMPO REAL.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1905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2082800"/>
            <a:ext cx="3683000" cy="1117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Los wearables de glucosa OTC salieron del nicho diabético y entraron al consumer health. El "comer bien" dejó de ser opinión — ahora es métrica continua que cambia qué desayunas mañana.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302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" y="3479800"/>
            <a:ext cx="3683000" cy="660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300" b="0" i="0">
                <a:solidFill>
                  <a:srgbClr val="FFFFFF"/>
                </a:solidFill>
                <a:latin typeface="Instrument Serif"/>
              </a:rPr>
              <a:t>#LingoRD · #SensorDeGlucosa · #ComerConDato · #MetabolicAge · #ElPlatoYElGráfico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600" y="4216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4394200"/>
            <a:ext cx="3683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800" b="0" i="0">
                <a:solidFill>
                  <a:srgbClr val="FFFFFF"/>
                </a:solidFill>
                <a:latin typeface="Instrument Serif"/>
              </a:rPr>
              <a:t>CONTROL · MIEDO · VACÍO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300" y="9144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6400" b="0" i="0">
                <a:solidFill>
                  <a:srgbClr val="FFFFFF"/>
                </a:solidFill>
                <a:latin typeface="Instrument Serif"/>
              </a:rPr>
              <a:t>US$80B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300" y="19558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de wearables y health tracking en 2024 → proyecta US$200B+ para 2030.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300" y="24257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STATISTA ·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300" y="26416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6400" b="0" i="0">
                <a:solidFill>
                  <a:srgbClr val="FFFFFF"/>
                </a:solidFill>
                <a:latin typeface="Instrument Serif"/>
              </a:rPr>
              <a:t>Lingo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300" y="36830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Abbott Lingo (CGM sin prescripción) expande a Android dic 2025 — sensor 14 días en Walmart/Amazon.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300" y="41529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ABBOTT NEWSROOM ·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300" y="43688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6400" b="0" i="0">
                <a:solidFill>
                  <a:srgbClr val="FFFFFF"/>
                </a:solidFill>
                <a:latin typeface="Instrument Serif"/>
              </a:rPr>
              <a:t>#glucose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8300" y="54102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#glucosegoddess (Jessie Inchauspé) cruza cientos de millones de views — "glucose hacks" como género.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300" y="58801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pic>
        <p:nvPicPr>
          <p:cNvPr id="28" name="Picture 27" descr="macro-2-4-hellolingo-cgm-hero.png"/>
          <p:cNvPicPr>
            <a:picLocks noChangeAspect="1"/>
          </p:cNvPicPr>
          <p:nvPr>
            <a:hlinkClick r:id="rId3"/>
          </p:nvPr>
        </p:nvPicPr>
        <p:blipFill>
          <a:blip r:embed="rId2"/>
          <a:stretch>
            <a:fillRect/>
          </a:stretch>
        </p:blipFill>
        <p:spPr>
          <a:xfrm>
            <a:off x="8115300" y="355600"/>
            <a:ext cx="1397000" cy="20574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3900" y="355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Hero shot mujer con sensor Lingo en el brazo + "My glucose, my insights" — CGM OTC sin prescripción.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3900" y="825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ABBOTT LINGO · 2025</a:t>
            </a:r>
          </a:p>
        </p:txBody>
      </p:sp>
      <p:pic>
        <p:nvPicPr>
          <p:cNvPr id="33" name="Picture 32" descr="macro-2-4-scripps-cgm-sensor-arm.png"/>
          <p:cNvPicPr>
            <a:picLocks noChangeAspect="1"/>
          </p:cNvPicPr>
          <p:nvPr>
            <a:hlinkClick r:id="rId5"/>
          </p:nvPr>
        </p:nvPicPr>
        <p:blipFill>
          <a:blip r:embed="rId4"/>
          <a:stretch>
            <a:fillRect/>
          </a:stretch>
        </p:blipFill>
        <p:spPr>
          <a:xfrm>
            <a:off x="8115300" y="2514600"/>
            <a:ext cx="1397000" cy="20574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3900" y="2514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Foto AP: brazo con sensor de glucosa continuo — "CGMs in vogue" para consumidor no-diabético.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3900" y="2984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SCRIPPS NEWS / AP · 2025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5300" y="4673600"/>
            <a:ext cx="1397000" cy="2057400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66100" y="5575300"/>
            <a:ext cx="12954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800" b="1" i="0">
                <a:solidFill>
                  <a:srgbClr val="666666"/>
                </a:solidFill>
                <a:latin typeface="Poppins"/>
              </a:rPr>
              <a:t>CAPTURA MANUAL — JEREMY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13900" y="4673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Statista 2025: mercado wearables health tracking US$80B en 2024 hacia US$200B+ en 2030.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13900" y="5143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STATISTA · 2025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55600"/>
            <a:ext cx="2349500" cy="254000"/>
          </a:xfrm>
          <a:prstGeom prst="rect">
            <a:avLst/>
          </a:prstGeom>
          <a:noFill/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93800" y="355600"/>
            <a:ext cx="22479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78300" y="6604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53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5600" y="812800"/>
            <a:ext cx="11544300" cy="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52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89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5600" y="914400"/>
            <a:ext cx="368300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Instrument Serif"/>
              </a:rPr>
              <a:t>UNA CREADORA COCINA EN VIVO, TE MUESTRA EL PRODUCTO, LO AGREGAS AL CARRITO SIN SALIR DEL FEED. EL SUPERMERCADO SE VOLVIÓ STREAMING.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1905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2082800"/>
            <a:ext cx="3683000" cy="1117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Live shopping pasó del nicho beauty al supermercado: snacks, salsas, kits de receta vendidos durante el video. Food es 13.6% del GMV de TikTok Shop. El próximo carrito del dominicano será un live stream.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302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" y="3479800"/>
            <a:ext cx="3683000" cy="660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300" b="0" i="0">
                <a:solidFill>
                  <a:srgbClr val="FFFFFF"/>
                </a:solidFill>
                <a:latin typeface="Instrument Serif"/>
              </a:rPr>
              <a:t>#TikTokShopFood · #CocinaEnVivo · #CarritoDelFeed · #LiveSnacks · #CompraLoQueCocinas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600" y="4216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4394200"/>
            <a:ext cx="3683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800" b="0" i="0">
                <a:solidFill>
                  <a:srgbClr val="FFFFFF"/>
                </a:solidFill>
                <a:latin typeface="Instrument Serif"/>
              </a:rPr>
              <a:t>VACÍO · CONTROL · SOLEDAD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300" y="9144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6400" b="0" i="0">
                <a:solidFill>
                  <a:srgbClr val="FFFFFF"/>
                </a:solidFill>
                <a:latin typeface="Instrument Serif"/>
              </a:rPr>
              <a:t>US$64B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300" y="19558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GMV total TikTok Shop 2025 — food US$759.84M (13.6%), ticket promedio food shopper US$43.20.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300" y="24257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CAPITAL ONE SHOPPING / RESOURCERA ·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300" y="26416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+84%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300" y="36830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Live shopping creció 84% YoY en 2025; conversión live 6.1% vs feed 4.7%.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300" y="41529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RESOURCERA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300" y="43688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2×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8300" y="54102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Ventas de marcas grandes en TikTok Shop casi duplicaron en 2025.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300" y="58801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MODERN RETAIL · 2025</a:t>
            </a:r>
          </a:p>
        </p:txBody>
      </p:sp>
      <p:pic>
        <p:nvPicPr>
          <p:cNvPr id="28" name="Picture 27" descr="macro-2-2-modernretail-tiktokshop-brands.png"/>
          <p:cNvPicPr>
            <a:picLocks noChangeAspect="1"/>
          </p:cNvPicPr>
          <p:nvPr>
            <a:hlinkClick r:id="rId3"/>
          </p:nvPr>
        </p:nvPicPr>
        <p:blipFill>
          <a:blip r:embed="rId2"/>
          <a:stretch>
            <a:fillRect/>
          </a:stretch>
        </p:blipFill>
        <p:spPr>
          <a:xfrm>
            <a:off x="8115300" y="355600"/>
            <a:ext cx="1397000" cy="20574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3900" y="355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Shop visual — marcas grandes duplicaron ventas en 2025; food es categoría #1 del live shopping.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3900" y="825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MODERN RETAIL · 2025</a:t>
            </a:r>
          </a:p>
        </p:txBody>
      </p:sp>
      <p:pic>
        <p:nvPicPr>
          <p:cNvPr id="33" name="Picture 32" descr="macro-2-2-tiktokshop-food-gmv.png"/>
          <p:cNvPicPr>
            <a:picLocks noChangeAspect="1"/>
          </p:cNvPicPr>
          <p:nvPr>
            <a:hlinkClick r:id="rId5"/>
          </p:nvPr>
        </p:nvPicPr>
        <p:blipFill>
          <a:blip r:embed="rId4"/>
          <a:stretch>
            <a:fillRect/>
          </a:stretch>
        </p:blipFill>
        <p:spPr>
          <a:xfrm>
            <a:off x="8115300" y="2514600"/>
            <a:ext cx="1397000" cy="20574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3900" y="2514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Key Insights: GMV US$64.3B, ticket promedio food US$43.20, live shopping +84% YoY.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3900" y="2984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RESOURCERA · 2026</a:t>
            </a:r>
          </a:p>
        </p:txBody>
      </p:sp>
      <p:pic>
        <p:nvPicPr>
          <p:cNvPr id="38" name="Picture 37" descr="macro-1-5-stkitts-online-super-sd.png"/>
          <p:cNvPicPr>
            <a:picLocks noChangeAspect="1"/>
          </p:cNvPicPr>
          <p:nvPr>
            <a:hlinkClick r:id="rId7"/>
          </p:nvPr>
        </p:nvPicPr>
        <p:blipFill>
          <a:blip r:embed="rId6"/>
          <a:stretch>
            <a:fillRect/>
          </a:stretch>
        </p:blipFill>
        <p:spPr>
          <a:xfrm>
            <a:off x="8115300" y="4673600"/>
            <a:ext cx="1397000" cy="205740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13900" y="4673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Primer supermercado 100% online en Santo Domingo — grocería digital prepara terreno para social commerce.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13900" y="5143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ST KITTS NEVIS OBSERVER · 2025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114550"/>
            <a:ext cx="12192000" cy="279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1400" b="1" i="0">
                <a:solidFill>
                  <a:srgbClr val="A0A0A0"/>
                </a:solidFill>
                <a:latin typeface="Poppins"/>
              </a:rPr>
              <a:t>MACRO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597150"/>
            <a:ext cx="10160000" cy="1460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10000" b="0" i="0">
                <a:solidFill>
                  <a:srgbClr val="FFFFFF"/>
                </a:solidFill>
                <a:latin typeface="Instrument Serif"/>
              </a:rPr>
              <a:t>ALGORITMO DEL HOGAR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423545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2400" b="0" i="1">
                <a:solidFill>
                  <a:srgbClr val="A0A0A0"/>
                </a:solidFill>
                <a:latin typeface="Instrument Serif"/>
              </a:rPr>
              <a:t>"El feed se sentó en la mesa y nadie le ofreció silla."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55600"/>
            <a:ext cx="2349500" cy="254000"/>
          </a:xfrm>
          <a:prstGeom prst="rect">
            <a:avLst/>
          </a:prstGeom>
          <a:noFill/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93800" y="355600"/>
            <a:ext cx="22479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78300" y="6604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53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5600" y="812800"/>
            <a:ext cx="11544300" cy="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52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89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5600" y="914400"/>
            <a:ext cx="368300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Instrument Serif"/>
              </a:rPr>
              <a:t>VER LO QUE OTROS COMEN SE CONVIRTIÓ EN UNO DE LOS FORMATOS MÁS CONSUMIDOS DE INTERNET. YA NO ES COMIDA — ES IDENTIDAD.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1905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2082800"/>
            <a:ext cx="3683000" cy="1117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"What I Eat in a Day" explota no por curiosidad culinaria — por validación. Ver lo que come otro para confirmar, comparar o inspirarse. El plato ajeno es espejo. Y juez.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302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" y="3479800"/>
            <a:ext cx="3683000" cy="660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300" b="0" i="0">
                <a:solidFill>
                  <a:srgbClr val="FFFFFF"/>
                </a:solidFill>
                <a:latin typeface="Instrument Serif"/>
              </a:rPr>
              <a:t>#QuéComoEnUnDía · #WhatIEatInADay · #ComidaParaVer · #AlimentaciónEnPantalla · #DíaDeComidaRD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600" y="4216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4394200"/>
            <a:ext cx="3683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800" b="0" i="0">
                <a:solidFill>
                  <a:srgbClr val="FFFFFF"/>
                </a:solidFill>
                <a:latin typeface="Instrument Serif"/>
              </a:rPr>
              <a:t>VACÍO · INVISIBILIDAD · CULPA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300" y="9144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74%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300" y="19558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personas usa redes para decidir qué o dónde comer; 50% dice que influyen directamente.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300" y="24257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CROPINK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300" y="26416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300" y="36830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"What I Eat in a Day" entre top food trends 2026; formato genera engagement que el algoritmo premia.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300" y="41529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CHOWHOUND TIKTOK TRENDS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300" y="43688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8300" y="54102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Whole Foods predice year of the Fiber; protein-frenzy en backlash; bowl colorido como aspiracional.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300" y="58801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VEGNEWS / WHOLE FOODS · 2026</a:t>
            </a:r>
          </a:p>
        </p:txBody>
      </p:sp>
      <p:pic>
        <p:nvPicPr>
          <p:cNvPr id="28" name="Picture 27" descr="macro-3-1-vegnews-food-trend-hero.png"/>
          <p:cNvPicPr>
            <a:picLocks noChangeAspect="1"/>
          </p:cNvPicPr>
          <p:nvPr>
            <a:hlinkClick r:id="rId3"/>
          </p:nvPr>
        </p:nvPicPr>
        <p:blipFill>
          <a:blip r:embed="rId2"/>
          <a:stretch>
            <a:fillRect/>
          </a:stretch>
        </p:blipFill>
        <p:spPr>
          <a:xfrm>
            <a:off x="8115300" y="355600"/>
            <a:ext cx="1397000" cy="20574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3900" y="355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Bowl proteína + grains + vegetales coloridos — el "comer bien aspiracional 2026" que WIEIAD replica.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3900" y="825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VEGNEWS · 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15300" y="2514600"/>
            <a:ext cx="1397000" cy="2057400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66100" y="3416300"/>
            <a:ext cx="12954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800" b="1" i="0">
                <a:solidFill>
                  <a:srgbClr val="666666"/>
                </a:solidFill>
                <a:latin typeface="Poppins"/>
              </a:rPr>
              <a:t>CAPTURA MANUAL — JEREMY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3900" y="2514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Búsqueda TikTok: "qué como en un día dominicana" → adaptación local del formato WIEIAD.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13900" y="2984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· 2025-2026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15300" y="4673600"/>
            <a:ext cx="1397000" cy="2057400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66100" y="5575300"/>
            <a:ext cx="12954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800" b="1" i="0">
                <a:solidFill>
                  <a:srgbClr val="666666"/>
                </a:solidFill>
                <a:latin typeface="Poppins"/>
              </a:rPr>
              <a:t>CAPTURA MANUAL — JEREMY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13900" y="4673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Cropink 2026: 74% usa redes para decidir qué comer; 50% dice que influyen directamente.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13900" y="5143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CROPINK ·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55600"/>
            <a:ext cx="2349500" cy="254000"/>
          </a:xfrm>
          <a:prstGeom prst="rect">
            <a:avLst/>
          </a:prstGeom>
          <a:noFill/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93800" y="355600"/>
            <a:ext cx="22479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78300" y="6604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53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5600" y="812800"/>
            <a:ext cx="11544300" cy="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52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89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5600" y="914400"/>
            <a:ext cx="368300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Instrument Serif"/>
              </a:rPr>
              <a:t>EL MUKBANG NACIÓ PORQUE HAY GENTE QUE COME SOLA Y PREFIERE VER A ALGUIEN COMER ANTES QUE COMER EN SILENCIO.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1905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2082800"/>
            <a:ext cx="3683000" cy="1117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Nació en Corea como compañía virtual. Hoy es negocio millonario. El dominicano lo consume porque la mesa vacía duele — y una pantalla llena el silencio del comedor.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302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" y="3479800"/>
            <a:ext cx="3683000" cy="660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300" b="0" i="0">
                <a:solidFill>
                  <a:srgbClr val="FFFFFF"/>
                </a:solidFill>
                <a:latin typeface="Instrument Serif"/>
              </a:rPr>
              <a:t>#MukbangLatino · #ComerSoloPeroNoTanto · #AcompañamientoPorPantalla · #SoledadEnLaMesa · #CenarConPantalla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600" y="4216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4394200"/>
            <a:ext cx="3683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800" b="0" i="0">
                <a:solidFill>
                  <a:srgbClr val="FFFFFF"/>
                </a:solidFill>
                <a:latin typeface="Instrument Serif"/>
              </a:rPr>
              <a:t>SOLEDAD · INVISIBILIDAD · VACÍO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300" y="9144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5.3M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300" y="19558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#mukbang supera 5.3M videos en 2025; top creadores ganan hasta US$10K/mes.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300" y="24257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DISTRACTION MAGAZINE / PMC ·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300" y="26416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2B+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300" y="36830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Nickocado Avocado supera 2B views en YouTube — mukbang como negocio millonario.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300" y="41529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YOUTUBE / PMC ·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300" y="43688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6400" b="0" i="0">
                <a:solidFill>
                  <a:srgbClr val="FFFFFF"/>
                </a:solidFill>
                <a:latin typeface="Instrument Serif"/>
              </a:rPr>
              <a:t>68.5%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8300" y="54102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jóvenes universitarias ve videos de comida regularmente; hasta 40 min/día — efecto parasocial.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300" y="58801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WESTERN GAZETTE / PMC · 2025-2026</a:t>
            </a:r>
          </a:p>
        </p:txBody>
      </p:sp>
      <p:pic>
        <p:nvPicPr>
          <p:cNvPr id="28" name="Picture 27" descr="macro-3-2-youtube-mukbang-search-grid.png"/>
          <p:cNvPicPr>
            <a:picLocks noChangeAspect="1"/>
          </p:cNvPicPr>
          <p:nvPr>
            <a:hlinkClick r:id="rId3"/>
          </p:nvPr>
        </p:nvPicPr>
        <p:blipFill>
          <a:blip r:embed="rId2"/>
          <a:stretch>
            <a:fillRect/>
          </a:stretch>
        </p:blipFill>
        <p:spPr>
          <a:xfrm>
            <a:off x="8115300" y="355600"/>
            <a:ext cx="1397000" cy="20574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3900" y="355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Grid resultados YouTube "mukbang" — thumbnails comida extrema, ASMR con millones de vistas.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3900" y="825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YOUTUBE · 2026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15300" y="2514600"/>
            <a:ext cx="1397000" cy="2057400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66100" y="3416300"/>
            <a:ext cx="12954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800" b="1" i="0">
                <a:solidFill>
                  <a:srgbClr val="666666"/>
                </a:solidFill>
                <a:latin typeface="Poppins"/>
              </a:rPr>
              <a:t>CAPTURA MANUAL — JEREMY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3900" y="2514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PMC 2025: 68.5% de jóvenes ve videos de comida regularmente; vínculo con soledad y efecto parasocial.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13900" y="2984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WESTERN GAZETTE / PMC · 2025-2026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15300" y="4673600"/>
            <a:ext cx="1397000" cy="2057400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66100" y="5575300"/>
            <a:ext cx="12954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800" b="1" i="0">
                <a:solidFill>
                  <a:srgbClr val="666666"/>
                </a:solidFill>
                <a:latin typeface="Poppins"/>
              </a:rPr>
              <a:t>CAPTURA MANUAL — JEREMY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13900" y="4673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Distraction Magazine 2025: top mukbangers ganan hasta US$10K/mes — mukbang como negocio millonario.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13900" y="5143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DISTRACTION MAGAZINE · 2025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55600"/>
            <a:ext cx="2349500" cy="254000"/>
          </a:xfrm>
          <a:prstGeom prst="rect">
            <a:avLst/>
          </a:prstGeom>
          <a:noFill/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93800" y="355600"/>
            <a:ext cx="22479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78300" y="6604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53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5600" y="812800"/>
            <a:ext cx="11544300" cy="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52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89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5600" y="914400"/>
            <a:ext cx="368300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Instrument Serif"/>
              </a:rPr>
              <a:t>CUANDO TODO LO DEMÁS ESTÁ FUERA DE CONTROL, LA COCINA ES EL ÚNICO SITIO DONDE LO QUE HAGO SÍ SALE COMO QUIERO.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1905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2082800"/>
            <a:ext cx="3683000" cy="1117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Bajo burnout y presión social, adultos jóvenes descubrieron que cocinar y hornear son terapia real. No es hobbyismo — es el único espacio donde lo que controlas eres tú.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302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" y="3479800"/>
            <a:ext cx="3683000" cy="660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300" b="0" i="0">
                <a:solidFill>
                  <a:srgbClr val="FFFFFF"/>
                </a:solidFill>
                <a:latin typeface="Instrument Serif"/>
              </a:rPr>
              <a:t>#CocinaComoTerapia · #HornearParaDesestresarse · #LoveLanguageCocina · #Repostería · #CocinaQueControlo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600" y="4216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4394200"/>
            <a:ext cx="3683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800" b="0" i="0">
                <a:solidFill>
                  <a:srgbClr val="FFFFFF"/>
                </a:solidFill>
                <a:latin typeface="Instrument Serif"/>
              </a:rPr>
              <a:t>SOLEDAD · VACÍO ·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300" y="9144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6400" b="0" i="0">
                <a:solidFill>
                  <a:srgbClr val="FFFFFF"/>
                </a:solidFill>
                <a:latin typeface="Instrument Serif"/>
              </a:rPr>
              <a:t>Dopamina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300" y="19558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Hornear activa rutas de dopamina y reduce cortisol — equivalente a mindfulness clínico.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300" y="24257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KAISER PERMANENTE / NEUROLAUNCH / ICE · 2025-2026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300" y="26416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300" y="36830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Ola de cancelaciones de delivery + vuelta a la cocina como anti-ansiedad digital.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300" y="41529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EDITORIALGE / COOKING AS THERAPY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300" y="43688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6400" b="0" i="0">
                <a:solidFill>
                  <a:srgbClr val="FFFFFF"/>
                </a:solidFill>
                <a:latin typeface="Instrument Serif"/>
              </a:rPr>
              <a:t>GLP-1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8300" y="54102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Medicalización del hambre crea contrapunto cultural: la cocina como ritual analógico.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300" y="58801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NEWS MEDICAL · 2026</a:t>
            </a:r>
          </a:p>
        </p:txBody>
      </p:sp>
      <p:pic>
        <p:nvPicPr>
          <p:cNvPr id="28" name="Picture 27" descr="macro-2-3-newsmedical-screentime-proxy.png"/>
          <p:cNvPicPr>
            <a:picLocks noChangeAspect="1"/>
          </p:cNvPicPr>
          <p:nvPr>
            <a:hlinkClick r:id="rId3"/>
          </p:nvPr>
        </p:nvPicPr>
        <p:blipFill>
          <a:blip r:embed="rId2"/>
          <a:stretch>
            <a:fillRect/>
          </a:stretch>
        </p:blipFill>
        <p:spPr>
          <a:xfrm>
            <a:off x="8115300" y="355600"/>
            <a:ext cx="1397000" cy="20574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3900" y="355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Proxy: jeringa de medicamento + headline sobre cómo fármacos alteran el apetito — cocina como contrapunto.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3900" y="825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NEWS MEDICAL · 2026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15300" y="2514600"/>
            <a:ext cx="1397000" cy="2057400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66100" y="3416300"/>
            <a:ext cx="12954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800" b="1" i="0">
                <a:solidFill>
                  <a:srgbClr val="666666"/>
                </a:solidFill>
                <a:latin typeface="Poppins"/>
              </a:rPr>
              <a:t>CAPTURA MANUAL — JEREMY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3900" y="2514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CAPTURA MANUAL: búsqueda Instagram #cookingastherapy — cocina como bienestar mental en creadoras LATAM.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13900" y="2984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/ INSTAGRAM · 2025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15300" y="4673600"/>
            <a:ext cx="1397000" cy="2057400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66100" y="5575300"/>
            <a:ext cx="12954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800" b="1" i="0">
                <a:solidFill>
                  <a:srgbClr val="666666"/>
                </a:solidFill>
                <a:latin typeface="Poppins"/>
              </a:rPr>
              <a:t>CAPTURA MANUAL — JEREMY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13900" y="4673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Kaiser Permanente: hornear activa dopamina y reduce cortisol equivalente a mindfulness clínico.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13900" y="5143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KAISER PERMANENTE / NEUROLAUNCH · 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55600"/>
            <a:ext cx="2349500" cy="254000"/>
          </a:xfrm>
          <a:prstGeom prst="rect">
            <a:avLst/>
          </a:prstGeom>
          <a:noFill/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93800" y="355600"/>
            <a:ext cx="22479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78300" y="6604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53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5600" y="812800"/>
            <a:ext cx="11544300" cy="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52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89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5600" y="914400"/>
            <a:ext cx="368300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Instrument Serif"/>
              </a:rPr>
              <a:t>EL FOMO DE BAJAR DE PESO LLEGÓ A SU VERSIÓN MÁS EXTREMA: ELIMINAR TODO LO QUE NO SEA ANIMAL. LOS ANÁLISIS DE SANGRE CUENTAN OTRA HISTORIA.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1905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2082800"/>
            <a:ext cx="3683000" cy="1117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Solo carne, mantequilla y huevo. El algoritmo lo distribuye más rápido que la evidencia clínica que lo contradice. El feed va más rápido que el cardiólogo.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302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" y="3479800"/>
            <a:ext cx="3683000" cy="660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300" b="0" i="0">
                <a:solidFill>
                  <a:srgbClr val="FFFFFF"/>
                </a:solidFill>
                <a:latin typeface="Instrument Serif"/>
              </a:rPr>
              <a:t>#DietaCarnívora · #SoloCarneMantequillaYHuevo · #FOMODeBajarDePeso · #ExtremoNutricional · #CarnivoreVsColesterol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600" y="4216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4394200"/>
            <a:ext cx="3683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800" b="0" i="0">
                <a:solidFill>
                  <a:srgbClr val="FFFFFF"/>
                </a:solidFill>
                <a:latin typeface="Instrument Serif"/>
              </a:rPr>
              <a:t>MIEDO · RESENTIMIENTO ·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300" y="9144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2.6M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300" y="19558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#carnivore supera 2.6M publicaciones a noviembre 2025 — entre las dietas más comentadas.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300" y="24257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RESEARCHGATE / FOX NEWS · 2025-2026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300" y="26416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6400" b="0" i="0">
                <a:solidFill>
                  <a:srgbClr val="FFFFFF"/>
                </a:solidFill>
                <a:latin typeface="Instrument Serif"/>
              </a:rPr>
              <a:t>LDL 172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300" y="36830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Revisión clínica Nutrients ene 2026: LDL promedio sube de 126 a 172 mg/dL en seguidores de carnivore.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300" y="41529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NUTRIENTS JOURNAL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300" y="43688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6400" b="0" i="0">
                <a:solidFill>
                  <a:srgbClr val="FFFFFF"/>
                </a:solidFill>
                <a:latin typeface="Instrument Serif"/>
              </a:rPr>
              <a:t>Fibra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8300" y="54102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Whole Foods predice 2026 = Year of the Fiber — mainstream pivota al opuesto mientras carnivore escala.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300" y="58801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WHOLE FOODS 2026 TREND REPORT · 2026</a:t>
            </a:r>
          </a:p>
        </p:txBody>
      </p:sp>
      <p:pic>
        <p:nvPicPr>
          <p:cNvPr id="28" name="Picture 27" descr="macro-3-1-vegnews-food-trend-hero.png"/>
          <p:cNvPicPr>
            <a:picLocks noChangeAspect="1"/>
          </p:cNvPicPr>
          <p:nvPr>
            <a:hlinkClick r:id="rId3"/>
          </p:nvPr>
        </p:nvPicPr>
        <p:blipFill>
          <a:blip r:embed="rId2"/>
          <a:stretch>
            <a:fillRect/>
          </a:stretch>
        </p:blipFill>
        <p:spPr>
          <a:xfrm>
            <a:off x="8115300" y="355600"/>
            <a:ext cx="1397000" cy="20574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3900" y="355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Hero food bowl — señal del pivot mainstream proteína→fibra, mientras carnivore escala en el algoritmo.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3900" y="825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VEGNEWS · 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15300" y="2514600"/>
            <a:ext cx="1397000" cy="2057400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66100" y="3416300"/>
            <a:ext cx="12954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800" b="1" i="0">
                <a:solidFill>
                  <a:srgbClr val="666666"/>
                </a:solidFill>
                <a:latin typeface="Poppins"/>
              </a:rPr>
              <a:t>CAPTURA MANUAL — JEREMY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3900" y="2514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CAPTURA MANUAL: búsqueda YouTube/Instagram "carnivore diet" — thumbnails bistec + mantequilla + huevo.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13900" y="2984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/ INSTAGRAM · 2025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15300" y="4673600"/>
            <a:ext cx="1397000" cy="2057400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66100" y="5575300"/>
            <a:ext cx="12954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800" b="1" i="0">
                <a:solidFill>
                  <a:srgbClr val="666666"/>
                </a:solidFill>
                <a:latin typeface="Poppins"/>
              </a:rPr>
              <a:t>CAPTURA MANUAL — JEREMY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13900" y="4673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Nutrients Journal ene 2026: LDL promedio sube 126→172 mg/dL; caso reportado 163→365 en carnivore.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13900" y="5143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NUTRIENTS JOURNAL ·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5600" y="355600"/>
            <a:ext cx="7366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55600"/>
            <a:ext cx="2349500" cy="254000"/>
          </a:xfrm>
          <a:prstGeom prst="rect">
            <a:avLst/>
          </a:prstGeom>
          <a:noFill/>
          <a:ln w="1270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93800" y="355600"/>
            <a:ext cx="22479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78300" y="6604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5300" y="66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5600" y="812800"/>
            <a:ext cx="11544300" cy="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52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89900" y="660400"/>
            <a:ext cx="0" cy="5842000"/>
          </a:xfrm>
          <a:prstGeom prst="line">
            <a:avLst/>
          </a:prstGeom>
          <a:ln w="12700">
            <a:solidFill>
              <a:srgbClr val="2020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55600" y="914400"/>
            <a:ext cx="3683000" cy="914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Instrument Serif"/>
              </a:rPr>
              <a:t>GLP-1 SILENCIA EL "FOOD NOISE" DEL CEREBRO. LA NUEVA CONVERSACIÓN SOBRE COMER NO ES QUÉ COCINAR — ES SI LO DESEO O SOLO ME ACORDÉ QUE EXISTÍA.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600" y="1905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" y="2082800"/>
            <a:ext cx="3683000" cy="11176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Ozempic y Mounjaro reescriben la relación con la comida: ya no se trata de fuerza de voluntad, se trata de farmacología que apaga el ruido mental. El feed normaliza la conversación.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" y="33020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" y="3479800"/>
            <a:ext cx="3683000" cy="660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300" b="0" i="0">
                <a:solidFill>
                  <a:srgbClr val="FFFFFF"/>
                </a:solidFill>
                <a:latin typeface="Instrument Serif"/>
              </a:rPr>
              <a:t>#FoodNoise · #OzempicDiary · #SinHambreSinAnsiedad · #GLP1RD · #LaCabezaSinComida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600" y="4216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" b="1" i="0">
                <a:solidFill>
                  <a:srgbClr val="A0A0A0"/>
                </a:solidFill>
                <a:latin typeface="Poppins"/>
              </a:rPr>
              <a:t>3 NEEDS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600" y="4394200"/>
            <a:ext cx="3683000" cy="508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2800" b="0" i="0">
                <a:solidFill>
                  <a:srgbClr val="FFFFFF"/>
                </a:solidFill>
                <a:latin typeface="Instrument Serif"/>
              </a:rPr>
              <a:t>VACÍO · MIEDO · SOLEDAD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300" y="9144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8000" b="0" i="0">
                <a:solidFill>
                  <a:srgbClr val="FFFFFF"/>
                </a:solidFill>
                <a:latin typeface="Instrument Serif"/>
              </a:rPr>
              <a:t>58%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300" y="19558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usuarios GLP-1 siente menos hambre; 64% se llena antes; 21-23% reporta cambios de sabor.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300" y="24257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EASD 2025 / NEWS-MEDICAL ·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8300" y="26416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4800" b="0" i="0">
                <a:solidFill>
                  <a:srgbClr val="FFFFFF"/>
                </a:solidFill>
                <a:latin typeface="Instrument Serif"/>
              </a:rPr>
              <a:t>#foodnoise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300" y="36830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viralizado por usuarias GLP-1 documentando cambio cognitivo — decenas de millones de views.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300" y="41529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300" y="4368800"/>
            <a:ext cx="3771900" cy="1041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4800" b="0" i="0">
                <a:solidFill>
                  <a:srgbClr val="FFFFFF"/>
                </a:solidFill>
                <a:latin typeface="Instrument Serif"/>
              </a:rPr>
              <a:t>Longevity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8300" y="54102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Whole Foods 2026: longevity y fibra como aspiracional opuesto al cuerpo medicado por GLP-1.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300" y="5880100"/>
            <a:ext cx="37719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WHOLE FOODS 2026 · 2026</a:t>
            </a:r>
          </a:p>
        </p:txBody>
      </p:sp>
      <p:pic>
        <p:nvPicPr>
          <p:cNvPr id="28" name="Picture 27" descr="macro-3-5-sciam-ozempic-food-noise.png"/>
          <p:cNvPicPr>
            <a:picLocks noChangeAspect="1"/>
          </p:cNvPicPr>
          <p:nvPr>
            <a:hlinkClick r:id="rId3"/>
          </p:nvPr>
        </p:nvPicPr>
        <p:blipFill>
          <a:blip r:embed="rId2"/>
          <a:stretch>
            <a:fillRect/>
          </a:stretch>
        </p:blipFill>
        <p:spPr>
          <a:xfrm>
            <a:off x="8115300" y="355600"/>
            <a:ext cx="1397000" cy="20574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78900" y="355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3900" y="355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Ilustración surrealista: cabeza clásica con comida girando — "Ozempic Quiets Food Noise in the Brain—But How?"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3900" y="825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SCIENTIFIC AMERICAN · JUN 2024</a:t>
            </a:r>
          </a:p>
        </p:txBody>
      </p:sp>
      <p:pic>
        <p:nvPicPr>
          <p:cNvPr id="33" name="Picture 32" descr="macro-2-3-newsmedical-screentime-proxy.png"/>
          <p:cNvPicPr>
            <a:picLocks noChangeAspect="1"/>
          </p:cNvPicPr>
          <p:nvPr>
            <a:hlinkClick r:id="rId5"/>
          </p:nvPr>
        </p:nvPicPr>
        <p:blipFill>
          <a:blip r:embed="rId4"/>
          <a:stretch>
            <a:fillRect/>
          </a:stretch>
        </p:blipFill>
        <p:spPr>
          <a:xfrm>
            <a:off x="8115300" y="2514600"/>
            <a:ext cx="1397000" cy="20574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8900" y="2514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3900" y="2514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Jeringa semaglutide — GLP-1 afecta apetito, estado de ánimo y comportamiento; 58% siente menos hambre.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3900" y="2984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NEWS MEDICAL · 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5300" y="4673600"/>
            <a:ext cx="1397000" cy="2057400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66100" y="5575300"/>
            <a:ext cx="1295400" cy="2540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800" b="1" i="0">
                <a:solidFill>
                  <a:srgbClr val="666666"/>
                </a:solidFill>
                <a:latin typeface="Poppins"/>
              </a:rPr>
              <a:t>CAPTURA MANUAL — JEREMY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78900" y="4673600"/>
            <a:ext cx="533400" cy="177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13900" y="4673600"/>
            <a:ext cx="2159000" cy="444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Búsqueda TikTok #foodnoise → top videos de usuarias GLP-1 documentando cambio cognitivo.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13900" y="5143500"/>
            <a:ext cx="2159000" cy="1524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sz="700" b="0" i="0">
                <a:solidFill>
                  <a:srgbClr val="666666"/>
                </a:solidFill>
                <a:latin typeface="Poppins"/>
              </a:rPr>
              <a:t>TIKTOK ·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