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madresrealesrd/video/726253645345908659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madresrealesrd/video/7262536453459086597" TargetMode="External"/><Relationship Id="rId4" Type="http://schemas.openxmlformats.org/officeDocument/2006/relationships/image" Target="../media/image2.png"/><Relationship Id="rId5" Type="http://schemas.openxmlformats.org/officeDocument/2006/relationships/hyperlink" Target="https://www.mother.ly/news/viral-trending/default-parent-resentment/" TargetMode="External"/><Relationship Id="rId6" Type="http://schemas.openxmlformats.org/officeDocument/2006/relationships/image" Target="../media/image3.png"/><Relationship Id="rId7" Type="http://schemas.openxmlformats.org/officeDocument/2006/relationships/hyperlink" Target="https://www.tiktok.com/@pequefelicidad/video/737143327438148739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tiktok.com/@pequefelicidad/video/7371433274381487392" TargetMode="External"/><Relationship Id="rId4" Type="http://schemas.openxmlformats.org/officeDocument/2006/relationships/image" Target="../media/image4.png"/><Relationship Id="rId5" Type="http://schemas.openxmlformats.org/officeDocument/2006/relationships/hyperlink" Target="https://www.altermutua.com/es/la-carga-mental-en-las-mujeres/" TargetMode="External"/><Relationship Id="rId6" Type="http://schemas.openxmlformats.org/officeDocument/2006/relationships/image" Target="../media/image5.png"/><Relationship Id="rId7" Type="http://schemas.openxmlformats.org/officeDocument/2006/relationships/hyperlink" Target="https://www.pipedrive.com/es/blog/carga-menta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madresrealesrd/video/7262536453459086597" TargetMode="External"/><Relationship Id="rId4" Type="http://schemas.openxmlformats.org/officeDocument/2006/relationships/image" Target="../media/image6.png"/><Relationship Id="rId5" Type="http://schemas.openxmlformats.org/officeDocument/2006/relationships/hyperlink" Target="https://elintermediario.com.do/2025/11/02/las-batallas-invisibles-de-madres-solteras-en-la-republica-dominicana/" TargetMode="External"/><Relationship Id="rId6" Type="http://schemas.openxmlformats.org/officeDocument/2006/relationships/image" Target="../media/image7.png"/><Relationship Id="rId7" Type="http://schemas.openxmlformats.org/officeDocument/2006/relationships/hyperlink" Target="https://presidencia.gob.do/noticias/familia-feliz-ha-beneficiado-2160-mujeres-con-la-asignacion-de-una-vivienda-propia-y-dign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tiktok.com/@madresrealesrd/video/7262536453459086597" TargetMode="External"/><Relationship Id="rId4" Type="http://schemas.openxmlformats.org/officeDocument/2006/relationships/image" Target="../media/image8.png"/><Relationship Id="rId5" Type="http://schemas.openxmlformats.org/officeDocument/2006/relationships/hyperlink" Target="https://iberoamericamayores.org/2025/06/30/republica-dominicana-trayectorias-y-desafios-en-los-cuidados-de-larga-duracion-para-personas-mayores/" TargetMode="External"/><Relationship Id="rId6" Type="http://schemas.openxmlformats.org/officeDocument/2006/relationships/image" Target="../media/image9.png"/><Relationship Id="rId7" Type="http://schemas.openxmlformats.org/officeDocument/2006/relationships/hyperlink" Target="https://listindiario.com/la-republica/sector-salud/20241205/cuidaran-adultos-mayores-casas-ocho-horas_836458.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www.bloomberglinea.com/economia/tradwife-o-esposas-tradicionales-que-tan-real-es-la-tendencia-para-mujeres-de-latam/" TargetMode="External"/><Relationship Id="rId4" Type="http://schemas.openxmlformats.org/officeDocument/2006/relationships/image" Target="../media/image11.png"/><Relationship Id="rId5" Type="http://schemas.openxmlformats.org/officeDocument/2006/relationships/hyperlink" Target="https://listindiario.com/la-republica/ciudad/20250601/2024-registraron-44-349-matrimonios-26-210-divorcios_859974.html" TargetMode="External"/><Relationship Id="rId6" Type="http://schemas.openxmlformats.org/officeDocument/2006/relationships/image" Target="../media/image12.png"/><Relationship Id="rId7" Type="http://schemas.openxmlformats.org/officeDocument/2006/relationships/hyperlink" Target="https://eldia.com.do/mujeres-se-casan-mas-jovenes-que-los-hombres-en-r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redunotv/video/752473189103187072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redunotv/video/7524731891031870726" TargetMode="External"/><Relationship Id="rId4" Type="http://schemas.openxmlformats.org/officeDocument/2006/relationships/image" Target="../media/image14.png"/><Relationship Id="rId5" Type="http://schemas.openxmlformats.org/officeDocument/2006/relationships/hyperlink" Target="https://www.axios.com/2025/09/30/chatgpt-pulse-ai-assistant-moms" TargetMode="External"/><Relationship Id="rId6" Type="http://schemas.openxmlformats.org/officeDocument/2006/relationships/image" Target="../media/image15.png"/><Relationship Id="rId7" Type="http://schemas.openxmlformats.org/officeDocument/2006/relationships/hyperlink" Target="https://www.merca20.com/chatgpt-ya-es-mama-asi-ayuda-a-una-madre-a-criar-a-su-hijo-mientras-ella-descans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redunotv/video/7524731891031870726" TargetMode="External"/><Relationship Id="rId4" Type="http://schemas.openxmlformats.org/officeDocument/2006/relationships/image" Target="../media/image16.png"/><Relationship Id="rId5" Type="http://schemas.openxmlformats.org/officeDocument/2006/relationships/hyperlink" Target="https://www.newsweek.com/mom-overwhelmed-mental-load-finds-solution-2091525" TargetMode="External"/><Relationship Id="rId6" Type="http://schemas.openxmlformats.org/officeDocument/2006/relationships/image" Target="../media/image17.png"/><Relationship Id="rId7" Type="http://schemas.openxmlformats.org/officeDocument/2006/relationships/hyperlink" Target="https://www.independentespanol.com/estilo/chatgpt-consejos-paternidad-madres-inteligencia-artificial-b2803910.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www.mother.ly/parenting/how-ai-is-helping-this-mom-reduce-mental-load/" TargetMode="External"/><Relationship Id="rId4" Type="http://schemas.openxmlformats.org/officeDocument/2006/relationships/image" Target="../media/image14.png"/><Relationship Id="rId5" Type="http://schemas.openxmlformats.org/officeDocument/2006/relationships/hyperlink" Target="https://www.axios.com/2025/09/30/chatgpt-pulse-ai-assistant-moms" TargetMode="External"/><Relationship Id="rId6" Type="http://schemas.openxmlformats.org/officeDocument/2006/relationships/image" Target="../media/image15.png"/><Relationship Id="rId7" Type="http://schemas.openxmlformats.org/officeDocument/2006/relationships/hyperlink" Target="https://www.merca20.com/chatgpt-ya-es-mama-asi-ayuda-a-una-madre-a-criar-a-su-hijo-mientras-ella-descans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tiktok.com/@redunotv/video/7524731891031870726" TargetMode="External"/><Relationship Id="rId4" Type="http://schemas.openxmlformats.org/officeDocument/2006/relationships/image" Target="../media/image17.png"/><Relationship Id="rId5" Type="http://schemas.openxmlformats.org/officeDocument/2006/relationships/hyperlink" Target="https://www.independentespanol.com/estilo/chatgpt-consejos-paternidad-madres-inteligencia-artificial-b2803910.html" TargetMode="External"/><Relationship Id="rId6" Type="http://schemas.openxmlformats.org/officeDocument/2006/relationships/image" Target="../media/image15.png"/><Relationship Id="rId7" Type="http://schemas.openxmlformats.org/officeDocument/2006/relationships/hyperlink" Target="https://www.merca20.com/chatgpt-ya-es-mama-asi-ayuda-a-una-madre-a-criar-a-su-hijo-mientras-ella-descans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www.tiktok.com/@soyquiquerosas/video/7229104569165597958" TargetMode="External"/><Relationship Id="rId4" Type="http://schemas.openxmlformats.org/officeDocument/2006/relationships/image" Target="../media/image18.png"/><Relationship Id="rId5" Type="http://schemas.openxmlformats.org/officeDocument/2006/relationships/hyperlink" Target="https://www.mother.ly/parenting/how-ai-is-helping-this-mom-reduce-mental-load/" TargetMode="External"/><Relationship Id="rId6" Type="http://schemas.openxmlformats.org/officeDocument/2006/relationships/image" Target="../media/image14.png"/><Relationship Id="rId7" Type="http://schemas.openxmlformats.org/officeDocument/2006/relationships/hyperlink" Target="https://www.axios.com/2025/09/30/chatgpt-pulse-ai-assistant-mom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www.tiktok.com/@highvaluemales/video/711590138150397875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https://www.tiktok.com/@disciple_omi/video/7581944388549496077" TargetMode="External"/><Relationship Id="rId4" Type="http://schemas.openxmlformats.org/officeDocument/2006/relationships/image" Target="../media/image22.png"/><Relationship Id="rId5" Type="http://schemas.openxmlformats.org/officeDocument/2006/relationships/hyperlink" Target="https://www.tiktok.com/@elmundo.es/video/7395159521426967841" TargetMode="External"/><Relationship Id="rId6" Type="http://schemas.openxmlformats.org/officeDocument/2006/relationships/image" Target="../media/image23.png"/><Relationship Id="rId7" Type="http://schemas.openxmlformats.org/officeDocument/2006/relationships/hyperlink" Target="https://www.boldlatina.com/faith-family-and-femininity-latina-tradwives-redefine-the-gender-roles-debat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www.tiktok.com/@highvaluemales/video/7115901381503978758" TargetMode="External"/><Relationship Id="rId4" Type="http://schemas.openxmlformats.org/officeDocument/2006/relationships/image" Target="../media/image24.png"/><Relationship Id="rId5" Type="http://schemas.openxmlformats.org/officeDocument/2006/relationships/hyperlink" Target="https://19thnews.org/2025/06/internet-culture-algorithms-alpha-males-tradwives/" TargetMode="External"/><Relationship Id="rId6" Type="http://schemas.openxmlformats.org/officeDocument/2006/relationships/image" Target="../media/image25.png"/><Relationship Id="rId7" Type="http://schemas.openxmlformats.org/officeDocument/2006/relationships/hyperlink" Target="https://www.occrp.org/en/feature/sun-cigars-and-sexism-how-spains-marbella-became-a-hotspot-for-manosphere-influencer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hyperlink" Target="https://www.tiktok.com/@aliyahwears/video/7275392594656496938" TargetMode="External"/><Relationship Id="rId4" Type="http://schemas.openxmlformats.org/officeDocument/2006/relationships/image" Target="../media/image27.png"/><Relationship Id="rId5" Type="http://schemas.openxmlformats.org/officeDocument/2006/relationships/hyperlink" Target="https://journals.sagepub.com/doi/10.1177/13675494241285643" TargetMode="External"/><Relationship Id="rId6" Type="http://schemas.openxmlformats.org/officeDocument/2006/relationships/image" Target="../media/image28.png"/><Relationship Id="rId7" Type="http://schemas.openxmlformats.org/officeDocument/2006/relationships/hyperlink" Target="https://www.tiktok.com/@lexiixi/video/754826721238190004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tiktok.com/@soyquiquerosas/video/7380877040385346822" TargetMode="External"/><Relationship Id="rId4" Type="http://schemas.openxmlformats.org/officeDocument/2006/relationships/image" Target="../media/image30.png"/><Relationship Id="rId5" Type="http://schemas.openxmlformats.org/officeDocument/2006/relationships/hyperlink" Target="https://www.univision.com/entretenimiento/cultura-pop/tiktok-hombres-normalizan-laborales-hogar-paternidad" TargetMode="External"/><Relationship Id="rId6" Type="http://schemas.openxmlformats.org/officeDocument/2006/relationships/image" Target="../media/image31.png"/><Relationship Id="rId7" Type="http://schemas.openxmlformats.org/officeDocument/2006/relationships/hyperlink" Target="https://www.tiktok.com/@soyquiquerosas/video/735121792225934054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https://www.tiktok.com/@disciple_omi/video/7581944388549496077" TargetMode="External"/><Relationship Id="rId4" Type="http://schemas.openxmlformats.org/officeDocument/2006/relationships/image" Target="../media/image32.png"/><Relationship Id="rId5" Type="http://schemas.openxmlformats.org/officeDocument/2006/relationships/hyperlink" Target="https://www.elnacional.cat/es/sociedad/tiktok-impulsa-contenido-misogino-extremo-entre-hombres-jovenes_1154811_102.html" TargetMode="External"/><Relationship Id="rId6" Type="http://schemas.openxmlformats.org/officeDocument/2006/relationships/image" Target="../media/image23.png"/><Relationship Id="rId7" Type="http://schemas.openxmlformats.org/officeDocument/2006/relationships/hyperlink" Target="https://www.boldlatina.com/faith-family-and-femininity-latina-tradwives-redefine-the-gender-roles-debat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016000"/>
          </a:xfrm>
          <a:prstGeom prst="rect">
            <a:avLst/>
          </a:prstGeom>
          <a:noFill/>
        </p:spPr>
        <p:txBody>
          <a:bodyPr wrap="square" lIns="0" rIns="0" tIns="0" bIns="0" anchor="t">
            <a:spAutoFit/>
          </a:bodyPr>
          <a:lstStyle/>
          <a:p>
            <a:pPr algn="l">
              <a:lnSpc>
                <a:spcPct val="95000"/>
              </a:lnSpc>
            </a:pPr>
            <a:r>
              <a:rPr sz="4400" b="0" i="0">
                <a:solidFill>
                  <a:srgbClr val="FFFFFF"/>
                </a:solidFill>
                <a:latin typeface="Instrument Serif"/>
              </a:rPr>
              <a:t>INVENTOLOGÍA DE LA ADULTEZ</a:t>
            </a:r>
          </a:p>
        </p:txBody>
      </p:sp>
      <p:sp>
        <p:nvSpPr>
          <p:cNvPr id="11" name="TextBox 10"/>
          <p:cNvSpPr txBox="1"/>
          <p:nvPr/>
        </p:nvSpPr>
        <p:spPr>
          <a:xfrm>
            <a:off x="609600" y="2895600"/>
            <a:ext cx="5418666" cy="1016000"/>
          </a:xfrm>
          <a:prstGeom prst="rect">
            <a:avLst/>
          </a:prstGeom>
          <a:noFill/>
        </p:spPr>
        <p:txBody>
          <a:bodyPr wrap="square" lIns="0" rIns="0" tIns="0" bIns="0" anchor="t">
            <a:spAutoFit/>
          </a:bodyPr>
          <a:lstStyle/>
          <a:p>
            <a:pPr algn="l">
              <a:lnSpc>
                <a:spcPct val="110000"/>
              </a:lnSpc>
            </a:pPr>
            <a:r>
              <a:rPr sz="2000" b="0" i="1">
                <a:solidFill>
                  <a:srgbClr val="FFFFFF"/>
                </a:solidFill>
                <a:latin typeface="Instrument Serif"/>
              </a:rPr>
              <a:t>“Un mundo en crisis está reescribiendo qué significa ser adulto y formar familia.”</a:t>
            </a:r>
          </a:p>
        </p:txBody>
      </p:sp>
      <p:sp>
        <p:nvSpPr>
          <p:cNvPr id="12" name="TextBox 11"/>
          <p:cNvSpPr txBox="1"/>
          <p:nvPr/>
        </p:nvSpPr>
        <p:spPr>
          <a:xfrm>
            <a:off x="609600" y="3911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COMPORTAMIENTO</a:t>
            </a:r>
          </a:p>
        </p:txBody>
      </p:sp>
      <p:sp>
        <p:nvSpPr>
          <p:cNvPr id="13" name="TextBox 12"/>
          <p:cNvSpPr txBox="1"/>
          <p:nvPr/>
        </p:nvSpPr>
        <p:spPr>
          <a:xfrm>
            <a:off x="609600" y="4089400"/>
            <a:ext cx="5418666" cy="3048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El guion heredado — él provee, ella sostiene — se cae a pedazos porque ya no cuadra con el banco ni con el censo. La mujer dominicana firmó contrato laboral [80% de nuevos empleos formales] sin romper el contrato doméstico. La adultez de género se está inventando en el espacio entre el “ambos” del discurso y la mujer batida del verbatim.</a:t>
            </a:r>
          </a:p>
        </p:txBody>
      </p:sp>
      <p:sp>
        <p:nvSpPr>
          <p:cNvPr id="14" name="TextBox 13"/>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TRIGGERS</a:t>
            </a:r>
          </a:p>
        </p:txBody>
      </p:sp>
      <p:sp>
        <p:nvSpPr>
          <p:cNvPr id="15" name="TextBox 14"/>
          <p:cNvSpPr txBox="1"/>
          <p:nvPr/>
        </p:nvSpPr>
        <p:spPr>
          <a:xfrm>
            <a:off x="6434666" y="1727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“ambos”</a:t>
            </a:r>
          </a:p>
        </p:txBody>
      </p:sp>
      <p:sp>
        <p:nvSpPr>
          <p:cNvPr id="16" name="TextBox 15"/>
          <p:cNvSpPr txBox="1"/>
          <p:nvPr/>
        </p:nvSpPr>
        <p:spPr>
          <a:xfrm>
            <a:off x="6434666" y="2082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74.8%</a:t>
            </a:r>
          </a:p>
        </p:txBody>
      </p:sp>
      <p:sp>
        <p:nvSpPr>
          <p:cNvPr id="17" name="TextBox 16"/>
          <p:cNvSpPr txBox="1"/>
          <p:nvPr/>
        </p:nvSpPr>
        <p:spPr>
          <a:xfrm>
            <a:off x="6434666" y="2362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afirma que el rol del hombre y la mujer ha cambiado “Mucho” — pero P15/P33 desmiente tarea por tarea: la mujer sigue cargando 60/40 en lavar, cocinar, planchar y limpiar.</a:t>
            </a:r>
          </a:p>
        </p:txBody>
      </p:sp>
      <p:sp>
        <p:nvSpPr>
          <p:cNvPr id="18" name="TextBox 17"/>
          <p:cNvSpPr txBox="1"/>
          <p:nvPr/>
        </p:nvSpPr>
        <p:spPr>
          <a:xfrm>
            <a:off x="6434666" y="2971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19" name="TextBox 18"/>
          <p:cNvSpPr txBox="1"/>
          <p:nvPr/>
        </p:nvSpPr>
        <p:spPr>
          <a:xfrm>
            <a:off x="6434666" y="3378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“ratio 59%”</a:t>
            </a:r>
          </a:p>
        </p:txBody>
      </p:sp>
      <p:sp>
        <p:nvSpPr>
          <p:cNvPr id="20" name="TextBox 19"/>
          <p:cNvSpPr txBox="1"/>
          <p:nvPr/>
        </p:nvSpPr>
        <p:spPr>
          <a:xfrm>
            <a:off x="6434666" y="3733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44,349 / 26,210</a:t>
            </a:r>
          </a:p>
        </p:txBody>
      </p:sp>
      <p:sp>
        <p:nvSpPr>
          <p:cNvPr id="21" name="TextBox 20"/>
          <p:cNvSpPr txBox="1"/>
          <p:nvPr/>
        </p:nvSpPr>
        <p:spPr>
          <a:xfrm>
            <a:off x="6434666" y="4013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matrimonios contra divorcios en 2024 — el ratio más alto del registro RD.</a:t>
            </a:r>
          </a:p>
        </p:txBody>
      </p:sp>
      <p:sp>
        <p:nvSpPr>
          <p:cNvPr id="22" name="TextBox 21"/>
          <p:cNvSpPr txBox="1"/>
          <p:nvPr/>
        </p:nvSpPr>
        <p:spPr>
          <a:xfrm>
            <a:off x="6434666" y="4622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VÍA LISTÍN DIARIO · 2025</a:t>
            </a:r>
          </a:p>
        </p:txBody>
      </p:sp>
      <p:sp>
        <p:nvSpPr>
          <p:cNvPr id="23" name="TextBox 22"/>
          <p:cNvSpPr txBox="1"/>
          <p:nvPr/>
        </p:nvSpPr>
        <p:spPr>
          <a:xfrm>
            <a:off x="6434666" y="5029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“nuevas adultas”</a:t>
            </a:r>
          </a:p>
        </p:txBody>
      </p:sp>
      <p:sp>
        <p:nvSpPr>
          <p:cNvPr id="24" name="TextBox 23"/>
          <p:cNvSpPr txBox="1"/>
          <p:nvPr/>
        </p:nvSpPr>
        <p:spPr>
          <a:xfrm>
            <a:off x="6434666" y="5384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80%+</a:t>
            </a:r>
          </a:p>
        </p:txBody>
      </p:sp>
      <p:sp>
        <p:nvSpPr>
          <p:cNvPr id="25" name="TextBox 24"/>
          <p:cNvSpPr txBox="1"/>
          <p:nvPr/>
        </p:nvSpPr>
        <p:spPr>
          <a:xfrm>
            <a:off x="6434666" y="5664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los nuevos empleos formales en RD los toman mujeres de 25-39 años.</a:t>
            </a:r>
          </a:p>
        </p:txBody>
      </p:sp>
      <p:sp>
        <p:nvSpPr>
          <p:cNvPr id="26" name="TextBox 25"/>
          <p:cNvSpPr txBox="1"/>
          <p:nvPr/>
        </p:nvSpPr>
        <p:spPr>
          <a:xfrm>
            <a:off x="6434666" y="6273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BCRD VÍA N.COM.DO · 2025</a:t>
            </a:r>
          </a:p>
        </p:txBody>
      </p:sp>
      <p:sp>
        <p:nvSpPr>
          <p:cNvPr id="27" name="TextBox 26"/>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PRUEBAS</a:t>
            </a:r>
          </a:p>
        </p:txBody>
      </p:sp>
      <p:sp>
        <p:nvSpPr>
          <p:cNvPr id="28" name="TextBox 27"/>
          <p:cNvSpPr txBox="1"/>
          <p:nvPr/>
        </p:nvSpPr>
        <p:spPr>
          <a:xfrm>
            <a:off x="12259733" y="1727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29" name="Picture 28" descr="macro-1-1-tiktok-madres-reales-rd-carga-mental.png">
            <a:hlinkClick r:id="rId3"/>
          </p:cNvPr>
          <p:cNvPicPr>
            <a:picLocks noChangeAspect="1"/>
          </p:cNvPicPr>
          <p:nvPr/>
        </p:nvPicPr>
        <p:blipFill>
          <a:blip r:embed="rId2"/>
          <a:stretch>
            <a:fillRect/>
          </a:stretch>
        </p:blipFill>
        <p:spPr>
          <a:xfrm>
            <a:off x="12259733" y="1930400"/>
            <a:ext cx="1892300" cy="2794000"/>
          </a:xfrm>
          <a:prstGeom prst="rect">
            <a:avLst/>
          </a:prstGeom>
        </p:spPr>
      </p:pic>
      <p:sp>
        <p:nvSpPr>
          <p:cNvPr id="30" name="Rectangle 29"/>
          <p:cNvSpPr/>
          <p:nvPr/>
        </p:nvSpPr>
        <p:spPr>
          <a:xfrm>
            <a:off x="13542433" y="1828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1" name="TextBox 30"/>
          <p:cNvSpPr txBox="1"/>
          <p:nvPr/>
        </p:nvSpPr>
        <p:spPr>
          <a:xfrm>
            <a:off x="12259733" y="4826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Lyn (@madresrealesrd) articula “CargaMentalMaterna” en español RD. Cara local de la brecha declarado-vivido.</a:t>
            </a:r>
          </a:p>
        </p:txBody>
      </p:sp>
      <p:sp>
        <p:nvSpPr>
          <p:cNvPr id="32" name="TextBox 31"/>
          <p:cNvSpPr txBox="1"/>
          <p:nvPr/>
        </p:nvSpPr>
        <p:spPr>
          <a:xfrm>
            <a:off x="12259733" y="5537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@MADRESREALESRD · 2024</a:t>
            </a:r>
          </a:p>
        </p:txBody>
      </p:sp>
      <p:sp>
        <p:nvSpPr>
          <p:cNvPr id="33" name="TextBox 32"/>
          <p:cNvSpPr txBox="1"/>
          <p:nvPr/>
        </p:nvSpPr>
        <p:spPr>
          <a:xfrm>
            <a:off x="12259733" y="5842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sp>
        <p:nvSpPr>
          <p:cNvPr id="34" name="TextBox 33"/>
          <p:cNvSpPr txBox="1"/>
          <p:nvPr/>
        </p:nvSpPr>
        <p:spPr>
          <a:xfrm>
            <a:off x="12259733" y="6019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ONE — divorcios crecieron de 12,821 (2001) a 28,694 (2021): +124% en 20 años, oficial.</a:t>
            </a:r>
          </a:p>
        </p:txBody>
      </p:sp>
      <p:sp>
        <p:nvSpPr>
          <p:cNvPr id="35" name="TextBox 34"/>
          <p:cNvSpPr txBox="1"/>
          <p:nvPr/>
        </p:nvSpPr>
        <p:spPr>
          <a:xfrm>
            <a:off x="12259733" y="6629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BLOG ONE · 2024-2025</a:t>
            </a:r>
          </a:p>
        </p:txBody>
      </p:sp>
      <p:sp>
        <p:nvSpPr>
          <p:cNvPr id="36" name="TextBox 35"/>
          <p:cNvSpPr txBox="1"/>
          <p:nvPr/>
        </p:nvSpPr>
        <p:spPr>
          <a:xfrm>
            <a:off x="12259733" y="6858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sp>
        <p:nvSpPr>
          <p:cNvPr id="37" name="TextBox 36"/>
          <p:cNvSpPr txBox="1"/>
          <p:nvPr/>
        </p:nvSpPr>
        <p:spPr>
          <a:xfrm>
            <a:off x="12259733" y="7035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Familia Feliz reconoce 2,160 mujeres con vivienda propia — el Estado nombra a la jefa de hogar como sujeto de política.</a:t>
            </a:r>
          </a:p>
        </p:txBody>
      </p:sp>
      <p:sp>
        <p:nvSpPr>
          <p:cNvPr id="38" name="TextBox 37"/>
          <p:cNvSpPr txBox="1"/>
          <p:nvPr/>
        </p:nvSpPr>
        <p:spPr>
          <a:xfrm>
            <a:off x="12259733" y="7645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PRESIDENCIA RD · 2024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1.1</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AMBOS DICE LA BOCA, ELLA HACE LA CASA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equidad se declara en encuesta y se desmiente en la cocina.”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Pregúntale al dominicano cómo se reparten las tareas y va a decir “ambos”. Pregúntaselo tarea por tarea y la respuesta cambia de país. En P15 más de la mitad dice “de los dos”. En P33, granular, salta a “más la mujer” en todas — con brechas que pasan los 20 puntos. La equidad llegó al discurso como una palabra de moda, pero todavía no llegó a la pila de ropa. Y entre esos dos pisos vive Lyn de @madresrealesrd nombrándolo en cámara: carga mental materna.</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#cargamental · #defaultparent · #cargamentalmaterna · #ambosencomillas · #mamabatida</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9600" b="0" i="0">
                <a:solidFill>
                  <a:srgbClr val="FFFFFF"/>
                </a:solidFill>
                <a:latin typeface="Instrument Serif"/>
              </a:rPr>
              <a:t>66.6% vs 54.8%</a:t>
            </a:r>
          </a:p>
        </p:txBody>
      </p:sp>
      <p:sp>
        <p:nvSpPr>
          <p:cNvPr id="19" name="TextBox 18"/>
          <p:cNvSpPr txBox="1"/>
          <p:nvPr/>
        </p:nvSpPr>
        <p:spPr>
          <a:xfrm>
            <a:off x="6434666" y="30480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“Más la mujer” cocinar (P33) vs. “Ambos” cocinar (P15) — brecha 20+ puntos.</a:t>
            </a:r>
          </a:p>
        </p:txBody>
      </p:sp>
      <p:sp>
        <p:nvSpPr>
          <p:cNvPr id="20" name="TextBox 19"/>
          <p:cNvSpPr txBox="1"/>
          <p:nvPr/>
        </p:nvSpPr>
        <p:spPr>
          <a:xfrm>
            <a:off x="6434666" y="3556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1" name="TextBox 20"/>
          <p:cNvSpPr txBox="1"/>
          <p:nvPr/>
        </p:nvSpPr>
        <p:spPr>
          <a:xfrm>
            <a:off x="6434666" y="3810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“ambos”</a:t>
            </a:r>
          </a:p>
        </p:txBody>
      </p:sp>
      <p:sp>
        <p:nvSpPr>
          <p:cNvPr id="22" name="TextBox 21"/>
          <p:cNvSpPr txBox="1"/>
          <p:nvPr/>
        </p:nvSpPr>
        <p:spPr>
          <a:xfrm>
            <a:off x="6434666" y="4165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P15: 54.8%</a:t>
            </a:r>
          </a:p>
        </p:txBody>
      </p:sp>
      <p:sp>
        <p:nvSpPr>
          <p:cNvPr id="23" name="TextBox 22"/>
          <p:cNvSpPr txBox="1"/>
          <p:nvPr/>
        </p:nvSpPr>
        <p:spPr>
          <a:xfrm>
            <a:off x="6434666" y="4445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declara “Ambos” cocinar, lavar, limpiar.</a:t>
            </a:r>
          </a:p>
        </p:txBody>
      </p:sp>
      <p:sp>
        <p:nvSpPr>
          <p:cNvPr id="24" name="TextBox 23"/>
          <p:cNvSpPr txBox="1"/>
          <p:nvPr/>
        </p:nvSpPr>
        <p:spPr>
          <a:xfrm>
            <a:off x="6434666" y="5054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5" name="TextBox 24"/>
          <p:cNvSpPr txBox="1"/>
          <p:nvPr/>
        </p:nvSpPr>
        <p:spPr>
          <a:xfrm>
            <a:off x="6434666" y="53594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“más la mujer”</a:t>
            </a:r>
          </a:p>
        </p:txBody>
      </p:sp>
      <p:sp>
        <p:nvSpPr>
          <p:cNvPr id="26" name="TextBox 25"/>
          <p:cNvSpPr txBox="1"/>
          <p:nvPr/>
        </p:nvSpPr>
        <p:spPr>
          <a:xfrm>
            <a:off x="6434666" y="57150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P33: 66.6%</a:t>
            </a:r>
          </a:p>
        </p:txBody>
      </p:sp>
      <p:sp>
        <p:nvSpPr>
          <p:cNvPr id="27" name="TextBox 26"/>
          <p:cNvSpPr txBox="1"/>
          <p:nvPr/>
        </p:nvSpPr>
        <p:spPr>
          <a:xfrm>
            <a:off x="6434666" y="59944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desmiente granular — “Más la mujer” en cocinar, lavar, limpiar.</a:t>
            </a:r>
          </a:p>
        </p:txBody>
      </p:sp>
      <p:sp>
        <p:nvSpPr>
          <p:cNvPr id="28" name="TextBox 27"/>
          <p:cNvSpPr txBox="1"/>
          <p:nvPr/>
        </p:nvSpPr>
        <p:spPr>
          <a:xfrm>
            <a:off x="6434666" y="6604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9" name="TextBox 28"/>
          <p:cNvSpPr txBox="1"/>
          <p:nvPr/>
        </p:nvSpPr>
        <p:spPr>
          <a:xfrm>
            <a:off x="6434666" y="69088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“default parent”</a:t>
            </a:r>
          </a:p>
        </p:txBody>
      </p:sp>
      <p:sp>
        <p:nvSpPr>
          <p:cNvPr id="30" name="TextBox 29"/>
          <p:cNvSpPr txBox="1"/>
          <p:nvPr/>
        </p:nvSpPr>
        <p:spPr>
          <a:xfrm>
            <a:off x="6434666" y="72644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 fases</a:t>
            </a:r>
          </a:p>
        </p:txBody>
      </p:sp>
      <p:sp>
        <p:nvSpPr>
          <p:cNvPr id="31" name="TextBox 30"/>
          <p:cNvSpPr txBox="1"/>
          <p:nvPr/>
        </p:nvSpPr>
        <p:spPr>
          <a:xfrm>
            <a:off x="6434666" y="75438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del trabajo mental [anticipar, identificar, decidir, monitorear] recaen sobre la mujer aunque se “delegue”.</a:t>
            </a:r>
          </a:p>
        </p:txBody>
      </p:sp>
      <p:sp>
        <p:nvSpPr>
          <p:cNvPr id="32" name="TextBox 31"/>
          <p:cNvSpPr txBox="1"/>
          <p:nvPr/>
        </p:nvSpPr>
        <p:spPr>
          <a:xfrm>
            <a:off x="6434666" y="8153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ASR VÍA ALTER MUTUA · 2024</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1-1-tiktok-madres-reales-rd-carga-mental.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Lyn (@madresrealesrd) — primera huella RD nombrando “CargaMentalMaterna” en español dominicano.</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@MADRESREALESRD · 2024</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1-1-motherly-default-parent.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Mother.ly — Default Parent Syndrome se viraliza en TikTok 2025: la mamá queda “primera en la fila” sin acuerdo.</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1-1-tiktok-pequefelicidad-carga-mental.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Pequefelicidad — “La carga mental: lo que no se ve sí existe”. Concepto académico convertido en pieza viral hispana.</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@PEQUEFELICIDAD ·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1.2</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LA PLANCHA TIENE GÉNERO</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“Hay TikToks para todo. Pero no hay TikToks de la plancha.”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lavadora eliminó el lavadero. El microondas relevó el sancocho de los lunes. Uber Eats sustituyó la cocina de los miércoles. Pero la plancha no la tocó nadie. Es la única tarea del hogar dominicano donde “Mujer” le gana a “Ambos” — 54.2% contra 44%, y el hombre desaparece a 1.8%. Y cuando vas a buscar la huella viral del tema en TikTok hispano, no hay nada. La tarea más extrema de inequidad doméstica del país es tan invisible que ni el meme se atrevió.</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#planchar · #cargainvisible · #tareasdecasa · #wifedoesitall · #dailychores</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9600" b="0" i="0">
                <a:solidFill>
                  <a:srgbClr val="FFFFFF"/>
                </a:solidFill>
                <a:latin typeface="Instrument Serif"/>
              </a:rPr>
              <a:t>1.8%</a:t>
            </a:r>
          </a:p>
        </p:txBody>
      </p:sp>
      <p:sp>
        <p:nvSpPr>
          <p:cNvPr id="19" name="TextBox 18"/>
          <p:cNvSpPr txBox="1"/>
          <p:nvPr/>
        </p:nvSpPr>
        <p:spPr>
          <a:xfrm>
            <a:off x="6434666" y="30480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hombres dominicanos plancha. La única tarea de P15 donde “Mujer” le gana a “Ambos”.</a:t>
            </a:r>
          </a:p>
        </p:txBody>
      </p:sp>
      <p:sp>
        <p:nvSpPr>
          <p:cNvPr id="20" name="TextBox 19"/>
          <p:cNvSpPr txBox="1"/>
          <p:nvPr/>
        </p:nvSpPr>
        <p:spPr>
          <a:xfrm>
            <a:off x="6434666" y="3556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1" name="TextBox 20"/>
          <p:cNvSpPr txBox="1"/>
          <p:nvPr/>
        </p:nvSpPr>
        <p:spPr>
          <a:xfrm>
            <a:off x="6434666" y="3810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“1.8% hombre”</a:t>
            </a:r>
          </a:p>
        </p:txBody>
      </p:sp>
      <p:sp>
        <p:nvSpPr>
          <p:cNvPr id="22" name="TextBox 21"/>
          <p:cNvSpPr txBox="1"/>
          <p:nvPr/>
        </p:nvSpPr>
        <p:spPr>
          <a:xfrm>
            <a:off x="6434666" y="4165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54.2% / 1.8%</a:t>
            </a:r>
          </a:p>
        </p:txBody>
      </p:sp>
      <p:sp>
        <p:nvSpPr>
          <p:cNvPr id="23" name="TextBox 22"/>
          <p:cNvSpPr txBox="1"/>
          <p:nvPr/>
        </p:nvSpPr>
        <p:spPr>
          <a:xfrm>
            <a:off x="6434666" y="4445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mujer planchando vs hombre planchando. La brecha más cruda del cuestionario.</a:t>
            </a:r>
          </a:p>
        </p:txBody>
      </p:sp>
      <p:sp>
        <p:nvSpPr>
          <p:cNvPr id="24" name="TextBox 23"/>
          <p:cNvSpPr txBox="1"/>
          <p:nvPr/>
        </p:nvSpPr>
        <p:spPr>
          <a:xfrm>
            <a:off x="6434666" y="5054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5" name="TextBox 24"/>
          <p:cNvSpPr txBox="1"/>
          <p:nvPr/>
        </p:nvSpPr>
        <p:spPr>
          <a:xfrm>
            <a:off x="6434666" y="53594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“yo no plancho”</a:t>
            </a:r>
          </a:p>
        </p:txBody>
      </p:sp>
      <p:sp>
        <p:nvSpPr>
          <p:cNvPr id="26" name="TextBox 25"/>
          <p:cNvSpPr txBox="1"/>
          <p:nvPr/>
        </p:nvSpPr>
        <p:spPr>
          <a:xfrm>
            <a:off x="6434666" y="57150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0</a:t>
            </a:r>
          </a:p>
        </p:txBody>
      </p:sp>
      <p:sp>
        <p:nvSpPr>
          <p:cNvPr id="27" name="TextBox 26"/>
          <p:cNvSpPr txBox="1"/>
          <p:nvPr/>
        </p:nvSpPr>
        <p:spPr>
          <a:xfrm>
            <a:off x="6434666" y="59944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menciones de planchar como tarea masculina en 11 focus groups Código Casa.</a:t>
            </a:r>
          </a:p>
        </p:txBody>
      </p:sp>
      <p:sp>
        <p:nvSpPr>
          <p:cNvPr id="28" name="TextBox 27"/>
          <p:cNvSpPr txBox="1"/>
          <p:nvPr/>
        </p:nvSpPr>
        <p:spPr>
          <a:xfrm>
            <a:off x="6434666" y="6604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FG · 2024</a:t>
            </a:r>
          </a:p>
        </p:txBody>
      </p:sp>
      <p:sp>
        <p:nvSpPr>
          <p:cNvPr id="29" name="TextBox 28"/>
          <p:cNvSpPr txBox="1"/>
          <p:nvPr/>
        </p:nvSpPr>
        <p:spPr>
          <a:xfrm>
            <a:off x="6434666" y="69088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“huella viral nula”</a:t>
            </a:r>
          </a:p>
        </p:txBody>
      </p:sp>
      <p:sp>
        <p:nvSpPr>
          <p:cNvPr id="30" name="TextBox 29"/>
          <p:cNvSpPr txBox="1"/>
          <p:nvPr/>
        </p:nvSpPr>
        <p:spPr>
          <a:xfrm>
            <a:off x="6434666" y="72644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0</a:t>
            </a:r>
          </a:p>
        </p:txBody>
      </p:sp>
      <p:sp>
        <p:nvSpPr>
          <p:cNvPr id="31" name="TextBox 30"/>
          <p:cNvSpPr txBox="1"/>
          <p:nvPr/>
        </p:nvSpPr>
        <p:spPr>
          <a:xfrm>
            <a:off x="6434666" y="75438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videos hispanos verificables sobre planchar como tema de género. La plancha no produce contenido porque no tiene reclamo.</a:t>
            </a:r>
          </a:p>
        </p:txBody>
      </p:sp>
      <p:sp>
        <p:nvSpPr>
          <p:cNvPr id="32" name="TextBox 31"/>
          <p:cNvSpPr txBox="1"/>
          <p:nvPr/>
        </p:nvSpPr>
        <p:spPr>
          <a:xfrm>
            <a:off x="6434666" y="8153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TEAM TRENDS CC · 2026</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1-1-tiktok-pequefelicidad-carga-mental.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Pequefelicidad — la lógica de “lo que no se ve no se redistribuye” aplica exactamente a la plancha.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@PEQUEFELICIDAD · 2024</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1-1-altermutua-carga-mental.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Alter Mutua — las 4 fases del trabajo mental femenino. Por qué tareas crónicas como planchar no se redistribuyen aunque se “comparta” la casa.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ALTER MUTUA · 2024-2025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1-1-pipedrive-carga-mental.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Pipedrive — carga mental como vocabulario de negocio. Argumento para marcas de electrodomésticos y servicios de planchado.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PIPEDRIVE · 2024-2025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1.3</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LA JEFA DEL HOGAR ES UNA SOLA MUJER</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“Ser madre soltera dejó de ser excepción para volverse estructura del país.”</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Una de cada tres familias dominicanas la lidera una mujer sola. La monoparentalidad ya no es la nota al pie del censo: es columna del censo. La familia papá-mamá-hijos dejó de ser mayoría estadística. El Estado, que tarda en nombrar lo evidente, finalmente lo nombró: Bono Madre, Bono Mujer, Familia Feliz. La política pública llegó tarde, pero llegó. La economía privada todavía no aterriza.</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#madresoltera · #jefadehogar · #mompreneur · #bonomadre · #familiamonoparental</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41%</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hogares en el programa Familia Feliz son monoparentales. 2,160 mujeres con vivienda propia.</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PRESIDENCIA RD · 2024</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“familia feliz”</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2,160</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mujeres beneficiadas con vivienda propia — 41% de hogares del programa son monoparentales.</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PRESIDENCIA RD · 2024</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“bono mujer”</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RD$1,500M</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presupuestados para jefas de hogar — Bono Mujer / Bono Madre institucionalizado.</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MINISTERIO DE LA MUJER · 2024</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“batallas invisibles”</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reportaje El Intermediario sobre madres solteras RD: ausencia económica del padre, manutención débil.</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INTERMEDIARIO · 2025-11</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1-1-tiktok-madres-reales-rd-carga-mental.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Lyn (@madresrealesrd) — la mamá habla en primera persona sin la teatralización de las momfluencers extranjeras.</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@MADRESREALESRD · 2024</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1-3-elintermediario-madres-solteras.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El Intermediario — “Las batallas invisibles de madres solteras en RD”. Reportaje 2025 que nombra el sistema.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INTERMEDIARIO · 2025-11</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1-3-presidencia-familia-feliz.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Familia Feliz — el Estado nombra a la jefa de hogar como sujeto de política habitacional. Las marcas todavía no lo nombran como sujeto de compra.</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PRESIDENCIA RD ·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1.4</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HEREDA MI ESPOSA: EL CUIDADO QUE NADIE VOTÓ</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“El plan de retiro del adulto mayor dominicano se llama nuera.”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73% de los dominicanos dice que no convive con nadie mayor. Pero RD entra a 2031 como sociedad envejecida [&gt;14% de 60+] y a 2050 con uno de cada cinco habitantes pasado los 60. El cuidado de mayores existe pero está sumergido — se delega a la nuera, a la hija, a la hermana, en silencio. El Estado apenas en 2024 certificó la primera promoción de 90 cuidadoras formales con CONAPE.</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#cuidadora · #elderlycare · #nuerasinpaga · #sandwichgeneration · #cuidalacuidadora</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2031</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RD entra como sociedad envejecida — &gt;14% de la población con 60+ años. Sin sistema público de cuidados.</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IBEROAMÉRICA MAYORES · 2025</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“78% sin mayores”</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78% / 64.6%</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mujeres vs hombres que dicen no convivir con nadie mayor. Cuando aplica, ella asume.</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“RD envejece”</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21%</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la población RD tendrá más de 60 años para 2050. Carga de cuidados crece sin sistema público.</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IBEROAMÉRICA MAYORES · 2025-06</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“cuidadora formal”</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90</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cuidadoras certificadas CONAPE/Supérate/INFOTEP: RD$30,000 + seguridad social, 8 horas en casa.</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LISTÍN DIARIO · 2024-12</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1-1-tiktok-madres-reales-rd-carga-mental.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Lyn (@madresrealesrd) — la mujer carga lo que la casa heredada no redistribuyó. Aplica también al cuidado de mayores.</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@MADRESREALESRD · 2024</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1-4-iberoamerica-mayores-rd.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Iberoamérica Mayores — RD será “sociedad envejecida” para 2031. El dato demográfico que la cuanti todavía no captura.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IBEROAMÉRICA MAYORES · 2025-06-30</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1-4-listin-cuidadoras-conape.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CONAPE — primera promoción de 90 cuidadoras certificadas. Política pública que reconoce a la cuidadora como trabajadora.</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LISTÍN DIARIO · 2024-12-05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1 | INVENTOLOGÍA</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1.5</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DIVORCIO LA NORMA, MATRIMONIO LA ANOMALÍA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“En RD el contrato matrimonial se renegocia cada siete años — si es que llega.”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Por cada 100 matrimonios firmados en 2024, 60 terminaron en divorcio. Es el ratio más alto del registro y subió 124% desde 2001. Y en 2025 los matrimonios cayeron otro 8.7%. El contrato matrimonial dejó de ser predictor confiable de hogar — se volvió una herramienta más, opcional, revisable, terminable. La mujer se casa más joven que el hombre y se divorcia primero.</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#divorcioRD · #coparenting · #exmarido · #papáfindesemana · #exitstrategy</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59%</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ratio divorcios/matrimonios RD 2024. El más alto del registro histórico.</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VÍA LISTÍN DIARIO · 2025</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“ratio 59%”</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44,349 / 26,210</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matrimonios vs divorcios en 2024. Desde 2021 supera el 60%.</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VÍA LISTÍN DIARIO · 2025</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“+124% divorcios”</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12,821 → 28,694</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divorcios crecieron 124% en 20 años (2001-2021).</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BLOG ONE · 2024-2025</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“ella se casa primero”</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las mujeres se casan más jóvenes que los hombres en RD — y suelen divorciarse primero.</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DÍA · 2024</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0-bloomberg-tradwife-latam.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Bloomberg Línea — el frame regional: en paralelo al divorcio masivo, una porción busca volver al “para toda la vida” como rebeldía.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BLOOMBERG LÍNEA · 2024-2025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1-0-listin-divorcios-2024.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Listín — matrimonios vs divorcios 2024 RD. La cifra dura con fuente oficial.</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LISTÍN DIARIO · 2025-06-01</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1-5-eldia-mujeres-jovenes-casan.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El Día — mujeres se casan más jóvenes que los hombres en RD. La que entra primero al matrimonio es la que sale primero.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DÍA RD ·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016000"/>
          </a:xfrm>
          <a:prstGeom prst="rect">
            <a:avLst/>
          </a:prstGeom>
          <a:noFill/>
        </p:spPr>
        <p:txBody>
          <a:bodyPr wrap="square" lIns="0" rIns="0" tIns="0" bIns="0" anchor="t">
            <a:spAutoFit/>
          </a:bodyPr>
          <a:lstStyle/>
          <a:p>
            <a:pPr algn="l">
              <a:lnSpc>
                <a:spcPct val="95000"/>
              </a:lnSpc>
            </a:pPr>
            <a:r>
              <a:rPr sz="4400" b="0" i="0">
                <a:solidFill>
                  <a:srgbClr val="FFFFFF"/>
                </a:solidFill>
                <a:latin typeface="Instrument Serif"/>
              </a:rPr>
              <a:t>LOS HERNÁNDEZ ARE PROMPTED</a:t>
            </a:r>
          </a:p>
        </p:txBody>
      </p:sp>
      <p:sp>
        <p:nvSpPr>
          <p:cNvPr id="11" name="TextBox 10"/>
          <p:cNvSpPr txBox="1"/>
          <p:nvPr/>
        </p:nvSpPr>
        <p:spPr>
          <a:xfrm>
            <a:off x="609600" y="2895600"/>
            <a:ext cx="5418666" cy="1016000"/>
          </a:xfrm>
          <a:prstGeom prst="rect">
            <a:avLst/>
          </a:prstGeom>
          <a:noFill/>
        </p:spPr>
        <p:txBody>
          <a:bodyPr wrap="square" lIns="0" rIns="0" tIns="0" bIns="0" anchor="t">
            <a:spAutoFit/>
          </a:bodyPr>
          <a:lstStyle/>
          <a:p>
            <a:pPr algn="l">
              <a:lnSpc>
                <a:spcPct val="110000"/>
              </a:lnSpc>
            </a:pPr>
            <a:r>
              <a:rPr sz="2000" b="0" i="1">
                <a:solidFill>
                  <a:srgbClr val="FFFFFF"/>
                </a:solidFill>
                <a:latin typeface="Instrument Serif"/>
              </a:rPr>
              <a:t>“El dominicano ya entró al mundo prompteado. Solo no lo nombra así.”</a:t>
            </a:r>
          </a:p>
        </p:txBody>
      </p:sp>
      <p:sp>
        <p:nvSpPr>
          <p:cNvPr id="12" name="TextBox 11"/>
          <p:cNvSpPr txBox="1"/>
          <p:nvPr/>
        </p:nvSpPr>
        <p:spPr>
          <a:xfrm>
            <a:off x="609600" y="3911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COMPORTAMIENTO</a:t>
            </a:r>
          </a:p>
        </p:txBody>
      </p:sp>
      <p:sp>
        <p:nvSpPr>
          <p:cNvPr id="13" name="TextBox 12"/>
          <p:cNvSpPr txBox="1"/>
          <p:nvPr/>
        </p:nvSpPr>
        <p:spPr>
          <a:xfrm>
            <a:off x="609600" y="4089400"/>
            <a:ext cx="5418666" cy="3048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IA entró a la economía doméstica como la tercera adulta que la mujer no tenía. Si ella carga 60/40 sin ayuda visible y el marido “ayuda cuando uno le dice”, el prompt aparece como el primer aliado que no necesita ser dirigido — recuerda, anticipa, redacta. Y del lado masculino también entró: papás dominicanos preguntan a la pantalla lo que jamás dijeron en voz alta.</a:t>
            </a:r>
          </a:p>
        </p:txBody>
      </p:sp>
      <p:sp>
        <p:nvSpPr>
          <p:cNvPr id="14" name="TextBox 13"/>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TRIGGERS</a:t>
            </a:r>
          </a:p>
        </p:txBody>
      </p:sp>
      <p:sp>
        <p:nvSpPr>
          <p:cNvPr id="15" name="TextBox 14"/>
          <p:cNvSpPr txBox="1"/>
          <p:nvPr/>
        </p:nvSpPr>
        <p:spPr>
          <a:xfrm>
            <a:off x="6434666" y="1727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“72% usa IA”</a:t>
            </a:r>
          </a:p>
        </p:txBody>
      </p:sp>
      <p:sp>
        <p:nvSpPr>
          <p:cNvPr id="16" name="TextBox 15"/>
          <p:cNvSpPr txBox="1"/>
          <p:nvPr/>
        </p:nvSpPr>
        <p:spPr>
          <a:xfrm>
            <a:off x="6434666" y="2082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9 / 19</a:t>
            </a:r>
          </a:p>
        </p:txBody>
      </p:sp>
      <p:sp>
        <p:nvSpPr>
          <p:cNvPr id="17" name="TextBox 16"/>
          <p:cNvSpPr txBox="1"/>
          <p:nvPr/>
        </p:nvSpPr>
        <p:spPr>
          <a:xfrm>
            <a:off x="6434666" y="2362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RD es “adoptante en acción” en el índice ILIA — 44.96/100 — ranked 9 de 19 países LATAM.</a:t>
            </a:r>
          </a:p>
        </p:txBody>
      </p:sp>
      <p:sp>
        <p:nvSpPr>
          <p:cNvPr id="18" name="TextBox 17"/>
          <p:cNvSpPr txBox="1"/>
          <p:nvPr/>
        </p:nvSpPr>
        <p:spPr>
          <a:xfrm>
            <a:off x="6434666" y="2971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IRIS / CEPAL · 2025</a:t>
            </a:r>
          </a:p>
        </p:txBody>
      </p:sp>
      <p:sp>
        <p:nvSpPr>
          <p:cNvPr id="19" name="TextBox 18"/>
          <p:cNvSpPr txBox="1"/>
          <p:nvPr/>
        </p:nvSpPr>
        <p:spPr>
          <a:xfrm>
            <a:off x="6434666" y="3378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“ChatGPT mom”</a:t>
            </a:r>
          </a:p>
        </p:txBody>
      </p:sp>
      <p:sp>
        <p:nvSpPr>
          <p:cNvPr id="20" name="TextBox 19"/>
          <p:cNvSpPr txBox="1"/>
          <p:nvPr/>
        </p:nvSpPr>
        <p:spPr>
          <a:xfrm>
            <a:off x="6434666" y="3733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52.4%</a:t>
            </a:r>
          </a:p>
        </p:txBody>
      </p:sp>
      <p:sp>
        <p:nvSpPr>
          <p:cNvPr id="21" name="TextBox 20"/>
          <p:cNvSpPr txBox="1"/>
          <p:nvPr/>
        </p:nvSpPr>
        <p:spPr>
          <a:xfrm>
            <a:off x="6434666" y="4013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usuarios activos de ChatGPT en junio 2025 tienen nombres femeninos (vs 17.6% al lanzamiento).</a:t>
            </a:r>
          </a:p>
        </p:txBody>
      </p:sp>
      <p:sp>
        <p:nvSpPr>
          <p:cNvPr id="22" name="TextBox 21"/>
          <p:cNvSpPr txBox="1"/>
          <p:nvPr/>
        </p:nvSpPr>
        <p:spPr>
          <a:xfrm>
            <a:off x="6434666" y="4622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23" name="TextBox 22"/>
          <p:cNvSpPr txBox="1"/>
          <p:nvPr/>
        </p:nvSpPr>
        <p:spPr>
          <a:xfrm>
            <a:off x="6434666" y="5029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“97% mental load”</a:t>
            </a:r>
          </a:p>
        </p:txBody>
      </p:sp>
      <p:sp>
        <p:nvSpPr>
          <p:cNvPr id="24" name="TextBox 23"/>
          <p:cNvSpPr txBox="1"/>
          <p:nvPr/>
        </p:nvSpPr>
        <p:spPr>
          <a:xfrm>
            <a:off x="6434666" y="5384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97%</a:t>
            </a:r>
          </a:p>
        </p:txBody>
      </p:sp>
      <p:sp>
        <p:nvSpPr>
          <p:cNvPr id="25" name="TextBox 24"/>
          <p:cNvSpPr txBox="1"/>
          <p:nvPr/>
        </p:nvSpPr>
        <p:spPr>
          <a:xfrm>
            <a:off x="6434666" y="5664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Lilian Schmidt (Zurich) reduce 97% de su mental load usando ChatGPT — “AI is the third supporter”.</a:t>
            </a:r>
          </a:p>
        </p:txBody>
      </p:sp>
      <p:sp>
        <p:nvSpPr>
          <p:cNvPr id="26" name="TextBox 25"/>
          <p:cNvSpPr txBox="1"/>
          <p:nvPr/>
        </p:nvSpPr>
        <p:spPr>
          <a:xfrm>
            <a:off x="6434666" y="6273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27" name="TextBox 26"/>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PRUEBAS</a:t>
            </a:r>
          </a:p>
        </p:txBody>
      </p:sp>
      <p:sp>
        <p:nvSpPr>
          <p:cNvPr id="28" name="TextBox 27"/>
          <p:cNvSpPr txBox="1"/>
          <p:nvPr/>
        </p:nvSpPr>
        <p:spPr>
          <a:xfrm>
            <a:off x="12259733" y="1727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29" name="Picture 28" descr="macro-2-1-tiktok-nina-chatgpt-tarea-redunotv.png">
            <a:hlinkClick r:id="rId3"/>
          </p:cNvPr>
          <p:cNvPicPr>
            <a:picLocks noChangeAspect="1"/>
          </p:cNvPicPr>
          <p:nvPr/>
        </p:nvPicPr>
        <p:blipFill>
          <a:blip r:embed="rId2"/>
          <a:stretch>
            <a:fillRect/>
          </a:stretch>
        </p:blipFill>
        <p:spPr>
          <a:xfrm>
            <a:off x="12259733" y="1930400"/>
            <a:ext cx="1892300" cy="2794000"/>
          </a:xfrm>
          <a:prstGeom prst="rect">
            <a:avLst/>
          </a:prstGeom>
        </p:spPr>
      </p:pic>
      <p:sp>
        <p:nvSpPr>
          <p:cNvPr id="30" name="Rectangle 29"/>
          <p:cNvSpPr/>
          <p:nvPr/>
        </p:nvSpPr>
        <p:spPr>
          <a:xfrm>
            <a:off x="13542433" y="1828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1" name="TextBox 30"/>
          <p:cNvSpPr txBox="1"/>
          <p:nvPr/>
        </p:nvSpPr>
        <p:spPr>
          <a:xfrm>
            <a:off x="12259733" y="4826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Red Uno Bolivia — niña pide a ChatGPT que haga su tarea “como si fuera yo”. El prompt entró al pupitre LATAM.</a:t>
            </a:r>
          </a:p>
        </p:txBody>
      </p:sp>
      <p:sp>
        <p:nvSpPr>
          <p:cNvPr id="32" name="TextBox 31"/>
          <p:cNvSpPr txBox="1"/>
          <p:nvPr/>
        </p:nvSpPr>
        <p:spPr>
          <a:xfrm>
            <a:off x="12259733" y="5537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@REDUNOTV · 2025</a:t>
            </a:r>
          </a:p>
        </p:txBody>
      </p:sp>
      <p:sp>
        <p:nvSpPr>
          <p:cNvPr id="33" name="TextBox 32"/>
          <p:cNvSpPr txBox="1"/>
          <p:nvPr/>
        </p:nvSpPr>
        <p:spPr>
          <a:xfrm>
            <a:off x="12259733" y="5842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sp>
        <p:nvSpPr>
          <p:cNvPr id="34" name="TextBox 33"/>
          <p:cNvSpPr txBox="1"/>
          <p:nvPr/>
        </p:nvSpPr>
        <p:spPr>
          <a:xfrm>
            <a:off x="12259733" y="6019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Axios — la IA mainstream se hizo herramienta de mamá antes que de oficinista. Curva de feminización más limpia de la era reciente.</a:t>
            </a:r>
          </a:p>
        </p:txBody>
      </p:sp>
      <p:sp>
        <p:nvSpPr>
          <p:cNvPr id="35" name="TextBox 34"/>
          <p:cNvSpPr txBox="1"/>
          <p:nvPr/>
        </p:nvSpPr>
        <p:spPr>
          <a:xfrm>
            <a:off x="12259733" y="6629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36" name="TextBox 35"/>
          <p:cNvSpPr txBox="1"/>
          <p:nvPr/>
        </p:nvSpPr>
        <p:spPr>
          <a:xfrm>
            <a:off x="12259733" y="6858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sp>
        <p:nvSpPr>
          <p:cNvPr id="37" name="TextBox 36"/>
          <p:cNvSpPr txBox="1"/>
          <p:nvPr/>
        </p:nvSpPr>
        <p:spPr>
          <a:xfrm>
            <a:off x="12259733" y="7035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Mother.ly — Lilian Schmidt y la IA como “third supporter” de la familia. Caso editorial que las marcas IA todavía no convirtieron en campaña.</a:t>
            </a:r>
          </a:p>
        </p:txBody>
      </p:sp>
      <p:sp>
        <p:nvSpPr>
          <p:cNvPr id="38" name="TextBox 37"/>
          <p:cNvSpPr txBox="1"/>
          <p:nvPr/>
        </p:nvSpPr>
        <p:spPr>
          <a:xfrm>
            <a:off x="12259733" y="7645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2.1</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CHATGPT, MI SEGUNDA ADULTA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coadulta que el matrimonio no produjo, la entregó OpenAI.”</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mujer dominicana le delegó al prompt lo que su esposo no acaba de cargar. Menú semanal con presupuesto RD$5,000. Lista de útiles. Mensaje a la maestra sin tono acusatorio. Regalo de la sobrina. El prompt no se ofende cuando se le repite, no olvida cumpleaños. Para junio 2025 más de la mitad de los usuarios activos de ChatGPT ya tenían nombres femeninos. AI is the third supporter.</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#chatgptmom · #aimomhack · #mentalloadhack · #promptdemama · #mividaconchatgpt</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9600" b="0" i="0">
                <a:solidFill>
                  <a:srgbClr val="FFFFFF"/>
                </a:solidFill>
                <a:latin typeface="Instrument Serif"/>
              </a:rPr>
              <a:t>52.4%</a:t>
            </a:r>
          </a:p>
        </p:txBody>
      </p:sp>
      <p:sp>
        <p:nvSpPr>
          <p:cNvPr id="19" name="TextBox 18"/>
          <p:cNvSpPr txBox="1"/>
          <p:nvPr/>
        </p:nvSpPr>
        <p:spPr>
          <a:xfrm>
            <a:off x="6434666" y="30480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usuarios activos de ChatGPT con nombres femeninos en junio 2025 (vs 17.6% al lanzamiento).</a:t>
            </a:r>
          </a:p>
        </p:txBody>
      </p:sp>
      <p:sp>
        <p:nvSpPr>
          <p:cNvPr id="20" name="TextBox 19"/>
          <p:cNvSpPr txBox="1"/>
          <p:nvPr/>
        </p:nvSpPr>
        <p:spPr>
          <a:xfrm>
            <a:off x="6434666" y="3556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21" name="TextBox 20"/>
          <p:cNvSpPr txBox="1"/>
          <p:nvPr/>
        </p:nvSpPr>
        <p:spPr>
          <a:xfrm>
            <a:off x="6434666" y="3810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“chatgpt mom”</a:t>
            </a:r>
          </a:p>
        </p:txBody>
      </p:sp>
      <p:sp>
        <p:nvSpPr>
          <p:cNvPr id="22" name="TextBox 21"/>
          <p:cNvSpPr txBox="1"/>
          <p:nvPr/>
        </p:nvSpPr>
        <p:spPr>
          <a:xfrm>
            <a:off x="6434666" y="4165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52.4%</a:t>
            </a:r>
          </a:p>
        </p:txBody>
      </p:sp>
      <p:sp>
        <p:nvSpPr>
          <p:cNvPr id="23" name="TextBox 22"/>
          <p:cNvSpPr txBox="1"/>
          <p:nvPr/>
        </p:nvSpPr>
        <p:spPr>
          <a:xfrm>
            <a:off x="6434666" y="4445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usuarios activos con nombres femeninos en junio 2025. La IA mainstream se feminizó.</a:t>
            </a:r>
          </a:p>
        </p:txBody>
      </p:sp>
      <p:sp>
        <p:nvSpPr>
          <p:cNvPr id="24" name="TextBox 23"/>
          <p:cNvSpPr txBox="1"/>
          <p:nvPr/>
        </p:nvSpPr>
        <p:spPr>
          <a:xfrm>
            <a:off x="6434666" y="5054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25" name="TextBox 24"/>
          <p:cNvSpPr txBox="1"/>
          <p:nvPr/>
        </p:nvSpPr>
        <p:spPr>
          <a:xfrm>
            <a:off x="6434666" y="53594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“third supporter”</a:t>
            </a:r>
          </a:p>
        </p:txBody>
      </p:sp>
      <p:sp>
        <p:nvSpPr>
          <p:cNvPr id="26" name="TextBox 25"/>
          <p:cNvSpPr txBox="1"/>
          <p:nvPr/>
        </p:nvSpPr>
        <p:spPr>
          <a:xfrm>
            <a:off x="6434666" y="57150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97%</a:t>
            </a:r>
          </a:p>
        </p:txBody>
      </p:sp>
      <p:sp>
        <p:nvSpPr>
          <p:cNvPr id="27" name="TextBox 26"/>
          <p:cNvSpPr txBox="1"/>
          <p:nvPr/>
        </p:nvSpPr>
        <p:spPr>
          <a:xfrm>
            <a:off x="6434666" y="59944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Lilian Schmidt reduce 97% de mental load con ChatGPT: comidas, regalos, rutinas.</a:t>
            </a:r>
          </a:p>
        </p:txBody>
      </p:sp>
      <p:sp>
        <p:nvSpPr>
          <p:cNvPr id="28" name="TextBox 27"/>
          <p:cNvSpPr txBox="1"/>
          <p:nvPr/>
        </p:nvSpPr>
        <p:spPr>
          <a:xfrm>
            <a:off x="6434666" y="6604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29" name="TextBox 28"/>
          <p:cNvSpPr txBox="1"/>
          <p:nvPr/>
        </p:nvSpPr>
        <p:spPr>
          <a:xfrm>
            <a:off x="6434666" y="69088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“ya es mamá”</a:t>
            </a:r>
          </a:p>
        </p:txBody>
      </p:sp>
      <p:sp>
        <p:nvSpPr>
          <p:cNvPr id="30" name="TextBox 29"/>
          <p:cNvSpPr txBox="1"/>
          <p:nvPr/>
        </p:nvSpPr>
        <p:spPr>
          <a:xfrm>
            <a:off x="6434666" y="72644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5438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Merca 2.0, Independent Español, Infobae cubren “madre viral por usar ChatGPT para criar”.</a:t>
            </a:r>
          </a:p>
        </p:txBody>
      </p:sp>
      <p:sp>
        <p:nvSpPr>
          <p:cNvPr id="32" name="TextBox 31"/>
          <p:cNvSpPr txBox="1"/>
          <p:nvPr/>
        </p:nvSpPr>
        <p:spPr>
          <a:xfrm>
            <a:off x="6434666" y="8153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MERCA 2.0 / INDEPENDENT · 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2-1-tiktok-nina-chatgpt-tarea-redunotv.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Red Uno Bolivia — niña delega tarea a ChatGPT, mamá observa, suegra ya no opina. Adopción IA en hogar LATAM.</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@REDUNOTV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2-1-axios-chatgpt-feminizado.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Axios — 52.4% vs 17.6%. La curva de feminización más limpia de la era reciente.</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2-1-merca20-chatgpt-mama.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Merca 2.0 — “ChatGPT ya es mamá”. Caso editorial hispano listo para referenciar; las marcas IA todavía no nombran a este segmento.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MERCA 2.0 ·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2.2</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LA PELEA QUE CHATGPT REESCRIBIÓ</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“Antes del WhatsApp acusatorio, una pasada por el prompt.”</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Antes de mandarle el mensaje difícil al marido, ella le pide a ChatGPT que “lo diga sin sonar agresiva”. El prompt se volvió filtro de pareja. Ya no se tira el texto en caliente; se pasa primero por una IA que suaviza, ordena y borra los signos de exclamación. La mediación se privatizó y se automatizó. La pelea entra con la voz de ella y sale con la voz del prompt.</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#promptparapareja · #chatgptcouples · #reescribelo · #aitherapist · #mediadoraIA</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47%</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usuarios fuertes de IA se sienten más confiados al usarla en momentos de inseguridad para decidir.</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ACCENTURE · 2025-10</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“filtro de pareja”</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47%</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usuarios fuertes de IA más confiados al usarla en momentos de inseguridad para decidir.</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ACCENTURE · 2025-10</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“eye-opening”</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Newsweek + Mother.ly: mamá overwhelmed encuentra “eye-opening solution” en ChatGPT como mediador.</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NEWSWEEK · 2025</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“mom hack”</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52.4%</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usuarios ChatGPT con nombres femeninos. Uso emocional crece en paralelo al doméstico.</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2-1-tiktok-nina-chatgpt-tarea-redunotv.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Red Uno Bolivia — el LLM entra como tercero en relaciones que antes eran cara a cara.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@REDUNOTV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2-1-newsweek-mom-mental-load.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Newsweek — mom overwhelmed mental load encuentra “eye-opening solution”. Caso editorial que valida frame mediación-IA.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NEWSWEEK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2-1-independent-mom-chatgpt.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Independent Español — madre viral por pedir ayuda a ChatGPT para criar. Cobertura hispana, no se siente importado.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INDEPENDENT ESPAÑOL · 2025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2.3</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EL CRONOGRAMA QUE NADIE FIRMÓ</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“El acuerdo de equidad lo emitió un LLM, no la pareja.”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ChatGPT le genera al hombre el cronograma de tareas equitativas que la mujer venía pidiendo hace años. Cuando lo pide ella, suena a reclamo. Cuando lo escribe el LLM, suena a hoja de Excel. La pareja se sienta con el prompt y le dice “divídenos las tareas según tiempo libre real, no según género”. Imprimen el output. Lo pegan en la nevera. La autoridad del cronograma viene de afuera.</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#choreschedule · #contratomatrimonio · #cronogramadetareas · #aiarbitro · #dividirporIA</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47%</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usuarios fuertes de IA se sienten más confiados al usarla en momentos de inseguridad para decidir.</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ACCENTURE · 2025-10</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“árbitro IA”</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47%</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más confianza al usar IA en decisiones difíciles. La autoridad neutral que la pareja no encuentra adentro.</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ACCENTURE · 2025-10</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“default parent”</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viral 2025</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Default Parent Syndrome generó demanda explícita de soluciones estructuradas para equidad doméstica.</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“roles negociados”</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FG-04</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“Yo quiero definir unos roles para a veces aligerar la carga” — Código Casa confirma demanda local.</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2024</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2-0-motherly-ai-mental-load.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Mother.ly — Lilian Schmidt y la IA que estructura la operación doméstica completa. Caso modelo del cronograma firmado por el LLM.</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2-1-axios-chatgpt-feminizado.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Axios — feminización ChatGPT. Indicador estructural de quién está mandando los prompts de organización doméstica.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2-1-merca20-chatgpt-mama.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Merca 2.0 — ChatGPT como mamá. Frame editorial que pavimenta audiencia para “operating system familiar”.</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MERCA 2.0 · 2025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2.4</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LA TÍA QUE NO TIENE: CHATGPT CRIANDO</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red familiar se mudó. El prompt no.”</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mujer dominicana que migró del barrio, vive en SD a 40 minutos de su mamá y no tiene tía a la mano, le pregunta a ChatGPT lo que antes le preguntaba a la comadre. El hogar pasó de 4–5 personas (2005) a 2–3 (2022). La red intergeneracional se desarmó sin reemplazo. La IA llegó a ocupar la silla de la tía que ya no vive cerca. No con cariño. Con respuesta inmediata a las 11pm.</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#mamasinred · #mividaenchatgpt · #parentingsolo · #aigrandma · #nuevocomadrazgo</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4–5 → 2–3</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personas en el hogar dominicano (2005 → 2022). La red intergeneracional ya no convive.</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ENHOGAR</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“hogar encogido”</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4–5 → 2–3</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personas por hogar RD (2005 → 2022). La comadre real ya no vive en la casa.</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ENHOGAR</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“third supporter”</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97%</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Lilian Schmidt reduce 97% mental load con ChatGPT como “tercera adulta”.</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“chatgpt mamá”</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Merca 2.0 + Independent Español documentan adopción hispana del frame “mamá viral por usar IA para criar”.</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MERCA 2.0 / INDEPENDENT · 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2-1-tiktok-nina-chatgpt-tarea-redunotv.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Red Uno Bolivia — visualiza el hueco que llena el prompt en hogares sin red.</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@REDUNOTV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2-1-independent-mom-chatgpt.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Independent Español — madre viral ChatGPT. Sustitución de red familiar por LLM con cobertura editorial hispana.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INDEPENDENT ESPAÑOL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2-1-merca20-chatgpt-mama.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Merca 2.0 — “ChatGPT ya es mamá”. Frame listo para retail infantil, telemedicina pediátrica, edtech.</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MERCA 2.0 · 2025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2 | HERNÁNDEZ PROMPTED</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2.5</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EL PAPÁ QUE ANTES NO PREGUNTABA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pantalla es el primer lugar donde admite que no sabe.”</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El hombre dominicano que nunca preguntó cómo educar a un hijo le pregunta a ChatGPT sin que su esposa se entere. La pantalla es el primer espacio donde puede decir “no sé” sin perder cara. Pregunta cómo hablar de sexualidad con un hijo de 11. Cómo apoyar a una hija con su primer período. Y mientras él pregunta en privado, Quique Rosas (Mx, 1.2M) modela paternidad activa en público.</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#padreprompted · #papápresente · #nuevapaternidad · #dadchatgpt · #manualpapas</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50%</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hombres jóvenes confía en al menos un influencer manosphere. La brecha de fuentes confiables.</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EQUIMUNDO / 19TH NEWS · 2025</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“no sé sin testigo”</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masculinidad RD vive crisis de información paterna — el hombre tradicionalmente no consulta ni admite vulnerabilidad.</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CÓDIGO CASA + VARGAS · 2024</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“manosphere first”</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~50%</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hombres jóvenes confía en al menos un influencer manosphere — brecha de fuentes confiables.</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19TH NEWS · 2025-06</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“dadtok hispano”</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1.2M</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followers de Quique Rosas — “Aprendiendo a ser papá”, modelo público hispano de paternidad activa.</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@SOYQUIQUEROSAS · 2023-2024</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2-5-tiktok-quique-aprendiendo-papa.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Quique Rosas — “Aprendiendo a ser papá”. 1.2M followers. El modelo hispano público de paternidad activa.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@SOYQUIQUEROSAS · 2023</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2-0-motherly-ai-mental-load.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Mother.ly — la IA como third supporter. Aplica también del lado del papá que aprende sin testigos.</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MOTHER.LY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2-1-axios-chatgpt-feminizado.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Axios — feminización ChatGPT. El papá callado está dentro del 47% restante, aprendiendo sin contarle a nadie.</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AXIOS · 2025-09-30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016000"/>
          </a:xfrm>
          <a:prstGeom prst="rect">
            <a:avLst/>
          </a:prstGeom>
          <a:noFill/>
        </p:spPr>
        <p:txBody>
          <a:bodyPr wrap="square" lIns="0" rIns="0" tIns="0" bIns="0" anchor="t">
            <a:spAutoFit/>
          </a:bodyPr>
          <a:lstStyle/>
          <a:p>
            <a:pPr algn="l">
              <a:lnSpc>
                <a:spcPct val="95000"/>
              </a:lnSpc>
            </a:pPr>
            <a:r>
              <a:rPr sz="4400" b="0" i="0">
                <a:solidFill>
                  <a:srgbClr val="FFFFFF"/>
                </a:solidFill>
                <a:latin typeface="Instrument Serif"/>
              </a:rPr>
              <a:t>ALGORITMO DEL HOGAR</a:t>
            </a:r>
          </a:p>
        </p:txBody>
      </p:sp>
      <p:sp>
        <p:nvSpPr>
          <p:cNvPr id="11" name="TextBox 10"/>
          <p:cNvSpPr txBox="1"/>
          <p:nvPr/>
        </p:nvSpPr>
        <p:spPr>
          <a:xfrm>
            <a:off x="609600" y="2895600"/>
            <a:ext cx="5418666" cy="1016000"/>
          </a:xfrm>
          <a:prstGeom prst="rect">
            <a:avLst/>
          </a:prstGeom>
          <a:noFill/>
        </p:spPr>
        <p:txBody>
          <a:bodyPr wrap="square" lIns="0" rIns="0" tIns="0" bIns="0" anchor="t">
            <a:spAutoFit/>
          </a:bodyPr>
          <a:lstStyle/>
          <a:p>
            <a:pPr algn="l">
              <a:lnSpc>
                <a:spcPct val="110000"/>
              </a:lnSpc>
            </a:pPr>
            <a:r>
              <a:rPr sz="2000" b="0" i="1">
                <a:solidFill>
                  <a:srgbClr val="FFFFFF"/>
                </a:solidFill>
                <a:latin typeface="Instrument Serif"/>
              </a:rPr>
              <a:t>“El feed se sentó en la mesa y nadie le ofreció silla.”</a:t>
            </a:r>
          </a:p>
        </p:txBody>
      </p:sp>
      <p:sp>
        <p:nvSpPr>
          <p:cNvPr id="12" name="TextBox 11"/>
          <p:cNvSpPr txBox="1"/>
          <p:nvPr/>
        </p:nvSpPr>
        <p:spPr>
          <a:xfrm>
            <a:off x="609600" y="3911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COMPORTAMIENTO</a:t>
            </a:r>
          </a:p>
        </p:txBody>
      </p:sp>
      <p:sp>
        <p:nvSpPr>
          <p:cNvPr id="13" name="TextBox 12"/>
          <p:cNvSpPr txBox="1"/>
          <p:nvPr/>
        </p:nvSpPr>
        <p:spPr>
          <a:xfrm>
            <a:off x="609600" y="4089400"/>
            <a:ext cx="5418666" cy="3048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 misma casa dominicana ve dos feeds distintos. Ella: clean girl, tradwife evangélica, momfluencer. Él: Andrew Tate doblado al español, “high value males”, manosphere. Ambos algoritmos venden el rol tradicional como producto premium — uno como estética aspiracional, otro como reclamo identitario. El conflicto de género de 2026 no es marido vs mujer. Es algoritmo de ella vs algoritmo de él.</a:t>
            </a:r>
          </a:p>
        </p:txBody>
      </p:sp>
      <p:sp>
        <p:nvSpPr>
          <p:cNvPr id="14" name="TextBox 13"/>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TRIGGERS</a:t>
            </a:r>
          </a:p>
        </p:txBody>
      </p:sp>
      <p:sp>
        <p:nvSpPr>
          <p:cNvPr id="15" name="TextBox 14"/>
          <p:cNvSpPr txBox="1"/>
          <p:nvPr/>
        </p:nvSpPr>
        <p:spPr>
          <a:xfrm>
            <a:off x="6434666" y="1727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“4x misoginia”</a:t>
            </a:r>
          </a:p>
        </p:txBody>
      </p:sp>
      <p:sp>
        <p:nvSpPr>
          <p:cNvPr id="16" name="TextBox 15"/>
          <p:cNvSpPr txBox="1"/>
          <p:nvPr/>
        </p:nvSpPr>
        <p:spPr>
          <a:xfrm>
            <a:off x="6434666" y="2082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a:t>
            </a:r>
          </a:p>
        </p:txBody>
      </p:sp>
      <p:sp>
        <p:nvSpPr>
          <p:cNvPr id="17" name="TextBox 16"/>
          <p:cNvSpPr txBox="1"/>
          <p:nvPr/>
        </p:nvSpPr>
        <p:spPr>
          <a:xfrm>
            <a:off x="6434666" y="2362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aumento en contenido misógino sugerido por TikTok a perfiles jóvenes masculinos en solo 5 días.</a:t>
            </a:r>
          </a:p>
        </p:txBody>
      </p:sp>
      <p:sp>
        <p:nvSpPr>
          <p:cNvPr id="18" name="TextBox 17"/>
          <p:cNvSpPr txBox="1"/>
          <p:nvPr/>
        </p:nvSpPr>
        <p:spPr>
          <a:xfrm>
            <a:off x="6434666" y="2971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NACIONAL · 2025</a:t>
            </a:r>
          </a:p>
        </p:txBody>
      </p:sp>
      <p:sp>
        <p:nvSpPr>
          <p:cNvPr id="19" name="TextBox 18"/>
          <p:cNvSpPr txBox="1"/>
          <p:nvPr/>
        </p:nvSpPr>
        <p:spPr>
          <a:xfrm>
            <a:off x="6434666" y="3378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“tradwife LATAM”</a:t>
            </a:r>
          </a:p>
        </p:txBody>
      </p:sp>
      <p:sp>
        <p:nvSpPr>
          <p:cNvPr id="20" name="TextBox 19"/>
          <p:cNvSpPr txBox="1"/>
          <p:nvPr/>
        </p:nvSpPr>
        <p:spPr>
          <a:xfrm>
            <a:off x="6434666" y="3733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50%</a:t>
            </a:r>
          </a:p>
        </p:txBody>
      </p:sp>
      <p:sp>
        <p:nvSpPr>
          <p:cNvPr id="21" name="TextBox 20"/>
          <p:cNvSpPr txBox="1"/>
          <p:nvPr/>
        </p:nvSpPr>
        <p:spPr>
          <a:xfrm>
            <a:off x="6434666" y="4013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hombres jóvenes confía en al menos un influencer manosphere — Equimundo State of American Men.</a:t>
            </a:r>
          </a:p>
        </p:txBody>
      </p:sp>
      <p:sp>
        <p:nvSpPr>
          <p:cNvPr id="22" name="TextBox 21"/>
          <p:cNvSpPr txBox="1"/>
          <p:nvPr/>
        </p:nvSpPr>
        <p:spPr>
          <a:xfrm>
            <a:off x="6434666" y="4622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19TH NEWS · 2025-06</a:t>
            </a:r>
          </a:p>
        </p:txBody>
      </p:sp>
      <p:sp>
        <p:nvSpPr>
          <p:cNvPr id="23" name="TextBox 22"/>
          <p:cNvSpPr txBox="1"/>
          <p:nvPr/>
        </p:nvSpPr>
        <p:spPr>
          <a:xfrm>
            <a:off x="6434666" y="5029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“DadTok hispano”</a:t>
            </a:r>
          </a:p>
        </p:txBody>
      </p:sp>
      <p:sp>
        <p:nvSpPr>
          <p:cNvPr id="24" name="TextBox 23"/>
          <p:cNvSpPr txBox="1"/>
          <p:nvPr/>
        </p:nvSpPr>
        <p:spPr>
          <a:xfrm>
            <a:off x="6434666" y="5384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+3.8M</a:t>
            </a:r>
          </a:p>
        </p:txBody>
      </p:sp>
      <p:sp>
        <p:nvSpPr>
          <p:cNvPr id="25" name="TextBox 24"/>
          <p:cNvSpPr txBox="1"/>
          <p:nvPr/>
        </p:nvSpPr>
        <p:spPr>
          <a:xfrm>
            <a:off x="6434666" y="5664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views — #TribuDePapas, 10 cuentas mexicanas de papás viralizando tareas domésticas.</a:t>
            </a:r>
          </a:p>
        </p:txBody>
      </p:sp>
      <p:sp>
        <p:nvSpPr>
          <p:cNvPr id="26" name="TextBox 25"/>
          <p:cNvSpPr txBox="1"/>
          <p:nvPr/>
        </p:nvSpPr>
        <p:spPr>
          <a:xfrm>
            <a:off x="6434666" y="6273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UNIVISION · 2024</a:t>
            </a:r>
          </a:p>
        </p:txBody>
      </p:sp>
      <p:sp>
        <p:nvSpPr>
          <p:cNvPr id="27" name="TextBox 26"/>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3 PRUEBAS</a:t>
            </a:r>
          </a:p>
        </p:txBody>
      </p:sp>
      <p:sp>
        <p:nvSpPr>
          <p:cNvPr id="28" name="TextBox 27"/>
          <p:cNvSpPr txBox="1"/>
          <p:nvPr/>
        </p:nvSpPr>
        <p:spPr>
          <a:xfrm>
            <a:off x="12259733" y="1727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29" name="Picture 28" descr="macro-3-2-tiktok-andrew-tate-espanol.png">
            <a:hlinkClick r:id="rId3"/>
          </p:cNvPr>
          <p:cNvPicPr>
            <a:picLocks noChangeAspect="1"/>
          </p:cNvPicPr>
          <p:nvPr/>
        </p:nvPicPr>
        <p:blipFill>
          <a:blip r:embed="rId2"/>
          <a:stretch>
            <a:fillRect/>
          </a:stretch>
        </p:blipFill>
        <p:spPr>
          <a:xfrm>
            <a:off x="12259733" y="1930400"/>
            <a:ext cx="1892300" cy="2794000"/>
          </a:xfrm>
          <a:prstGeom prst="rect">
            <a:avLst/>
          </a:prstGeom>
        </p:spPr>
      </p:pic>
      <p:sp>
        <p:nvSpPr>
          <p:cNvPr id="30" name="Rectangle 29"/>
          <p:cNvSpPr/>
          <p:nvPr/>
        </p:nvSpPr>
        <p:spPr>
          <a:xfrm>
            <a:off x="13542433" y="1828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1" name="TextBox 30"/>
          <p:cNvSpPr txBox="1"/>
          <p:nvPr/>
        </p:nvSpPr>
        <p:spPr>
          <a:xfrm>
            <a:off x="12259733" y="4826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Andrew Tate doblado al español (@highvaluemales). El manosphere entró al feed hispano joven sin barrera de idioma.</a:t>
            </a:r>
          </a:p>
        </p:txBody>
      </p:sp>
      <p:sp>
        <p:nvSpPr>
          <p:cNvPr id="32" name="TextBox 31"/>
          <p:cNvSpPr txBox="1"/>
          <p:nvPr/>
        </p:nvSpPr>
        <p:spPr>
          <a:xfrm>
            <a:off x="12259733" y="5537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@HIGHVALUEMALES · 2022-2025</a:t>
            </a:r>
          </a:p>
        </p:txBody>
      </p:sp>
      <p:sp>
        <p:nvSpPr>
          <p:cNvPr id="33" name="TextBox 32"/>
          <p:cNvSpPr txBox="1"/>
          <p:nvPr/>
        </p:nvSpPr>
        <p:spPr>
          <a:xfrm>
            <a:off x="12259733" y="5842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sp>
        <p:nvSpPr>
          <p:cNvPr id="34" name="TextBox 33"/>
          <p:cNvSpPr txBox="1"/>
          <p:nvPr/>
        </p:nvSpPr>
        <p:spPr>
          <a:xfrm>
            <a:off x="12259733" y="6019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The 19th — “Algoritmos, alpha males y tradwives”: el feed polariza a la pareja desde adentro del mismo hogar.</a:t>
            </a:r>
          </a:p>
        </p:txBody>
      </p:sp>
      <p:sp>
        <p:nvSpPr>
          <p:cNvPr id="35" name="TextBox 34"/>
          <p:cNvSpPr txBox="1"/>
          <p:nvPr/>
        </p:nvSpPr>
        <p:spPr>
          <a:xfrm>
            <a:off x="12259733" y="6629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THE 19TH · 2025-06</a:t>
            </a:r>
          </a:p>
        </p:txBody>
      </p:sp>
      <p:sp>
        <p:nvSpPr>
          <p:cNvPr id="36" name="TextBox 35"/>
          <p:cNvSpPr txBox="1"/>
          <p:nvPr/>
        </p:nvSpPr>
        <p:spPr>
          <a:xfrm>
            <a:off x="12259733" y="68580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sp>
        <p:nvSpPr>
          <p:cNvPr id="37" name="TextBox 36"/>
          <p:cNvSpPr txBox="1"/>
          <p:nvPr/>
        </p:nvSpPr>
        <p:spPr>
          <a:xfrm>
            <a:off x="12259733" y="70358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Univision — #TribuDePapas. Cluster mexicano de papás que viralizan tareas. Contrapunto hispano al manosphere.</a:t>
            </a:r>
          </a:p>
        </p:txBody>
      </p:sp>
      <p:sp>
        <p:nvSpPr>
          <p:cNvPr id="38" name="TextBox 37"/>
          <p:cNvSpPr txBox="1"/>
          <p:nvPr/>
        </p:nvSpPr>
        <p:spPr>
          <a:xfrm>
            <a:off x="12259733" y="7645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UNIVISION · 2024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3.1</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TRADWIFE CON SAZÓN EVANGÉLICA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mujer dominicana no se llama tradwife. Se llama esposa virtuosa.”</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El frame tradwife llegó a Hispanoamérica, pero RD no lo importó con su nombre original. Lo cristianizó. Lo que en TikTok anglo se llama tradwife — mujer que cocina desde cero, sumisión bíblica, marido proveedor — en feed hispano se llama “esposa virtuosa”, “mujer Proverbios 31”, “ama de casa con clase”. La rebeldía del 2026 contra el feminismo cansado no se viste con ropa de los 50 — se viste con cita bíblica.</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#esposavirtuosa · #mujerproverbios31 · #stayathomewife · #esposacristiana · #tradwife</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9600" b="0" i="0">
                <a:solidFill>
                  <a:srgbClr val="FFFFFF"/>
                </a:solidFill>
                <a:latin typeface="Instrument Serif"/>
              </a:rPr>
              <a:t>RoRo + Omi</a:t>
            </a:r>
          </a:p>
        </p:txBody>
      </p:sp>
      <p:sp>
        <p:nvSpPr>
          <p:cNvPr id="19" name="TextBox 18"/>
          <p:cNvSpPr txBox="1"/>
          <p:nvPr/>
        </p:nvSpPr>
        <p:spPr>
          <a:xfrm>
            <a:off x="6434666" y="30480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Las dos caras hispanas del frame tradwife — España secular y evangélica panamericana. Sin nombrarlo así.</a:t>
            </a:r>
          </a:p>
        </p:txBody>
      </p:sp>
      <p:sp>
        <p:nvSpPr>
          <p:cNvPr id="20" name="TextBox 19"/>
          <p:cNvSpPr txBox="1"/>
          <p:nvPr/>
        </p:nvSpPr>
        <p:spPr>
          <a:xfrm>
            <a:off x="6434666" y="3556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 2024-2025</a:t>
            </a:r>
          </a:p>
        </p:txBody>
      </p:sp>
      <p:sp>
        <p:nvSpPr>
          <p:cNvPr id="21" name="TextBox 20"/>
          <p:cNvSpPr txBox="1"/>
          <p:nvPr/>
        </p:nvSpPr>
        <p:spPr>
          <a:xfrm>
            <a:off x="6434666" y="3810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“esposa virtuosa”</a:t>
            </a:r>
          </a:p>
        </p:txBody>
      </p:sp>
      <p:sp>
        <p:nvSpPr>
          <p:cNvPr id="22" name="TextBox 21"/>
          <p:cNvSpPr txBox="1"/>
          <p:nvPr/>
        </p:nvSpPr>
        <p:spPr>
          <a:xfrm>
            <a:off x="6434666" y="4165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Prov 31:10</a:t>
            </a:r>
          </a:p>
        </p:txBody>
      </p:sp>
      <p:sp>
        <p:nvSpPr>
          <p:cNvPr id="23" name="TextBox 22"/>
          <p:cNvSpPr txBox="1"/>
          <p:nvPr/>
        </p:nvSpPr>
        <p:spPr>
          <a:xfrm>
            <a:off x="6434666" y="4445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@disciple_omi y @soy.valioso predican el rol esposa con cita bíblica — currículum oculto evangélico.</a:t>
            </a:r>
          </a:p>
        </p:txBody>
      </p:sp>
      <p:sp>
        <p:nvSpPr>
          <p:cNvPr id="24" name="TextBox 23"/>
          <p:cNvSpPr txBox="1"/>
          <p:nvPr/>
        </p:nvSpPr>
        <p:spPr>
          <a:xfrm>
            <a:off x="6434666" y="5054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 2024-2025</a:t>
            </a:r>
          </a:p>
        </p:txBody>
      </p:sp>
      <p:sp>
        <p:nvSpPr>
          <p:cNvPr id="25" name="TextBox 24"/>
          <p:cNvSpPr txBox="1"/>
          <p:nvPr/>
        </p:nvSpPr>
        <p:spPr>
          <a:xfrm>
            <a:off x="6434666" y="53594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“faith family femininity”</a:t>
            </a:r>
          </a:p>
        </p:txBody>
      </p:sp>
      <p:sp>
        <p:nvSpPr>
          <p:cNvPr id="26" name="TextBox 25"/>
          <p:cNvSpPr txBox="1"/>
          <p:nvPr/>
        </p:nvSpPr>
        <p:spPr>
          <a:xfrm>
            <a:off x="6434666" y="57150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27" name="TextBox 26"/>
          <p:cNvSpPr txBox="1"/>
          <p:nvPr/>
        </p:nvSpPr>
        <p:spPr>
          <a:xfrm>
            <a:off x="6434666" y="59944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Boldlatina: Latina tradwives redefinen debate de roles con conexión evangélica/católica explícita.</a:t>
            </a:r>
          </a:p>
        </p:txBody>
      </p:sp>
      <p:sp>
        <p:nvSpPr>
          <p:cNvPr id="28" name="TextBox 27"/>
          <p:cNvSpPr txBox="1"/>
          <p:nvPr/>
        </p:nvSpPr>
        <p:spPr>
          <a:xfrm>
            <a:off x="6434666" y="6604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BOLDLATINA · 2024-2025</a:t>
            </a:r>
          </a:p>
        </p:txBody>
      </p:sp>
      <p:sp>
        <p:nvSpPr>
          <p:cNvPr id="29" name="TextBox 28"/>
          <p:cNvSpPr txBox="1"/>
          <p:nvPr/>
        </p:nvSpPr>
        <p:spPr>
          <a:xfrm>
            <a:off x="6434666" y="69088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“neoliberal choice”</a:t>
            </a:r>
          </a:p>
        </p:txBody>
      </p:sp>
      <p:sp>
        <p:nvSpPr>
          <p:cNvPr id="30" name="TextBox 29"/>
          <p:cNvSpPr txBox="1"/>
          <p:nvPr/>
        </p:nvSpPr>
        <p:spPr>
          <a:xfrm>
            <a:off x="6434666" y="72644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5438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Bloomberg Línea: tradwife en LATAM articulado con lógica neoliberal de “libre elección”.</a:t>
            </a:r>
          </a:p>
        </p:txBody>
      </p:sp>
      <p:sp>
        <p:nvSpPr>
          <p:cNvPr id="32" name="TextBox 31"/>
          <p:cNvSpPr txBox="1"/>
          <p:nvPr/>
        </p:nvSpPr>
        <p:spPr>
          <a:xfrm>
            <a:off x="6434666" y="8153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BLOOMBERG LÍNEA · 2024-2025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1-tiktok-mujer-virtuosa-disciple-omi.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@disciple_omi — “El valor de una esposa virtuosa según Proverbios 31:10-12”. Currículum oculto evangélico en español.</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@DISCIPLE_OMI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3-1-tiktok-roro-tradwife.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El Mundo — RoRo López Bueno: 22 años, cocina y edita libros para su novio. La cara hispana del trend tradwife global.</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@ELMUNDO.ES · 2024-07</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3-1-boldlatina-latina-tradwives.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Boldlatina — “Faith, Family and Femininity”. Frame editorial para marcas que quieran hablarle al segmento sin equivocarse de tono.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BOLDLATINA · 2024-2025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3.2</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EL ALGORITMO QUE LE HABLA AL HIJO VARÓN</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“Mientras mami vigila lo que ve Lulú, el feed de Zahir ya tomó decisión.”</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Las mamás dominicanas vigilan con lupa el feed de las hijas — clean girl, body image, predadores. Mientras tanto, el feed del hijo varón ya entró a la manosphere sin permiso de nadie. Tate doblado al español, “high value males”, sigma rules, “redpill 101”. En 5 días un perfil nuevo masculino joven recibe 4x más contenido misógino sugerido por TikTok. El currículum oculto digital lo arma un algoritmo que premia indignación de género.</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#manosphere · #alphamale · #sigmamale · #redpill · #radicalizaciondigital</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9600" b="0" i="0">
                <a:solidFill>
                  <a:srgbClr val="FFFFFF"/>
                </a:solidFill>
                <a:latin typeface="Instrument Serif"/>
              </a:rPr>
              <a:t>4×</a:t>
            </a:r>
          </a:p>
        </p:txBody>
      </p:sp>
      <p:sp>
        <p:nvSpPr>
          <p:cNvPr id="19" name="TextBox 18"/>
          <p:cNvSpPr txBox="1"/>
          <p:nvPr/>
        </p:nvSpPr>
        <p:spPr>
          <a:xfrm>
            <a:off x="6434666" y="30480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más contenido misógino sugerido por TikTok a perfiles jóvenes masculinos en solo 5 días.</a:t>
            </a:r>
          </a:p>
        </p:txBody>
      </p:sp>
      <p:sp>
        <p:nvSpPr>
          <p:cNvPr id="20" name="TextBox 19"/>
          <p:cNvSpPr txBox="1"/>
          <p:nvPr/>
        </p:nvSpPr>
        <p:spPr>
          <a:xfrm>
            <a:off x="6434666" y="3556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NACIONAL · 2025</a:t>
            </a:r>
          </a:p>
        </p:txBody>
      </p:sp>
      <p:sp>
        <p:nvSpPr>
          <p:cNvPr id="21" name="TextBox 20"/>
          <p:cNvSpPr txBox="1"/>
          <p:nvPr/>
        </p:nvSpPr>
        <p:spPr>
          <a:xfrm>
            <a:off x="6434666" y="3810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“4x en 5 días”</a:t>
            </a:r>
          </a:p>
        </p:txBody>
      </p:sp>
      <p:sp>
        <p:nvSpPr>
          <p:cNvPr id="22" name="TextBox 21"/>
          <p:cNvSpPr txBox="1"/>
          <p:nvPr/>
        </p:nvSpPr>
        <p:spPr>
          <a:xfrm>
            <a:off x="6434666" y="4165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a:t>
            </a:r>
          </a:p>
        </p:txBody>
      </p:sp>
      <p:sp>
        <p:nvSpPr>
          <p:cNvPr id="23" name="TextBox 22"/>
          <p:cNvSpPr txBox="1"/>
          <p:nvPr/>
        </p:nvSpPr>
        <p:spPr>
          <a:xfrm>
            <a:off x="6434666" y="4445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aumento contenido misógino sugerido por TikTok a perfiles jóvenes masculinos en 5 días.</a:t>
            </a:r>
          </a:p>
        </p:txBody>
      </p:sp>
      <p:sp>
        <p:nvSpPr>
          <p:cNvPr id="24" name="TextBox 23"/>
          <p:cNvSpPr txBox="1"/>
          <p:nvPr/>
        </p:nvSpPr>
        <p:spPr>
          <a:xfrm>
            <a:off x="6434666" y="5054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NACIONAL · 2025</a:t>
            </a:r>
          </a:p>
        </p:txBody>
      </p:sp>
      <p:sp>
        <p:nvSpPr>
          <p:cNvPr id="25" name="TextBox 24"/>
          <p:cNvSpPr txBox="1"/>
          <p:nvPr/>
        </p:nvSpPr>
        <p:spPr>
          <a:xfrm>
            <a:off x="6434666" y="53594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“tate español”</a:t>
            </a:r>
          </a:p>
        </p:txBody>
      </p:sp>
      <p:sp>
        <p:nvSpPr>
          <p:cNvPr id="26" name="TextBox 25"/>
          <p:cNvSpPr txBox="1"/>
          <p:nvPr/>
        </p:nvSpPr>
        <p:spPr>
          <a:xfrm>
            <a:off x="6434666" y="57150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27" name="TextBox 26"/>
          <p:cNvSpPr txBox="1"/>
          <p:nvPr/>
        </p:nvSpPr>
        <p:spPr>
          <a:xfrm>
            <a:off x="6434666" y="59944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@highvaluemales + @andrew.tate.espanol confirman Tate dentro del feed hispano joven sin fricción de idioma.</a:t>
            </a:r>
          </a:p>
        </p:txBody>
      </p:sp>
      <p:sp>
        <p:nvSpPr>
          <p:cNvPr id="28" name="TextBox 27"/>
          <p:cNvSpPr txBox="1"/>
          <p:nvPr/>
        </p:nvSpPr>
        <p:spPr>
          <a:xfrm>
            <a:off x="6434666" y="66040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 2022-2025</a:t>
            </a:r>
          </a:p>
        </p:txBody>
      </p:sp>
      <p:sp>
        <p:nvSpPr>
          <p:cNvPr id="29" name="TextBox 28"/>
          <p:cNvSpPr txBox="1"/>
          <p:nvPr/>
        </p:nvSpPr>
        <p:spPr>
          <a:xfrm>
            <a:off x="6434666" y="69088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“marbella hub”</a:t>
            </a:r>
          </a:p>
        </p:txBody>
      </p:sp>
      <p:sp>
        <p:nvSpPr>
          <p:cNvPr id="30" name="TextBox 29"/>
          <p:cNvSpPr txBox="1"/>
          <p:nvPr/>
        </p:nvSpPr>
        <p:spPr>
          <a:xfrm>
            <a:off x="6434666" y="72644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5438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OCCRP: Marbella hotspot de influencers manosphere alineados con Tate. Geografía hispanoparlante.</a:t>
            </a:r>
          </a:p>
        </p:txBody>
      </p:sp>
      <p:sp>
        <p:nvSpPr>
          <p:cNvPr id="32" name="TextBox 31"/>
          <p:cNvSpPr txBox="1"/>
          <p:nvPr/>
        </p:nvSpPr>
        <p:spPr>
          <a:xfrm>
            <a:off x="6434666" y="81534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OCCRP · 2024-2025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2-tiktok-andrew-tate-espanol.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@highvaluemales — Andrew Tate doblado al español. Evidencia directa del manosphere en feed hispano joven.</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@HIGHVALUEMALES · 2022-2025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3-2-19thnews-alpha-males.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The 19th — “Algoritmos, alpha males y tradwives”. Cifra Equimundo 50%. Frame editorial más afilado del 2025.</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THE 19TH · 2025-06</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3-2-occrp-marbella-manosphere.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OCCRP — Marbella manosphere hub. España como puente cultural hacia el hijo dominicano.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OCCRP · 2024-2025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3.3</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STAY-AT-HOME GIRLFRIEND CON DELIVERY</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fantasía de no trabajar la consume la mujer que trabaja para todos.”</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El feed feminizado le vende a la mujer joven la fantasía de no trabajar y cuidar la casa con estética clean girl. Morning routine de 20 minutos. Skincare. Tender la cama con cojines. La realidad RD impone otro guion: 53.5% participación laboral femenina y cargando la casa además. La SAHG se consume como ASMR de descanso imaginado por mujeres que entran a la oficina a las 8am. Lo aspiracional es la pausa.</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#stayathomegirlfriend · #cleangirl · #sahg · #thatgirl · #softlife</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53.5%</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participación laboral femenina RD vs 78.3% masculina. La fantasía choca con la realidad económica.</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BANCO MUNDIAL · 2024</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“soft life”</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53.5% / 78.3%</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participación laboral femenina vs masculina RD. La pausa es lujo, no rol.</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BANCO MUNDIAL · 2024</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“girlboss → SAHG”</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Sage 2025</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“From girlboss to #stayathomegirlfriend”: paper académico que nombra y legitima el frame.</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SAGE JOURNALS · 2025</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“ASMR aspiracional”</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@aliyahwears + @lexiixi sostienen el cluster SAHG global con estética clean girl.</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 2023-2025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3-tiktok-sahg-aliyah.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@aliyahwears — “Day in the life of a stay-home girlfriend”. Referente global con estética que ya viaja al For You dominicano.</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@ALIYAHWEARS · 2023</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3-3-sage-stayathomegirlfriend.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Sage — “Romanticisation of domestic labour on TikTok”. Paper Isabel Sykes 2025 que legitima el frame como objeto de estudio.</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SAGE JOURNALS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3-3-tiktok-sahg-lexiixi-morning.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@lexiixi — Morning routine SAHG. ASMR aspiracional del “no trabajar”. Útil para bienestar, skincare, delivery doméstico.</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@LEXIIXI · 2025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3.4</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#DADTOK: EL PAPÁ QUE GRABA LA CRIANZA</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“El #DadTok hispano existe. RD aún no produce sus propios Quiques.”</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En México, Quique Rosas tiene 1.2M followers grabando paternidad activa — cocina, peina niñas, limpia la casa. Univision le dedicó un feature a #TribuDePapas (+3.8M views). El #DadTok hispano ya armó cluster con creadores rentables. Y RD no produjo todavía sus Quiques. Hay un nicho enorme abierto: el creador masculino dominicano que normalice tareas y crianza con tracción local.</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#dadtok · #paternidadactiva · #papápresente · #tribudepapás · #papásrd</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1.2M / 0</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followers de Quique Rosas en MX vs creadores DadTok dominicanos con tracción comparable.</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TEAM TRENDS CC · 2026</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“tribu de papás”</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+3.8M</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views #TribuDePapas (Mx): 10 cuentas de papás viralizan tareas domésticas.</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UNIVISION · 2024</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“quique rosas”</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1.2M</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followers — “¿Por qué limpio la casa? Las relaciones funcionan porque las personas están dispuestas a hacerlas funcionar.”</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@SOYQUIQUEROSAS · 2024</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“gap local”</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0</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creadores RD masculinos en #DadTok con tracción comparable. Cluster sin nombre local — ventana abierta.</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TEAM TRENDS CC · 2026</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4-tiktok-quique-limpiar-casa.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Quique Rosas — “¿Por qué limpio la casa?”. Verbatim oro: el papá hispano que normaliza la tarea con argumento, no con disculpa.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@SOYQUIQUEROSAS · 2024</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3-4-univision-tribudepapas.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Univision — #TribuDePapas. Cobertura del cluster mexicano con dato +3.8M views; argumenta caso de mercado.</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UNIVISION · 2024</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3-4-tiktok-quique-rosas-papa-primerizo.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Quique Rosas — “Día como papá primerizo”. Formato replicable que una marca RD (banca, retail infantil) podría financiar.</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@SOYQUIQUEROSAS · 2024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609600"/>
            <a:ext cx="5418666" cy="177800"/>
          </a:xfrm>
          <a:prstGeom prst="rect">
            <a:avLst/>
          </a:prstGeom>
          <a:noFill/>
        </p:spPr>
        <p:txBody>
          <a:bodyPr wrap="square" lIns="0" rIns="0" tIns="0" bIns="0" anchor="t">
            <a:spAutoFit/>
          </a:bodyPr>
          <a:lstStyle/>
          <a:p>
            <a:pPr algn="l">
              <a:lnSpc>
                <a:spcPct val="100000"/>
              </a:lnSpc>
            </a:pPr>
            <a:r>
              <a:rPr sz="800" b="1" i="0" spc="150">
                <a:solidFill>
                  <a:srgbClr val="FFFFFF"/>
                </a:solidFill>
                <a:latin typeface="Poppins"/>
              </a:rPr>
              <a:t>MACRO 3 | ALGORITMO DEL HOGAR</a:t>
            </a:r>
          </a:p>
        </p:txBody>
      </p:sp>
      <p:sp>
        <p:nvSpPr>
          <p:cNvPr id="4" name="TextBox 3"/>
          <p:cNvSpPr txBox="1"/>
          <p:nvPr/>
        </p:nvSpPr>
        <p:spPr>
          <a:xfrm>
            <a:off x="609600"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DEFINICIÓN</a:t>
            </a:r>
          </a:p>
        </p:txBody>
      </p:sp>
      <p:sp>
        <p:nvSpPr>
          <p:cNvPr id="5" name="TextBox 4"/>
          <p:cNvSpPr txBox="1"/>
          <p:nvPr/>
        </p:nvSpPr>
        <p:spPr>
          <a:xfrm>
            <a:off x="6434666"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TRIGGERS</a:t>
            </a:r>
          </a:p>
        </p:txBody>
      </p:sp>
      <p:sp>
        <p:nvSpPr>
          <p:cNvPr id="6" name="TextBox 5"/>
          <p:cNvSpPr txBox="1"/>
          <p:nvPr/>
        </p:nvSpPr>
        <p:spPr>
          <a:xfrm>
            <a:off x="12259733" y="10668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SEÑALES</a:t>
            </a:r>
          </a:p>
        </p:txBody>
      </p:sp>
      <p:cxnSp>
        <p:nvCxnSpPr>
          <p:cNvPr id="7" name="Connector 6"/>
          <p:cNvCxnSpPr/>
          <p:nvPr/>
        </p:nvCxnSpPr>
        <p:spPr>
          <a:xfrm>
            <a:off x="609600" y="1270000"/>
            <a:ext cx="17068800" cy="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231466"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056533" y="1346200"/>
            <a:ext cx="0" cy="8331200"/>
          </a:xfrm>
          <a:prstGeom prst="line">
            <a:avLst/>
          </a:prstGeom>
          <a:ln w="9525">
            <a:solidFill>
              <a:srgbClr val="29292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MICRO 3.5</a:t>
            </a:r>
          </a:p>
        </p:txBody>
      </p:sp>
      <p:sp>
        <p:nvSpPr>
          <p:cNvPr id="11" name="TextBox 10"/>
          <p:cNvSpPr txBox="1"/>
          <p:nvPr/>
        </p:nvSpPr>
        <p:spPr>
          <a:xfrm>
            <a:off x="609600" y="1676400"/>
            <a:ext cx="5418666" cy="2540000"/>
          </a:xfrm>
          <a:prstGeom prst="rect">
            <a:avLst/>
          </a:prstGeom>
          <a:noFill/>
        </p:spPr>
        <p:txBody>
          <a:bodyPr wrap="square" lIns="0" rIns="0" tIns="0" bIns="0" anchor="t">
            <a:spAutoFit/>
          </a:bodyPr>
          <a:lstStyle/>
          <a:p>
            <a:pPr algn="l">
              <a:lnSpc>
                <a:spcPct val="95000"/>
              </a:lnSpc>
            </a:pPr>
            <a:r>
              <a:rPr sz="4200" b="0" i="0">
                <a:solidFill>
                  <a:srgbClr val="FFFFFF"/>
                </a:solidFill>
                <a:latin typeface="Instrument Serif"/>
              </a:rPr>
              <a:t>LA SUEGRA SE LLAMA ALGORITMO</a:t>
            </a:r>
          </a:p>
        </p:txBody>
      </p:sp>
      <p:sp>
        <p:nvSpPr>
          <p:cNvPr id="12" name="TextBox 11"/>
          <p:cNvSpPr txBox="1"/>
          <p:nvPr/>
        </p:nvSpPr>
        <p:spPr>
          <a:xfrm>
            <a:off x="609600" y="3962400"/>
            <a:ext cx="5418666" cy="762000"/>
          </a:xfrm>
          <a:prstGeom prst="rect">
            <a:avLst/>
          </a:prstGeom>
          <a:noFill/>
        </p:spPr>
        <p:txBody>
          <a:bodyPr wrap="square" lIns="0" rIns="0" tIns="0" bIns="0" anchor="t">
            <a:spAutoFit/>
          </a:bodyPr>
          <a:lstStyle/>
          <a:p>
            <a:pPr algn="l">
              <a:lnSpc>
                <a:spcPct val="105000"/>
              </a:lnSpc>
            </a:pPr>
            <a:r>
              <a:rPr sz="1800" b="0" i="1">
                <a:solidFill>
                  <a:srgbClr val="FFFFFF"/>
                </a:solidFill>
                <a:latin typeface="Instrument Serif"/>
              </a:rPr>
              <a:t>“La autoridad doméstica migró de la familia política al For You.”</a:t>
            </a:r>
          </a:p>
        </p:txBody>
      </p:sp>
      <p:sp>
        <p:nvSpPr>
          <p:cNvPr id="13" name="TextBox 12"/>
          <p:cNvSpPr txBox="1"/>
          <p:nvPr/>
        </p:nvSpPr>
        <p:spPr>
          <a:xfrm>
            <a:off x="609600" y="48514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EL FENÓMENO</a:t>
            </a:r>
          </a:p>
        </p:txBody>
      </p:sp>
      <p:sp>
        <p:nvSpPr>
          <p:cNvPr id="14" name="TextBox 13"/>
          <p:cNvSpPr txBox="1"/>
          <p:nvPr/>
        </p:nvSpPr>
        <p:spPr>
          <a:xfrm>
            <a:off x="609600" y="5029200"/>
            <a:ext cx="5418666" cy="203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Lo que antes definía la suegra — cómo se cuida un bebé, qué se cocina, cómo se trata al marido — ahora lo define la momfluencer. Las mamás dominicanas siguen 20+ creadoras extranjeras, aplican rutinas que no calzan con el clima local, y entran en choque con la suegra real cuando coinciden el sábado. La intergeneracionalidad perdió frente al algoritmo personalizado. Y el algoritmo no opina por amor — opina por engagement.</a:t>
            </a:r>
          </a:p>
        </p:txBody>
      </p:sp>
      <p:sp>
        <p:nvSpPr>
          <p:cNvPr id="15" name="TextBox 14"/>
          <p:cNvSpPr txBox="1"/>
          <p:nvPr/>
        </p:nvSpPr>
        <p:spPr>
          <a:xfrm>
            <a:off x="609600" y="69342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HASHTAGS</a:t>
            </a:r>
          </a:p>
        </p:txBody>
      </p:sp>
      <p:sp>
        <p:nvSpPr>
          <p:cNvPr id="16" name="TextBox 15"/>
          <p:cNvSpPr txBox="1"/>
          <p:nvPr/>
        </p:nvSpPr>
        <p:spPr>
          <a:xfrm>
            <a:off x="609600" y="7112000"/>
            <a:ext cx="5418666" cy="762000"/>
          </a:xfrm>
          <a:prstGeom prst="rect">
            <a:avLst/>
          </a:prstGeom>
          <a:noFill/>
        </p:spPr>
        <p:txBody>
          <a:bodyPr wrap="square" lIns="0" rIns="0" tIns="0" bIns="0" anchor="t">
            <a:spAutoFit/>
          </a:bodyPr>
          <a:lstStyle/>
          <a:p>
            <a:pPr algn="l">
              <a:lnSpc>
                <a:spcPct val="110000"/>
              </a:lnSpc>
            </a:pPr>
            <a:r>
              <a:rPr sz="1400" b="0" i="0">
                <a:solidFill>
                  <a:srgbClr val="FFFFFF"/>
                </a:solidFill>
                <a:latin typeface="Instrument Serif"/>
              </a:rPr>
              <a:t>#momfluencer · #mamastips · #momtok · #crianzatok · #consejosdemamá</a:t>
            </a:r>
          </a:p>
        </p:txBody>
      </p:sp>
      <p:sp>
        <p:nvSpPr>
          <p:cNvPr id="17" name="TextBox 16"/>
          <p:cNvSpPr txBox="1"/>
          <p:nvPr/>
        </p:nvSpPr>
        <p:spPr>
          <a:xfrm>
            <a:off x="6434666"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HERO + TRIGGERS</a:t>
            </a:r>
          </a:p>
        </p:txBody>
      </p:sp>
      <p:sp>
        <p:nvSpPr>
          <p:cNvPr id="18" name="TextBox 17"/>
          <p:cNvSpPr txBox="1"/>
          <p:nvPr/>
        </p:nvSpPr>
        <p:spPr>
          <a:xfrm>
            <a:off x="6434666" y="1701800"/>
            <a:ext cx="5418666" cy="1524000"/>
          </a:xfrm>
          <a:prstGeom prst="rect">
            <a:avLst/>
          </a:prstGeom>
          <a:noFill/>
        </p:spPr>
        <p:txBody>
          <a:bodyPr wrap="square" lIns="0" rIns="0" tIns="0" bIns="0" anchor="t">
            <a:spAutoFit/>
          </a:bodyPr>
          <a:lstStyle/>
          <a:p>
            <a:pPr algn="l">
              <a:lnSpc>
                <a:spcPct val="95000"/>
              </a:lnSpc>
            </a:pPr>
            <a:r>
              <a:rPr sz="7200" b="0" i="0">
                <a:solidFill>
                  <a:srgbClr val="FFFFFF"/>
                </a:solidFill>
                <a:latin typeface="Instrument Serif"/>
              </a:rPr>
              <a:t>15%</a:t>
            </a:r>
          </a:p>
        </p:txBody>
      </p:sp>
      <p:sp>
        <p:nvSpPr>
          <p:cNvPr id="19" name="TextBox 18"/>
          <p:cNvSpPr txBox="1"/>
          <p:nvPr/>
        </p:nvSpPr>
        <p:spPr>
          <a:xfrm>
            <a:off x="6434666" y="2743200"/>
            <a:ext cx="5418666" cy="635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de consumidores globales compra productos puramente porque son tendencia en TikTok.</a:t>
            </a:r>
          </a:p>
        </p:txBody>
      </p:sp>
      <p:sp>
        <p:nvSpPr>
          <p:cNvPr id="20" name="TextBox 19"/>
          <p:cNvSpPr txBox="1"/>
          <p:nvPr/>
        </p:nvSpPr>
        <p:spPr>
          <a:xfrm>
            <a:off x="6434666" y="3251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SAP EMARSYS · 2025-10</a:t>
            </a:r>
          </a:p>
        </p:txBody>
      </p:sp>
      <p:sp>
        <p:nvSpPr>
          <p:cNvPr id="21" name="TextBox 20"/>
          <p:cNvSpPr txBox="1"/>
          <p:nvPr/>
        </p:nvSpPr>
        <p:spPr>
          <a:xfrm>
            <a:off x="6434666" y="35052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“suegra fuera”</a:t>
            </a:r>
          </a:p>
        </p:txBody>
      </p:sp>
      <p:sp>
        <p:nvSpPr>
          <p:cNvPr id="22" name="TextBox 21"/>
          <p:cNvSpPr txBox="1"/>
          <p:nvPr/>
        </p:nvSpPr>
        <p:spPr>
          <a:xfrm>
            <a:off x="6434666" y="38608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4–5 → 2–3</a:t>
            </a:r>
          </a:p>
        </p:txBody>
      </p:sp>
      <p:sp>
        <p:nvSpPr>
          <p:cNvPr id="23" name="TextBox 22"/>
          <p:cNvSpPr txBox="1"/>
          <p:nvPr/>
        </p:nvSpPr>
        <p:spPr>
          <a:xfrm>
            <a:off x="6434666" y="41402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personas por hogar RD (2005-2022). La suegra ya no convive con la nuera.</a:t>
            </a:r>
          </a:p>
        </p:txBody>
      </p:sp>
      <p:sp>
        <p:nvSpPr>
          <p:cNvPr id="24" name="TextBox 23"/>
          <p:cNvSpPr txBox="1"/>
          <p:nvPr/>
        </p:nvSpPr>
        <p:spPr>
          <a:xfrm>
            <a:off x="6434666" y="47498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ONE ENHOGAR</a:t>
            </a:r>
          </a:p>
        </p:txBody>
      </p:sp>
      <p:sp>
        <p:nvSpPr>
          <p:cNvPr id="25" name="TextBox 24"/>
          <p:cNvSpPr txBox="1"/>
          <p:nvPr/>
        </p:nvSpPr>
        <p:spPr>
          <a:xfrm>
            <a:off x="6434666" y="50546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“tiktok jurado”</a:t>
            </a:r>
          </a:p>
        </p:txBody>
      </p:sp>
      <p:sp>
        <p:nvSpPr>
          <p:cNvPr id="26" name="TextBox 25"/>
          <p:cNvSpPr txBox="1"/>
          <p:nvPr/>
        </p:nvSpPr>
        <p:spPr>
          <a:xfrm>
            <a:off x="6434666" y="54102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15%</a:t>
            </a:r>
          </a:p>
        </p:txBody>
      </p:sp>
      <p:sp>
        <p:nvSpPr>
          <p:cNvPr id="27" name="TextBox 26"/>
          <p:cNvSpPr txBox="1"/>
          <p:nvPr/>
        </p:nvSpPr>
        <p:spPr>
          <a:xfrm>
            <a:off x="6434666" y="56896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consumidores globales compra por trend TikTok puro. Autoridad de feed &gt; autoridad familiar.</a:t>
            </a:r>
          </a:p>
        </p:txBody>
      </p:sp>
      <p:sp>
        <p:nvSpPr>
          <p:cNvPr id="28" name="TextBox 27"/>
          <p:cNvSpPr txBox="1"/>
          <p:nvPr/>
        </p:nvSpPr>
        <p:spPr>
          <a:xfrm>
            <a:off x="6434666" y="62992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SAP EMARSYS · 2025-10</a:t>
            </a:r>
          </a:p>
        </p:txBody>
      </p:sp>
      <p:sp>
        <p:nvSpPr>
          <p:cNvPr id="29" name="TextBox 28"/>
          <p:cNvSpPr txBox="1"/>
          <p:nvPr/>
        </p:nvSpPr>
        <p:spPr>
          <a:xfrm>
            <a:off x="6434666" y="6604000"/>
            <a:ext cx="5418666" cy="355600"/>
          </a:xfrm>
          <a:prstGeom prst="rect">
            <a:avLst/>
          </a:prstGeom>
          <a:noFill/>
        </p:spPr>
        <p:txBody>
          <a:bodyPr wrap="square" lIns="0" rIns="0" tIns="0" bIns="0" anchor="t">
            <a:spAutoFit/>
          </a:bodyPr>
          <a:lstStyle/>
          <a:p>
            <a:pPr algn="l">
              <a:lnSpc>
                <a:spcPct val="100000"/>
              </a:lnSpc>
            </a:pPr>
            <a:r>
              <a:rPr sz="2200" b="0" i="1">
                <a:solidFill>
                  <a:srgbClr val="FFFFFF"/>
                </a:solidFill>
                <a:latin typeface="Instrument Serif"/>
              </a:rPr>
              <a:t>“feed segmentado”</a:t>
            </a:r>
          </a:p>
        </p:txBody>
      </p:sp>
      <p:sp>
        <p:nvSpPr>
          <p:cNvPr id="30" name="TextBox 29"/>
          <p:cNvSpPr txBox="1"/>
          <p:nvPr/>
        </p:nvSpPr>
        <p:spPr>
          <a:xfrm>
            <a:off x="6434666" y="6959600"/>
            <a:ext cx="5418666" cy="279400"/>
          </a:xfrm>
          <a:prstGeom prst="rect">
            <a:avLst/>
          </a:prstGeom>
          <a:noFill/>
        </p:spPr>
        <p:txBody>
          <a:bodyPr wrap="square" lIns="0" rIns="0" tIns="0" bIns="0" anchor="t">
            <a:spAutoFit/>
          </a:bodyPr>
          <a:lstStyle/>
          <a:p>
            <a:pPr algn="l">
              <a:lnSpc>
                <a:spcPct val="100000"/>
              </a:lnSpc>
            </a:pPr>
            <a:r>
              <a:rPr sz="1800" b="0" i="0">
                <a:solidFill>
                  <a:srgbClr val="FFFFFF"/>
                </a:solidFill>
                <a:latin typeface="Instrument Serif"/>
              </a:rPr>
              <a:t>4×</a:t>
            </a:r>
          </a:p>
        </p:txBody>
      </p:sp>
      <p:sp>
        <p:nvSpPr>
          <p:cNvPr id="31" name="TextBox 30"/>
          <p:cNvSpPr txBox="1"/>
          <p:nvPr/>
        </p:nvSpPr>
        <p:spPr>
          <a:xfrm>
            <a:off x="6434666" y="7239000"/>
            <a:ext cx="5418666" cy="762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contenido sugerido por algoritmo en perfiles segmentados por género en 5 días.</a:t>
            </a:r>
          </a:p>
        </p:txBody>
      </p:sp>
      <p:sp>
        <p:nvSpPr>
          <p:cNvPr id="32" name="TextBox 31"/>
          <p:cNvSpPr txBox="1"/>
          <p:nvPr/>
        </p:nvSpPr>
        <p:spPr>
          <a:xfrm>
            <a:off x="6434666" y="7848600"/>
            <a:ext cx="5418666"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NACIONAL · 2025</a:t>
            </a:r>
          </a:p>
        </p:txBody>
      </p:sp>
      <p:sp>
        <p:nvSpPr>
          <p:cNvPr id="33" name="TextBox 32"/>
          <p:cNvSpPr txBox="1"/>
          <p:nvPr/>
        </p:nvSpPr>
        <p:spPr>
          <a:xfrm>
            <a:off x="12259733" y="1498600"/>
            <a:ext cx="5418666"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PRUEBA TIKTOK</a:t>
            </a:r>
          </a:p>
        </p:txBody>
      </p:sp>
      <p:pic>
        <p:nvPicPr>
          <p:cNvPr id="34" name="Picture 33" descr="macro-3-1-tiktok-mujer-virtuosa-disciple-omi.png">
            <a:hlinkClick r:id="rId3"/>
          </p:cNvPr>
          <p:cNvPicPr>
            <a:picLocks noChangeAspect="1"/>
          </p:cNvPicPr>
          <p:nvPr/>
        </p:nvPicPr>
        <p:blipFill>
          <a:blip r:embed="rId2"/>
          <a:stretch>
            <a:fillRect/>
          </a:stretch>
        </p:blipFill>
        <p:spPr>
          <a:xfrm>
            <a:off x="12259733" y="1676400"/>
            <a:ext cx="1892300" cy="2794000"/>
          </a:xfrm>
          <a:prstGeom prst="rect">
            <a:avLst/>
          </a:prstGeom>
        </p:spPr>
      </p:pic>
      <p:sp>
        <p:nvSpPr>
          <p:cNvPr id="35" name="Rectangle 34"/>
          <p:cNvSpPr/>
          <p:nvPr/>
        </p:nvSpPr>
        <p:spPr>
          <a:xfrm>
            <a:off x="13542433" y="1574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36" name="TextBox 35"/>
          <p:cNvSpPr txBox="1"/>
          <p:nvPr/>
        </p:nvSpPr>
        <p:spPr>
          <a:xfrm>
            <a:off x="14329833" y="1676400"/>
            <a:ext cx="3348566" cy="2286000"/>
          </a:xfrm>
          <a:prstGeom prst="rect">
            <a:avLst/>
          </a:prstGeom>
          <a:noFill/>
        </p:spPr>
        <p:txBody>
          <a:bodyPr wrap="square" lIns="0" rIns="0" tIns="0" bIns="0" anchor="t">
            <a:spAutoFit/>
          </a:bodyPr>
          <a:lstStyle/>
          <a:p>
            <a:pPr algn="l">
              <a:lnSpc>
                <a:spcPct val="100000"/>
              </a:lnSpc>
            </a:pPr>
            <a:r>
              <a:rPr sz="800" b="0" i="0">
                <a:solidFill>
                  <a:srgbClr val="FFFFFF"/>
                </a:solidFill>
                <a:latin typeface="Poppins"/>
              </a:rPr>
              <a:t>@disciple_omi — la momfluencer evangélica como nueva autoridad sobre rol esposa. Sustituye el sermón presencial de la suegra.</a:t>
            </a:r>
          </a:p>
        </p:txBody>
      </p:sp>
      <p:sp>
        <p:nvSpPr>
          <p:cNvPr id="37" name="TextBox 36"/>
          <p:cNvSpPr txBox="1"/>
          <p:nvPr/>
        </p:nvSpPr>
        <p:spPr>
          <a:xfrm>
            <a:off x="14329833" y="3962400"/>
            <a:ext cx="3348566" cy="1524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TIKTOK @DISCIPLE_OMI · 2025</a:t>
            </a:r>
          </a:p>
        </p:txBody>
      </p:sp>
      <p:sp>
        <p:nvSpPr>
          <p:cNvPr id="38" name="TextBox 37"/>
          <p:cNvSpPr txBox="1"/>
          <p:nvPr/>
        </p:nvSpPr>
        <p:spPr>
          <a:xfrm>
            <a:off x="12259733"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TREND</a:t>
            </a:r>
          </a:p>
        </p:txBody>
      </p:sp>
      <p:pic>
        <p:nvPicPr>
          <p:cNvPr id="39" name="Picture 38" descr="macro-3-0-elnacional-tiktok-misogino.png">
            <a:hlinkClick r:id="rId5"/>
          </p:cNvPr>
          <p:cNvPicPr>
            <a:picLocks noChangeAspect="1"/>
          </p:cNvPicPr>
          <p:nvPr/>
        </p:nvPicPr>
        <p:blipFill>
          <a:blip r:embed="rId4"/>
          <a:stretch>
            <a:fillRect/>
          </a:stretch>
        </p:blipFill>
        <p:spPr>
          <a:xfrm>
            <a:off x="12259733" y="4851400"/>
            <a:ext cx="1376218" cy="2032000"/>
          </a:xfrm>
          <a:prstGeom prst="rect">
            <a:avLst/>
          </a:prstGeom>
        </p:spPr>
      </p:pic>
      <p:sp>
        <p:nvSpPr>
          <p:cNvPr id="40" name="Rectangle 39"/>
          <p:cNvSpPr/>
          <p:nvPr/>
        </p:nvSpPr>
        <p:spPr>
          <a:xfrm>
            <a:off x="13026351"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1" name="TextBox 40"/>
          <p:cNvSpPr txBox="1"/>
          <p:nvPr/>
        </p:nvSpPr>
        <p:spPr>
          <a:xfrm>
            <a:off x="12259733"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El Nacional — el mismo motor que polariza hombres también personaliza autoridad doméstica femenina.</a:t>
            </a:r>
          </a:p>
        </p:txBody>
      </p:sp>
      <p:sp>
        <p:nvSpPr>
          <p:cNvPr id="42" name="TextBox 41"/>
          <p:cNvSpPr txBox="1"/>
          <p:nvPr/>
        </p:nvSpPr>
        <p:spPr>
          <a:xfrm>
            <a:off x="12259733"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EL NACIONAL · 2025</a:t>
            </a:r>
          </a:p>
        </p:txBody>
      </p:sp>
      <p:sp>
        <p:nvSpPr>
          <p:cNvPr id="43" name="TextBox 42"/>
          <p:cNvSpPr txBox="1"/>
          <p:nvPr/>
        </p:nvSpPr>
        <p:spPr>
          <a:xfrm>
            <a:off x="15045266" y="4673600"/>
            <a:ext cx="2633133" cy="152400"/>
          </a:xfrm>
          <a:prstGeom prst="rect">
            <a:avLst/>
          </a:prstGeom>
          <a:noFill/>
        </p:spPr>
        <p:txBody>
          <a:bodyPr wrap="square" lIns="0" rIns="0" tIns="0" bIns="0" anchor="t">
            <a:spAutoFit/>
          </a:bodyPr>
          <a:lstStyle/>
          <a:p>
            <a:pPr algn="l">
              <a:lnSpc>
                <a:spcPct val="100000"/>
              </a:lnSpc>
            </a:pPr>
            <a:r>
              <a:rPr sz="800" b="1" i="0" spc="100">
                <a:solidFill>
                  <a:srgbClr val="A0A0A0"/>
                </a:solidFill>
                <a:latin typeface="Poppins"/>
              </a:rPr>
              <a:t>INNOVACIÓN</a:t>
            </a:r>
          </a:p>
        </p:txBody>
      </p:sp>
      <p:pic>
        <p:nvPicPr>
          <p:cNvPr id="44" name="Picture 43" descr="macro-3-1-boldlatina-latina-tradwives.png">
            <a:hlinkClick r:id="rId7"/>
          </p:cNvPr>
          <p:cNvPicPr>
            <a:picLocks noChangeAspect="1"/>
          </p:cNvPicPr>
          <p:nvPr/>
        </p:nvPicPr>
        <p:blipFill>
          <a:blip r:embed="rId6"/>
          <a:stretch>
            <a:fillRect/>
          </a:stretch>
        </p:blipFill>
        <p:spPr>
          <a:xfrm>
            <a:off x="15045266" y="4851400"/>
            <a:ext cx="1376218" cy="2032000"/>
          </a:xfrm>
          <a:prstGeom prst="rect">
            <a:avLst/>
          </a:prstGeom>
        </p:spPr>
      </p:pic>
      <p:sp>
        <p:nvSpPr>
          <p:cNvPr id="45" name="Rectangle 44"/>
          <p:cNvSpPr/>
          <p:nvPr/>
        </p:nvSpPr>
        <p:spPr>
          <a:xfrm>
            <a:off x="15811884" y="4749800"/>
            <a:ext cx="711200" cy="203200"/>
          </a:xfrm>
          <a:prstGeom prst="rect">
            <a:avLst/>
          </a:prstGeom>
          <a:solidFill>
            <a:srgbClr val="FF2D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00" b="1">
                <a:solidFill>
                  <a:srgbClr val="FFFFFF"/>
                </a:solidFill>
                <a:latin typeface="Poppins"/>
              </a:rPr>
              <a:t>CLICK ME</a:t>
            </a:r>
          </a:p>
        </p:txBody>
      </p:sp>
      <p:sp>
        <p:nvSpPr>
          <p:cNvPr id="46" name="TextBox 45"/>
          <p:cNvSpPr txBox="1"/>
          <p:nvPr/>
        </p:nvSpPr>
        <p:spPr>
          <a:xfrm>
            <a:off x="15045266" y="6985000"/>
            <a:ext cx="2633133" cy="762000"/>
          </a:xfrm>
          <a:prstGeom prst="rect">
            <a:avLst/>
          </a:prstGeom>
          <a:noFill/>
        </p:spPr>
        <p:txBody>
          <a:bodyPr wrap="square" lIns="0" rIns="0" tIns="0" bIns="0" anchor="t">
            <a:spAutoFit/>
          </a:bodyPr>
          <a:lstStyle/>
          <a:p>
            <a:pPr algn="l">
              <a:lnSpc>
                <a:spcPct val="100000"/>
              </a:lnSpc>
            </a:pPr>
            <a:r>
              <a:rPr sz="700" b="0" i="0">
                <a:solidFill>
                  <a:srgbClr val="FFFFFF"/>
                </a:solidFill>
                <a:latin typeface="Poppins"/>
              </a:rPr>
              <a:t>Boldlatina — frame editorial que muestra cómo se construye una momfluencer-suegra hispana en 2025.</a:t>
            </a:r>
          </a:p>
        </p:txBody>
      </p:sp>
      <p:sp>
        <p:nvSpPr>
          <p:cNvPr id="47" name="TextBox 46"/>
          <p:cNvSpPr txBox="1"/>
          <p:nvPr/>
        </p:nvSpPr>
        <p:spPr>
          <a:xfrm>
            <a:off x="15045266" y="7696200"/>
            <a:ext cx="2633133" cy="127000"/>
          </a:xfrm>
          <a:prstGeom prst="rect">
            <a:avLst/>
          </a:prstGeom>
          <a:noFill/>
        </p:spPr>
        <p:txBody>
          <a:bodyPr wrap="square" lIns="0" rIns="0" tIns="0" bIns="0" anchor="t">
            <a:spAutoFit/>
          </a:bodyPr>
          <a:lstStyle/>
          <a:p>
            <a:pPr algn="l">
              <a:lnSpc>
                <a:spcPct val="100000"/>
              </a:lnSpc>
            </a:pPr>
            <a:r>
              <a:rPr sz="650" b="0" i="0" spc="150">
                <a:solidFill>
                  <a:srgbClr val="666666"/>
                </a:solidFill>
                <a:latin typeface="Poppins"/>
              </a:rPr>
              <a:t>BOLDLATINA · 2024-2025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