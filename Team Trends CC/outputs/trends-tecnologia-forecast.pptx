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atareportal.com/reports/digital-2025-dominican-republic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www.konvoy.vc/newsletters/latams-local-gig-economy" TargetMode="External"/><Relationship Id="rId6" Type="http://schemas.openxmlformats.org/officeDocument/2006/relationships/image" Target="../media/image3.png"/><Relationship Id="rId7" Type="http://schemas.openxmlformats.org/officeDocument/2006/relationships/hyperlink" Target="https://www.tiktok.com/tag/emprenderdominicana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tiktok.com/tag/nomadadigital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s://www.hrstacks.com/gig-economy-freelance-work-statistics/" TargetMode="External"/><Relationship Id="rId6" Type="http://schemas.openxmlformats.org/officeDocument/2006/relationships/image" Target="../media/image6.png"/><Relationship Id="rId7" Type="http://schemas.openxmlformats.org/officeDocument/2006/relationships/hyperlink" Target="https://esim.holafly.com/digital-nomad/digital-nomad-jobs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indotel.gob.do/indotel-revela-incremento-en-los-niveles-de-conectividad-fija-y-movil-en-la-republica-dominicana-un-aumento-de-un-24-en-uso-de-internet-movil-en-rd/" TargetMode="External"/><Relationship Id="rId4" Type="http://schemas.openxmlformats.org/officeDocument/2006/relationships/image" Target="../media/image8.png"/><Relationship Id="rId5" Type="http://schemas.openxmlformats.org/officeDocument/2006/relationships/hyperlink" Target="https://blogs.microsoft.com/on-the-issues/2026/01/08/global-ai-adoption-in-2025/" TargetMode="External"/><Relationship Id="rId6" Type="http://schemas.openxmlformats.org/officeDocument/2006/relationships/hyperlink" Target="https://www.tiktok.com/tag/conectividadr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www.tiktok.com/tag/aprendia" TargetMode="External"/><Relationship Id="rId4" Type="http://schemas.openxmlformats.org/officeDocument/2006/relationships/image" Target="../media/image10.png"/><Relationship Id="rId5" Type="http://schemas.openxmlformats.org/officeDocument/2006/relationships/hyperlink" Target="https://www.demandsage.com/generative-ai-statistics/" TargetMode="External"/><Relationship Id="rId6" Type="http://schemas.openxmlformats.org/officeDocument/2006/relationships/image" Target="../media/image11.png"/><Relationship Id="rId7" Type="http://schemas.openxmlformats.org/officeDocument/2006/relationships/hyperlink" Target="https://indotel.gob.do/acceso-e-infraestructura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www.tiktok.com/tag/mobilegaming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s://www.marketdataforecast.com/market-reports/latin-america-video-game-market" TargetMode="External"/><Relationship Id="rId6" Type="http://schemas.openxmlformats.org/officeDocument/2006/relationships/image" Target="../media/image14.png"/><Relationship Id="rId7" Type="http://schemas.openxmlformats.org/officeDocument/2006/relationships/hyperlink" Target="https://terralocalizations.com/2025/07/03/latin-american-gaming-market-power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thefintechtimes.com/fintech-landscape-of-the-dominican-republic-in-2026/" TargetMode="External"/><Relationship Id="rId4" Type="http://schemas.openxmlformats.org/officeDocument/2006/relationships/image" Target="../media/image16.png"/><Relationship Id="rId5" Type="http://schemas.openxmlformats.org/officeDocument/2006/relationships/hyperlink" Target="https://www.statista.com/outlook/dmo/fintech/digital-payments/dominican-republic" TargetMode="External"/><Relationship Id="rId6" Type="http://schemas.openxmlformats.org/officeDocument/2006/relationships/image" Target="../media/image17.png"/><Relationship Id="rId7" Type="http://schemas.openxmlformats.org/officeDocument/2006/relationships/hyperlink" Target="https://www.tiktok.com/tag/qikr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hyperlink" Target="https://www.prnewswire.com/news-releases/wearable-medical-devices-market-poised-for-usd-499-2-billion-by-2035--growing-at-a-cagr-21-6--strategic-insights-for-cxos-and-healthcare-leaders-302579862.html" TargetMode="External"/><Relationship Id="rId4" Type="http://schemas.openxmlformats.org/officeDocument/2006/relationships/image" Target="../media/image19.png"/><Relationship Id="rId5" Type="http://schemas.openxmlformats.org/officeDocument/2006/relationships/hyperlink" Target="https://www.marketdataforecast.com/market-reports/latin-america-digital-health-market" TargetMode="External"/><Relationship Id="rId6" Type="http://schemas.openxmlformats.org/officeDocument/2006/relationships/image" Target="../media/image20.png"/><Relationship Id="rId7" Type="http://schemas.openxmlformats.org/officeDocument/2006/relationships/hyperlink" Target="https://www.maximizemarketresearch.com/market-report/wearable-medical-devices-market-latin-america/2245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https://www.statista.com/outlook/cmo/smart-home/south-america" TargetMode="External"/><Relationship Id="rId4" Type="http://schemas.openxmlformats.org/officeDocument/2006/relationships/image" Target="../media/image22.png"/><Relationship Id="rId5" Type="http://schemas.openxmlformats.org/officeDocument/2006/relationships/hyperlink" Target="https://www.imarcgroup.com/latin-america-smart-home-market" TargetMode="External"/><Relationship Id="rId6" Type="http://schemas.openxmlformats.org/officeDocument/2006/relationships/image" Target="../media/image23.png"/><Relationship Id="rId7" Type="http://schemas.openxmlformats.org/officeDocument/2006/relationships/hyperlink" Target="https://www.nextmsc.com/report/mexico-smart-home-marke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https://novadata.io/resources/news/amazon-rufus-agentic-auto-buy-250-million-users" TargetMode="External"/><Relationship Id="rId4" Type="http://schemas.openxmlformats.org/officeDocument/2006/relationships/image" Target="../media/image25.png"/><Relationship Id="rId5" Type="http://schemas.openxmlformats.org/officeDocument/2006/relationships/hyperlink" Target="https://www.forrester.com/blogs/power-couple-openai-amazon-may-have-just-won-consumer-agentic-commerce/" TargetMode="External"/><Relationship Id="rId6" Type="http://schemas.openxmlformats.org/officeDocument/2006/relationships/image" Target="../media/image26.png"/><Relationship Id="rId7" Type="http://schemas.openxmlformats.org/officeDocument/2006/relationships/hyperlink" Target="https://www.cnbc.com/2026/05/13/amazon-ditches-rufus-ai-chatbot-in-favor-of-alexa-shopping-agent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hyperlink" Target="https://www.bostonglobe.com/2026/01/14/magazine/ai-tools-modern-parenthood/" TargetMode="External"/><Relationship Id="rId4" Type="http://schemas.openxmlformats.org/officeDocument/2006/relationships/image" Target="../media/image28.png"/><Relationship Id="rId5" Type="http://schemas.openxmlformats.org/officeDocument/2006/relationships/hyperlink" Target="https://www.cnbc.com/2026/01/22/when-how-to-use-ai-chatbots-for-parenting-advice-researcher.html" TargetMode="External"/><Relationship Id="rId6" Type="http://schemas.openxmlformats.org/officeDocument/2006/relationships/image" Target="../media/image29.png"/><Relationship Id="rId7" Type="http://schemas.openxmlformats.org/officeDocument/2006/relationships/hyperlink" Target="https://www.demandsage.com/chatgpt-statistics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hyperlink" Target="https://www.emarketer.com/press-releases/tiktok-shop-makes-up-nearly-20-of-social-commerce-in-2025/" TargetMode="External"/><Relationship Id="rId4" Type="http://schemas.openxmlformats.org/officeDocument/2006/relationships/image" Target="../media/image31.png"/><Relationship Id="rId5" Type="http://schemas.openxmlformats.org/officeDocument/2006/relationships/hyperlink" Target="https://awisee.com/blog/tiktok-shop-in-latin-america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hyperlink" Target="https://www.commonsensemedia.org/press-releases/nearly-3-in-4-teens-have-used-ai-companions-new-national-survey-finds" TargetMode="External"/><Relationship Id="rId4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hyperlink" Target="https://www.bostonglobe.com/2026/01/14/magazine/ai-tools-modern-parenthood/" TargetMode="External"/><Relationship Id="rId4" Type="http://schemas.openxmlformats.org/officeDocument/2006/relationships/image" Target="../media/image35.png"/><Relationship Id="rId5" Type="http://schemas.openxmlformats.org/officeDocument/2006/relationships/hyperlink" Target="https://awisee.com/blog/tiktok-shop-in-latin-america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hyperlink" Target="https://ddia.org/en/whatsapp-weaponized-how-scammers-target-us-latinos-part3" TargetMode="External"/><Relationship Id="rId4" Type="http://schemas.openxmlformats.org/officeDocument/2006/relationships/image" Target="../media/image37.png"/><Relationship Id="rId5" Type="http://schemas.openxmlformats.org/officeDocument/2006/relationships/hyperlink" Target="https://industrialcyber.co/reports/latin-america-sees-sharp-rise-in-ransomware-hacktivist-attacks-in-2025-amid-expanding-fraud-and-phishing-threats/" TargetMode="External"/><Relationship Id="rId6" Type="http://schemas.openxmlformats.org/officeDocument/2006/relationships/image" Target="../media/image38.png"/><Relationship Id="rId7" Type="http://schemas.openxmlformats.org/officeDocument/2006/relationships/hyperlink" Target="https://thehackernews.com/2025/10/meta-rolls-out-new-tools-to-protect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hyperlink" Target="https://fosi.org/parental-controls-for-online-safety-are-underutilized-new-study-finds/" TargetMode="External"/><Relationship Id="rId4" Type="http://schemas.openxmlformats.org/officeDocument/2006/relationships/image" Target="../media/image40.png"/><Relationship Id="rId5" Type="http://schemas.openxmlformats.org/officeDocument/2006/relationships/hyperlink" Target="https://www.apa.org/news/press/releases/2025/06/screen-time-problems-children" TargetMode="External"/><Relationship Id="rId6" Type="http://schemas.openxmlformats.org/officeDocument/2006/relationships/image" Target="../media/image41.png"/><Relationship Id="rId7" Type="http://schemas.openxmlformats.org/officeDocument/2006/relationships/hyperlink" Target="https://datareportal.com/reports/digital-2025-dominican-republic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67047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A0A0A0"/>
                </a:solidFill>
                <a:latin typeface="Poppins"/>
              </a:rPr>
              <a:t>MACRO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847" y="2453640"/>
            <a:ext cx="11430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0" b="0" i="0">
                <a:solidFill>
                  <a:srgbClr val="FFFFFF"/>
                </a:solidFill>
                <a:latin typeface="Instrument Serif"/>
              </a:rPr>
              <a:t>INVENTOLOGÍA DE LA ADULTEZ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647" y="4942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1">
                <a:solidFill>
                  <a:srgbClr val="A0A0A0"/>
                </a:solidFill>
                <a:latin typeface="Instrument Serif"/>
              </a:rPr>
              <a:t>“Un mundo en crisis está reescribiendo qué significa ser adulto y formar familia.”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INVENTOLOGÍA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EL ADULTO LATAM TRABAJA, FACTURA Y ESTUDIA DESDE UN SOLO TELÉFONO, Y NUNCA TOCA UNA LAPTOP: LA ÚNICA COMPUTADORA QUE TENDRÁ YA ESTÁ EN SU MANO.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El hogar multi-dispositivo del siglo XX asumía que ibas acumulando: PC, después tablet, después consola. Esa escalera se saltó. La penetración de internet en RD llegó a 88.6% (10.2M usuarios) mientras la computadora sigue siendo minoritaria en el hogar. Plataformas como Rappi, Uber y Workana hacen del móvil la oficina del trabajador joven LATAM. El adulto no aspira a poseer varios aparatos; concentra todo en uno y lo muestra como normal.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#trabajodesdeelcelular · #soloconmicelular · #emprenderdominicana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PERTENENCIA · CONTROL · MIEDO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88.6%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DATAREPORTAL ·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Penetración de internet en RD (10.2M usuarios); la computadora sigue minoritaria en el hogar.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nstrument Serif"/>
              </a:rPr>
              <a:t>Móvil
Primero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MORDOR INTELLIGENCE ·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El mobile gaming domina el mercado de videojuegos LATAM por adopción de smartphone sobre PC/consola.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0" i="0">
                <a:solidFill>
                  <a:srgbClr val="FFFFFF"/>
                </a:solidFill>
                <a:latin typeface="Instrument Serif"/>
              </a:rPr>
              <a:t>Gig
LATAM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UNDP LATAM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Rappi, Uber y Workana hacen del móvil la oficina del trabajador joven LATAM.</a:t>
            </a:r>
          </a:p>
        </p:txBody>
      </p:sp>
      <p:pic>
        <p:nvPicPr>
          <p:cNvPr id="27" name="Picture 26" descr="macro-1-1-datareportal-digital-2025-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Portada del informe Digital 2025 RD con métricas de penetración internet 88.6% y dispositivos.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DATAREPORTAL · 2025</a:t>
            </a:r>
          </a:p>
        </p:txBody>
      </p:sp>
      <p:pic>
        <p:nvPicPr>
          <p:cNvPr id="32" name="Picture 31" descr="macro-1-1-konvoy-latam-gig-econom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Newsletter con logos de apps gig (Rappi, Uber, iFood) y gráfico de market share ride-hailing LATAM.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KONVOY VC · 2025</a:t>
            </a:r>
          </a:p>
        </p:txBody>
      </p:sp>
      <p:pic>
        <p:nvPicPr>
          <p:cNvPr id="37" name="Picture 36" descr="macro-1-1-tiktok-tag-emprenderdominica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7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Hashtag #emprenderdominicana en TikTok — negocios dominicanos gestionados desde el teléfono.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TIKTOK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INVENTOLOGÍA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GANAR EN DÓLARES DESDE EL CUARTO: EL JOVEN LATAM SE INVENTA UNA CARRERA SIN OFICINA, SIN EMPLEADOR FIJO Y SIN PAÍS QUE LO AMARRE.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La carrera tradicional asumía una empresa, una ciudad y un horario. El gig remoto cross-border rompió las tres. Las altas en plataformas freelance subieron 24% desde ciudades tier-2 y tier-3 en LATAM y el Sudeste Asiático. Costa Rica, México y Colombia ya lanzaron visas de nómada digital de hasta un año. El resultado observable: gente facturando a clientes de USA y Europa desde casa, en moneda dura, y mostrándolo como estilo de vida.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#nomadadigital · #cobroendolares · #trabajoremotord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LIBERTAD · LOGRO · SOLEDAD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+24%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HRSTACKS / KONVOY ·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Altas en plataformas gig desde ciudades tier-2/tier-3 en LATAM y SE Asia.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0" i="0">
                <a:solidFill>
                  <a:srgbClr val="FFFFFF"/>
                </a:solidFill>
                <a:latin typeface="Instrument Serif"/>
              </a:rPr>
              <a:t>Workana
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GIGEXCHANGE / HOLAFLY ·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Workana se consolida como la plataforma freelance #1 para nómadas en Sudamérica.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200" b="0" i="0">
                <a:solidFill>
                  <a:srgbClr val="FFFFFF"/>
                </a:solidFill>
                <a:latin typeface="Instrument Serif"/>
              </a:rPr>
              <a:t>3 Visas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HOLAFLY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Costa Rica, México y Colombia lanzan visas de nómada digital de hasta 1 año.</a:t>
            </a:r>
          </a:p>
        </p:txBody>
      </p:sp>
      <p:pic>
        <p:nvPicPr>
          <p:cNvPr id="27" name="Picture 26" descr="macro-1-2-tiktok-tag-nomadadig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Hashtag #nomadadigital en TikTok — grid con lifestyle remoto de freelancers latinoamericanos.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TIKTOK · 2026</a:t>
            </a:r>
          </a:p>
        </p:txBody>
      </p:sp>
      <p:pic>
        <p:nvPicPr>
          <p:cNvPr id="32" name="Picture 31" descr="macro-1-2-hrstacks-gig-stati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Estadísticas gig economy con datos clave de crecimiento freelance incluyendo +24% desde ciudades tier-2/3.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HRSTACKS · 2025</a:t>
            </a:r>
          </a:p>
        </p:txBody>
      </p:sp>
      <p:pic>
        <p:nvPicPr>
          <p:cNvPr id="37" name="Picture 36" descr="macro-1-2-holafly-nomada-digital-lat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7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Plataformas de trabajo remoto para nómadas digitales con sección 'Best websites to find remote jobs'.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HOLAFLY ·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INVENTOLOGÍA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200" b="0" i="0">
                <a:solidFill>
                  <a:srgbClr val="FFFFFF"/>
                </a:solidFill>
                <a:latin typeface="Instrument Serif"/>
              </a:rPr>
              <a:t>EL TELÉFONO FIJO SE MURIÓ SIN QUE NADIE LO LLORARA: HOY SE FORMA UN HOGAR Y NADIE PREGUNTA DÓNDE SE PONE LA LÍNEA.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Inaugurar la adultez 'poniendo la línea fija' era un rito del siglo XX. Ese rito desapareció sin reemplazo simbólico. El landline se extingue globalmente y los hogares jóvenes nacen mobile-only. INDOTEL reporta un +24% en uso de internet móvil en RD: la conectividad se volvió móvil-céntrica de punta a punta. WhatsApp pasó a ser la infraestructura de comunicación del hogar y la llamada al fijo dejó de existir como gesto.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#sintelefonofijo · #soloWhatsApp · #conectividadrd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PERTENENCIA · CONTROL · VACÍO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nstrument Serif"/>
              </a:rPr>
              <a:t>Mobile
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MICROSOFT AI ECONOMY INSTITUTE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El landline se extingue globalmente; los hogares jóvenes nacen sin teléfono fijo.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+24%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INDOTEL ·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INDOTEL reporta +24% en uso de internet móvil en RD; conectividad 100% móvil-céntrica.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6.2%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DATAREPORTAL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Hogares RD conserva teléfono fijo — nadie está reponiéndolo. El rito de la línea ya se apagó.</a:t>
            </a:r>
          </a:p>
        </p:txBody>
      </p:sp>
      <p:pic>
        <p:nvPicPr>
          <p:cNvPr id="27" name="Picture 26" descr="macro-1-3-indotel-conectividad-movil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Nota oficial INDOTEL sobre +24% uso internet móvil en RD — fuente primaria local con logo institucional.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INDOTEL · 2025</a:t>
            </a:r>
          </a:p>
        </p:txBody>
      </p:sp>
      <p:pic>
        <p:nvPicPr>
          <p:cNvPr id="32" name="Picture 31" descr="macro-1-3-microsoft-ai-economy-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Blog Microsoft con análisis de adopción global de IA en 2025 y referencia a brecha digital por conectividad móvil.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MICROSOFT ON THE ISSUES · ENE 2026</a:t>
            </a:r>
          </a:p>
        </p:txBody>
      </p:sp>
      <p:pic>
        <p:nvPicPr>
          <p:cNvPr id="37" name="Picture 36" descr="macro-1-3-indotel-conectividad-movil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6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Conectividad móvil como nueva base de la vida adulta — la línea fija como marcador que se apagó.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INDOTEL ·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INVENTOLOGÍA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SABER PROMPTEAR ES LA NUEVA ALFABETIZACIÓN: LA BRECHA YA NO ES TENER INTERNET, ES MANEJAR LA IA. EL QUE NO LA USA QUEDA MARCADO COMO ATRASADO.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Antes la competencia adulta se medía en leer, después en usar Excel. Ahora la frontera se corre a la IA. Microsoft describe una brecha digital 'que se ensancha' entre quien domina la IA y quien no. Ya hay +122M de personas usando herramientas gen-AI cada día — 1 de cada 6 globalmente. La consecuencia observable: adultos pagando cursos de IA y mostrando 'cómo uso ChatGPT en mi trabajo' como credencial.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#aprenderIA · #habilidadesdigitales · #upskilling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LOGRO · RECONOCIMIENTO · MIEDO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+122M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DEMANDSAGE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Personas usan herramientas gen-AI cada día; 1 de cada 6 globalmente.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0" i="0">
                <a:solidFill>
                  <a:srgbClr val="FFFFFF"/>
                </a:solidFill>
                <a:latin typeface="Instrument Serif"/>
              </a:rPr>
              <a:t>Brecha
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MICROSOFT ON THE ISSUES · ENE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La adopción de IA en 2025 abre una brecha digital 'que se ensancha' entre quien la domina y quien no.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100K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INDOTEL PLAN BIANUAL 2025-2026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INDOTEL adjudica capacitación en habilidades digitales a 100,000 beneficiarios en RD.</a:t>
            </a:r>
          </a:p>
        </p:txBody>
      </p:sp>
      <p:pic>
        <p:nvPicPr>
          <p:cNvPr id="27" name="Picture 26" descr="macro-1-4-tiktok-tag-apren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Hashtag #aprendia en TikTok — grid de videos sobre aprendizaje de IA en español con thumbnails cargados.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TIKTOK · 2026</a:t>
            </a:r>
          </a:p>
        </p:txBody>
      </p:sp>
      <p:pic>
        <p:nvPicPr>
          <p:cNvPr id="32" name="Picture 31" descr="macro-1-4-demandsage-genai-stati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Estadísticas gen-AI: +122M usuarios diarios, 1 de cada 6 personas globalmente usa herramientas de IA.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DEMANDSAGE · 2026</a:t>
            </a:r>
          </a:p>
        </p:txBody>
      </p:sp>
      <p:pic>
        <p:nvPicPr>
          <p:cNvPr id="37" name="Picture 36" descr="macro-1-4-indotel-capacitacion-digi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7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Sección INDOTEL con referencia al Plan Bianual 2025-2026 de capacitación digital — fuente local.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INDOTEL ·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INVENTOLOGÍA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LA CONSOLA MURIÓ DE PIE EN LA SALA: EL OCIO ADULTO SE MUDÓ DEL LIVING AL TELÉFONO EN LA CAMA, Y EL CUARTO DE JUEGOS FAMILIAR DEJÓ DE SER ALGO QUE SE ASPIRA.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La consola más la TV grande marcaban el hogar acomodado. Ese centro de ocio se desarmó. Menos del 10% de hogares LATAM tiene consola next-gen; el gaming se volvió íntimo, móvil y constante. El mercado gaming LATAM cerró 2025 en US$25.7B con el mobile dominando por pura adopción de smartphone. La consecuencia visible: adultos gastando en skins y gachas del móvil más que en consola, jugando en la cama en vez de la sala.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#mobilegaming · #gamerrd · #jugardesdeelcelular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PLACER · ESCAPE · SOLEDAD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0" i="0">
                <a:solidFill>
                  <a:srgbClr val="FFFFFF"/>
                </a:solidFill>
                <a:latin typeface="Instrument Serif"/>
              </a:rPr>
              <a:t>US$25.7B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MARKETDATAFORECAST ·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Mercado gaming LATAM en 2025; el mobile dominó por adopción de smartphone sobre consola.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89.9%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PESQUISA GAME BRASIL ·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Jugadores brasileños que topan con juegos monetizados pagan al menos una vez.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&lt;10%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LAVGA / TERRA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Hogares LATAM posee consola next-gen; 300M+ gamers, casi todos móviles.</a:t>
            </a:r>
          </a:p>
        </p:txBody>
      </p:sp>
      <p:pic>
        <p:nvPicPr>
          <p:cNvPr id="27" name="Picture 26" descr="macro-1-5-tiktok-tag-mobileg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Hashtag #mobilegaming en TikTok — gameplay móvil como el ocio dominante, sin consola.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TIKTOK · 2026</a:t>
            </a:r>
          </a:p>
        </p:txBody>
      </p:sp>
      <p:pic>
        <p:nvPicPr>
          <p:cNvPr id="32" name="Picture 31" descr="macro-1-5-marketdataforecast-latam-videoga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Reporte con market overview, gráfico de crecimiento y breakdown por segmento (mobile dominante) LATAM.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MARKETDATAFORECAST · 2025</a:t>
            </a:r>
          </a:p>
        </p:txBody>
      </p:sp>
      <p:pic>
        <p:nvPicPr>
          <p:cNvPr id="37" name="Picture 36" descr="macro-1-5-terra-latam-gaming-mar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7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Análisis del mercado gaming LATAM US$25.7B con breakdown de plataformas — mobile vs consola &lt;10%.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TERRA LOCALIZATIONS · JUL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67047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A0A0A0"/>
                </a:solidFill>
                <a:latin typeface="Poppins"/>
              </a:rPr>
              <a:t>MACRO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847" y="2453640"/>
            <a:ext cx="11430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0" b="0" i="0">
                <a:solidFill>
                  <a:srgbClr val="FFFFFF"/>
                </a:solidFill>
                <a:latin typeface="Instrument Serif"/>
              </a:rPr>
              <a:t>LOS HERNÁNDEZ ARE PROMPTED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647" y="4942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1">
                <a:solidFill>
                  <a:srgbClr val="A0A0A0"/>
                </a:solidFill>
                <a:latin typeface="Instrument Serif"/>
              </a:rPr>
              <a:t>“El dominicano ya entró al mundo prompteado. Solo no lo nombra así.”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HERNÁNDEZ PROMPTED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EL BANCO REAL YA NO TIENE EDIFICIO: CIENTOS DE MILES DE DOMINICANOS MUEVEN TODA SU PLATA DESDE UNA APP Y A ESO NO LE LLAMAN FINTECH, LE LLAMAN NORMAL.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La banca era un edificio al que ibas. Dejó de serlo. Neobancos como Qik y wallets como tPago volvieron la app el banco principal de cientos de miles de dominicanos: Qik superó 600,000 clientes, tPago 556,000 registrados, y la banca digital RD creció 20% interanual. Los pagos digitales se proyectan a US$7.91B en 2028. El comportamiento observable: pagar la luz, enviarle a un familiar y ahorrar sin pisar una sucursal.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#qikrd · #pagocontelefono · #neobanco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CONTROL · SEGURIDAD · MIEDO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600K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GLOBAL FINANCE / FINTECH TIMES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Qik superó 600,000 clientes; tPago 556,000 registrados; banca digital RD +20% interanual.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0" i="0">
                <a:solidFill>
                  <a:srgbClr val="FFFFFF"/>
                </a:solidFill>
                <a:latin typeface="Instrument Serif"/>
              </a:rPr>
              <a:t>US$7.91B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STATISTA · 2024-2028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Pagos digitales RD proyectados a US$7.91B en 2028, creciendo 9.07% anual.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200" b="0" i="0">
                <a:solidFill>
                  <a:srgbClr val="FFFFFF"/>
                </a:solidFill>
                <a:latin typeface="Instrument Serif"/>
              </a:rPr>
              <a:t>50+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GLOBAL FINANCE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Fintechs operando en RD (vs 20 en 2018), con respaldo regulatorio del BCRD.</a:t>
            </a:r>
          </a:p>
        </p:txBody>
      </p:sp>
      <p:pic>
        <p:nvPicPr>
          <p:cNvPr id="27" name="Picture 26" descr="macro-2-1-fintechtimes-rd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Artículo 'Fintech Landscape of the Dominican Republic in 2026' con hero foto aérea de Santo Domingo.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THE FINTECH TIMES · 2026</a:t>
            </a:r>
          </a:p>
        </p:txBody>
      </p:sp>
      <p:pic>
        <p:nvPicPr>
          <p:cNvPr id="32" name="Picture 31" descr="macro-2-1-statista-digital-payments-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Dashboard Statista con proyección de pagos digitales RD y chart de Transaction Value 2018-2030.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STATISTA · 2025</a:t>
            </a:r>
          </a:p>
        </p:txBody>
      </p:sp>
      <p:pic>
        <p:nvPicPr>
          <p:cNvPr id="37" name="Picture 36" descr="macro-2-1-tiktok-tag-qik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7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Hashtag #qikrd en TikTok — onboarding y demos cotidianas de pago móvil dominicano.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TIKTOK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HERNÁNDEZ PROMPTED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EL CUERPO DE LA FAMILIA SE VOLVIÓ UN PANEL DE DATOS: EL RELOJ CUENTA EL SUEÑO Y LOS PASOS, Y LA CONSULTA MÉDICA PASÓ A SER UNA VIDEOLLAMADA.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La salud entraba al hogar como cita: ibas al doctor. El wearable la convirtió en métrica que vive en la muñeca. El mercado de dispositivos médicos wearables va hacia US$499.2B en 2035 (CAGR 21.6%). En LATAM hay demanda alta de smartwatches y fitness trackers por urbanización y conciencia de salud, mientras Philips despliega biosensores para monitoreo cardíaco post-alta y la teleconsulta escala en Colombia y Brasil.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#smartwatch · #telemedicina · #saluddigital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SEGURIDAD · CONTROL · MIEDO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200" b="0" i="0">
                <a:solidFill>
                  <a:srgbClr val="FFFFFF"/>
                </a:solidFill>
                <a:latin typeface="Instrument Serif"/>
              </a:rPr>
              <a:t>US$499B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MARKETSANDMARKETS / PRNEWSWIRE ·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Mercado de dispositivos médicos wearables hacia US$499.2B en 2035 (CAGR 21.6%).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nstrument Serif"/>
              </a:rPr>
              <a:t>LATAM
Salud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MARKETDATAFORECAST LATAM ·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Philips despliega biosensores wearables para monitoreo cardíaco post-alta en Argentina; teleconsulta masiva en Colombia y Brasil.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nstrument Serif"/>
              </a:rPr>
              <a:t>Alta
Demanda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MAXIMIZE MARKET RESEARCH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Demanda alta de smartwatches y fitness trackers en LATAM por urbanización y conciencia de salud.</a:t>
            </a:r>
          </a:p>
        </p:txBody>
      </p:sp>
      <p:pic>
        <p:nvPicPr>
          <p:cNvPr id="27" name="Picture 26" descr="macro-2-2-prnewswire-wearables-4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Press release con infografía mercado wearables médicos: US$499.2B para 2035, CAGR 21.6%, pie chart.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MARKETSANDMARKETS VIA PRNEWSWIRE · 2025</a:t>
            </a:r>
          </a:p>
        </p:txBody>
      </p:sp>
      <p:pic>
        <p:nvPicPr>
          <p:cNvPr id="32" name="Picture 31" descr="macro-2-2-marketdataforecast-latam-digital-heal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Reporte salud digital LATAM con overview incluyendo telesalud y wearables — crecimiento y actores clave.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MARKETDATAFORECAST · 2025</a:t>
            </a:r>
          </a:p>
        </p:txBody>
      </p:sp>
      <p:pic>
        <p:nvPicPr>
          <p:cNvPr id="37" name="Picture 36" descr="macro-2-2-maximize-latam-wearab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7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Reporte wearables LATAM con múltiples charts de segmentación y datos de CAGR por producto y geografía.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MAXIMIZE MARKET RESEARCH ·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HERNÁNDEZ PROMPTED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LA CASA EMPEZÓ A TENER OÍDOS: CÁMARAS, BOMBILLOS Y BOCINAS CON VOZ ENTRAN AL HOGAR URBANO LATAM, Y EL DUEÑO LA MANEJA DESDE EL SOFÁ HABLÁNDOLE EN VOZ ALTA.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El smart home era lujo gringo de película. Dejó de serlo. Cámaras, bombillos, cerraduras y bocinas con voz entran a hogares urbanos LATAM por seguridad y por status: el mercado va de US$3.4B (2025) a US$8.2B+, y 45% de hogares urbanos de clase media ya compró un producto smart. México lidera con +38% interanual en dispositivos conectados, y Sudamérica proyecta 90.8% de penetración para 2029.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#smarthome · #alexarutina · #domotica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SEGURIDAD · CONTROL · RECONOCIMIENTO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200" b="0" i="0">
                <a:solidFill>
                  <a:srgbClr val="FFFFFF"/>
                </a:solidFill>
                <a:latin typeface="Instrument Serif"/>
              </a:rPr>
              <a:t>US$3.4B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IMARC / NEXTMSC ·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Smart home LATAM (2025) → US$8.2B+; 45% de hogares urbanos de clase media ya compró un producto smart.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+38%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NEXTMSC ·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México lidera la región con +38% interanual en ventas de dispositivos conectados.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90.8%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STATISTA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Penetración de smart home en hogares sudamericanos llegará a 90.8% en 2029.</a:t>
            </a:r>
          </a:p>
        </p:txBody>
      </p:sp>
      <p:pic>
        <p:nvPicPr>
          <p:cNvPr id="27" name="Picture 26" descr="macro-2-3-statista-smarthome-southame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Dashboard Statista Smart Home Sudamérica con chart de Revenue 2018-2029 por segmento — proyección 90.8%.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STATISTA MARKET INSIGHTS · ABR 2026</a:t>
            </a:r>
          </a:p>
        </p:txBody>
      </p:sp>
      <p:pic>
        <p:nvPicPr>
          <p:cNvPr id="32" name="Picture 31" descr="macro-2-3-imarc-smart-home-lat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Portada del reporte smart home LATAM con market overview — US$3.4B 2025, 45% hogares urbanos clase media.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IMARC GROUP · 2025</a:t>
            </a:r>
          </a:p>
        </p:txBody>
      </p:sp>
      <p:pic>
        <p:nvPicPr>
          <p:cNvPr id="37" name="Picture 36" descr="macro-2-3-nextmsc-mexico-smart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7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Reporte smart home México con hero image y headline de +38% interanual en ventas de dispositivos conectados.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NEXTMSC ·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HERNÁNDEZ PROMPTED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LLEGA EL MOMENTO INCÓMODO: YA NO LE PIDES A LA IA QUE RECOMIENDE, LE PIDES QUE COMPRE. RUFUS EJECUTA SOLO AL PRECIO OBJETIVO Y EL HUMANO SOLO PONE LAS REGLAS.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La IA recomendaba; tú decidías y comprabas. Esa frontera se está cruzando. Rufus llegó a 250M de usuarios al mes (+140% interanual) y ahora compra autónomamente al precio objetivo; OpenAI lanzó Operator para hacer clic, scroll y ordenar con eBay, Instacart y Etsy; Amazon pivota a un agente de compra en Alexa. El reto medible es la confianza: 48% confiaría en IA para recomendar, pero solo 20% para que compre.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#agenticAI · #compraautomatica · #shoppingbot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CONTROL · PLACER · MIEDO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250M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AWS / NOVADATA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Usuarios/mes de Rufus, +140% interanual; ahora compra autónomamente al precio objetivo.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0" i="0">
                <a:solidFill>
                  <a:srgbClr val="FFFFFF"/>
                </a:solidFill>
                <a:latin typeface="Instrument Serif"/>
              </a:rPr>
              <a:t>48%
vs 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AI TRENDS STUDY 2026 (N=1,037)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48% confiaría en IA para recomendar productos, solo 20% para que compre — la brecha de confianza agentic.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0" i="0">
                <a:solidFill>
                  <a:srgbClr val="FFFFFF"/>
                </a:solidFill>
                <a:latin typeface="Instrument Serif"/>
              </a:rPr>
              <a:t>Operator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CNBC · 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OpenAI lanza Operator (clic/scroll/orden) con eBay, Instacart, Etsy; Amazon pivota a Alexa shopping agéntico.</a:t>
            </a:r>
          </a:p>
        </p:txBody>
      </p:sp>
      <p:pic>
        <p:nvPicPr>
          <p:cNvPr id="27" name="Picture 26" descr="macro-2-4-novadata-rufus-250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Noticia sobre Rufus con 250M usuarios/mes y capacidad de auto-compra al precio objetivo.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NOVADATA · 2025</a:t>
            </a:r>
          </a:p>
        </p:txBody>
      </p:sp>
      <p:pic>
        <p:nvPicPr>
          <p:cNvPr id="32" name="Picture 31" descr="macro-2-4-forrester-agentic-comme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Blog Forrester 'Power Couple OpenAI + Amazon May Have Just Won Consumer Agentic Commerce' — dato 48%/20%.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FORRESTER · MAR 2026</a:t>
            </a:r>
          </a:p>
        </p:txBody>
      </p:sp>
      <p:pic>
        <p:nvPicPr>
          <p:cNvPr id="37" name="Picture 36" descr="macro-2-4-cnbc-amazon-alexa-shopping-ag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7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CNBC: 'Amazon Ditches Rufus AI Chatbot in Favor of Alexa Shopping Agent' — el pivote al comercio agéntico.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CNBC · MAY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HERNÁNDEZ PROMPTED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2200" b="0" i="0">
                <a:solidFill>
                  <a:srgbClr val="FFFFFF"/>
                </a:solidFill>
                <a:latin typeface="Instrument Serif"/>
              </a:rPr>
              <a:t>LOS PADRES SON LOS POWER USERS QUE NADIE VIO VENIR: USAN CHATGPT MÁS QUE QUIEN NO TIENE HIJOS, Y NO PARA LA TAREA, SINO PARA EL MENÚ, LOS BERRINCHES Y SUS PROPIAS EMOCIONES.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ChatGPT empezó haciendo la tarea escolar. Terminó copilotando el hogar. Un estudio de OpenAI con Harvard reporta que 79% de padres usa IA frente a 54% de no-padres, y el uso no laboral pasó de 53% (jun-2024) a más de 70% en 2025. Lo que hacen es concreto: planear comidas, redactar la lista del súper, manejar un berrinche, gestionar sus propias emociones. LATAM ya es usuario diario activo — Brasil 5.8% del uso global.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#chatgptmama · #IAenlacasa · #parentingAI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APOYO · PERTENENCIA · CULPA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200" b="0" i="0">
                <a:solidFill>
                  <a:srgbClr val="FFFFFF"/>
                </a:solidFill>
                <a:latin typeface="Instrument Serif"/>
              </a:rPr>
              <a:t>79%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OPENAI + HARVARD (DEMING) · SEPT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De padres usa IA vs 54% de no-padres; uso no laboral pasó de 53% (jun-2024) a +70% (2025).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nstrument Serif"/>
              </a:rPr>
              <a:t>Menú
Crianza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BOSTON GLOBE / CNBC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Padres usan ChatGPT para planear comidas, listas de súper, berrinches y sus propias emociones.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nstrument Serif"/>
              </a:rPr>
              <a:t>Brasil
5.8%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DEMANDSAGE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Brasil 5.8% del uso global de ChatGPT, México 4.1%, Colombia 1.6% — LATAM ya es usuario diario activo.</a:t>
            </a:r>
          </a:p>
        </p:txBody>
      </p:sp>
      <p:pic>
        <p:nvPicPr>
          <p:cNvPr id="27" name="Picture 26" descr="macro-2-5-bostonglobe-ai-parenthood-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Boston Globe Magazine sobre IA en crianza moderna — fotografía editorial y dato 79% de padres usa IA.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THE BOSTON GLOBE MAGAZINE · ENE 2026</a:t>
            </a:r>
          </a:p>
        </p:txBody>
      </p:sp>
      <p:pic>
        <p:nvPicPr>
          <p:cNvPr id="32" name="Picture 31" descr="macro-2-5-cnbc-ai-parenting-chatbo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CNBC sobre uso de chatbots para consejos de crianza — padres usan ChatGPT para planear comidas y berrinches.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CNBC · ENE 2026</a:t>
            </a:r>
          </a:p>
        </p:txBody>
      </p:sp>
      <p:pic>
        <p:nvPicPr>
          <p:cNvPr id="37" name="Picture 36" descr="macro-2-5-demandsage-chatgpt-lat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7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Dashboard estadísticas ChatGPT 2026 con datos LATAM: Brasil 5.8%, México 4.1%, Colombia 1.6% del uso global.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DEMANDSAGE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67047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A0A0A0"/>
                </a:solidFill>
                <a:latin typeface="Poppins"/>
              </a:rPr>
              <a:t>MACRO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847" y="2453640"/>
            <a:ext cx="11430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0" b="0" i="0">
                <a:solidFill>
                  <a:srgbClr val="FFFFFF"/>
                </a:solidFill>
                <a:latin typeface="Instrument Serif"/>
              </a:rPr>
              <a:t>ALGORITMO DEL HOGAR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647" y="4942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1">
                <a:solidFill>
                  <a:srgbClr val="A0A0A0"/>
                </a:solidFill>
                <a:latin typeface="Instrument Serif"/>
              </a:rPr>
              <a:t>“El feed se sentó en la mesa y nadie le ofreció silla.”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3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ALGORITMO DEL HOGAR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EL FEED SE VOLVIÓ GÓNDOLA: EN LATAM EL LO VI Y LO COMPRÉ AHÍ MISMO CORRE A US$20B Y REEMPLAZA LA LISTA DE COMPRAS POR EL HAUL DE IMPULSO.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La compra arrancaba con una lista. Ahora arranca con un scroll. TikTok Shop convierte el feed en góndola sin fricción —belleza, hogar, accesorios— y ya es ~20% del social commerce. En LATAM los usuarios pasan +70 min/día en la app y el social commerce se proyecta a US$172.4B en 2025. El comportamiento observable: comprar dentro de TikTok lo que mostró un creador y grabar hauls de 'TikTok me hizo comprar'.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#tiktokmehizocomprar · #tiktokshop · #haul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PLACER · PERTENENCIA · VACÍO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~20%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EMARKETER ·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TikTok Shop = ~20% del social commerce en 2025.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200" b="0" i="0">
                <a:solidFill>
                  <a:srgbClr val="FFFFFF"/>
                </a:solidFill>
                <a:latin typeface="Instrument Serif"/>
              </a:rPr>
              <a:t>+70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AWISEE ·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Usuarios LATAM pasan +70 min/día en la app; categorías top: belleza, skincare, accesorios, hogar.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200" b="0" i="0">
                <a:solidFill>
                  <a:srgbClr val="FFFFFF"/>
                </a:solidFill>
                <a:latin typeface="Instrument Serif"/>
              </a:rPr>
              <a:t>US$172B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GLOBENEWSWIRE / GALILEO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Social commerce LATAM US$172.4B (2025); +60% sigue influencers que venden.</a:t>
            </a:r>
          </a:p>
        </p:txBody>
      </p:sp>
      <p:pic>
        <p:nvPicPr>
          <p:cNvPr id="27" name="Picture 26" descr="macro-3-1-emarketer-tiktokshop-20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Press release EMARKETER con gráfico 'TikTok Shop Retail Ecommerce Sales US 2023-2027' — share ~20%.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EMARKETER · 2025</a:t>
            </a:r>
          </a:p>
        </p:txBody>
      </p:sp>
      <p:pic>
        <p:nvPicPr>
          <p:cNvPr id="32" name="Picture 31" descr="macro-3-1-awisee-tiktokshop-lat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Artículo sobre TikTok Shop en LATAM — hero con imagen y datos de categorías top (belleza, hogar, accesorios).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AWISEE · 2025</a:t>
            </a:r>
          </a:p>
        </p:txBody>
      </p:sp>
      <p:pic>
        <p:nvPicPr>
          <p:cNvPr id="37" name="Picture 36" descr="macro-3-1-awisee-tiktokshop-lat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5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Social commerce LATAM US$172.4B en 2025 — el carrito se llena con lo que el algoritmo decidió mostrar.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AWISEE ·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3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ALGORITMO DEL HOGAR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TU HIJO YA TIENE UN MEJOR AMIGO QUE NUNCA LO CONTRADICE: 72% DE ADOLESCENTES USÓ UN COMPAÑERO DE IA Y 1 DE CADA 4 LE CONFÍA SECRETOS REALES.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El confidente del adolescente era un amigo, un hermano, a veces un padre. Llegó un competidor diseñado para nunca contradecirlo. 72% de adolescentes ya usó compañeros de IA; 23% les confía 'bastante o completamente'; 25% comparte nombre, ubicación y secretos reales. Ya hay demandas contra Character.AI por daño emocional a menores y la APA alerta de un reformateo del vínculo afectivo.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#characterai · #aicompanion · #aifriend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PERTENENCIA · APOYO · SOLEDAD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200" b="0" i="0">
                <a:solidFill>
                  <a:srgbClr val="FFFFFF"/>
                </a:solidFill>
                <a:latin typeface="Instrument Serif"/>
              </a:rPr>
              <a:t>72%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COMMON SENSE MEDIA ·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De adolescentes usó compañeros de IA; 23% les confía 'bastante/completamente'; 25% comparte datos reales.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200" b="0" i="0">
                <a:solidFill>
                  <a:srgbClr val="FFFFFF"/>
                </a:solidFill>
                <a:latin typeface="Instrument Serif"/>
              </a:rPr>
              <a:t>33%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COMMON SENSE MEDIA · JUL 2025 (N=1,060)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De adolescentes prefiere hablar con IA que con personas para temas serios.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nstrument Serif"/>
              </a:rPr>
              <a:t>Demandas
Char.AI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AXIOS / APA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Demandas contra Character.AI por daño emocional a menores; la APA alerta del reformateo del vínculo afectivo.</a:t>
            </a:r>
          </a:p>
        </p:txBody>
      </p:sp>
      <p:pic>
        <p:nvPicPr>
          <p:cNvPr id="27" name="Picture 26" descr="macro-3-2-commonsense-ai-companions-72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Press release Common Sense Media: 72% teens usó AI companions, 23% confía bastante, 25% comparte datos.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COMMON SENSE MEDIA · JUL 2025</a:t>
            </a:r>
          </a:p>
        </p:txBody>
      </p:sp>
      <p:pic>
        <p:nvPicPr>
          <p:cNvPr id="32" name="Picture 31" descr="macro-3-2-commonsense-ai-companions-72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3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Estudio n=1,060 con hallazgos clave — 33% prefiere la IA para temas serios. La familia compite con un chatbot.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COMMON SENSE MEDIA · JUL 2025</a:t>
            </a:r>
          </a:p>
        </p:txBody>
      </p:sp>
      <p:pic>
        <p:nvPicPr>
          <p:cNvPr id="37" name="Picture 36" descr="macro-3-2-commonsense-ai-companions-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3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Reporte completo de AI companions en adolescentes — reformateo del vínculo afectivo y riesgo de sobre-dependencia.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COMMON SENSE MEDIA · JUL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3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ALGORITMO DEL HOGAR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EL FEED REEMPLAZÓ A LA ABUELA COMO AUTORIDAD: LO QUE SE COCINA Y CÓMO SE CRÍA LO DICTA LA PANTALLA, Y DESPUÉS SE CRUZA CON CHATGPT PARA CONFIRMARLO.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La autoridad de cómo cocinar y criar venía de la abuela, de la madre, de la tradición. Se mudó al feed. Las recetas virales, los 'what I feed my kid' y los consejos de crianza del scroll reemplazan a la transmisión familiar. Padres son los power users inesperados de IA (79%), usándola para planear comidas y crianza, así que el consejo del feed se cruza con ChatGPT como segunda opinión. 15% de consumidores globales compra un producto solo porque es tendencia en TikTok.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#recetatiktok · #whatmykideats · #cocinaviral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APOYO · RECONOCIMIENTO · CULPA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200" b="0" i="0">
                <a:solidFill>
                  <a:srgbClr val="FFFFFF"/>
                </a:solidFill>
                <a:latin typeface="Instrument Serif"/>
              </a:rPr>
              <a:t>79%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OPENAI + HARVARD ·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Padres son los power users inesperados de IA, usándola para planear comidas y crianza.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200" b="0" i="0">
                <a:solidFill>
                  <a:srgbClr val="FFFFFF"/>
                </a:solidFill>
                <a:latin typeface="Instrument Serif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SAP EMARSYS ·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De consumidores globales compra productos solo porque son tendencia en TikTok.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0" i="0">
                <a:solidFill>
                  <a:srgbClr val="FFFFFF"/>
                </a:solidFill>
                <a:latin typeface="Instrument Serif"/>
              </a:rPr>
              <a:t>Hogar
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AWISEE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Categorías hogar y comida entre las top en TikTok Shop LATAM; recetas y rutinas de crianza dominan el feed.</a:t>
            </a:r>
          </a:p>
        </p:txBody>
      </p:sp>
      <p:pic>
        <p:nvPicPr>
          <p:cNvPr id="27" name="Picture 26" descr="macro-3-3-bostonglobe-feed-crian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Fotografía editorial Boston Globe: padres que usan IA para planear comidas y crianza — el feed como co-autoridad.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THE BOSTON GLOBE MAGAZINE · ENE 2026</a:t>
            </a:r>
          </a:p>
        </p:txBody>
      </p:sp>
      <p:pic>
        <p:nvPicPr>
          <p:cNvPr id="32" name="Picture 31" descr="macro-3-3-awisee-feed-recetas-hog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Artículo Awisee mostrando categorías top de TikTok Shop LATAM incluyendo hogar y comida.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AWISEE · 2025</a:t>
            </a:r>
          </a:p>
        </p:txBody>
      </p:sp>
      <p:pic>
        <p:nvPicPr>
          <p:cNvPr id="37" name="Picture 36" descr="macro-3-3-awisee-feed-recetas-hog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5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El consejo del feed se valida en TikTok primero — la abuela sigue ahí, pero opina después del algoritmo.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AWISEE ·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3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ALGORITMO DEL HOGAR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EL MISMO FEED QUE VENDE TAMBIÉN ESTAFA: EL PHISHING POR WHATSAPP Y LOS ESQUEMAS CRIPTO ENTRAN POR EL GRUPO FAMILIAR Y VAN DIRECTO A LOS MAYORES.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La infraestructura digital del hogar es también su superficie de ataque más vulnerable. LATAM subió 108% interanual en amenazas cibernéticas en el Q1 2025, con la ingeniería social vía phishing como driver principal. Meta desactivó ~8M de cuentas ligadas a centros de estafa que apuntan a personas mayores. En grupos públicos de WhatsApp latinos circularon 3,000+ mensajes fraudulentos entre enero y septiembre 2025, alcanzando 192,000+ usuarios.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#estafawhatsapp · #fraudedigital · #ciberseguridadrd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SEGURIDAD · APOYO · MIEDO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Instrument Serif"/>
              </a:rPr>
              <a:t>+108%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INDUSTRIAL CYBER ·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LATAM en amenazas cibernéticas (Q1 2025); ingeniería social vía phishing como driver principal.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200" b="0" i="0">
                <a:solidFill>
                  <a:srgbClr val="FFFFFF"/>
                </a:solidFill>
                <a:latin typeface="Instrument Serif"/>
              </a:rPr>
              <a:t>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THE HACKER NEWS / MALWAREBYTES ·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Cuentas desactivadas por Meta ligadas a centros de estafa que apuntan a personas mayores vía mensajería.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200" b="0" i="0">
                <a:solidFill>
                  <a:srgbClr val="FFFFFF"/>
                </a:solidFill>
                <a:latin typeface="Instrument Serif"/>
              </a:rPr>
              <a:t>3,000+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DDIA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Mensajes fraudulentos en grupos públicos de WhatsApp latinos (ene-sept 2025), alcanzando 192,000+ usuarios.</a:t>
            </a:r>
          </a:p>
        </p:txBody>
      </p:sp>
      <p:pic>
        <p:nvPicPr>
          <p:cNvPr id="27" name="Picture 26" descr="macro-3-4-ddia-whatsapp-scam-lati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Investigación DDIA: 3,000+ mensajes fraudulentos en grupos WhatsApp latinos, 192,000+ usuarios alcanzados.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DDIA · 2025</a:t>
            </a:r>
          </a:p>
        </p:txBody>
      </p:sp>
      <p:pic>
        <p:nvPicPr>
          <p:cNvPr id="32" name="Picture 31" descr="macro-3-4-industrialcyber-latam-phish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Artículo con hero gráfico 'Las 1 in 3' y headline sobre incremento de ransomware y phishing LATAM +108%.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INDUSTRIAL CYBER · 2025</a:t>
            </a:r>
          </a:p>
        </p:txBody>
      </p:sp>
      <p:pic>
        <p:nvPicPr>
          <p:cNvPr id="37" name="Picture 36" descr="macro-3-4-hackernews-meta-scam-too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7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Meta desactiva 8M cuentas de estafa y lanza herramientas de protección para personas mayores.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THE HACKER NEWS · OCT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777240" cy="201168"/>
          </a:xfrm>
          <a:prstGeom prst="rect">
            <a:avLst/>
          </a:prstGeom>
          <a:solidFill>
            <a:srgbClr val="E8E8E8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 i="0">
                <a:solidFill>
                  <a:srgbClr val="000000"/>
                </a:solidFill>
                <a:latin typeface="Poppins"/>
              </a:rPr>
              <a:t>MACRO 3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20040"/>
            <a:ext cx="2011680" cy="201168"/>
          </a:xfrm>
          <a:prstGeom prst="rect">
            <a:avLst/>
          </a:prstGeom>
          <a:noFill/>
          <a:ln w="317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0" i="0">
                <a:solidFill>
                  <a:srgbClr val="A0A0A0"/>
                </a:solidFill>
                <a:latin typeface="Poppins"/>
              </a:rPr>
              <a:t>ALGORITMO DEL HOGAR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6778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749808"/>
            <a:ext cx="3698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014984"/>
            <a:ext cx="11460175" cy="0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55338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6356" y="1152144"/>
            <a:ext cx="0" cy="5431536"/>
          </a:xfrm>
          <a:prstGeom prst="line">
            <a:avLst/>
          </a:prstGeom>
          <a:ln w="9525">
            <a:solidFill>
              <a:srgbClr val="FFFF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152144"/>
            <a:ext cx="36066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Instrument Serif"/>
              </a:rPr>
              <a:t>EL NIÑO VIVE EN EL FEED Y LA BARRERA LLEGA TARDE: SOLO LA MITAD DE LOS PADRES USA CONTROLES PARENTALES, Y LA FAMILIA DESCUBRE DESPUÉS QUÉ CONSUMIÓ EL HIJO.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552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8144"/>
            <a:ext cx="360669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La preocupación por las pantallas es alta; el uso de controles, bajo. Solo 51% de padres usa controles parentales en tablets, 47% en smartphones y 35% en consolas. La APA vincula el screen time con problemas emocionales infantiles en un círculo vicioso. En RD, 89% de usuarios de internet accede a redes diariamente en un país con 88.6% de penetración: el menor accede al algoritmo temprano y poco mediado.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38344"/>
            <a:ext cx="36066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300" b="0" i="0">
                <a:solidFill>
                  <a:srgbClr val="FFFFFF"/>
                </a:solidFill>
                <a:latin typeface="Instrument Serif"/>
              </a:rPr>
              <a:t>#controlparental · #crianzadigital · #screentime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36981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0A0A0"/>
                </a:solidFill>
                <a:latin typeface="Poppins"/>
              </a:rPr>
              <a:t>3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07024"/>
            <a:ext cx="36066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Instrument Serif"/>
              </a:rPr>
              <a:t>SEGURIDAD · CONTROL · CULPA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778" y="11521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200" b="0" i="0">
                <a:solidFill>
                  <a:srgbClr val="FFFFFF"/>
                </a:solidFill>
                <a:latin typeface="Instrument Serif"/>
              </a:rPr>
              <a:t>51%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6778" y="22951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FOSI ·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09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De padres usa controles parentales en tablets, 47% en smartphones, 35% en consolas.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778" y="2962656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0" i="0">
                <a:solidFill>
                  <a:srgbClr val="FFFFFF"/>
                </a:solidFill>
                <a:latin typeface="Instrument Serif"/>
              </a:rPr>
              <a:t>APA
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105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APA · JUN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09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Estudio APA vincula screen time y problemas emocionales infantiles en círculo vicioso.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78" y="4773168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200" b="0" i="0">
                <a:solidFill>
                  <a:srgbClr val="FFFFFF"/>
                </a:solidFill>
                <a:latin typeface="Instrument Serif"/>
              </a:rPr>
              <a:t>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778" y="591616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DATAREPORTAL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409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De usuarios de internet en RD accede a redes diariamente; exposición infantil temprana con 88.6% de penetración.</a:t>
            </a:r>
          </a:p>
        </p:txBody>
      </p:sp>
      <p:pic>
        <p:nvPicPr>
          <p:cNvPr id="27" name="Picture 26" descr="macro-3-5-fosi-parental-controls-51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6" y="1152144"/>
            <a:ext cx="1892300" cy="2794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37496" y="1075944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9" name="Rectangle 28">
            <a:hlinkClick r:id="rId3"/>
          </p:cNvPr>
          <p:cNvSpPr/>
          <p:nvPr/>
        </p:nvSpPr>
        <p:spPr>
          <a:xfrm>
            <a:off x="8127796" y="1152144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3248" y="1289304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Estudio FOSI 2025 sobre subutilización de controles parentales — 51% tablets, 47% smartphones, 35% consolas.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3248" y="1752092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FOSI · 2025</a:t>
            </a:r>
          </a:p>
        </p:txBody>
      </p:sp>
      <p:pic>
        <p:nvPicPr>
          <p:cNvPr id="32" name="Picture 31" descr="macro-3-5-apa-screentime-childr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962656"/>
            <a:ext cx="1892300" cy="279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37496" y="2886456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4" name="Rectangle 33">
            <a:hlinkClick r:id="rId5"/>
          </p:cNvPr>
          <p:cNvSpPr/>
          <p:nvPr/>
        </p:nvSpPr>
        <p:spPr>
          <a:xfrm>
            <a:off x="8127796" y="2962656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3248" y="3099816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Press release APA vinculando screen time con problemas emocionales infantiles en un círculo vicioso.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3248" y="3562604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APA · JUN 2025</a:t>
            </a:r>
          </a:p>
        </p:txBody>
      </p:sp>
      <p:pic>
        <p:nvPicPr>
          <p:cNvPr id="37" name="Picture 36" descr="macro-3-5-datareportal-rd-redes-diar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773168"/>
            <a:ext cx="1892300" cy="2794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537496" y="4696968"/>
            <a:ext cx="584200" cy="177800"/>
          </a:xfrm>
          <a:prstGeom prst="round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9" name="Rectangle 38">
            <a:hlinkClick r:id="rId7"/>
          </p:cNvPr>
          <p:cNvSpPr/>
          <p:nvPr/>
        </p:nvSpPr>
        <p:spPr>
          <a:xfrm>
            <a:off x="8127796" y="4773168"/>
            <a:ext cx="1892300" cy="279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248" y="4910328"/>
            <a:ext cx="2159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Poppins"/>
              </a:rPr>
              <a:t>Informe Digital 2025 RD: 89% de usuarios accede a redes diariamente — contexto de exposición infantil.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248" y="5373116"/>
            <a:ext cx="2159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66666"/>
                </a:solidFill>
                <a:latin typeface="Poppins"/>
              </a:rPr>
              <a:t>DATAREPORTAL ·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