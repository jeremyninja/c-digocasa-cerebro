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atareportal.com/reports/digital-2025-dominican-republic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www.konvoy.vc/newsletters/latams-local-gig-economy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www.tiktok.com/tag/emprenderdominican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tiktok.com/tag/nomadadigital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www.hrstacks.com/gig-economy-freelance-work-statistics/" TargetMode="External"/><Relationship Id="rId6" Type="http://schemas.openxmlformats.org/officeDocument/2006/relationships/image" Target="../media/image5.png"/><Relationship Id="rId7" Type="http://schemas.openxmlformats.org/officeDocument/2006/relationships/hyperlink" Target="https://esim.holafly.com/digital-nomad/digital-nomad-jobs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indotel.gob.do/indotel-revela-incremento-en-los-niveles-de-conectividad-fija-y-movil-en-la-republica-dominicana-un-aumento-de-un-24-en-uso-de-internet-movil-en-rd/" TargetMode="External"/><Relationship Id="rId4" Type="http://schemas.openxmlformats.org/officeDocument/2006/relationships/image" Target="../media/image7.png"/><Relationship Id="rId5" Type="http://schemas.openxmlformats.org/officeDocument/2006/relationships/hyperlink" Target="https://blogs.microsoft.com/on-the-issues/2026/01/08/global-ai-adoption-in-2025/" TargetMode="External"/><Relationship Id="rId6" Type="http://schemas.openxmlformats.org/officeDocument/2006/relationships/image" Target="../media/image1.png"/><Relationship Id="rId7" Type="http://schemas.openxmlformats.org/officeDocument/2006/relationships/hyperlink" Target="https://www.mercadolibre.com.do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tiktok.com/tag/aprendia" TargetMode="External"/><Relationship Id="rId4" Type="http://schemas.openxmlformats.org/officeDocument/2006/relationships/image" Target="../media/image8.png"/><Relationship Id="rId5" Type="http://schemas.openxmlformats.org/officeDocument/2006/relationships/hyperlink" Target="https://www.demandsage.com/generative-ai-statistics/" TargetMode="External"/><Relationship Id="rId6" Type="http://schemas.openxmlformats.org/officeDocument/2006/relationships/image" Target="../media/image9.png"/><Relationship Id="rId7" Type="http://schemas.openxmlformats.org/officeDocument/2006/relationships/hyperlink" Target="https://indotel.gob.do/acceso-e-infraestructura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www.tiktok.com/tag/mobilegaming" TargetMode="External"/><Relationship Id="rId4" Type="http://schemas.openxmlformats.org/officeDocument/2006/relationships/image" Target="../media/image10.png"/><Relationship Id="rId5" Type="http://schemas.openxmlformats.org/officeDocument/2006/relationships/hyperlink" Target="https://www.marketdataforecast.com/market-reports/latin-america-video-game-market" TargetMode="External"/><Relationship Id="rId6" Type="http://schemas.openxmlformats.org/officeDocument/2006/relationships/image" Target="../media/image11.png"/><Relationship Id="rId7" Type="http://schemas.openxmlformats.org/officeDocument/2006/relationships/hyperlink" Target="https://terralocalizations.com/2025/07/03/latin-american-gaming-market-power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hefintechtimes.com/fintech-landscape-of-the-dominican-republic-in-2026/" TargetMode="External"/><Relationship Id="rId4" Type="http://schemas.openxmlformats.org/officeDocument/2006/relationships/image" Target="../media/image13.png"/><Relationship Id="rId5" Type="http://schemas.openxmlformats.org/officeDocument/2006/relationships/hyperlink" Target="https://www.statista.com/outlook/dmo/fintech/digital-payments/dominican-republic" TargetMode="External"/><Relationship Id="rId6" Type="http://schemas.openxmlformats.org/officeDocument/2006/relationships/hyperlink" Target="https://www.tiktok.com/tag/qikr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hyperlink" Target="https://www.prnewswire.com/news-releases/wearable-medical-devices-market-poised-for-usd-499-2-billion-by-2035--growing-at-a-cagr-21-6--strategic-insights-for-cxos-and-healthcare-leaders-302579862.html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www.marketdataforecast.com/market-reports/latin-america-digital-health-market" TargetMode="External"/><Relationship Id="rId6" Type="http://schemas.openxmlformats.org/officeDocument/2006/relationships/image" Target="../media/image16.png"/><Relationship Id="rId7" Type="http://schemas.openxmlformats.org/officeDocument/2006/relationships/hyperlink" Target="https://www.maximizemarketresearch.com/market-report/wearable-medical-devices-market-latin-america/2245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www.statista.com/outlook/cmo/smart-home/south-america" TargetMode="External"/><Relationship Id="rId4" Type="http://schemas.openxmlformats.org/officeDocument/2006/relationships/image" Target="../media/image18.png"/><Relationship Id="rId5" Type="http://schemas.openxmlformats.org/officeDocument/2006/relationships/hyperlink" Target="https://www.imarcgroup.com/latin-america-smart-home-market" TargetMode="External"/><Relationship Id="rId6" Type="http://schemas.openxmlformats.org/officeDocument/2006/relationships/image" Target="../media/image19.png"/><Relationship Id="rId7" Type="http://schemas.openxmlformats.org/officeDocument/2006/relationships/hyperlink" Target="https://www.nextmsc.com/report/mexico-smart-home-market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novadata.io/resources/news/amazon-rufus-agentic-auto-buy-250-million-users" TargetMode="External"/><Relationship Id="rId4" Type="http://schemas.openxmlformats.org/officeDocument/2006/relationships/image" Target="../media/image21.png"/><Relationship Id="rId5" Type="http://schemas.openxmlformats.org/officeDocument/2006/relationships/hyperlink" Target="https://www.forrester.com/blogs/power-couple-openai-amazon-may-have-just-won-consumer-agentic-commerce/" TargetMode="External"/><Relationship Id="rId6" Type="http://schemas.openxmlformats.org/officeDocument/2006/relationships/image" Target="../media/image22.png"/><Relationship Id="rId7" Type="http://schemas.openxmlformats.org/officeDocument/2006/relationships/hyperlink" Target="https://www.cnbc.com/2026/05/13/amazon-ditches-rufus-ai-chatbot-in-favor-of-alexa-shopping-agent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24.png"/><Relationship Id="rId5" Type="http://schemas.openxmlformats.org/officeDocument/2006/relationships/hyperlink" Target="https://www.cnbc.com/2026/01/22/when-how-to-use-ai-chatbots-for-parenting-advice-researcher.html" TargetMode="External"/><Relationship Id="rId6" Type="http://schemas.openxmlformats.org/officeDocument/2006/relationships/image" Target="../media/image25.png"/><Relationship Id="rId7" Type="http://schemas.openxmlformats.org/officeDocument/2006/relationships/hyperlink" Target="https://www.demandsage.com/chatgpt-statistics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hyperlink" Target="https://www.emarketer.com/press-releases/tiktok-shop-makes-up-nearly-20-of-social-commerce-in-2025/" TargetMode="External"/><Relationship Id="rId4" Type="http://schemas.openxmlformats.org/officeDocument/2006/relationships/image" Target="../media/image27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www.tiktok.com/tag/tiktokmehizocomprar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hyperlink" Target="https://www.commonsensemedia.org/press-releases/nearly-3-in-4-teens-have-used-ai-companions-new-national-survey-finds" TargetMode="External"/><Relationship Id="rId4" Type="http://schemas.openxmlformats.org/officeDocument/2006/relationships/image" Target="../media/image30.png"/><Relationship Id="rId5" Type="http://schemas.openxmlformats.org/officeDocument/2006/relationships/hyperlink" Target="https://www.tiktok.com/tag/characterai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hyperlink" Target="https://www.bostonglobe.com/2026/01/14/magazine/ai-tools-modern-parenthood/" TargetMode="External"/><Relationship Id="rId4" Type="http://schemas.openxmlformats.org/officeDocument/2006/relationships/image" Target="../media/image32.png"/><Relationship Id="rId5" Type="http://schemas.openxmlformats.org/officeDocument/2006/relationships/hyperlink" Target="https://awisee.com/blog/tiktok-shop-in-latin-america/" TargetMode="External"/><Relationship Id="rId6" Type="http://schemas.openxmlformats.org/officeDocument/2006/relationships/image" Target="../media/image28.png"/><Relationship Id="rId7" Type="http://schemas.openxmlformats.org/officeDocument/2006/relationships/hyperlink" Target="https://www.tiktok.com/tag/recetatiktok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hyperlink" Target="https://industrialcyber.co/reports/latin-america-sees-sharp-rise-in-ransomware-hacktivist-attacks-in-2025-amid-expanding-fraud-and-phishing-threats/" TargetMode="External"/><Relationship Id="rId4" Type="http://schemas.openxmlformats.org/officeDocument/2006/relationships/image" Target="../media/image34.png"/><Relationship Id="rId5" Type="http://schemas.openxmlformats.org/officeDocument/2006/relationships/hyperlink" Target="https://thehackernews.com/2025/10/meta-rolls-out-new-tools-to-protect.html" TargetMode="External"/><Relationship Id="rId6" Type="http://schemas.openxmlformats.org/officeDocument/2006/relationships/image" Target="../media/image35.png"/><Relationship Id="rId7" Type="http://schemas.openxmlformats.org/officeDocument/2006/relationships/hyperlink" Target="https://ddia.org/en/whatsapp-weaponized-how-scammers-target-us-latinos-part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hyperlink" Target="https://fosi.org/parental-controls-for-online-safety-are-underutilized-new-study-finds/" TargetMode="External"/><Relationship Id="rId4" Type="http://schemas.openxmlformats.org/officeDocument/2006/relationships/hyperlink" Target="https://www.apa.org/news/press/releases/2025/06/screen-time-problems-children" TargetMode="External"/><Relationship Id="rId5" Type="http://schemas.openxmlformats.org/officeDocument/2006/relationships/image" Target="../media/image1.png"/><Relationship Id="rId6" Type="http://schemas.openxmlformats.org/officeDocument/2006/relationships/hyperlink" Target="https://datareportal.com/reports/digital-2025-dominican-republic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INVENTOLOGÍA DE LA ADULTEZ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"Un mundo en crisis está reescribiendo qué significa ser adulto y formar familia."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ADULTO LATAM TRABAJA, FACTURA Y ESTUDIA DESDE UN SOLO TELÉFONO, Y NUNCA TOCA UNA LAPTOP: LA ÚNICA COMPUTADORA QUE TENDRÁ YA ESTÁ EN SU MANO.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hogar multi-dispositivo del siglo XX asumía que ibas acumulando: PC, tablet, consola. Esa escalera se saltó. La penetración de internet en RD llegó a 88.6% mientras la computadora sigue siendo minoritaria. Plataformas como Rappi, Uber y Workana hacen del móvil la oficina del trabajador joven LATAM.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762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#trabajodesdeelcelular · #soloconmicelular · #emprenderdominicana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88.6%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internet en RD (10.2M usuarios); la computadora sigue minoritaria en el hogar.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US$6.2B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Proyección economía gig ride-hailing LATAM en 2025; +24% de altas desde ciudades secundarias.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/ UNDP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Hogares RD con computadora vs 92.4% con celular — el móvil es la única computadora.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1-1-datareportal-digital-2025-rd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Portada Digital 2025 RD con métricas de penetración internet 88.6% y dispositivos.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pic>
        <p:nvPicPr>
          <p:cNvPr id="32" name="Picture 31" descr="macro-1-1-konvoy-latam-gig-economy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Newsletter Konvoy: logos gig LATAM (Rappi, Uber, iFood) y market share ride-hailing 2019-2022.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KONVOY VC · 2025</a:t>
            </a:r>
          </a:p>
        </p:txBody>
      </p:sp>
      <p:pic>
        <p:nvPicPr>
          <p:cNvPr id="37" name="Picture 36" descr="macro-1-1-tiktok-tag-emprenderdominicana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#emprenderdominicana en TikTok — negocios dominicanos gestionados desde el teléfono.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GANAR EN DÓLARES DESDE EL CUARTO: EL JOVEN LATAM SE INVENTA UNA CARRERA SIN OFICINA, SIN EMPLEADOR FIJO Y SIN PAÍS QUE LO AMARRE.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carrera tradicional asumía una empresa, una ciudad y un horario. El gig remoto cross-border rompió las tres. Las altas en plataformas freelance subieron 24% desde ciudades tier-2 y tier-3 en LATAM. Costa Rica, México y Colombia ya lanzaron visas de nómada digital de hasta un año.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#nomadadigital · #cobroendolares · #trabajoremotord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Altas en plataformas gig desde ciudades tier-2/tier-3 en LATAM y SE Asia.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/ KONVOY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Workana se consolida como plataforma freelance líder para nómadas en Sudamérica.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GIGEXCHANGE / HOLAFLY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 año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Costa Rica, México y Colombia lanzan visas de nómada digital de hasta 1 año.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  <p:pic>
        <p:nvPicPr>
          <p:cNvPr id="27" name="Picture 26" descr="macro-1-1-tiktok-tag-emprenderdominican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#nomadadigital en TikTok — lifestyle remoto y trabajo desde cualquier país.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2-hrstacks-gig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Estadísticas gig economy HRStacks — crecimiento freelance +24% desde ciudades secundarias.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HRSTACKS · 2025</a:t>
            </a:r>
          </a:p>
        </p:txBody>
      </p:sp>
      <p:pic>
        <p:nvPicPr>
          <p:cNvPr id="37" name="Picture 36" descr="macro-1-2-holafly-nomada-digital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Artículo Holafly sobre plataformas de trabajo remoto y visas de nómada digital LATAM.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HOLAFLY ·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1752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TELÉFONO FIJO SE MURIÓ SIN QUE NADIE LO LLORARA: HOY SE FORMA UN HOGAR Y NADIE PREGUNTA DÓNDE SE PONE LA LÍNEA.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4036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6576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Inaugurar la adultez poniendo la línea fija era un rito del siglo XX. Ese rito desapareció sin reemplazo simbólico. El landline se extingue globalmente y los hogares jóvenes nacen mobile-only. INDOTEL reporta +24% en uso de internet móvil en RD. WhatsApp pasó a ser la infraestructura de comunicación del hogar.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4826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0800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#sintelefonofijo · #soloWhatsApp · #conectividadrd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+24%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Uso de internet móvil en RD (INDOTEL); conectividad 100% móvil-céntrica.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317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conserva teléfono fijo — nadie está reponiéndolo.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0703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5021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2387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landline se extingue globalmente; hogares jóvenes nacen mobile-only.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5867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3-indotel-conectividad-movil-24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Nota oficial INDOTEL sobre +24% uso internet móvil en RD — fuente primaria local.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  <p:pic>
        <p:nvPicPr>
          <p:cNvPr id="32" name="Picture 31" descr="macro-1-3-microsoft-ai-economy-mobil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Blog Microsoft 2026: análisis adopción global de IA y brecha digital por conectividad móvil.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37" name="Picture 36" descr="macro-1-1-datareportal-digital-2025-rd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Celulares en MercadoLibre RD — el mercado móvil que reemplazó al teléfono fijo.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MERCADOLIBRE RD ·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SABER PROMPTEAR ES LA NUEVA ALFABETIZACIÓN: LA BRECHA YA NO ES TENER INTERNET, ES MANEJAR LA IA. EL QUE NO LA USA QUEDA MARCADO COMO ATRASADO.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Antes la competencia adulta se medía en leer, después en usar Excel. Ahora la frontera se corre a la IA. Microsoft describe una brecha digital que se ensancha entre quien domina la IA y quien no. Ya hay +122M de personas usando herramientas gen-AI cada día. En RD, INDOTEL adjudicó capacitación digital para 100,000 beneficiarios.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83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537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#aprenderIA · #habilidadesdigitales · #upskilling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+122M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Personas usan herramientas gen-AI cada día; 1 de cada 6 globalmente.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100K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Beneficiarios INDOTEL en capacitación de habilidades digitales en RD.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PLAN BIANUAL 2025-2026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adopción de IA abre brecha digital que se ensancha entre quien la domina y quien no.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MICROSOFT ON THE ISSUES · ENE 2026</a:t>
            </a:r>
          </a:p>
        </p:txBody>
      </p:sp>
      <p:pic>
        <p:nvPicPr>
          <p:cNvPr id="27" name="Picture 26" descr="macro-1-1-tiktok-tag-emprenderdominican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#aprendia en TikTok — grid de videos sobre aprendizaje de IA en español.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4-demandsage-genai-statistic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DemandSage: +122M usuarios diarios gen-AI, 1 de cada 6 personas globalmente.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pic>
        <p:nvPicPr>
          <p:cNvPr id="37" name="Picture 36" descr="macro-1-4-indotel-capacitacion-digital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Sección INDOTEL acceso e infraestructura — Plan Bianual 2025-2026, capacitación 100K beneficiarios.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INDOTEL ·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INVENTOLOGÍA DE LA ADULTEZ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CONSOLA MURIÓ DE PIE EN LA SALA: EL OCIO ADULTO SE MUDÓ DEL LIVING AL TELÉFONO EN LA CAMA, Y EL CUARTO DE JUEGOS FAMILIAR DEJÓ DE SER ALGO QUE SE ASPIRA.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consola más la TV grande marcaban el hogar acomodado. Ese centro de ocio se desarmó. Menos del 10% de hogares LATAM tiene consola next-gen; el gaming se volvió íntimo, móvil y constante. El mercado gaming LATAM cerró 2025 en US$25.7B con el mobile dominando.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#mobilegaming · #gamerrd · #jugardesdeelcelular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US$25.7B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gaming LATAM en 2025; el mobile dominó por adopción de smartphone sobre consola.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&lt;10%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LATAM posee consola next-gen; 300M+ gamers, casi todos móviles.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LAVGA / TERRA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jugadores brasileños que topan con juegos monetizados pagan al menos una vez.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PESQUISA GAME BRASIL · 2025</a:t>
            </a:r>
          </a:p>
        </p:txBody>
      </p:sp>
      <p:pic>
        <p:nvPicPr>
          <p:cNvPr id="27" name="Picture 26" descr="macro-1-1-tiktok-tag-emprenderdominican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#mobilegaming en TikTok — gameplay móvil dominante en LATAM.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  <p:pic>
        <p:nvPicPr>
          <p:cNvPr id="32" name="Picture 31" descr="macro-1-5-marketdataforecast-latam-videogame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MarketDataForecast: gaming LATAM US$25.7B con mobile dominante sobre consola.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1-5-terra-latam-gaming-marke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Análisis Terra LATAM gaming market — breakdown plataformas: consola &lt;10%, mobile líder.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TERRA LOCALIZATIONS · JUL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LOS HERNÁNDEZ ARE PROMPTED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dominicano ya entró al mundo prompteado. Solo no lo nombra así."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BANCO REAL YA NO TIENE EDIFICIO: CIENTOS DE MILES DE DOMINICANOS MUEVEN TODA SU PLATA DESDE UNA APP Y A ESO NO LE LLAMAN FINTECH, LE LLAMAN NORMAL.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825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banca era un edificio al que ibas. Dejó de serlo. Neobancos como Qik y wallets como tPago volvieron la app el banco principal de cientos de miles de dominicanos: Qik superó 600,000 clientes, tPago 556,000, y la banca digital RD creció 20% interanual.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245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499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#qikrd · #pagocontelefono · #neobanco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600K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Clientes Qik; tPago 556,000 registrados; banca digital RD +20% interanual.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/ FINTECH TIMES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US$7.91B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Pagos digitales RD proyectados para 2028, creciendo 9.07% anual.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2024-2028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Fintechs operando en RD (vs 20 en 2018) con respaldo regulatorio del BCRD.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GLOBAL FINANCE · 2025</a:t>
            </a:r>
          </a:p>
        </p:txBody>
      </p:sp>
      <p:pic>
        <p:nvPicPr>
          <p:cNvPr id="27" name="Picture 26" descr="macro-2-1-fintechtimes-rd-2026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FinTech Times: foto aérea Santo Domingo + 'Fintech Landscape of the Dominican Republic in 2026'.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FINTECH TIMES · 2026</a:t>
            </a:r>
          </a:p>
        </p:txBody>
      </p:sp>
      <p:pic>
        <p:nvPicPr>
          <p:cNvPr id="32" name="Picture 31" descr="macro-2-1-statista-digital-payments-rd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Statista: proyección pagos digitales RD a US$7.91B con chart 2018-2030.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2025</a:t>
            </a:r>
          </a:p>
        </p:txBody>
      </p:sp>
      <p:pic>
        <p:nvPicPr>
          <p:cNvPr id="37" name="Picture 36" descr="macro-2-1-statista-digital-payments-rd.png">
            <a:hlinkClick r:id="rId6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#qikrd en TikTok — onboarding y demos cotidianas de pago móvil dominicano.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CUERPO DE LA FAMILIA SE VOLVIÓ UN PANEL DE DATOS: EL RELOJ CUENTA EL SUEÑO Y LOS PASOS, Y LA CONSULTA MÉDICA PASÓ A SER UNA VIDEOLLAMADA.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salud entraba al hogar como cita: ibas al doctor. El wearable la convirtió en métrica que vive en la muñeca. El mercado de dispositivos médicos wearables va hacia US$499.2B en 2035 (CAGR 21.6%). En LATAM hay demanda alta de smartwatches por urbanización y conciencia de salud.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#smartwatch · #telemedicina · #saluddigital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US$499B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Mercado wearables médicos para 2035, CAGR 21.6% — de nicho a consumer health.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/ PRNEWSWIRE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LATAM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Philips despliega biosensores cardíacos post-alta en Argentina; teleconsulta masiva Colombia y Brasil.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LATAM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21.6%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CAGR del mercado wearables médicos — demanda LATAM por urbanización y salud.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  <p:pic>
        <p:nvPicPr>
          <p:cNvPr id="27" name="Picture 26" descr="macro-2-2-prnewswire-wearables-499b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PRNewswire: mercado wearables médicos US$499.2B para 2035, CAGR 21.6%, con pie chart de segmentación.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MARKETSANDMARKETS VIA PRNEWSWIRE · 2025</a:t>
            </a:r>
          </a:p>
        </p:txBody>
      </p:sp>
      <p:pic>
        <p:nvPicPr>
          <p:cNvPr id="32" name="Picture 31" descr="macro-2-2-marketdataforecast-latam-digital-health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salud digital LATAM — telesalud y wearables, crecimiento y actores clave en la región.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MARKETDATAFORECAST · 2025</a:t>
            </a:r>
          </a:p>
        </p:txBody>
      </p:sp>
      <p:pic>
        <p:nvPicPr>
          <p:cNvPr id="37" name="Picture 36" descr="macro-2-2-maximize-latam-wearable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wearables LATAM: charts de segmentación por producto y geografía, CAGR por mercado.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MAXIMIZE MARKET RESEARCH ·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LA CASA EMPEZÓ A TENER OÍDOS: CÁMARAS, BOMBILLOS Y BOCINAS CON VOZ ENTRAN AL HOGAR URBANO LATAM, Y EL DUEÑO LA MANEJA DESDE EL SOFÁ HABLÁNDOLE EN VOZ ALTA.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smart home era lujo gringo de película. Dejó de serlo. Cámaras, bombillos, cerraduras y bocinas con voz entran a hogares urbanos LATAM por seguridad y por status: el mercado va de US$3.4B (2025) a US$8.2B+, y 45% de hogares urbanos de clase media ya compró un producto smart.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#smarthome · #alexarutina · #domotica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US$3.4B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Smart home LATAM en 2025, camino a US$8.2B+; 45% hogares urbanos clase media ya compró un smart device.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/ NEXTMSC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+38%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México lidera la región con +38% interanual en ventas de dispositivos conectados.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90.8%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Penetración de smart home en hogares sudamericanos llegará a 90.8% en 2029.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· 2026</a:t>
            </a:r>
          </a:p>
        </p:txBody>
      </p:sp>
      <p:pic>
        <p:nvPicPr>
          <p:cNvPr id="27" name="Picture 26" descr="macro-2-3-statista-smarthome-southameric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Dashboard Statista Smart Home Sudamérica: Revenue 2018-2029 por segmento, proyección 90.8% penetración.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STATISTA MARKET INSIGHTS · ABR 2026</a:t>
            </a:r>
          </a:p>
        </p:txBody>
      </p:sp>
      <p:pic>
        <p:nvPicPr>
          <p:cNvPr id="32" name="Picture 31" descr="macro-2-3-imarc-smart-home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IMARC smart home LATAM: market overview US$3.4B 2025, 45% hogares urbanos.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IMARC GROUP · 2025</a:t>
            </a:r>
          </a:p>
        </p:txBody>
      </p:sp>
      <p:pic>
        <p:nvPicPr>
          <p:cNvPr id="37" name="Picture 36" descr="macro-2-3-nextmsc-mexico-smarthom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NextMSC smart home México: +38% interanual en ventas de dispositivos conectados.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NEXTMSC ·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LLEGA EL MOMENTO INCÓMODO: YA NO LE PIDES A LA IA QUE RECOMIENDE, LE PIDES QUE COMPRE. RUFUS EJECUTA SOLO AL PRECIO OBJETIVO Y EL HUMANO SOLO PONE LAS REGLAS.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IA recomendaba; tú decidías y comprabas. Esa frontera se está cruzando. Rufus llegó a 250M usuarios al mes (+140% interanual) y ahora compra autónomamente al precio objetivo. El reto medible es la confianza: 48% confiaría en IA para recomendar productos, pero solo 20% para que compre por ellos.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4102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6642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#agenticAI · #compraautomatica · #shoppingbot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Usuarios/mes de Rufus, +140% interanual; ahora compra autónomamente al precio objetivo.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AWS / NOVADATA ·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Confiaría en IA para recomendar productos — pero solo 20% para que compre. El 28% es el campo de batalla.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5466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AI TRENDS STUDY 2026 (N=1,037)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9784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7150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OpenAI lanza Operator (clic/scroll/orden) con eBay, Instacart, Etsy; Amazon pivota Alexa a compra agéntica.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5024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  <p:pic>
        <p:nvPicPr>
          <p:cNvPr id="27" name="Picture 26" descr="macro-2-4-novadata-rufus-250m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NovaData: Rufus 250M usuarios/mes y auto-compra al precio objetivo — hero visual de producto Amazon.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NOVADATA · 2025</a:t>
            </a:r>
          </a:p>
        </p:txBody>
      </p:sp>
      <p:pic>
        <p:nvPicPr>
          <p:cNvPr id="32" name="Picture 31" descr="macro-2-4-forrester-agentic-commerc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Forrester: 'Power Couple OpenAI + Amazon' — brecha de confianza 48%/20% en agentic commerce.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FORRESTER · MAR 2026</a:t>
            </a:r>
          </a:p>
        </p:txBody>
      </p:sp>
      <p:pic>
        <p:nvPicPr>
          <p:cNvPr id="37" name="Picture 36" descr="macro-2-4-cnbc-amazon-alexa-shopping-agent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Amazon abandona Rufus chatbot en favor de Alexa Shopping Agent — compra agéntica.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LOS HERNÁNDEZ ARE PROMPTED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LOS PADRES SON LOS POWER USERS QUE NADIE VIO VENIR: USAN CHATGPT MÁS QUE QUIEN NO TIENE HIJOS, Y NO PARA LA TAREA, SINO PARA EL MENÚ, LOS BERRINCHES Y SUS PROPIAS EMOCIONES.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ChatGPT empezó haciendo la tarea escolar. Terminó copilotando el hogar. Un estudio de OpenAI con Harvard reporta que 79% de padres usa IA frente a 54% de no-padres. Lo que hacen es concreto: planear comidas, redactar la lista del súper, manejar un berrinche, gestionar sus propias emociones.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#chatgptmama · #IAenlacasa · #parentingAI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vs 54% de no-padres; uso no laboral pasó de 53% (jun-2024) a +70% (2025).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(DEMING) · SEPT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Brasil concentra 5.8% del uso global de ChatGPT; México 4.1%, Colombia 1.6% — LATAM activo.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Padres usan ChatGPT para planear comidas, listas de súper, berrinches y gestión emocional.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BOSTON GLOBE / CNBC · 2026</a:t>
            </a:r>
          </a:p>
        </p:txBody>
      </p:sp>
      <p:pic>
        <p:nvPicPr>
          <p:cNvPr id="27" name="Picture 26" descr="macro-2-5-bostonglobe-ai-parenthood-79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fotografía editorial y dato 79% de padres usa IA vs 54% no-padres.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2-5-cnbc-ai-parenting-chatbot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CNBC: padres usando chatbots para crianza — comidas, berrinches y gestión emocional.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CNBC · ENE 2026</a:t>
            </a:r>
          </a:p>
        </p:txBody>
      </p:sp>
      <p:pic>
        <p:nvPicPr>
          <p:cNvPr id="37" name="Picture 36" descr="macro-2-5-demandsage-chatgpt-latam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DemandSage: estadísticas ChatGPT 2026 con datos LATAM — Brasil 5.8%, México 4.1% del uso global.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DEMANDSAGE ·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2000" cy="254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A0A0A0"/>
                </a:solidFill>
                <a:latin typeface="Poppins"/>
              </a:rPr>
              <a:t>MACRO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2844800"/>
            <a:ext cx="11684000" cy="16510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95000"/>
              </a:lnSpc>
            </a:pPr>
            <a:r>
              <a:rPr sz="10000" b="0" i="0">
                <a:solidFill>
                  <a:srgbClr val="FFFFFF"/>
                </a:solidFill>
                <a:latin typeface="Instrument Serif"/>
              </a:rPr>
              <a:t>ALGORITMO DEL HOGAR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4495800"/>
            <a:ext cx="11684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2400" b="0" i="1">
                <a:solidFill>
                  <a:srgbClr val="A0A0A0"/>
                </a:solidFill>
                <a:latin typeface="Instrument Serif"/>
              </a:rPr>
              <a:t>"El feed se sentó en la mesa y nadie le ofreció silla."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SE VOLVIÓ GÓNDOLA: EN LATAM EL LO VI Y LO COMPRÉ AHÍ MISMO CORRE A US$20B Y REEMPLAZA LA LISTA DE COMPRAS POR EL HAUL DE IMPULSO.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compra arrancaba con una lista. Ahora arranca con un scroll. TikTok Shop convierte el feed en góndola sin fricción — belleza, hogar, accesorios — y ya es ~20% del social commerce. En LATAM los usuarios pasan +70 min/día en la app y el social commerce se proyecta a US$172.4B en 2025.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#tiktokmehizocomprar · #tiktokshop · #haul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TikTok Shop del social commerce en 2025 — el feed como góndola sin fricción.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+70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Usuarios LATAM en TikTok por día; categorías top: belleza, skincare, accesorios, hogar.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2291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6609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US$172B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3975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Social commerce LATAM en 2025; +60% sigue influencers que recomiendan o venden.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0261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GLOBENEWSWIRE / GALILEO · 2026</a:t>
            </a:r>
          </a:p>
        </p:txBody>
      </p:sp>
      <p:pic>
        <p:nvPicPr>
          <p:cNvPr id="27" name="Picture 26" descr="macro-3-1-emarketer-tiktokshop-20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EMARKETER: bar chart 'TikTok Shop Retail Ecommerce Sales US 2023-2027' — ~20% del social commerce.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EMARKETER · 2025</a:t>
            </a:r>
          </a:p>
        </p:txBody>
      </p:sp>
      <p:pic>
        <p:nvPicPr>
          <p:cNvPr id="32" name="Picture 31" descr="macro-3-1-awisee-tiktokshop-latam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TikTok Shop en LATAM — hero con categorías top (belleza, hogar, accesorios).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1-tiktok-tag-tiktokmehizocompr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#tiktokmehizocomprar en TikTok — el haul de impulso como comportamiento masivo.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92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TU HIJO YA TIENE UN MEJOR AMIGO QUE NUNCA LO CONTRADICE: 72% DE ADOLESCENTES USÓ UN COMPAÑERO DE IA Y 1 DE CADA 4 LE CONFÍA SECRETOS REALES. LA FAMILIA COMPITE POR SU INTIMIDAD CON UN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5720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8260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El confidente del adolescente era un amigo, un hermano, a veces un padre. Llegó un competidor diseñado para nunca contradecirlo. 72% de adolescentes ya usó compañeros de IA; 23% les confía bastante o completamente; 25% comparte nombre, ubicación y secretos reales.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9944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62484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#characterai · #aicompanion · #aifriend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usó compañeros de IA; 23% les confía bastante/completamente; 25% comparte datos reales.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 (N=1,060)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adolescentes prefiere hablar con IA que con personas para temas serios.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Demandas contra Character.AI por daño emocional a menores; APA alerta reformateo del vínculo afectivo.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AXIOS / APA · 2026</a:t>
            </a:r>
          </a:p>
        </p:txBody>
      </p:sp>
      <p:pic>
        <p:nvPicPr>
          <p:cNvPr id="27" name="Picture 26" descr="macro-3-2-commonsense-ai-companions-72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Common Sense Media: 'Nearly 3 in 4 Teens Have Used AI Companions' — hallazgos clave del estudio n=1,060.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JUL 2025</a:t>
            </a:r>
          </a:p>
        </p:txBody>
      </p:sp>
      <p:pic>
        <p:nvPicPr>
          <p:cNvPr id="32" name="Picture 31" descr="macro-3-2-commonsense-ai-companions-report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Reporte completo Common Sense Media sobre AI companions — datos de confianza y uso regular de adolescentes.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COMMON SENSE MEDIA · 2025</a:t>
            </a:r>
          </a:p>
        </p:txBody>
      </p:sp>
      <p:pic>
        <p:nvPicPr>
          <p:cNvPr id="37" name="Picture 36" descr="macro-3-2-commonsense-ai-companions-72pct.png">
            <a:hlinkClick r:id="rId5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#characterai en TikTok — adolescentes mostrando sus conversaciones con AI companions.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044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FEED REEMPLAZÓ A LA ABUELA COMO AUTORIDAD: LO QUE SE COCINA Y CÓMO SE CRÍA LO DICTA LA PANTALLA, Y DESPUÉS SE CRUZA CON CHATGPT PARA CONFIRMARLO.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6957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39497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autoridad de cómo cocinar y criar venía de la abuela, de la madre, de la tradición. Se mudó al feed. Las recetas virales, los 'what I feed my kid' y los consejos de crianza del scroll reemplazan a la transmisión familiar. 15% de consumidores globales compra un producto solo porque es tendencia en TikTok.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1181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3721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#recetatiktok · #whatmykideats · #cocinaviral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IA para planear comidas y crianza — el feed + ChatGPT como co-autoridad doméstica.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OPENAI + HARVARD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15%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consumidores globales compra productos solo porque son tendencia en TikTok.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SAP EMARSYS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Hogar y comida entre las categorías top de TikTok Shop LATAM; recetas y crianza dominan el feed.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27" name="Picture 26" descr="macro-3-3-bostonglobe-feed-crianza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Boston Globe Magazine: padres usando IA para planear comidas y crianza — el feed como co-autoridad.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BOSTON GLOBE MAGAZINE · ENE 2026</a:t>
            </a:r>
          </a:p>
        </p:txBody>
      </p:sp>
      <p:pic>
        <p:nvPicPr>
          <p:cNvPr id="32" name="Picture 31" descr="macro-3-3-awisee-feed-recetas-hogar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Awisee: categorías top de TikTok Shop LATAM — hogar y comida entre las principales.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AWISEE · 2025</a:t>
            </a:r>
          </a:p>
        </p:txBody>
      </p:sp>
      <p:pic>
        <p:nvPicPr>
          <p:cNvPr id="37" name="Picture 36" descr="macro-3-1-tiktok-tag-tiktokmehizocompra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Hashtag #recetatiktok en TikTok — recetas virales que reemplazan la transmisión culinaria familiar.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TIKTOK ·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336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MISMO FEED QUE VENDE TAMBIÉN ESTAFA: EL PHISHING POR WHATSAPP Y LOS ESQUEMAS CRIPTO ENTRAN POR EL GRUPO FAMILIAR Y VAN DIRECTO A LOS MAYORES.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39878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241800"/>
            <a:ext cx="3683000" cy="11557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infraestructura digital del hogar es también su superficie de ataque más vulnerable. LATAM subió 108% interanual en amenazas cibernéticas en Q1 2025. Meta desactivó ~8M de cuentas ligadas a centros de estafa. En grupos públicos de WhatsApp latinos circularon 3,000+ mensajes fraudulentos alcanzando 192,000+ usuarios.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575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829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#estafawhatsapp · #fraudedigital · #ciberseguridadrd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+108%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LATAM interanual en amenazas cibernéticas (Q1 2025); ingeniería social vía phishing como driver.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5908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30226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~8M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7592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Cuentas desactivadas por Meta ligadas a centros de estafa que apuntan a personas mayores.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/ MALWAREBYTES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3K+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Mensajes fraudulentos en grupos públicos de WhatsApp latinos (ene-sept 2025), 192,000+ usuarios alcanzados.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3436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  <p:pic>
        <p:nvPicPr>
          <p:cNvPr id="27" name="Picture 26" descr="macro-3-4-industrialcyber-latam-phishing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Industrial Cyber: incremento ransomware y phishing en LATAM +108% Q1 2025 — hero gráfico '1 in 3'.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INDUSTRIAL CYBER · 2025</a:t>
            </a:r>
          </a:p>
        </p:txBody>
      </p:sp>
      <p:pic>
        <p:nvPicPr>
          <p:cNvPr id="32" name="Picture 31" descr="macro-3-4-hackernews-meta-scam-tools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The Hacker News: Meta desactiva 8M cuentas de estafa y lanza herramientas de protección para mayores.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THE HACKER NEWS · OCT 2025</a:t>
            </a:r>
          </a:p>
        </p:txBody>
      </p:sp>
      <p:pic>
        <p:nvPicPr>
          <p:cNvPr id="37" name="Picture 36" descr="macro-3-4-ddia-whatsapp-scam-latinos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DDIA: 3,000+ mensajes fraudulentos en grupos WhatsApp latinos — investigación sobre estafas a adultos mayores.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DDIA ·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4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DEFINICIÓN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91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TRIGGERS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0" y="635000"/>
            <a:ext cx="2540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SEÑALES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14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051800" y="635000"/>
            <a:ext cx="12700" cy="60960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54000" y="863600"/>
            <a:ext cx="11684000" cy="12700"/>
          </a:xfrm>
          <a:prstGeom prst="line">
            <a:avLst/>
          </a:prstGeom>
          <a:ln w="12700">
            <a:solidFill>
              <a:srgbClr val="FFFFFF">
                <a:alpha val="1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54000" y="1066800"/>
            <a:ext cx="736600" cy="27940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800" y="1104900"/>
            <a:ext cx="6604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1" i="0">
                <a:solidFill>
                  <a:srgbClr val="000000"/>
                </a:solidFill>
                <a:latin typeface="Poppins"/>
              </a:rPr>
              <a:t>MACRO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1400" y="1066800"/>
            <a:ext cx="2794000" cy="279400"/>
          </a:xfrm>
          <a:prstGeom prst="rect">
            <a:avLst/>
          </a:prstGeom>
          <a:noFill/>
          <a:ln w="9525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2200" y="1104900"/>
            <a:ext cx="27178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A0A0A0"/>
                </a:solidFill>
                <a:latin typeface="Poppins"/>
              </a:rPr>
              <a:t>ALGORITMO DEL HOGAR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4000" y="1473200"/>
            <a:ext cx="3683000" cy="26288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14000"/>
              </a:lnSpc>
            </a:pPr>
            <a:r>
              <a:rPr sz="2000" b="0" i="0">
                <a:solidFill>
                  <a:srgbClr val="FFFFFF"/>
                </a:solidFill>
                <a:latin typeface="Instrument Serif"/>
              </a:rPr>
              <a:t>EL NIÑO VIVE EN EL FEED Y LA BARRERA LLEGA TARDE: SOLO LA MITAD DE LOS PADRES USA CONTROLES PARENTALES, Y LA FAMILIA DESCUBRE DESPUÉS QUÉ CONSUMIÓ EL HIJO.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000" y="42799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EL FENÓMENO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000" y="4533900"/>
            <a:ext cx="3683000" cy="990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La preocupación por las pantallas es alta; el uso de controles, bajo. Solo 51% de padres usa controles parentales en tablets, 47% en smartphones y 35% en consolas. En RD, 89% de usuarios de internet accede a redes diariamente en un país con 88.6% de penetración: el menor accede al algoritmo temprano y poco mediado.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000" y="5702300"/>
            <a:ext cx="3683000" cy="177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A0A0A0"/>
                </a:solidFill>
                <a:latin typeface="Poppins"/>
              </a:rPr>
              <a:t>HASHTAGS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000" y="5956300"/>
            <a:ext cx="3683000" cy="508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FFFFFF"/>
                </a:solidFill>
                <a:latin typeface="Instrument Serif"/>
              </a:rPr>
              <a:t>#controlparental · #crianzadigital · #screentime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1000" y="106680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51%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91000" y="180340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padres usa controles parentales en tablets; 47% en smartphones; 35% en consolas.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24320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91000" y="28638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89%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1000" y="3600450"/>
            <a:ext cx="2159000" cy="635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usuarios de internet en RD accede a redes sociales diariamente — exposición infantil temprana.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1000" y="438785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1000" y="4819650"/>
            <a:ext cx="2159000" cy="584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000" b="0" i="0">
                <a:solidFill>
                  <a:srgbClr val="FFFFFF"/>
                </a:solidFill>
                <a:latin typeface="Instrument Serif"/>
              </a:rPr>
              <a:t>26.4%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91000" y="5556250"/>
            <a:ext cx="2159000" cy="4762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De hogares RD no usa ningún mecanismo de protección infantil digital.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1000" y="6184900"/>
            <a:ext cx="21590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CÓDIGO CASA · 2025</a:t>
            </a:r>
          </a:p>
        </p:txBody>
      </p:sp>
      <p:pic>
        <p:nvPicPr>
          <p:cNvPr id="27" name="Picture 26" descr="macro-3-5-fosi-parental-controls-51pct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1066800"/>
            <a:ext cx="1117600" cy="1651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737600" y="10922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63000" y="11049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7200" y="10668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FOSI 2025: controles parentales subutilizados — datos clave 51% tablets, 47% smartphones, 35% consolas.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7200" y="15875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FOSI · 2025</a:t>
            </a:r>
          </a:p>
        </p:txBody>
      </p:sp>
      <p:pic>
        <p:nvPicPr>
          <p:cNvPr id="32" name="Picture 31" descr="macro-3-5-fosi-parental-controls-51pct.png">
            <a:hlinkClick r:id="rId4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0" y="3022600"/>
            <a:ext cx="1117600" cy="1651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8737600" y="30480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3000" y="30607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7200" y="30226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APA: press release vinculando screen time con problemas emocionales infantiles en círculo vicioso.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7200" y="35433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APA · JUN 2025</a:t>
            </a:r>
          </a:p>
        </p:txBody>
      </p:sp>
      <p:pic>
        <p:nvPicPr>
          <p:cNvPr id="37" name="Picture 36" descr="macro-1-1-datareportal-digital-2025-rd.png">
            <a:hlinkClick r:id="rId6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00" y="4978400"/>
            <a:ext cx="1117600" cy="1651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737600" y="5003800"/>
            <a:ext cx="482600" cy="139700"/>
          </a:xfrm>
          <a:prstGeom prst="rect">
            <a:avLst/>
          </a:prstGeom>
          <a:solidFill>
            <a:srgbClr val="F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63000" y="5016500"/>
            <a:ext cx="431800" cy="1143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00000"/>
              </a:lnSpc>
            </a:pPr>
            <a:r>
              <a:rPr sz="550" b="1" i="0">
                <a:solidFill>
                  <a:srgbClr val="FFFFFF"/>
                </a:solidFill>
                <a:latin typeface="Poppins"/>
              </a:rPr>
              <a:t>CLICK 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7200" y="4978400"/>
            <a:ext cx="2057400" cy="4445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FFFFFF"/>
                </a:solidFill>
                <a:latin typeface="Poppins"/>
              </a:rPr>
              <a:t>DataReportal Digital 2025 RD: 89% accede a redes diariamente — contexto de exposición infantil.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47200" y="5499100"/>
            <a:ext cx="2057400" cy="152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666666"/>
                </a:solidFill>
                <a:latin typeface="Poppins"/>
              </a:rPr>
              <a:t>DATAREPORTAL ·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