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chelsychristina/video/7395747286262828319" TargetMode="External"/><Relationship Id="rId4" Type="http://schemas.openxmlformats.org/officeDocument/2006/relationships/image" Target="../media/image2.png"/><Relationship Id="rId5" Type="http://schemas.openxmlformats.org/officeDocument/2006/relationships/hyperlink" Target="https://www.tiktok.com/@breakyourbudget/video/7502132957872819502" TargetMode="External"/><Relationship Id="rId6" Type="http://schemas.openxmlformats.org/officeDocument/2006/relationships/image" Target="../media/image3.png"/><Relationship Id="rId7" Type="http://schemas.openxmlformats.org/officeDocument/2006/relationships/hyperlink" Target="https://girlsunited.essence.com/feedback/from-labubu-to-no-buy-how-viral-trends-are-colliding-with-economic-realit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www.tiktok.com/@perfumesiren/video/7546363805240921399" TargetMode="External"/><Relationship Id="rId4" Type="http://schemas.openxmlformats.org/officeDocument/2006/relationships/image" Target="../media/image5.png"/><Relationship Id="rId5" Type="http://schemas.openxmlformats.org/officeDocument/2006/relationships/hyperlink" Target="https://www.tiktok.com/@mannymua733/video/7526268718016400671" TargetMode="External"/><Relationship Id="rId6" Type="http://schemas.openxmlformats.org/officeDocument/2006/relationships/image" Target="../media/image6.png"/><Relationship Id="rId7" Type="http://schemas.openxmlformats.org/officeDocument/2006/relationships/hyperlink" Target="https://www.tiktok.com/@mikaylanogueira/video/7496555296874188074"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www.tiktok.com/@metalromantic/video/7546587734941404471" TargetMode="External"/><Relationship Id="rId4" Type="http://schemas.openxmlformats.org/officeDocument/2006/relationships/image" Target="../media/image8.png"/><Relationship Id="rId5" Type="http://schemas.openxmlformats.org/officeDocument/2006/relationships/hyperlink" Target="https://www.tiktok.com/@goldenbeetrove/video/7457656349103623466" TargetMode="External"/><Relationship Id="rId6" Type="http://schemas.openxmlformats.org/officeDocument/2006/relationships/image" Target="../media/image9.png"/><Relationship Id="rId7" Type="http://schemas.openxmlformats.org/officeDocument/2006/relationships/hyperlink" Target="https://www.corotos.com.d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www.tiktok.com/@breakyourbudget/video/7451260628603473198" TargetMode="External"/><Relationship Id="rId4" Type="http://schemas.openxmlformats.org/officeDocument/2006/relationships/image" Target="../media/image11.png"/><Relationship Id="rId5" Type="http://schemas.openxmlformats.org/officeDocument/2006/relationships/hyperlink" Target="https://www.tiktok.com/@fifththirdbank/video/7337773119731584302" TargetMode="External"/><Relationship Id="rId6" Type="http://schemas.openxmlformats.org/officeDocument/2006/relationships/image" Target="../media/image12.png"/><Relationship Id="rId7" Type="http://schemas.openxmlformats.org/officeDocument/2006/relationships/hyperlink" Target="https://www.globenewswire.com/news-release/2025/02/27/3033728/28124/en/Latin-America-Buy-Now-Pay-Later-Business-Report-2025-2030.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tiktok.com/@tashamichie124/video/7454705982652943621" TargetMode="External"/><Relationship Id="rId4" Type="http://schemas.openxmlformats.org/officeDocument/2006/relationships/image" Target="../media/image14.png"/><Relationship Id="rId5" Type="http://schemas.openxmlformats.org/officeDocument/2006/relationships/hyperlink" Target="https://www.tiktok.com/@mckennaelianna/video/7264583361304333611" TargetMode="External"/><Relationship Id="rId6" Type="http://schemas.openxmlformats.org/officeDocument/2006/relationships/image" Target="../media/image15.png"/><Relationship Id="rId7" Type="http://schemas.openxmlformats.org/officeDocument/2006/relationships/hyperlink" Target="https://www.tiktok.com/@casandra.mazzucco/video/727620730792131303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www.tiktok.com/@unique21official/video/7469936286556589344" TargetMode="External"/><Relationship Id="rId4" Type="http://schemas.openxmlformats.org/officeDocument/2006/relationships/image" Target="../media/image17.png"/><Relationship Id="rId5" Type="http://schemas.openxmlformats.org/officeDocument/2006/relationships/hyperlink" Target="https://retailtechinnovationhub.com/home/2026/1/5/rufus-and-the-ai-shopping-war-why-amazons-assistant-reveals-the-battle-for-customer-intent" TargetMode="External"/><Relationship Id="rId6" Type="http://schemas.openxmlformats.org/officeDocument/2006/relationships/image" Target="../media/image18.png"/><Relationship Id="rId7" Type="http://schemas.openxmlformats.org/officeDocument/2006/relationships/hyperlink" Target="https://novadata.io/resources/news/amazon-rufus-agentic-auto-buy-250-million-user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addi.com" TargetMode="External"/><Relationship Id="rId4" Type="http://schemas.openxmlformats.org/officeDocument/2006/relationships/image" Target="../media/image20.png"/><Relationship Id="rId5" Type="http://schemas.openxmlformats.org/officeDocument/2006/relationships/hyperlink" Target="https://www.globenewswire.com/news-release/2026/01/20/3221587/28124/en/Latin-America-Buy-Now-Pay-Later-Business-Report-2026-2031.html" TargetMode="External"/><Relationship Id="rId6" Type="http://schemas.openxmlformats.org/officeDocument/2006/relationships/image" Target="../media/image21.png"/><Relationship Id="rId7" Type="http://schemas.openxmlformats.org/officeDocument/2006/relationships/hyperlink" Target="https://paymentscmi.com/insights/comercio-electronico-republica-dominicana-datos-clav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www.tiktok.com/@crece.con.lamore/video/7441997574112021806" TargetMode="External"/><Relationship Id="rId4" Type="http://schemas.openxmlformats.org/officeDocument/2006/relationships/image" Target="../media/image23.png"/><Relationship Id="rId5" Type="http://schemas.openxmlformats.org/officeDocument/2006/relationships/hyperlink" Target="https://awisee.com/blog/tiktok-shop-in-latin-america/" TargetMode="External"/><Relationship Id="rId6" Type="http://schemas.openxmlformats.org/officeDocument/2006/relationships/image" Target="../media/image24.png"/><Relationship Id="rId7" Type="http://schemas.openxmlformats.org/officeDocument/2006/relationships/hyperlink" Target="https://www.emarketer.com/press-releases/tiktok-shop-makes-up-nearly-20-of-social-commerce-in-2025/"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hyperlink" Target="https://www.retaildive.com/news/amazon-releases-dash-smart-shelf-for-consumers-small-businesses/588465/" TargetMode="External"/><Relationship Id="rId4" Type="http://schemas.openxmlformats.org/officeDocument/2006/relationships/image" Target="../media/image26.png"/><Relationship Id="rId5" Type="http://schemas.openxmlformats.org/officeDocument/2006/relationships/hyperlink" Target="https://www.trustedreviews.com/news/amazon-dash-replenishment-service-3514666" TargetMode="External"/><Relationship Id="rId6" Type="http://schemas.openxmlformats.org/officeDocument/2006/relationships/image" Target="../media/image27.png"/><Relationship Id="rId7" Type="http://schemas.openxmlformats.org/officeDocument/2006/relationships/hyperlink" Target="https://www.grandviewresearch.com/industry-analysis/latin-america-live-commerce-market-repor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www.yavendio.com/en/blog/live-commerce-latam-estadisticas" TargetMode="External"/><Relationship Id="rId4" Type="http://schemas.openxmlformats.org/officeDocument/2006/relationships/image" Target="../media/image27.png"/><Relationship Id="rId5" Type="http://schemas.openxmlformats.org/officeDocument/2006/relationships/hyperlink" Target="https://www.grandviewresearch.com/industry-analysis/latin-america-live-commerce-market-report" TargetMode="External"/><Relationship Id="rId6" Type="http://schemas.openxmlformats.org/officeDocument/2006/relationships/image" Target="../media/image22.png"/><Relationship Id="rId7" Type="http://schemas.openxmlformats.org/officeDocument/2006/relationships/hyperlink" Target="https://www.tiktok.com/@crece.con.lamore/video/7441997574112021806"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hyperlink" Target="https://www.tiktok.com/@unique21official/video/7470330136718527777" TargetMode="External"/><Relationship Id="rId4" Type="http://schemas.openxmlformats.org/officeDocument/2006/relationships/image" Target="../media/image30.png"/><Relationship Id="rId5" Type="http://schemas.openxmlformats.org/officeDocument/2006/relationships/hyperlink" Target="https://freeyourself.com/blogs/news/tiktok-viral-perfume-sales-stats" TargetMode="External"/><Relationship Id="rId6" Type="http://schemas.openxmlformats.org/officeDocument/2006/relationships/image" Target="../media/image31.png"/><Relationship Id="rId7" Type="http://schemas.openxmlformats.org/officeDocument/2006/relationships/hyperlink" Target="https://www.accio.com/business/top-selling-tiktok-produc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hyperlink" Target="https://www.tiktok.com/@__jbarsty/video/7511087614015966495" TargetMode="External"/><Relationship Id="rId4" Type="http://schemas.openxmlformats.org/officeDocument/2006/relationships/image" Target="../media/image33.png"/><Relationship Id="rId5" Type="http://schemas.openxmlformats.org/officeDocument/2006/relationships/hyperlink" Target="https://hypetrace.com/top/tiktok/dominican-republic/" TargetMode="External"/><Relationship Id="rId6" Type="http://schemas.openxmlformats.org/officeDocument/2006/relationships/image" Target="../media/image34.png"/><Relationship Id="rId7" Type="http://schemas.openxmlformats.org/officeDocument/2006/relationships/hyperlink" Target="https://latamintersectpr.com/2025-e-commerce-trends-social-medias-impact-on-latin-american-consumer-behavio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girlsunited.essence.com/feedback/from-labubu-to-no-buy-how-viral-trends-are-colliding-with-economic-reality/" TargetMode="External"/><Relationship Id="rId4" Type="http://schemas.openxmlformats.org/officeDocument/2006/relationships/image" Target="../media/image35.png"/><Relationship Id="rId5" Type="http://schemas.openxmlformats.org/officeDocument/2006/relationships/hyperlink" Target="https://www.accio.com/business/tik-tok-trending-products" TargetMode="External"/><Relationship Id="rId6" Type="http://schemas.openxmlformats.org/officeDocument/2006/relationships/image" Target="../media/image36.png"/><Relationship Id="rId7" Type="http://schemas.openxmlformats.org/officeDocument/2006/relationships/hyperlink" Target="https://newsroom.tiktok.com/en-us/tiktok-whats-next-2025-trend-report-u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hyperlink" Target="https://www.tiktok.com/@thrift2ship1/video/7569567092769443094" TargetMode="External"/><Relationship Id="rId4" Type="http://schemas.openxmlformats.org/officeDocument/2006/relationships/image" Target="../media/image30.png"/><Relationship Id="rId5" Type="http://schemas.openxmlformats.org/officeDocument/2006/relationships/hyperlink" Target="https://freeyourself.com/blogs/news/tiktok-viral-perfume-sales-stats" TargetMode="External"/><Relationship Id="rId6" Type="http://schemas.openxmlformats.org/officeDocument/2006/relationships/image" Target="../media/image35.png"/><Relationship Id="rId7" Type="http://schemas.openxmlformats.org/officeDocument/2006/relationships/hyperlink" Target="https://www.accio.com/business/tiktokhotsellingto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hyperlink" Target="https://www.tiktok.com/@evameganosova/video/7558965114267782422" TargetMode="External"/><Relationship Id="rId4" Type="http://schemas.openxmlformats.org/officeDocument/2006/relationships/image" Target="../media/image39.png"/><Relationship Id="rId5" Type="http://schemas.openxmlformats.org/officeDocument/2006/relationships/hyperlink" Target="https://www.tiktok.com/@mr.chiefgrief9131149/video/7552292928236915989" TargetMode="External"/><Relationship Id="rId6" Type="http://schemas.openxmlformats.org/officeDocument/2006/relationships/image" Target="../media/image40.png"/><Relationship Id="rId7" Type="http://schemas.openxmlformats.org/officeDocument/2006/relationships/hyperlink" Target="https://www.tiktok.com/@ashleykateburke/video/7556270397939780919"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1</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INVENTOLOGÍA DE LA ADULTEZ</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"Un mundo en crisis está reescribiendo qué significa ser adulto y formar familia."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EL 'NO COMPRÉ NADA ESTE MES' REEMPLAZÓ AL ESTRENO COMO FLEX: EL UNDERCONSUMPTION CORE HIZO DEL ARMARIO MÍNIMO UNA SEÑAL DE ESTATUS.</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990600"/>
          </a:xfrm>
          <a:prstGeom prst="rect">
            <a:avLst/>
          </a:prstGeom>
          <a:noFill/>
        </p:spPr>
        <p:txBody>
          <a:bodyPr wrap="square"/>
          <a:lstStyle/>
          <a:p>
            <a:pPr algn="l">
              <a:lnSpc>
                <a:spcPct val="100000"/>
              </a:lnSpc>
            </a:pPr>
            <a:r>
              <a:rPr sz="1000" b="0" i="0">
                <a:solidFill>
                  <a:srgbClr val="FFFFFF"/>
                </a:solidFill>
                <a:latin typeface="Poppins"/>
              </a:rPr>
              <a:t>Antes presumías lo que estrenabas. Ahora hay toda una estética de presumir lo contrario: el armario que repites, el 'what I didn't buy', el reto de cero compras. La austeridad se volvió performance. No es que falte la plata — es que mostrar que no gastas se lee como criterio, como madurez financiera.</a:t>
            </a:r>
          </a:p>
        </p:txBody>
      </p:sp>
      <p:sp>
        <p:nvSpPr>
          <p:cNvPr id="16" name="TextBox 15"/>
          <p:cNvSpPr txBox="1"/>
          <p:nvPr/>
        </p:nvSpPr>
        <p:spPr>
          <a:xfrm>
            <a:off x="254000" y="48387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092700"/>
            <a:ext cx="3683000" cy="762000"/>
          </a:xfrm>
          <a:prstGeom prst="rect">
            <a:avLst/>
          </a:prstGeom>
          <a:noFill/>
        </p:spPr>
        <p:txBody>
          <a:bodyPr wrap="square"/>
          <a:lstStyle/>
          <a:p>
            <a:pPr algn="l">
              <a:lnSpc>
                <a:spcPct val="100000"/>
              </a:lnSpc>
            </a:pPr>
            <a:r>
              <a:rPr sz="1600" b="0" i="0">
                <a:solidFill>
                  <a:srgbClr val="FFFFFF"/>
                </a:solidFill>
                <a:latin typeface="Instrument Serif"/>
              </a:rPr>
              <a:t>#underconsumptioncore · #nobuy2025 · #lowbuy · #deinfluencing · #mindfulspending</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37%</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Gen Z planea ahorrar más, 29% invertir; el pivote se lee como corrección, no restricción.</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YOUGOV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6B+</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Views de #underconsumptioncore documentado como contra-tendencia viral al deinfluencing.</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VISIBRAIN / TIKTOK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No-Buy</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'De Labubu al No-Buy': los virales de consumo chocan con la realidad económica.</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GIRLS UNITED / ESSENCE · 2025</a:t>
            </a:r>
          </a:p>
        </p:txBody>
      </p:sp>
      <p:pic>
        <p:nvPicPr>
          <p:cNvPr id="27" name="Picture 26" descr="macro-1-1-tiktok-underconsumptioncore-1.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'underconsumption core / all my furniture' — armario mínimo como flex aspiracional en TikTok.</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@CHELSYCHRISTINA · 2024</a:t>
            </a:r>
          </a:p>
        </p:txBody>
      </p:sp>
      <p:pic>
        <p:nvPicPr>
          <p:cNvPr id="32" name="Picture 31" descr="macro-1-1-tiktok-underconsumptioncore-2.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'Underconsumption is a CHOICE you make every day' — el no-comprar como performance intencional.</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TIKTOK @BREAKYOURBUDGET · 2025</a:t>
            </a:r>
          </a:p>
        </p:txBody>
      </p:sp>
      <p:pic>
        <p:nvPicPr>
          <p:cNvPr id="37" name="Picture 36" descr="macro-1-1-girlsunited-labubu-nobuy.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De Labubu al No-Buy: virales de consumo chocan con la realidad económica — el ciclo se acelera.</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GIRLS UNITED / ESSENCE ·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EL DUPE SALIÓ DEL CLÓSET: COMPRAR LA VERSIÓN BARATA DEL LUJO DEJÓ DE DAR PENA Y PASÓ A PRESUMIRSE COMO INTELIGENCIA DE COMPRA.</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825500"/>
          </a:xfrm>
          <a:prstGeom prst="rect">
            <a:avLst/>
          </a:prstGeom>
          <a:noFill/>
        </p:spPr>
        <p:txBody>
          <a:bodyPr wrap="square"/>
          <a:lstStyle/>
          <a:p>
            <a:pPr algn="l">
              <a:lnSpc>
                <a:spcPct val="100000"/>
              </a:lnSpc>
            </a:pPr>
            <a:r>
              <a:rPr sz="1000" b="0" i="0">
                <a:solidFill>
                  <a:srgbClr val="FFFFFF"/>
                </a:solidFill>
                <a:latin typeface="Poppins"/>
              </a:rPr>
              <a:t>El dupe vivía escondido. Era el truco que no decías. Ahora es el contenido: 'dupe vs original', reseñas lado a lado, el ahorro presumido como logro. La marca cara ya no compite solo con otras marcas — compite con su propia copia, legitimada por el feed.</a:t>
            </a:r>
          </a:p>
        </p:txBody>
      </p:sp>
      <p:sp>
        <p:nvSpPr>
          <p:cNvPr id="16" name="TextBox 15"/>
          <p:cNvSpPr txBox="1"/>
          <p:nvPr/>
        </p:nvSpPr>
        <p:spPr>
          <a:xfrm>
            <a:off x="254000" y="46736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927600"/>
            <a:ext cx="3683000" cy="508000"/>
          </a:xfrm>
          <a:prstGeom prst="rect">
            <a:avLst/>
          </a:prstGeom>
          <a:noFill/>
        </p:spPr>
        <p:txBody>
          <a:bodyPr wrap="square"/>
          <a:lstStyle/>
          <a:p>
            <a:pPr algn="l">
              <a:lnSpc>
                <a:spcPct val="100000"/>
              </a:lnSpc>
            </a:pPr>
            <a:r>
              <a:rPr sz="1600" b="0" i="0">
                <a:solidFill>
                  <a:srgbClr val="FFFFFF"/>
                </a:solidFill>
                <a:latin typeface="Instrument Serif"/>
              </a:rPr>
              <a:t>#dupe · #dupecheck · #lookforless · #amazonfinds · #dupes</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6B</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Views de #dupe en TikTok; el hashtag convirtió la copia en categoría de contenido.</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TIKTOK CREATIVE CENTER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70%</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De Gen Z dice haber comprado dupes 'ocasional o muy regularmente' el último año.</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BUSINESS INSIDER / YOUGOV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Shift</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Dupe culture como 'aspirational shift' de Gen Z: el estatus pasa del logo a la astucia.</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LUXURY TRIBUNE · 2025</a:t>
            </a:r>
          </a:p>
        </p:txBody>
      </p:sp>
      <p:pic>
        <p:nvPicPr>
          <p:cNvPr id="27" name="Picture 26" descr="macro-1-2-tiktok-dupe-7546363805240921399.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'Viral perfumes — Dupe VS Original' — reseña lado a lado de alternativas masivas vs. lujo.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@PERFUMESIREN · 2025</a:t>
            </a:r>
          </a:p>
        </p:txBody>
      </p:sp>
      <p:pic>
        <p:nvPicPr>
          <p:cNvPr id="32" name="Picture 31" descr="macro-1-2-tiktok-dupe-7526268718016400671.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Top 5 drugstore dupes de maquillaje high-end — la astucia del consumidor como contenido.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TIKTOK @MANNYMUA733 · 2025</a:t>
            </a:r>
          </a:p>
        </p:txBody>
      </p:sp>
      <p:pic>
        <p:nvPicPr>
          <p:cNvPr id="37" name="Picture 36" descr="macro-1-2-tiktok-dupe-mikayla-mco.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'MCO Beauty vs. Original Products' — el dupe legitimado por una mega-creadora de belleza.</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TIKTOK @MIKAYLANOGUEIRA ·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LO USADO DEJÓ DE SER COSA DE POBRE: EN LATAM LA REVENTA PASÓ DE NECESIDAD A ELECCIÓN DE CRITERIO, Y EL PREOWNED SE VOLVIÓ CANAL ASPIRACIONAL.</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825500"/>
          </a:xfrm>
          <a:prstGeom prst="rect">
            <a:avLst/>
          </a:prstGeom>
          <a:noFill/>
        </p:spPr>
        <p:txBody>
          <a:bodyPr wrap="square"/>
          <a:lstStyle/>
          <a:p>
            <a:pPr algn="l">
              <a:lnSpc>
                <a:spcPct val="100000"/>
              </a:lnSpc>
            </a:pPr>
            <a:r>
              <a:rPr sz="1000" b="0" i="0">
                <a:solidFill>
                  <a:srgbClr val="FFFFFF"/>
                </a:solidFill>
                <a:latin typeface="Poppins"/>
              </a:rPr>
              <a:t>Comprar usado cargaba un estigma de clase. Eso se está cayendo en LATAM. El thrift haul es contenido, vender lo propio para financiar lo nuevo es práctica normal, y comprar lujo autenticado de segunda mano se lee como gusto, no como falta de plata.</a:t>
            </a:r>
          </a:p>
        </p:txBody>
      </p:sp>
      <p:sp>
        <p:nvSpPr>
          <p:cNvPr id="16" name="TextBox 15"/>
          <p:cNvSpPr txBox="1"/>
          <p:nvPr/>
        </p:nvSpPr>
        <p:spPr>
          <a:xfrm>
            <a:off x="254000" y="49657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219700"/>
            <a:ext cx="3683000" cy="508000"/>
          </a:xfrm>
          <a:prstGeom prst="rect">
            <a:avLst/>
          </a:prstGeom>
          <a:noFill/>
        </p:spPr>
        <p:txBody>
          <a:bodyPr wrap="square"/>
          <a:lstStyle/>
          <a:p>
            <a:pPr algn="l">
              <a:lnSpc>
                <a:spcPct val="100000"/>
              </a:lnSpc>
            </a:pPr>
            <a:r>
              <a:rPr sz="1600" b="0" i="0">
                <a:solidFill>
                  <a:srgbClr val="FFFFFF"/>
                </a:solidFill>
                <a:latin typeface="Instrument Serif"/>
              </a:rPr>
              <a:t>#thrifthaul · #segundamano · #preloved · #reventa · #thriftflip</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US$17.9B</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Ropa segunda mano LATAM para 2031 vs US$5.2B en 2025, CAGR 22.8%.</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6WRESEARCH / MOBILITY FORESIGHTS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83%</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De Gen Z global compró o quiere comprar usado — 10.7 pts sobre el promedio general.</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COGNITIVE MARKET RESEARCH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LATAM</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Outlook reventa LATAM 2026: economía empuja el usado a opción mainstream.</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BANKVOGUE · 2026</a:t>
            </a:r>
          </a:p>
        </p:txBody>
      </p:sp>
      <p:pic>
        <p:nvPicPr>
          <p:cNvPr id="27" name="Picture 26" descr="macro-1-3-tiktok-thrifthaul-7546587734941404471.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Thrift haul de la semana — botín visual de reventa aspiracional en LATAM.</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@METALROMANTIC · 2025</a:t>
            </a:r>
          </a:p>
        </p:txBody>
      </p:sp>
      <p:pic>
        <p:nvPicPr>
          <p:cNvPr id="32" name="Picture 31" descr="macro-1-3-tiktok-thrifthaul-7457656349103623466.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Tour de tienda #segundamano — la reventa como canal local aspiracional con #thrifthaul.</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TIKTOK @GOLDENBEETROVE · 2025</a:t>
            </a:r>
          </a:p>
        </p:txBody>
      </p:sp>
      <p:pic>
        <p:nvPicPr>
          <p:cNvPr id="37" name="Picture 36" descr="macro-1-3-corotos-rd-plataforma-usados.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Corotos.com.do — plataforma dominicana de segunda mano con listings de RD$10,000 a US$80,600.</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COROTOS.COM.DO ·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'NO PUEDO, ESTOY PRESUPUESTANDO' SE VOLVIÓ PRESUMIBLE: EL LOUD BUDGETING CONVIRTIÓ EL AHORRO EN PERFORMANCE Y EL GASTO IMPULSIVO EN COSA DE INMADUROS.</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825500"/>
          </a:xfrm>
          <a:prstGeom prst="rect">
            <a:avLst/>
          </a:prstGeom>
          <a:noFill/>
        </p:spPr>
        <p:txBody>
          <a:bodyPr wrap="square"/>
          <a:lstStyle/>
          <a:p>
            <a:pPr algn="l">
              <a:lnSpc>
                <a:spcPct val="100000"/>
              </a:lnSpc>
            </a:pPr>
            <a:r>
              <a:rPr sz="1000" b="0" i="0">
                <a:solidFill>
                  <a:srgbClr val="FFFFFF"/>
                </a:solidFill>
                <a:latin typeface="Poppins"/>
              </a:rPr>
              <a:t>Decir que no tenías plata daba pena. El loud budgeting le dio la vuelta: ahora anuncias en voz alta que no vas porque estás presupuestando, y eso te hace ver con control, no con carencia. La adultez nueva se prueba demostrando que tienes la mano en el timón.</a:t>
            </a:r>
          </a:p>
        </p:txBody>
      </p:sp>
      <p:sp>
        <p:nvSpPr>
          <p:cNvPr id="16" name="TextBox 15"/>
          <p:cNvSpPr txBox="1"/>
          <p:nvPr/>
        </p:nvSpPr>
        <p:spPr>
          <a:xfrm>
            <a:off x="254000" y="49657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219700"/>
            <a:ext cx="3683000" cy="762000"/>
          </a:xfrm>
          <a:prstGeom prst="rect">
            <a:avLst/>
          </a:prstGeom>
          <a:noFill/>
        </p:spPr>
        <p:txBody>
          <a:bodyPr wrap="square"/>
          <a:lstStyle/>
          <a:p>
            <a:pPr algn="l">
              <a:lnSpc>
                <a:spcPct val="100000"/>
              </a:lnSpc>
            </a:pPr>
            <a:r>
              <a:rPr sz="1600" b="0" i="0">
                <a:solidFill>
                  <a:srgbClr val="FFFFFF"/>
                </a:solidFill>
                <a:latin typeface="Instrument Serif"/>
              </a:rPr>
              <a:t>#loudbudgeting · #presupuesto · #ahorro2025 · #moneytok · #finanzaspersonales</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37%</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Gen Z planea ahorrar más, 29% invertir; el consumo se subordina al plan financiero.</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YOUGOV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BNPL</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Inestabilidad inflacionaria LATAM empuja a estabilizar el poder de compra con instrumentos de planificación.</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GLOBENEWSWIRE / LATAM BNPL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Swaps</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Marcas financieras como Fifth Third Bank hablan en 'loud budgeting swaps' para sonar nativas del feed.</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TIKTOK @FIFTHTHIRDBANK · 2024</a:t>
            </a:r>
          </a:p>
        </p:txBody>
      </p:sp>
      <p:pic>
        <p:nvPicPr>
          <p:cNvPr id="27" name="Picture 26" descr="macro-1-4-tiktok-loudbudgeting-7451260628603473198.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'2025 we are LOUD BUDGETING' — presupuestar en público como nueva señal de adultez.</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@BREAKYOURBUDGET · 2025</a:t>
            </a:r>
          </a:p>
        </p:txBody>
      </p:sp>
      <p:pic>
        <p:nvPicPr>
          <p:cNvPr id="32" name="Picture 31" descr="macro-1-4-tiktok-loudbudgeting-7340699620734995754.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Loud budgeting swaps: marca financiera adopta el lenguaje viral para normalizar el 'no' al gasto social.</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TIKTOK @FIFTHTHIRDBANK · 2024</a:t>
            </a:r>
          </a:p>
        </p:txBody>
      </p:sp>
      <p:pic>
        <p:nvPicPr>
          <p:cNvPr id="37" name="Picture 36" descr="macro-2-0-globenewswire-latam-bnpl.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BNPL LATAM +27% en 2025 a US$16.2B — instrumento de estabilización del poder de compra.</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GLOBENEWSWIRE · FEBRERO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1</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INVENTOLOGÍA DE LA ADULTEZ</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1752600"/>
          </a:xfrm>
          <a:prstGeom prst="rect">
            <a:avLst/>
          </a:prstGeom>
          <a:noFill/>
        </p:spPr>
        <p:txBody>
          <a:bodyPr wrap="square"/>
          <a:lstStyle/>
          <a:p>
            <a:pPr algn="l">
              <a:lnSpc>
                <a:spcPct val="114000"/>
              </a:lnSpc>
            </a:pPr>
            <a:r>
              <a:rPr sz="2000" b="0" i="0">
                <a:solidFill>
                  <a:srgbClr val="FFFFFF"/>
                </a:solidFill>
                <a:latin typeface="Instrument Serif"/>
              </a:rPr>
              <a:t>EL GASTO ASPIRACIONAL SE MUDÓ DEL OBJETO A LA EXPERIENCIA: GIRL MATH Y SOFT LIFE HACEN QUE EL VIAJE PESE MÁS QUE EL CARRO NUEVO.</a:t>
            </a:r>
          </a:p>
        </p:txBody>
      </p:sp>
      <p:sp>
        <p:nvSpPr>
          <p:cNvPr id="14" name="TextBox 13"/>
          <p:cNvSpPr txBox="1"/>
          <p:nvPr/>
        </p:nvSpPr>
        <p:spPr>
          <a:xfrm>
            <a:off x="254000" y="30734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327400"/>
            <a:ext cx="3683000" cy="990600"/>
          </a:xfrm>
          <a:prstGeom prst="rect">
            <a:avLst/>
          </a:prstGeom>
          <a:noFill/>
        </p:spPr>
        <p:txBody>
          <a:bodyPr wrap="square"/>
          <a:lstStyle/>
          <a:p>
            <a:pPr algn="l">
              <a:lnSpc>
                <a:spcPct val="100000"/>
              </a:lnSpc>
            </a:pPr>
            <a:r>
              <a:rPr sz="1000" b="0" i="0">
                <a:solidFill>
                  <a:srgbClr val="FFFFFF"/>
                </a:solidFill>
                <a:latin typeface="Poppins"/>
              </a:rPr>
              <a:t>El nuevo capital social no se acumula en cosas, se acumula en momentos. El gasto aspiracional se corrió de electrodomésticos y lujo material a viajes, conciertos, autocuidado. La 'girl math' es el marco viral que justifica el gasto experiencial. El recuerdo rinde más que la posesión.</a:t>
            </a:r>
          </a:p>
        </p:txBody>
      </p:sp>
      <p:sp>
        <p:nvSpPr>
          <p:cNvPr id="16" name="TextBox 15"/>
          <p:cNvSpPr txBox="1"/>
          <p:nvPr/>
        </p:nvSpPr>
        <p:spPr>
          <a:xfrm>
            <a:off x="254000" y="45466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800600"/>
            <a:ext cx="3683000" cy="762000"/>
          </a:xfrm>
          <a:prstGeom prst="rect">
            <a:avLst/>
          </a:prstGeom>
          <a:noFill/>
        </p:spPr>
        <p:txBody>
          <a:bodyPr wrap="square"/>
          <a:lstStyle/>
          <a:p>
            <a:pPr algn="l">
              <a:lnSpc>
                <a:spcPct val="100000"/>
              </a:lnSpc>
            </a:pPr>
            <a:r>
              <a:rPr sz="1600" b="0" i="0">
                <a:solidFill>
                  <a:srgbClr val="FFFFFF"/>
                </a:solidFill>
                <a:latin typeface="Instrument Serif"/>
              </a:rPr>
              <a:t>#girlmath · #softlife · #treatculture · #selfcarespending · #experienceoverstuff</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66%</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la población global pagaría premium por productos alineados con sus valores.</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GREEN PREMIUM STUDIES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LATAM</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Auge de wellness influencers que venden experiencia y servicio en live commerce LATAM.</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GRAND VIEW RESEARCH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Math</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'Girl math' como marco viral para justificar gasto experiencial vs. material en TikTok.</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TIKTOK · 2023 [HISTÓRICO]</a:t>
            </a:r>
          </a:p>
        </p:txBody>
      </p:sp>
      <p:pic>
        <p:nvPicPr>
          <p:cNvPr id="27" name="Picture 26" descr="macro-1-5-tiktok-girlmath-softlife-7454705982652943621.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'Dear 2025' con CEO SoftLife — vivir bien como aspiración post-acumulación.</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@TASHAMICHIE124 · 2025</a:t>
            </a:r>
          </a:p>
        </p:txBody>
      </p:sp>
      <p:pic>
        <p:nvPicPr>
          <p:cNvPr id="32" name="Picture 31" descr="macro-1-5-tiktok-girlmath-softlife-7264583361304333611.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'somehow it makes sense #girlmath' — la lógica aspiracional que convierte experiencias en inversión.</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TIKTOK @MCKENNAELIANNA · 2023</a:t>
            </a:r>
          </a:p>
        </p:txBody>
      </p:sp>
      <p:pic>
        <p:nvPicPr>
          <p:cNvPr id="37" name="Picture 36" descr="macro-1-5-tiktok-girlmath-softlife-7276207307921313030.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'Justifying purchases with GIRL MATH' — marco viral para validar gasto experiencial vs. material.</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TIKTOK @CASANDRA.MAZZUCCO · 2023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2</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LOS HERNÁNDEZ ARE PROMPTED</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"El dominicano ya entró al mundo prompteado. Solo no lo nombra así."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EL AGENTE DE IA PASÓ DE RECOMENDARTE A COMPRAR POR TI: FIJAS EL PRECIO OBJETIVO Y RUFUS AUTO-BUY EJECUTA EL CHECKOUT SIN QUE TOQUES NADA.</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825500"/>
          </a:xfrm>
          <a:prstGeom prst="rect">
            <a:avLst/>
          </a:prstGeom>
          <a:noFill/>
        </p:spPr>
        <p:txBody>
          <a:bodyPr wrap="square"/>
          <a:lstStyle/>
          <a:p>
            <a:pPr algn="l">
              <a:lnSpc>
                <a:spcPct val="100000"/>
              </a:lnSpc>
            </a:pPr>
            <a:r>
              <a:rPr sz="1000" b="0" i="0">
                <a:solidFill>
                  <a:srgbClr val="FFFFFF"/>
                </a:solidFill>
                <a:latin typeface="Poppins"/>
              </a:rPr>
              <a:t>La IA recomendaba. Ahora ejecuta. Rufus Auto-Buy compra cuando se cumplen los parámetros que tú fijaste — precio, condición, momento. El humano deja de hacer el checkout. La compra se vuelve una orden delegada bajo reglas, no un acto consciente cada vez.</a:t>
            </a:r>
          </a:p>
        </p:txBody>
      </p:sp>
      <p:sp>
        <p:nvSpPr>
          <p:cNvPr id="16" name="TextBox 15"/>
          <p:cNvSpPr txBox="1"/>
          <p:nvPr/>
        </p:nvSpPr>
        <p:spPr>
          <a:xfrm>
            <a:off x="254000" y="46736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927600"/>
            <a:ext cx="3683000" cy="762000"/>
          </a:xfrm>
          <a:prstGeom prst="rect">
            <a:avLst/>
          </a:prstGeom>
          <a:noFill/>
        </p:spPr>
        <p:txBody>
          <a:bodyPr wrap="square"/>
          <a:lstStyle/>
          <a:p>
            <a:pPr algn="l">
              <a:lnSpc>
                <a:spcPct val="100000"/>
              </a:lnSpc>
            </a:pPr>
            <a:r>
              <a:rPr sz="1600" b="0" i="0">
                <a:solidFill>
                  <a:srgbClr val="FFFFFF"/>
                </a:solidFill>
                <a:latin typeface="Instrument Serif"/>
              </a:rPr>
              <a:t>#aishopping · #rufus · #agenticcommerce · #shoppingassistant · #autobuy</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250M</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Usuarios activos mensuales de Rufus (+149% YoY); quien lo usa compra 60% más.</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NOVA ANALYTICS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US$1T</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Commerce agéntico proyectado en retail USA para 2030 (McKinsey) + US$115B adicionales por agentes.</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MCKINSEY / MORGAN STANLEY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Pivot</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Amazon abandona Rufus y pivota a Alexa Shopping Agent que ejecuta compras autónomas.</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CNBC · MAYO 2026</a:t>
            </a:r>
          </a:p>
        </p:txBody>
      </p:sp>
      <p:pic>
        <p:nvPicPr>
          <p:cNvPr id="27" name="Picture 26" descr="macro-2-1-tiktok-aishopping-7469936286556589344.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#aishopping — creadores documentan cómo la IA selecciona sus compras en TikTok.</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@UNIQUE21OFFICIAL · 2025</a:t>
            </a:r>
          </a:p>
        </p:txBody>
      </p:sp>
      <p:pic>
        <p:nvPicPr>
          <p:cNvPr id="32" name="Picture 31" descr="macro-2-1-retailtech-rufus-ai-shopping.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Rufus en acción: el agente de IA recomienda en pantalla — la batalla por la intención de compra.</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RETAILTECH INNOVATION HUB · ENERO 2026</a:t>
            </a:r>
          </a:p>
        </p:txBody>
      </p:sp>
      <p:pic>
        <p:nvPicPr>
          <p:cNvPr id="37" name="Picture 36" descr="macro-2-1-novadata-rufus-autobuy.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Rufus Auto-Buy: 250M usuarios activos mensuales (+149% YoY) — quien lo usa compra 60% más.</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NOVA ANALYTICS ·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PÁGALO EN CUATRO Y NO LO SIENTAS: EL BNPL BORRA EL LÍMITE DEL PRESUPUESTO DE LA EXPERIENCIA DE COMPRA Y CRECE EN LATAM COMO CRÉDITO PARA LOS QUE EL BANCO NO BANCA.</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990600"/>
          </a:xfrm>
          <a:prstGeom prst="rect">
            <a:avLst/>
          </a:prstGeom>
          <a:noFill/>
        </p:spPr>
        <p:txBody>
          <a:bodyPr wrap="square"/>
          <a:lstStyle/>
          <a:p>
            <a:pPr algn="l">
              <a:lnSpc>
                <a:spcPct val="100000"/>
              </a:lnSpc>
            </a:pPr>
            <a:r>
              <a:rPr sz="1000" b="0" i="0">
                <a:solidFill>
                  <a:srgbClr val="FFFFFF"/>
                </a:solidFill>
                <a:latin typeface="Poppins"/>
              </a:rPr>
              <a:t>Partir el pago en cuotas sin tarjeta cambia cómo se siente el precio. En LATAM, donde +40% de la población carece de crédito formal, el BNPL crece como herramienta de inclusión. Mercado Pago, Addi, Kueski funcionan como crédito de facto en el checkout. Compras ahora aunque el flujo esté apretado.</a:t>
            </a:r>
          </a:p>
        </p:txBody>
      </p:sp>
      <p:sp>
        <p:nvSpPr>
          <p:cNvPr id="16" name="TextBox 15"/>
          <p:cNvSpPr txBox="1"/>
          <p:nvPr/>
        </p:nvSpPr>
        <p:spPr>
          <a:xfrm>
            <a:off x="254000" y="5130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84800"/>
            <a:ext cx="3683000" cy="762000"/>
          </a:xfrm>
          <a:prstGeom prst="rect">
            <a:avLst/>
          </a:prstGeom>
          <a:noFill/>
        </p:spPr>
        <p:txBody>
          <a:bodyPr wrap="square"/>
          <a:lstStyle/>
          <a:p>
            <a:pPr algn="l">
              <a:lnSpc>
                <a:spcPct val="100000"/>
              </a:lnSpc>
            </a:pPr>
            <a:r>
              <a:rPr sz="1600" b="0" i="0">
                <a:solidFill>
                  <a:srgbClr val="FFFFFF"/>
                </a:solidFill>
                <a:latin typeface="Instrument Serif"/>
              </a:rPr>
              <a:t>#bnpl · #cuotassininteres · #pagaen4 · #mercadopago · #fintechlatam</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US$16.2B</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BNPL LATAM en 2025 (+27%); +40% de la población sin crédito formal en la región.</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LATAM BNPL REPORT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Omni</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BNPL se expande de e-commerce a in-store y omnicanal en 2026; super apps dominan el ecosistema.</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GLOBENEWSWIRE · 2026</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Inclusión</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Mercado Pago, Kueski y Creditas diseñan cuotas para no-bancarizados — BNPL como herramienta de acceso.</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HOPE RESEARCH GROUP · 2025</a:t>
            </a:r>
          </a:p>
        </p:txBody>
      </p:sp>
      <p:pic>
        <p:nvPicPr>
          <p:cNvPr id="27" name="Picture 26" descr="macro-2-2-addi-bnpl-checkout.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ADDI: 'Compra lo que quieres hoy, págalo después' — el BNPL hace invisible el límite del presupuesto.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ADDI · 2025</a:t>
            </a:r>
          </a:p>
        </p:txBody>
      </p:sp>
      <p:pic>
        <p:nvPicPr>
          <p:cNvPr id="32" name="Picture 31" descr="macro-2-2-globenewswire-bnpl-latam-2026.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BNPL LATAM 2026: expansión de e-commerce a in-store y omnicanal — super apps dominan.</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GLOBENEWSWIRE · ENERO 2026</a:t>
            </a:r>
          </a:p>
        </p:txBody>
      </p:sp>
      <p:pic>
        <p:nvPicPr>
          <p:cNvPr id="37" name="Picture 36" descr="macro-2-0-paymentscmi-ecommerce-rd.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E-commerce RD supera US$5.2B en 2025 — PayPal (58%) y tPago (40%) lideran wallets dominicanas.</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PAYMENTSCMI ·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EL CHECKOUT SE MUDÓ ADENTRO DEL VIDEO: TIKTOK SHOP COLAPSA ENTRETENIMIENTO Y COMPRA, Y EN BRASIL EL GMV PASÓ DE US$1M A US$25.7M EN TRES MESES.</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990600"/>
          </a:xfrm>
          <a:prstGeom prst="rect">
            <a:avLst/>
          </a:prstGeom>
          <a:noFill/>
        </p:spPr>
        <p:txBody>
          <a:bodyPr wrap="square"/>
          <a:lstStyle/>
          <a:p>
            <a:pPr algn="l">
              <a:lnSpc>
                <a:spcPct val="100000"/>
              </a:lnSpc>
            </a:pPr>
            <a:r>
              <a:rPr sz="1000" b="0" i="0">
                <a:solidFill>
                  <a:srgbClr val="FFFFFF"/>
                </a:solidFill>
                <a:latin typeface="Poppins"/>
              </a:rPr>
              <a:t>Ver y comprar eran dos momentos separados. TikTok Shop los fundió: el 'yellow basket' vive dentro del video, descubres-deseas-pagas en segundos sin salir del scroll. Ya está en cinco países de LATAM y los registros de sellers subieron +300% en México desde 2023.</a:t>
            </a:r>
          </a:p>
        </p:txBody>
      </p:sp>
      <p:sp>
        <p:nvSpPr>
          <p:cNvPr id="16" name="TextBox 15"/>
          <p:cNvSpPr txBox="1"/>
          <p:nvPr/>
        </p:nvSpPr>
        <p:spPr>
          <a:xfrm>
            <a:off x="254000" y="5130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84800"/>
            <a:ext cx="3683000" cy="762000"/>
          </a:xfrm>
          <a:prstGeom prst="rect">
            <a:avLst/>
          </a:prstGeom>
          <a:noFill/>
        </p:spPr>
        <p:txBody>
          <a:bodyPr wrap="square"/>
          <a:lstStyle/>
          <a:p>
            <a:pPr algn="l">
              <a:lnSpc>
                <a:spcPct val="100000"/>
              </a:lnSpc>
            </a:pPr>
            <a:r>
              <a:rPr sz="1600" b="0" i="0">
                <a:solidFill>
                  <a:srgbClr val="FFFFFF"/>
                </a:solidFill>
                <a:latin typeface="Instrument Serif"/>
              </a:rPr>
              <a:t>#tiktokshop · #tiktokmademebuyit · #socialcommerce · #compraporredes · #yellowbasket</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+300%</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Registros de sellers TikTok Shop en México desde 2023; en Brasil GMV de US$1M a US$25.7M en 3 meses.</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AWISEE / M2E CLOUD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20%</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TikTok Shop captura ~18-20% del social commerce USA; proyectado a 24.1% en 2027.</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EMARKETER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US$20B</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Social commerce LATAM proyectado para 2025; +60% sigue influencers que recomiendan o venden.</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LATAM INTERSECT PR · 2025</a:t>
            </a:r>
          </a:p>
        </p:txBody>
      </p:sp>
      <p:pic>
        <p:nvPicPr>
          <p:cNvPr id="27" name="Picture 26" descr="macro-2-3-tiktok-tiktokshop-7441997574112021806.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Creador LATAM explicando TikTok Shop — el checkout integrado al video llega a vendedores locales.</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@CRECE.CON.LAMORE · 2025</a:t>
            </a:r>
          </a:p>
        </p:txBody>
      </p:sp>
      <p:pic>
        <p:nvPicPr>
          <p:cNvPr id="32" name="Picture 31" descr="macro-2-3-awisee-tiktokshop-latam.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TikTok Shop en MX, BR, CO, CL, PE — en Brasil GMV pasó de US$1M a US$25.7M en 3 meses.</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AWISEE · 2025</a:t>
            </a:r>
          </a:p>
        </p:txBody>
      </p:sp>
      <p:pic>
        <p:nvPicPr>
          <p:cNvPr id="37" name="Picture 36" descr="macro-2-3-emarketer-tiktokshop-20pct.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TikTok Shop captura ~20% del social commerce USA en 2025; proyectado a 24.1% en 2027.</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EMARKETER ·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628899"/>
          </a:xfrm>
          <a:prstGeom prst="rect">
            <a:avLst/>
          </a:prstGeom>
          <a:noFill/>
        </p:spPr>
        <p:txBody>
          <a:bodyPr wrap="square"/>
          <a:lstStyle/>
          <a:p>
            <a:pPr algn="l">
              <a:lnSpc>
                <a:spcPct val="114000"/>
              </a:lnSpc>
            </a:pPr>
            <a:r>
              <a:rPr sz="2000" b="0" i="0">
                <a:solidFill>
                  <a:srgbClr val="FFFFFF"/>
                </a:solidFill>
                <a:latin typeface="Instrument Serif"/>
              </a:rPr>
              <a:t>LA DESPENSA EMPEZÓ A LLENARSE SOLA: ESTANTERÍAS INTELIGENTES Y ELECTRODOMÉSTICOS CONECTADOS PESAN EL DETERGENTE Y LO REORDENAN ANTES DE QUE SE ACABE.</a:t>
            </a:r>
          </a:p>
        </p:txBody>
      </p:sp>
      <p:sp>
        <p:nvSpPr>
          <p:cNvPr id="14" name="TextBox 13"/>
          <p:cNvSpPr txBox="1"/>
          <p:nvPr/>
        </p:nvSpPr>
        <p:spPr>
          <a:xfrm>
            <a:off x="254000" y="39497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4203700"/>
            <a:ext cx="3683000" cy="990600"/>
          </a:xfrm>
          <a:prstGeom prst="rect">
            <a:avLst/>
          </a:prstGeom>
          <a:noFill/>
        </p:spPr>
        <p:txBody>
          <a:bodyPr wrap="square"/>
          <a:lstStyle/>
          <a:p>
            <a:pPr algn="l">
              <a:lnSpc>
                <a:spcPct val="100000"/>
              </a:lnSpc>
            </a:pPr>
            <a:r>
              <a:rPr sz="1000" b="0" i="0">
                <a:solidFill>
                  <a:srgbClr val="FFFFFF"/>
                </a:solidFill>
                <a:latin typeface="Poppins"/>
              </a:rPr>
              <a:t>Ir a comprar lo básico era una tarea mental fija: revisar, anotar, salir. Esa tarea se está automatizando. El Dash Smart Shelf pesa el inventario y reordena solo. Lavadoras, cafeteras y electrodomésticos con Dash Replenishment integrado piden cápsulas sin que nadie lo decida.</a:t>
            </a:r>
          </a:p>
        </p:txBody>
      </p:sp>
      <p:sp>
        <p:nvSpPr>
          <p:cNvPr id="16" name="TextBox 15"/>
          <p:cNvSpPr txBox="1"/>
          <p:nvPr/>
        </p:nvSpPr>
        <p:spPr>
          <a:xfrm>
            <a:off x="254000" y="54229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676900"/>
            <a:ext cx="3683000" cy="762000"/>
          </a:xfrm>
          <a:prstGeom prst="rect">
            <a:avLst/>
          </a:prstGeom>
          <a:noFill/>
        </p:spPr>
        <p:txBody>
          <a:bodyPr wrap="square"/>
          <a:lstStyle/>
          <a:p>
            <a:pPr algn="l">
              <a:lnSpc>
                <a:spcPct val="100000"/>
              </a:lnSpc>
            </a:pPr>
            <a:r>
              <a:rPr sz="1600" b="0" i="0">
                <a:solidFill>
                  <a:srgbClr val="FFFFFF"/>
                </a:solidFill>
                <a:latin typeface="Instrument Serif"/>
              </a:rPr>
              <a:t>#smarthome · #autoreplenish · #subscribeandsave · #amazondash · #casainteligente</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US$19.99</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Dash Smart Shelf pesa el inventario y reordena solo con Subscribe &amp; Save.</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AMAZON / RETAIL DIVE · 2020</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DRS</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Bosch, Toshiba, illy y Beko integran Dash Replenishment Service en sus electrodomésticos.</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TRUSTED REVIEWS · 2018</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2×</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Smart home appliances LATAM crece a doble dígito anual — la adopción ya avanza.</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GRAND VIEW RESEARCH · 2025</a:t>
            </a:r>
          </a:p>
        </p:txBody>
      </p:sp>
      <p:pic>
        <p:nvPicPr>
          <p:cNvPr id="27" name="Picture 26" descr="macro-2-4-retaildive-amazon-dash-shelf.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Amazon Dash Smart Shelf (US$19.99) — pesa el inventario y reordena solo vía Subscribe &amp; Save.</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RETAIL DIVE · 2020</a:t>
            </a:r>
          </a:p>
        </p:txBody>
      </p:sp>
      <p:pic>
        <p:nvPicPr>
          <p:cNvPr id="32" name="Picture 31" descr="macro-2-4-trustedreviews-amazon-drs-appliances.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Bosch HomeConnect con Amazon DRS: el electrodoméstico que reordena jabón y cápsulas solo.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TRUSTED REVIEWS · 2018</a:t>
            </a:r>
          </a:p>
        </p:txBody>
      </p:sp>
      <p:pic>
        <p:nvPicPr>
          <p:cNvPr id="37" name="Picture 36" descr="macro-2-5-grandviewresearch-livecommerce-latam.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Smart home appliances LATAM creciendo a doble dígito anual — la automatización doméstica avanza.</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GRAND VIEW RESEARCH · 2025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2</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LOS HERNÁNDEZ ARE PROMPTED</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COMPRAR EN VIVO SE VOLVIÓ EVENTO: EL LIVE SHOPPING CONVIERTE HASTA EL 30% DE QUIEN MIRA (VS 2-3% DEL E-COMMERCE) Y 64% DE LATAM ASISTE A SESIONES CADA MES.</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990600"/>
          </a:xfrm>
          <a:prstGeom prst="rect">
            <a:avLst/>
          </a:prstGeom>
          <a:noFill/>
        </p:spPr>
        <p:txBody>
          <a:bodyPr wrap="square"/>
          <a:lstStyle/>
          <a:p>
            <a:pPr algn="l">
              <a:lnSpc>
                <a:spcPct val="100000"/>
              </a:lnSpc>
            </a:pPr>
            <a:r>
              <a:rPr sz="1000" b="0" i="0">
                <a:solidFill>
                  <a:srgbClr val="FFFFFF"/>
                </a:solidFill>
                <a:latin typeface="Poppins"/>
              </a:rPr>
              <a:t>El live shopping vuelve el stream un piso de venta. La oferta-relámpago, el drop cronometrado, el chat en tiempo real — todo empuja a comprar ahí mismo, empujado por escasez y comunidad. En LATAM 64% asiste a sesiones mensualmente. La urgencia social hace el trabajo que la página de producto nunca pudo.</a:t>
            </a:r>
          </a:p>
        </p:txBody>
      </p:sp>
      <p:sp>
        <p:nvSpPr>
          <p:cNvPr id="16" name="TextBox 15"/>
          <p:cNvSpPr txBox="1"/>
          <p:nvPr/>
        </p:nvSpPr>
        <p:spPr>
          <a:xfrm>
            <a:off x="254000" y="5130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84800"/>
            <a:ext cx="3683000" cy="762000"/>
          </a:xfrm>
          <a:prstGeom prst="rect">
            <a:avLst/>
          </a:prstGeom>
          <a:noFill/>
        </p:spPr>
        <p:txBody>
          <a:bodyPr wrap="square"/>
          <a:lstStyle/>
          <a:p>
            <a:pPr algn="l">
              <a:lnSpc>
                <a:spcPct val="100000"/>
              </a:lnSpc>
            </a:pPr>
            <a:r>
              <a:rPr sz="1600" b="0" i="0">
                <a:solidFill>
                  <a:srgbClr val="FFFFFF"/>
                </a:solidFill>
                <a:latin typeface="Instrument Serif"/>
              </a:rPr>
              <a:t>#liveshopping · #livecommerce · #ventaenvivo · #droplive · #tiktoklive</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US$32B</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Live commerce LATAM para 2033 vs US$3.87B en 2024, CAGR 27.2%; Brasil +90% anual.</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GRAND VIEW RESEARCH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10×</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McKinsey: conversión en live shopping hasta 10x la del e-commerce convencional.</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MCKINSEY / YAVENDIO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64%</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De consumidores LATAM asiste a sesiones de live shopping mensualmente; conversión hasta 30%.</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YAVENDIO · 2025</a:t>
            </a:r>
          </a:p>
        </p:txBody>
      </p:sp>
      <p:pic>
        <p:nvPicPr>
          <p:cNvPr id="27" name="Picture 26" descr="macro-2-5-yavendio-livecommerce-latam-stats.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64% de LATAM asiste a live shopping mensual; conversión hasta 30% vs. 2-3% e-commerce.</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YAVENDIO · 2025</a:t>
            </a:r>
          </a:p>
        </p:txBody>
      </p:sp>
      <p:pic>
        <p:nvPicPr>
          <p:cNvPr id="32" name="Picture 31" descr="macro-2-5-grandviewresearch-livecommerce-latam.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Live commerce LATAM: US$3.87B (2024) → US$32.08B (2033), CAGR 27.2%; Brasil +90% anual.</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GRAND VIEW RESEARCH · 2025</a:t>
            </a:r>
          </a:p>
        </p:txBody>
      </p:sp>
      <p:pic>
        <p:nvPicPr>
          <p:cNvPr id="37" name="Picture 36" descr="macro-2-3-tiktok-tiktokshop-7441997574112021806.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Creador LATAM montando venta en TikTok — el live como tienda: entretenimiento + checkout.</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TIKTOK @CRECE.CON.LAMORE · 2025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2000" cy="254000"/>
          </a:xfrm>
          <a:prstGeom prst="rect">
            <a:avLst/>
          </a:prstGeom>
          <a:noFill/>
        </p:spPr>
        <p:txBody>
          <a:bodyPr wrap="square"/>
          <a:lstStyle/>
          <a:p>
            <a:pPr algn="ctr">
              <a:lnSpc>
                <a:spcPct val="100000"/>
              </a:lnSpc>
            </a:pPr>
            <a:r>
              <a:rPr sz="1400" b="1" i="0">
                <a:solidFill>
                  <a:srgbClr val="A0A0A0"/>
                </a:solidFill>
                <a:latin typeface="Poppins"/>
              </a:rPr>
              <a:t>MACRO 3</a:t>
            </a:r>
          </a:p>
        </p:txBody>
      </p:sp>
      <p:sp>
        <p:nvSpPr>
          <p:cNvPr id="4" name="TextBox 3"/>
          <p:cNvSpPr txBox="1"/>
          <p:nvPr/>
        </p:nvSpPr>
        <p:spPr>
          <a:xfrm>
            <a:off x="254000" y="2844800"/>
            <a:ext cx="11684000" cy="1651000"/>
          </a:xfrm>
          <a:prstGeom prst="rect">
            <a:avLst/>
          </a:prstGeom>
          <a:noFill/>
        </p:spPr>
        <p:txBody>
          <a:bodyPr wrap="square"/>
          <a:lstStyle/>
          <a:p>
            <a:pPr algn="ctr">
              <a:lnSpc>
                <a:spcPct val="95000"/>
              </a:lnSpc>
            </a:pPr>
            <a:r>
              <a:rPr sz="10000" b="0" i="0">
                <a:solidFill>
                  <a:srgbClr val="FFFFFF"/>
                </a:solidFill>
                <a:latin typeface="Instrument Serif"/>
              </a:rPr>
              <a:t>ALGORITMO DEL HOGAR</a:t>
            </a:r>
          </a:p>
        </p:txBody>
      </p:sp>
      <p:sp>
        <p:nvSpPr>
          <p:cNvPr id="5" name="TextBox 4"/>
          <p:cNvSpPr txBox="1"/>
          <p:nvPr/>
        </p:nvSpPr>
        <p:spPr>
          <a:xfrm>
            <a:off x="254000" y="4495800"/>
            <a:ext cx="11684000" cy="457200"/>
          </a:xfrm>
          <a:prstGeom prst="rect">
            <a:avLst/>
          </a:prstGeom>
          <a:noFill/>
        </p:spPr>
        <p:txBody>
          <a:bodyPr wrap="square"/>
          <a:lstStyle/>
          <a:p>
            <a:pPr algn="ctr">
              <a:lnSpc>
                <a:spcPct val="100000"/>
              </a:lnSpc>
            </a:pPr>
            <a:r>
              <a:rPr sz="2400" b="0" i="1">
                <a:solidFill>
                  <a:srgbClr val="A0A0A0"/>
                </a:solidFill>
                <a:latin typeface="Instrument Serif"/>
              </a:rPr>
              <a:t>"El feed se sentó en la mesa y nadie le ofreció silla."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TIKTOK NO TE SUGIERE, TE OBLIGA: UN VIDEO AGOTA GÓNDOLAS EN DÍAS, Y SOL DE JANEIRO PASÓ DE VIRAL A +US$1B MIENTRAS LABUBU LLEGABA A US$150K EN SUBASTA.</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990600"/>
          </a:xfrm>
          <a:prstGeom prst="rect">
            <a:avLst/>
          </a:prstGeom>
          <a:noFill/>
        </p:spPr>
        <p:txBody>
          <a:bodyPr wrap="square"/>
          <a:lstStyle/>
          <a:p>
            <a:pPr algn="l">
              <a:lnSpc>
                <a:spcPct val="100000"/>
              </a:lnSpc>
            </a:pPr>
            <a:r>
              <a:rPr sz="1000" b="0" i="0">
                <a:solidFill>
                  <a:srgbClr val="FFFFFF"/>
                </a:solidFill>
                <a:latin typeface="Poppins"/>
              </a:rPr>
              <a:t>El algoritmo fabrica must-haves que vacían el stock en días. Sol de Janeiro acumuló +850M de views y triplicó ventas. Stanley y Labubu agotaron góndolas por puro hype. El deseo no lo programa la necesidad — lo programa el feed. Lo compras para estar adentro, no para usarlo.</a:t>
            </a:r>
          </a:p>
        </p:txBody>
      </p:sp>
      <p:sp>
        <p:nvSpPr>
          <p:cNvPr id="16" name="TextBox 15"/>
          <p:cNvSpPr txBox="1"/>
          <p:nvPr/>
        </p:nvSpPr>
        <p:spPr>
          <a:xfrm>
            <a:off x="254000" y="5130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84800"/>
            <a:ext cx="3683000" cy="762000"/>
          </a:xfrm>
          <a:prstGeom prst="rect">
            <a:avLst/>
          </a:prstGeom>
          <a:noFill/>
        </p:spPr>
        <p:txBody>
          <a:bodyPr wrap="square"/>
          <a:lstStyle/>
          <a:p>
            <a:pPr algn="l">
              <a:lnSpc>
                <a:spcPct val="100000"/>
              </a:lnSpc>
            </a:pPr>
            <a:r>
              <a:rPr sz="1600" b="0" i="0">
                <a:solidFill>
                  <a:srgbClr val="FFFFFF"/>
                </a:solidFill>
                <a:latin typeface="Instrument Serif"/>
              </a:rPr>
              <a:t>#tiktokmademebuyit · #viralproduct · #amazonmusthaves · #soldout · #restock</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15%</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consumidores globales compra solo porque algo es tendencia en TikTok.</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SAP EMARSYS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+US$1B</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Sol de Janeiro: +850M views, ventas triplicadas a +US$1B; Labubu llegó a US$150K en subasta.</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FREE YOURSELF / UC SAN DIEGO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Top</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Ranking de productos TikTok más vendidos 2025 — virales que agotan stock en días.</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ACCIO · 2025</a:t>
            </a:r>
          </a:p>
        </p:txBody>
      </p:sp>
      <p:pic>
        <p:nvPicPr>
          <p:cNvPr id="27" name="Picture 26" descr="macro-3-1-tiktok-tiktokmademebuyit-7470330136718527777.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#tiktokmademebuyit — el hashtag que acumula 80B de views documenta cada must-have del feed.</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@UNIQUE21OFFICIAL · 2025</a:t>
            </a:r>
          </a:p>
        </p:txBody>
      </p:sp>
      <p:pic>
        <p:nvPicPr>
          <p:cNvPr id="32" name="Picture 31" descr="macro-3-4-freeyourself-soldejaneiro-viral.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Sol de Janeiro: +850M views TikTok, ventas triplicadas a +US$1B — el frasco diseñado para el feed.</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FREEYOURSELF · 2025</a:t>
            </a:r>
          </a:p>
        </p:txBody>
      </p:sp>
      <p:pic>
        <p:nvPicPr>
          <p:cNvPr id="37" name="Picture 36" descr="macro-3-1-accio-top-tiktok-products-page.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Ranking de productos TikTok más vendidos 2025 — el feed como árbitro del must-have.</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ACCIO · 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LA SUEGRA QUE DECÍA QUÉ COMPRAR PARA LA CASA AHORA ES UNA FAMILY INFLUENCER: +60% DE LATAM LE COPIA LA DESPENSA A QUIEN LA MOSTRÓ EN CÁMARA.</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990600"/>
          </a:xfrm>
          <a:prstGeom prst="rect">
            <a:avLst/>
          </a:prstGeom>
          <a:noFill/>
        </p:spPr>
        <p:txBody>
          <a:bodyPr wrap="square"/>
          <a:lstStyle/>
          <a:p>
            <a:pPr algn="l">
              <a:lnSpc>
                <a:spcPct val="100000"/>
              </a:lnSpc>
            </a:pPr>
            <a:r>
              <a:rPr sz="1000" b="0" i="0">
                <a:solidFill>
                  <a:srgbClr val="FFFFFF"/>
                </a:solidFill>
                <a:latin typeface="Poppins"/>
              </a:rPr>
              <a:t>El consejo de qué sirve para la casa venía de la familia. Ahora viene del family/home influencer. La casa compra lo que la creadora-vecina enseñó: replica su despensa, su decoración, su Amazon storefront como lista de compras. La autoridad de consumo doméstico migró del consejo familiar al grid.</a:t>
            </a:r>
          </a:p>
        </p:txBody>
      </p:sp>
      <p:sp>
        <p:nvSpPr>
          <p:cNvPr id="16" name="TextBox 15"/>
          <p:cNvSpPr txBox="1"/>
          <p:nvPr/>
        </p:nvSpPr>
        <p:spPr>
          <a:xfrm>
            <a:off x="254000" y="48387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092700"/>
            <a:ext cx="3683000" cy="762000"/>
          </a:xfrm>
          <a:prstGeom prst="rect">
            <a:avLst/>
          </a:prstGeom>
          <a:noFill/>
        </p:spPr>
        <p:txBody>
          <a:bodyPr wrap="square"/>
          <a:lstStyle/>
          <a:p>
            <a:pPr algn="l">
              <a:lnSpc>
                <a:spcPct val="100000"/>
              </a:lnSpc>
            </a:pPr>
            <a:r>
              <a:rPr sz="1600" b="0" i="0">
                <a:solidFill>
                  <a:srgbClr val="FFFFFF"/>
                </a:solidFill>
                <a:latin typeface="Instrument Serif"/>
              </a:rPr>
              <a:t>#homeinfluencer · #amazonstorefront · #momtok · #compracomoella · #hometok</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+60%</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De LATAM sigue influencers que recomiendan o venden productos.</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LATAM INTERSECT PR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Sweet</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Micro-influencers (10K-100K) en el sweet spot de purchase intent; CPMs caen &gt;50% YoY.</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JOINSTATUS / INFLUENCER MARKETING HUB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Top 1K</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HypeTrace ya rastrea el top 1,000 de creadores TikTok en RD — influencer marketing mainstream local.</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STARNGAGE / HYPETRACE · 2025</a:t>
            </a:r>
          </a:p>
        </p:txBody>
      </p:sp>
      <p:pic>
        <p:nvPicPr>
          <p:cNvPr id="27" name="Picture 26" descr="macro-3-2-tiktok-momtok-amazon-storefront-7511087614015966495.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'Linked in my Amazon storefront #momtok #shoppinghaul' — el hogar como vitrina de compra curada.</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@__JBARSTY · 2025</a:t>
            </a:r>
          </a:p>
        </p:txBody>
      </p:sp>
      <p:pic>
        <p:nvPicPr>
          <p:cNvPr id="32" name="Picture 31" descr="macro-3-2-hypetrace-top-tiktok-rd.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Top 1,000 TikTok RD — la comunidad de influencers locales que dicta el consumo doméstico dominicano.</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HYPETRACE · 2025</a:t>
            </a:r>
          </a:p>
        </p:txBody>
      </p:sp>
      <p:pic>
        <p:nvPicPr>
          <p:cNvPr id="37" name="Picture 36" descr="macro-3-2-latamintersect-social-ecommerce.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+60% de LATAM sigue influencers que recomiendan o venden — el grid reemplaza al consejo familiar.</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LATAM INTERSECT PR · 2025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044700"/>
          </a:xfrm>
          <a:prstGeom prst="rect">
            <a:avLst/>
          </a:prstGeom>
          <a:noFill/>
        </p:spPr>
        <p:txBody>
          <a:bodyPr wrap="square"/>
          <a:lstStyle/>
          <a:p>
            <a:pPr algn="l">
              <a:lnSpc>
                <a:spcPct val="114000"/>
              </a:lnSpc>
            </a:pPr>
            <a:r>
              <a:rPr sz="2000" b="0" i="0">
                <a:solidFill>
                  <a:srgbClr val="FFFFFF"/>
                </a:solidFill>
                <a:latin typeface="Instrument Serif"/>
              </a:rPr>
              <a:t>HOY ESTATUS, MAÑANA CRINGE: EL ALGORITMO COMPRIME LA VIDA ÚTIL DEL OBJETO, Y EL STANLEY QUE REINÓ EN 2023 QUEDÓ 'OUT' CUANDO LLEGÓ EL OWALA.</a:t>
            </a:r>
          </a:p>
        </p:txBody>
      </p:sp>
      <p:sp>
        <p:nvSpPr>
          <p:cNvPr id="14" name="TextBox 13"/>
          <p:cNvSpPr txBox="1"/>
          <p:nvPr/>
        </p:nvSpPr>
        <p:spPr>
          <a:xfrm>
            <a:off x="254000" y="33655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619500"/>
            <a:ext cx="3683000" cy="825500"/>
          </a:xfrm>
          <a:prstGeom prst="rect">
            <a:avLst/>
          </a:prstGeom>
          <a:noFill/>
        </p:spPr>
        <p:txBody>
          <a:bodyPr wrap="square"/>
          <a:lstStyle/>
          <a:p>
            <a:pPr algn="l">
              <a:lnSpc>
                <a:spcPct val="100000"/>
              </a:lnSpc>
            </a:pPr>
            <a:r>
              <a:rPr sz="1000" b="0" i="0">
                <a:solidFill>
                  <a:srgbClr val="FFFFFF"/>
                </a:solidFill>
                <a:latin typeface="Poppins"/>
              </a:rPr>
              <a:t>El feed acelera la muerte cultural del producto. Lo que volvió deseable — el Stanley — muere en meses cuando aparece el siguiente — el Owala. El consumidor compra-descarta al ritmo del trend, no del uso. El producto no se gasta — se vuelve viejo culturalmente.</a:t>
            </a:r>
          </a:p>
        </p:txBody>
      </p:sp>
      <p:sp>
        <p:nvSpPr>
          <p:cNvPr id="16" name="TextBox 15"/>
          <p:cNvSpPr txBox="1"/>
          <p:nvPr/>
        </p:nvSpPr>
        <p:spPr>
          <a:xfrm>
            <a:off x="254000" y="46736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4927600"/>
            <a:ext cx="3683000" cy="508000"/>
          </a:xfrm>
          <a:prstGeom prst="rect">
            <a:avLst/>
          </a:prstGeom>
          <a:noFill/>
        </p:spPr>
        <p:txBody>
          <a:bodyPr wrap="square"/>
          <a:lstStyle/>
          <a:p>
            <a:pPr algn="l">
              <a:lnSpc>
                <a:spcPct val="100000"/>
              </a:lnSpc>
            </a:pPr>
            <a:r>
              <a:rPr sz="1600" b="0" i="0">
                <a:solidFill>
                  <a:srgbClr val="FFFFFF"/>
                </a:solidFill>
                <a:latin typeface="Instrument Serif"/>
              </a:rPr>
              <a:t>#outvsin · #cringe · #trendcycle · #microtrend · #hypecycle</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Stanley</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Stanley reinó en 2023 por hype y escasez; en 2024 quedó 'out' desplazado por Owala.</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ACCIO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Hype →</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Labubu pasó de hype récord a caída de valor de reventa al desinflarse el trend.</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GIRLS UNITED / ESSENCE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15%</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Compra puramente por tendencia — base estructural de un consumo de vida cultural corta.</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SAP EMARSYS · 2025</a:t>
            </a:r>
          </a:p>
        </p:txBody>
      </p:sp>
      <p:pic>
        <p:nvPicPr>
          <p:cNvPr id="27" name="Picture 26" descr="macro-1-1-girlsunited-labubu-nobuy.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Labubu: de récord de reventa a valor caído al desinflarse el trend — el algoritmo crea y destruye el deseo.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GIRLS UNITED / ESSENCE · 2025</a:t>
            </a:r>
          </a:p>
        </p:txBody>
      </p:sp>
      <p:pic>
        <p:nvPicPr>
          <p:cNvPr id="32" name="Picture 31" descr="macro-3-3-accio-stanley-owala-trendcycle.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El ciclo de hype: Stanley reinó en 2023, Owala lo desplazó en 2024 — el feed comprime la vida útil.</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ACCIO · 2025</a:t>
            </a:r>
          </a:p>
        </p:txBody>
      </p:sp>
      <p:pic>
        <p:nvPicPr>
          <p:cNvPr id="37" name="Picture 36" descr="macro-3-3-tiktok-whats-next-2025-report.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TikTok What's Next 2025 — el reporte de tendencias que anticipa qué productos fabricará el algoritmo.</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TIKTOK NEWSROOM · 2025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EL PRODUCTO AHORA SE DISEÑA PARA GRABARSE: EL EMPAQUE CON MOMENTO ASMR Y EL UNBOXING VIRAL LLEGAN ANTES QUE LA FUNCIÓN, Y LA GRABABILIDAD ES LA NUEVA FEATURE.</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990600"/>
          </a:xfrm>
          <a:prstGeom prst="rect">
            <a:avLst/>
          </a:prstGeom>
          <a:noFill/>
        </p:spPr>
        <p:txBody>
          <a:bodyPr wrap="square"/>
          <a:lstStyle/>
          <a:p>
            <a:pPr algn="l">
              <a:lnSpc>
                <a:spcPct val="100000"/>
              </a:lnSpc>
            </a:pPr>
            <a:r>
              <a:rPr sz="1000" b="0" i="0">
                <a:solidFill>
                  <a:srgbClr val="FFFFFF"/>
                </a:solidFill>
                <a:latin typeface="Poppins"/>
              </a:rPr>
              <a:t>La marca diseña empaque y producto pensando en cómo se ve en cámara. El unboxing grabable, el ASMR de apertura, el frasco 'estético' preceden a la función. Sol de Janeiro es el caso central — un perfume que rinde como contenido antes que como producto. Lo grabable se volvió una feature de venta.</a:t>
            </a:r>
          </a:p>
        </p:txBody>
      </p:sp>
      <p:sp>
        <p:nvSpPr>
          <p:cNvPr id="16" name="TextBox 15"/>
          <p:cNvSpPr txBox="1"/>
          <p:nvPr/>
        </p:nvSpPr>
        <p:spPr>
          <a:xfrm>
            <a:off x="254000" y="5130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84800"/>
            <a:ext cx="3683000" cy="762000"/>
          </a:xfrm>
          <a:prstGeom prst="rect">
            <a:avLst/>
          </a:prstGeom>
          <a:noFill/>
        </p:spPr>
        <p:txBody>
          <a:bodyPr wrap="square"/>
          <a:lstStyle/>
          <a:p>
            <a:pPr algn="l">
              <a:lnSpc>
                <a:spcPct val="100000"/>
              </a:lnSpc>
            </a:pPr>
            <a:r>
              <a:rPr sz="1600" b="0" i="0">
                <a:solidFill>
                  <a:srgbClr val="FFFFFF"/>
                </a:solidFill>
                <a:latin typeface="Instrument Serif"/>
              </a:rPr>
              <a:t>#unboxing · #asmrunboxing · #packaging · #aesthetic · #satisfying</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+US$1B</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Sol de Janeiro: +850M views TikTok, ventas triplicadas — el frasco diseñado para el feed.</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FREE YOURSELF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ASMR</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#unboxing y #asmr como motores de descubrimiento de producto: el packaging es el contenido.</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TIKTOK CREATIVE CENTER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Blind</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Juguetes coleccionables como Labubu y blind boxes diseñados para el unboxing viral.</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ACCIO · 2025</a:t>
            </a:r>
          </a:p>
        </p:txBody>
      </p:sp>
      <p:pic>
        <p:nvPicPr>
          <p:cNvPr id="27" name="Picture 26" descr="macro-3-4-tiktok-thrift-unboxing-7569567092769443094.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#thrift2ship — reseller que graba el empaque y envío: el packaging ES el contenido.</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@THRIFT2SHIP1 · 2025</a:t>
            </a:r>
          </a:p>
        </p:txBody>
      </p:sp>
      <p:pic>
        <p:nvPicPr>
          <p:cNvPr id="32" name="Picture 31" descr="macro-3-4-freeyourself-soldejaneiro-viral.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Sol de Janeiro: el frasco diseñado para el feed — +850M views y ventas x3 a +US$1B.</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FREEYOURSELF · 2025</a:t>
            </a:r>
          </a:p>
        </p:txBody>
      </p:sp>
      <p:pic>
        <p:nvPicPr>
          <p:cNvPr id="37" name="Picture 36" descr="macro-3-3-accio-stanley-owala-trendcycle.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Labubu blind box — el producto cuyo valor es el momento de apertura: diseñado para ser grabado.</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ACCIO · 2025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127000"/>
            <a:ext cx="736600" cy="2794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04800" y="165100"/>
            <a:ext cx="660400" cy="228600"/>
          </a:xfrm>
          <a:prstGeom prst="rect">
            <a:avLst/>
          </a:prstGeom>
          <a:noFill/>
        </p:spPr>
        <p:txBody>
          <a:bodyPr wrap="square"/>
          <a:lstStyle/>
          <a:p>
            <a:pPr algn="l">
              <a:lnSpc>
                <a:spcPct val="100000"/>
              </a:lnSpc>
            </a:pPr>
            <a:r>
              <a:rPr sz="750" b="1" i="0">
                <a:solidFill>
                  <a:srgbClr val="000000"/>
                </a:solidFill>
                <a:latin typeface="Poppins"/>
              </a:rPr>
              <a:t>MACRO 3</a:t>
            </a:r>
          </a:p>
        </p:txBody>
      </p:sp>
      <p:sp>
        <p:nvSpPr>
          <p:cNvPr id="5" name="Rectangle 4"/>
          <p:cNvSpPr/>
          <p:nvPr/>
        </p:nvSpPr>
        <p:spPr>
          <a:xfrm>
            <a:off x="1041400" y="127000"/>
            <a:ext cx="2794000" cy="279400"/>
          </a:xfrm>
          <a:prstGeom prst="rect">
            <a:avLst/>
          </a:prstGeom>
          <a:noFill/>
          <a:ln w="9525">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 y="165100"/>
            <a:ext cx="2717800" cy="228600"/>
          </a:xfrm>
          <a:prstGeom prst="rect">
            <a:avLst/>
          </a:prstGeom>
          <a:noFill/>
        </p:spPr>
        <p:txBody>
          <a:bodyPr wrap="square"/>
          <a:lstStyle/>
          <a:p>
            <a:pPr algn="l">
              <a:lnSpc>
                <a:spcPct val="100000"/>
              </a:lnSpc>
            </a:pPr>
            <a:r>
              <a:rPr sz="750" b="0" i="0">
                <a:solidFill>
                  <a:srgbClr val="A0A0A0"/>
                </a:solidFill>
                <a:latin typeface="Poppins"/>
              </a:rPr>
              <a:t>ALGORITMO DEL HOGAR</a:t>
            </a:r>
          </a:p>
        </p:txBody>
      </p:sp>
      <p:sp>
        <p:nvSpPr>
          <p:cNvPr id="7" name="TextBox 6"/>
          <p:cNvSpPr txBox="1"/>
          <p:nvPr/>
        </p:nvSpPr>
        <p:spPr>
          <a:xfrm>
            <a:off x="254000" y="635000"/>
            <a:ext cx="2540000" cy="177800"/>
          </a:xfrm>
          <a:prstGeom prst="rect">
            <a:avLst/>
          </a:prstGeom>
          <a:noFill/>
        </p:spPr>
        <p:txBody>
          <a:bodyPr wrap="square"/>
          <a:lstStyle/>
          <a:p>
            <a:pPr algn="l">
              <a:lnSpc>
                <a:spcPct val="100000"/>
              </a:lnSpc>
            </a:pPr>
            <a:r>
              <a:rPr sz="800" b="1" i="0">
                <a:solidFill>
                  <a:srgbClr val="A0A0A0"/>
                </a:solidFill>
                <a:latin typeface="Poppins"/>
              </a:rPr>
              <a:t>DEFINICIÓN</a:t>
            </a:r>
          </a:p>
        </p:txBody>
      </p:sp>
      <p:sp>
        <p:nvSpPr>
          <p:cNvPr id="8" name="TextBox 7"/>
          <p:cNvSpPr txBox="1"/>
          <p:nvPr/>
        </p:nvSpPr>
        <p:spPr>
          <a:xfrm>
            <a:off x="4191000" y="635000"/>
            <a:ext cx="2540000" cy="177800"/>
          </a:xfrm>
          <a:prstGeom prst="rect">
            <a:avLst/>
          </a:prstGeom>
          <a:noFill/>
        </p:spPr>
        <p:txBody>
          <a:bodyPr wrap="square"/>
          <a:lstStyle/>
          <a:p>
            <a:pPr algn="l">
              <a:lnSpc>
                <a:spcPct val="100000"/>
              </a:lnSpc>
            </a:pPr>
            <a:r>
              <a:rPr sz="800" b="1" i="0">
                <a:solidFill>
                  <a:srgbClr val="A0A0A0"/>
                </a:solidFill>
                <a:latin typeface="Poppins"/>
              </a:rPr>
              <a:t>TRIGGERS</a:t>
            </a:r>
          </a:p>
        </p:txBody>
      </p:sp>
      <p:sp>
        <p:nvSpPr>
          <p:cNvPr id="9" name="TextBox 8"/>
          <p:cNvSpPr txBox="1"/>
          <p:nvPr/>
        </p:nvSpPr>
        <p:spPr>
          <a:xfrm>
            <a:off x="8128000" y="635000"/>
            <a:ext cx="2540000" cy="177800"/>
          </a:xfrm>
          <a:prstGeom prst="rect">
            <a:avLst/>
          </a:prstGeom>
          <a:noFill/>
        </p:spPr>
        <p:txBody>
          <a:bodyPr wrap="square"/>
          <a:lstStyle/>
          <a:p>
            <a:pPr algn="l">
              <a:lnSpc>
                <a:spcPct val="100000"/>
              </a:lnSpc>
            </a:pPr>
            <a:r>
              <a:rPr sz="800" b="1" i="0">
                <a:solidFill>
                  <a:srgbClr val="A0A0A0"/>
                </a:solidFill>
                <a:latin typeface="Poppins"/>
              </a:rPr>
              <a:t>SEÑALES</a:t>
            </a:r>
          </a:p>
        </p:txBody>
      </p:sp>
      <p:cxnSp>
        <p:nvCxnSpPr>
          <p:cNvPr id="10" name="Connector 9"/>
          <p:cNvCxnSpPr/>
          <p:nvPr/>
        </p:nvCxnSpPr>
        <p:spPr>
          <a:xfrm>
            <a:off x="4114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51800" y="635000"/>
            <a:ext cx="12700" cy="60960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4000" y="863600"/>
            <a:ext cx="11684000" cy="12700"/>
          </a:xfrm>
          <a:prstGeom prst="line">
            <a:avLst/>
          </a:prstGeom>
          <a:ln w="12700">
            <a:solidFill>
              <a:srgbClr val="FFFFFF">
                <a:alpha val="15000"/>
              </a:srgbClr>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4000" y="1066800"/>
            <a:ext cx="3683000" cy="2336800"/>
          </a:xfrm>
          <a:prstGeom prst="rect">
            <a:avLst/>
          </a:prstGeom>
          <a:noFill/>
        </p:spPr>
        <p:txBody>
          <a:bodyPr wrap="square"/>
          <a:lstStyle/>
          <a:p>
            <a:pPr algn="l">
              <a:lnSpc>
                <a:spcPct val="114000"/>
              </a:lnSpc>
            </a:pPr>
            <a:r>
              <a:rPr sz="2000" b="0" i="0">
                <a:solidFill>
                  <a:srgbClr val="FFFFFF"/>
                </a:solidFill>
                <a:latin typeface="Instrument Serif"/>
              </a:rPr>
              <a:t>COMPRAR ES CONTENIDO: EL HAUL VOLVIÓ LA COMPRA UN RITUAL DE GRABACIÓN, DONDE SE COMPRA PARA MOSTRAR EL 'QUÉ ME COMPRÉ' Y LA AUDIENCIA MIRA, DESEA Y REPLICA.</a:t>
            </a:r>
          </a:p>
        </p:txBody>
      </p:sp>
      <p:sp>
        <p:nvSpPr>
          <p:cNvPr id="14" name="TextBox 13"/>
          <p:cNvSpPr txBox="1"/>
          <p:nvPr/>
        </p:nvSpPr>
        <p:spPr>
          <a:xfrm>
            <a:off x="254000" y="3657600"/>
            <a:ext cx="3683000" cy="177800"/>
          </a:xfrm>
          <a:prstGeom prst="rect">
            <a:avLst/>
          </a:prstGeom>
          <a:noFill/>
        </p:spPr>
        <p:txBody>
          <a:bodyPr wrap="square"/>
          <a:lstStyle/>
          <a:p>
            <a:pPr algn="l">
              <a:lnSpc>
                <a:spcPct val="100000"/>
              </a:lnSpc>
            </a:pPr>
            <a:r>
              <a:rPr sz="800" b="1" i="0">
                <a:solidFill>
                  <a:srgbClr val="A0A0A0"/>
                </a:solidFill>
                <a:latin typeface="Poppins"/>
              </a:rPr>
              <a:t>EL FENÓMENO</a:t>
            </a:r>
          </a:p>
        </p:txBody>
      </p:sp>
      <p:sp>
        <p:nvSpPr>
          <p:cNvPr id="15" name="TextBox 14"/>
          <p:cNvSpPr txBox="1"/>
          <p:nvPr/>
        </p:nvSpPr>
        <p:spPr>
          <a:xfrm>
            <a:off x="254000" y="3911600"/>
            <a:ext cx="3683000" cy="990600"/>
          </a:xfrm>
          <a:prstGeom prst="rect">
            <a:avLst/>
          </a:prstGeom>
          <a:noFill/>
        </p:spPr>
        <p:txBody>
          <a:bodyPr wrap="square"/>
          <a:lstStyle/>
          <a:p>
            <a:pPr algn="l">
              <a:lnSpc>
                <a:spcPct val="100000"/>
              </a:lnSpc>
            </a:pPr>
            <a:r>
              <a:rPr sz="1000" b="0" i="0">
                <a:solidFill>
                  <a:srgbClr val="FFFFFF"/>
                </a:solidFill>
                <a:latin typeface="Poppins"/>
              </a:rPr>
              <a:t>El haul convirtió el acto de comprar en formato de contenido. Se compra para grabar el 'qué me compré', no solo para usar. El 'come shopping with me', el shopping vlog — el gasto se performa en público y se vuelve capital social. La audiencia que mira desea y replica.</a:t>
            </a:r>
          </a:p>
        </p:txBody>
      </p:sp>
      <p:sp>
        <p:nvSpPr>
          <p:cNvPr id="16" name="TextBox 15"/>
          <p:cNvSpPr txBox="1"/>
          <p:nvPr/>
        </p:nvSpPr>
        <p:spPr>
          <a:xfrm>
            <a:off x="254000" y="5130800"/>
            <a:ext cx="3683000" cy="177800"/>
          </a:xfrm>
          <a:prstGeom prst="rect">
            <a:avLst/>
          </a:prstGeom>
          <a:noFill/>
        </p:spPr>
        <p:txBody>
          <a:bodyPr wrap="square"/>
          <a:lstStyle/>
          <a:p>
            <a:pPr algn="l">
              <a:lnSpc>
                <a:spcPct val="100000"/>
              </a:lnSpc>
            </a:pPr>
            <a:r>
              <a:rPr sz="800" b="1" i="0">
                <a:solidFill>
                  <a:srgbClr val="A0A0A0"/>
                </a:solidFill>
                <a:latin typeface="Poppins"/>
              </a:rPr>
              <a:t>HASHTAGS</a:t>
            </a:r>
          </a:p>
        </p:txBody>
      </p:sp>
      <p:sp>
        <p:nvSpPr>
          <p:cNvPr id="17" name="TextBox 16"/>
          <p:cNvSpPr txBox="1"/>
          <p:nvPr/>
        </p:nvSpPr>
        <p:spPr>
          <a:xfrm>
            <a:off x="254000" y="5384800"/>
            <a:ext cx="3683000" cy="762000"/>
          </a:xfrm>
          <a:prstGeom prst="rect">
            <a:avLst/>
          </a:prstGeom>
          <a:noFill/>
        </p:spPr>
        <p:txBody>
          <a:bodyPr wrap="square"/>
          <a:lstStyle/>
          <a:p>
            <a:pPr algn="l">
              <a:lnSpc>
                <a:spcPct val="100000"/>
              </a:lnSpc>
            </a:pPr>
            <a:r>
              <a:rPr sz="1600" b="0" i="0">
                <a:solidFill>
                  <a:srgbClr val="FFFFFF"/>
                </a:solidFill>
                <a:latin typeface="Instrument Serif"/>
              </a:rPr>
              <a:t>#haul · #comeshoppingwithme · #whatibought · #shoppingvlog · #grwmshopping</a:t>
            </a:r>
          </a:p>
        </p:txBody>
      </p:sp>
      <p:sp>
        <p:nvSpPr>
          <p:cNvPr id="18" name="TextBox 17"/>
          <p:cNvSpPr txBox="1"/>
          <p:nvPr/>
        </p:nvSpPr>
        <p:spPr>
          <a:xfrm>
            <a:off x="4191000" y="1066800"/>
            <a:ext cx="2159000" cy="711200"/>
          </a:xfrm>
          <a:prstGeom prst="rect">
            <a:avLst/>
          </a:prstGeom>
          <a:noFill/>
        </p:spPr>
        <p:txBody>
          <a:bodyPr wrap="square"/>
          <a:lstStyle/>
          <a:p>
            <a:pPr algn="l">
              <a:lnSpc>
                <a:spcPct val="100000"/>
              </a:lnSpc>
            </a:pPr>
            <a:r>
              <a:rPr sz="5600" b="0" i="0">
                <a:solidFill>
                  <a:srgbClr val="FFFFFF"/>
                </a:solidFill>
                <a:latin typeface="Instrument Serif"/>
              </a:rPr>
              <a:t>Gen Z</a:t>
            </a:r>
          </a:p>
        </p:txBody>
      </p:sp>
      <p:sp>
        <p:nvSpPr>
          <p:cNvPr id="19" name="TextBox 18"/>
          <p:cNvSpPr txBox="1"/>
          <p:nvPr/>
        </p:nvSpPr>
        <p:spPr>
          <a:xfrm>
            <a:off x="4191000" y="2006600"/>
            <a:ext cx="2159000" cy="444500"/>
          </a:xfrm>
          <a:prstGeom prst="rect">
            <a:avLst/>
          </a:prstGeom>
          <a:noFill/>
        </p:spPr>
        <p:txBody>
          <a:bodyPr wrap="square"/>
          <a:lstStyle/>
          <a:p>
            <a:pPr algn="l">
              <a:lnSpc>
                <a:spcPct val="100000"/>
              </a:lnSpc>
            </a:pPr>
            <a:r>
              <a:rPr sz="1000" b="0" i="0">
                <a:solidFill>
                  <a:srgbClr val="FFFFFF"/>
                </a:solidFill>
                <a:latin typeface="Poppins"/>
              </a:rPr>
              <a:t>TikTok moldea las compras de Gen Z como práctica cultural: haul, GRWM-shopping.</a:t>
            </a:r>
          </a:p>
        </p:txBody>
      </p:sp>
      <p:sp>
        <p:nvSpPr>
          <p:cNvPr id="20" name="TextBox 19"/>
          <p:cNvSpPr txBox="1"/>
          <p:nvPr/>
        </p:nvSpPr>
        <p:spPr>
          <a:xfrm>
            <a:off x="4191000" y="2527300"/>
            <a:ext cx="2159000" cy="152400"/>
          </a:xfrm>
          <a:prstGeom prst="rect">
            <a:avLst/>
          </a:prstGeom>
          <a:noFill/>
        </p:spPr>
        <p:txBody>
          <a:bodyPr wrap="square"/>
          <a:lstStyle/>
          <a:p>
            <a:pPr algn="l">
              <a:lnSpc>
                <a:spcPct val="100000"/>
              </a:lnSpc>
            </a:pPr>
            <a:r>
              <a:rPr sz="650" b="0" i="0">
                <a:solidFill>
                  <a:srgbClr val="666666"/>
                </a:solidFill>
                <a:latin typeface="Poppins"/>
              </a:rPr>
              <a:t>YR MEDIA · 2025</a:t>
            </a:r>
          </a:p>
        </p:txBody>
      </p:sp>
      <p:sp>
        <p:nvSpPr>
          <p:cNvPr id="21" name="TextBox 20"/>
          <p:cNvSpPr txBox="1"/>
          <p:nvPr/>
        </p:nvSpPr>
        <p:spPr>
          <a:xfrm>
            <a:off x="4191000" y="3035300"/>
            <a:ext cx="2159000" cy="711200"/>
          </a:xfrm>
          <a:prstGeom prst="rect">
            <a:avLst/>
          </a:prstGeom>
          <a:noFill/>
        </p:spPr>
        <p:txBody>
          <a:bodyPr wrap="square"/>
          <a:lstStyle/>
          <a:p>
            <a:pPr algn="l">
              <a:lnSpc>
                <a:spcPct val="100000"/>
              </a:lnSpc>
            </a:pPr>
            <a:r>
              <a:rPr sz="5600" b="0" i="0">
                <a:solidFill>
                  <a:srgbClr val="FFFFFF"/>
                </a:solidFill>
                <a:latin typeface="Instrument Serif"/>
              </a:rPr>
              <a:t>#haul</a:t>
            </a:r>
          </a:p>
        </p:txBody>
      </p:sp>
      <p:sp>
        <p:nvSpPr>
          <p:cNvPr id="22" name="TextBox 21"/>
          <p:cNvSpPr txBox="1"/>
          <p:nvPr/>
        </p:nvSpPr>
        <p:spPr>
          <a:xfrm>
            <a:off x="4191000" y="3975100"/>
            <a:ext cx="2159000" cy="444500"/>
          </a:xfrm>
          <a:prstGeom prst="rect">
            <a:avLst/>
          </a:prstGeom>
          <a:noFill/>
        </p:spPr>
        <p:txBody>
          <a:bodyPr wrap="square"/>
          <a:lstStyle/>
          <a:p>
            <a:pPr algn="l">
              <a:lnSpc>
                <a:spcPct val="100000"/>
              </a:lnSpc>
            </a:pPr>
            <a:r>
              <a:rPr sz="1000" b="0" i="0">
                <a:solidFill>
                  <a:srgbClr val="FFFFFF"/>
                </a:solidFill>
                <a:latin typeface="Poppins"/>
              </a:rPr>
              <a:t>'come shopping with me' como formatos masivos de contenido-compra en TikTok.</a:t>
            </a:r>
          </a:p>
        </p:txBody>
      </p:sp>
      <p:sp>
        <p:nvSpPr>
          <p:cNvPr id="23" name="TextBox 22"/>
          <p:cNvSpPr txBox="1"/>
          <p:nvPr/>
        </p:nvSpPr>
        <p:spPr>
          <a:xfrm>
            <a:off x="4191000" y="4495800"/>
            <a:ext cx="2159000" cy="152400"/>
          </a:xfrm>
          <a:prstGeom prst="rect">
            <a:avLst/>
          </a:prstGeom>
          <a:noFill/>
        </p:spPr>
        <p:txBody>
          <a:bodyPr wrap="square"/>
          <a:lstStyle/>
          <a:p>
            <a:pPr algn="l">
              <a:lnSpc>
                <a:spcPct val="100000"/>
              </a:lnSpc>
            </a:pPr>
            <a:r>
              <a:rPr sz="650" b="0" i="0">
                <a:solidFill>
                  <a:srgbClr val="666666"/>
                </a:solidFill>
                <a:latin typeface="Poppins"/>
              </a:rPr>
              <a:t>TIKTOK CREATIVE CENTER · 2025</a:t>
            </a:r>
          </a:p>
        </p:txBody>
      </p:sp>
      <p:sp>
        <p:nvSpPr>
          <p:cNvPr id="24" name="TextBox 23"/>
          <p:cNvSpPr txBox="1"/>
          <p:nvPr/>
        </p:nvSpPr>
        <p:spPr>
          <a:xfrm>
            <a:off x="4191000" y="5003800"/>
            <a:ext cx="2159000" cy="711200"/>
          </a:xfrm>
          <a:prstGeom prst="rect">
            <a:avLst/>
          </a:prstGeom>
          <a:noFill/>
        </p:spPr>
        <p:txBody>
          <a:bodyPr wrap="square"/>
          <a:lstStyle/>
          <a:p>
            <a:pPr algn="l">
              <a:lnSpc>
                <a:spcPct val="100000"/>
              </a:lnSpc>
            </a:pPr>
            <a:r>
              <a:rPr sz="5600" b="0" i="0">
                <a:solidFill>
                  <a:srgbClr val="FFFFFF"/>
                </a:solidFill>
                <a:latin typeface="Instrument Serif"/>
              </a:rPr>
              <a:t>64%</a:t>
            </a:r>
          </a:p>
        </p:txBody>
      </p:sp>
      <p:sp>
        <p:nvSpPr>
          <p:cNvPr id="25" name="TextBox 24"/>
          <p:cNvSpPr txBox="1"/>
          <p:nvPr/>
        </p:nvSpPr>
        <p:spPr>
          <a:xfrm>
            <a:off x="4191000" y="5943600"/>
            <a:ext cx="2159000" cy="444500"/>
          </a:xfrm>
          <a:prstGeom prst="rect">
            <a:avLst/>
          </a:prstGeom>
          <a:noFill/>
        </p:spPr>
        <p:txBody>
          <a:bodyPr wrap="square"/>
          <a:lstStyle/>
          <a:p>
            <a:pPr algn="l">
              <a:lnSpc>
                <a:spcPct val="100000"/>
              </a:lnSpc>
            </a:pPr>
            <a:r>
              <a:rPr sz="1000" b="0" i="0">
                <a:solidFill>
                  <a:srgbClr val="FFFFFF"/>
                </a:solidFill>
                <a:latin typeface="Poppins"/>
              </a:rPr>
              <a:t>De LATAM asiste a live shopping mensual — comprar es entretenimiento, no solo transacción.</a:t>
            </a:r>
          </a:p>
        </p:txBody>
      </p:sp>
      <p:sp>
        <p:nvSpPr>
          <p:cNvPr id="26" name="TextBox 25"/>
          <p:cNvSpPr txBox="1"/>
          <p:nvPr/>
        </p:nvSpPr>
        <p:spPr>
          <a:xfrm>
            <a:off x="4191000" y="6464300"/>
            <a:ext cx="2159000" cy="152400"/>
          </a:xfrm>
          <a:prstGeom prst="rect">
            <a:avLst/>
          </a:prstGeom>
          <a:noFill/>
        </p:spPr>
        <p:txBody>
          <a:bodyPr wrap="square"/>
          <a:lstStyle/>
          <a:p>
            <a:pPr algn="l">
              <a:lnSpc>
                <a:spcPct val="100000"/>
              </a:lnSpc>
            </a:pPr>
            <a:r>
              <a:rPr sz="650" b="0" i="0">
                <a:solidFill>
                  <a:srgbClr val="666666"/>
                </a:solidFill>
                <a:latin typeface="Poppins"/>
              </a:rPr>
              <a:t>GRAND VIEW / YAVENDIO · 2025</a:t>
            </a:r>
          </a:p>
        </p:txBody>
      </p:sp>
      <p:pic>
        <p:nvPicPr>
          <p:cNvPr id="27" name="Picture 26" descr="macro-3-5-tiktok-haul-7558965114267782422.png">
            <a:hlinkClick r:id="rId3"/>
          </p:cNvPr>
          <p:cNvPicPr>
            <a:picLocks noChangeAspect="1"/>
          </p:cNvPicPr>
          <p:nvPr/>
        </p:nvPicPr>
        <p:blipFill>
          <a:blip r:embed="rId2"/>
          <a:stretch>
            <a:fillRect/>
          </a:stretch>
        </p:blipFill>
        <p:spPr>
          <a:xfrm>
            <a:off x="8128000" y="1066800"/>
            <a:ext cx="1117600" cy="1651000"/>
          </a:xfrm>
          <a:prstGeom prst="rect">
            <a:avLst/>
          </a:prstGeom>
        </p:spPr>
      </p:pic>
      <p:sp>
        <p:nvSpPr>
          <p:cNvPr id="28" name="Rectangle 27"/>
          <p:cNvSpPr/>
          <p:nvPr/>
        </p:nvSpPr>
        <p:spPr>
          <a:xfrm>
            <a:off x="8737600" y="10922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3000" y="11049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0" name="TextBox 29"/>
          <p:cNvSpPr txBox="1"/>
          <p:nvPr/>
        </p:nvSpPr>
        <p:spPr>
          <a:xfrm>
            <a:off x="9347200" y="1066800"/>
            <a:ext cx="2057400" cy="444500"/>
          </a:xfrm>
          <a:prstGeom prst="rect">
            <a:avLst/>
          </a:prstGeom>
          <a:noFill/>
        </p:spPr>
        <p:txBody>
          <a:bodyPr wrap="square"/>
          <a:lstStyle/>
          <a:p>
            <a:pPr algn="l">
              <a:lnSpc>
                <a:spcPct val="100000"/>
              </a:lnSpc>
            </a:pPr>
            <a:r>
              <a:rPr sz="1000" b="0" i="0">
                <a:solidFill>
                  <a:srgbClr val="FFFFFF"/>
                </a:solidFill>
                <a:latin typeface="Poppins"/>
              </a:rPr>
              <a:t>#vintedhaul #thrifthaul — comprar para grabar: la audiencia mira, desea y replica.</a:t>
            </a:r>
          </a:p>
        </p:txBody>
      </p:sp>
      <p:sp>
        <p:nvSpPr>
          <p:cNvPr id="31" name="TextBox 30"/>
          <p:cNvSpPr txBox="1"/>
          <p:nvPr/>
        </p:nvSpPr>
        <p:spPr>
          <a:xfrm>
            <a:off x="9347200" y="1587500"/>
            <a:ext cx="2057400" cy="152400"/>
          </a:xfrm>
          <a:prstGeom prst="rect">
            <a:avLst/>
          </a:prstGeom>
          <a:noFill/>
        </p:spPr>
        <p:txBody>
          <a:bodyPr wrap="square"/>
          <a:lstStyle/>
          <a:p>
            <a:pPr algn="l">
              <a:lnSpc>
                <a:spcPct val="100000"/>
              </a:lnSpc>
            </a:pPr>
            <a:r>
              <a:rPr sz="650" b="0" i="0">
                <a:solidFill>
                  <a:srgbClr val="666666"/>
                </a:solidFill>
                <a:latin typeface="Poppins"/>
              </a:rPr>
              <a:t>TIKTOK @EVAMEGANOSOVA · 2025</a:t>
            </a:r>
          </a:p>
        </p:txBody>
      </p:sp>
      <p:pic>
        <p:nvPicPr>
          <p:cNvPr id="32" name="Picture 31" descr="macro-3-5-tiktok-haul-7552292928236915989.png">
            <a:hlinkClick r:id="rId5"/>
          </p:cNvPr>
          <p:cNvPicPr>
            <a:picLocks noChangeAspect="1"/>
          </p:cNvPicPr>
          <p:nvPr/>
        </p:nvPicPr>
        <p:blipFill>
          <a:blip r:embed="rId4"/>
          <a:stretch>
            <a:fillRect/>
          </a:stretch>
        </p:blipFill>
        <p:spPr>
          <a:xfrm>
            <a:off x="8128000" y="3022600"/>
            <a:ext cx="1117600" cy="1651000"/>
          </a:xfrm>
          <a:prstGeom prst="rect">
            <a:avLst/>
          </a:prstGeom>
        </p:spPr>
      </p:pic>
      <p:sp>
        <p:nvSpPr>
          <p:cNvPr id="33" name="Rectangle 32"/>
          <p:cNvSpPr/>
          <p:nvPr/>
        </p:nvSpPr>
        <p:spPr>
          <a:xfrm>
            <a:off x="8737600" y="30480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63000" y="30607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35" name="TextBox 34"/>
          <p:cNvSpPr txBox="1"/>
          <p:nvPr/>
        </p:nvSpPr>
        <p:spPr>
          <a:xfrm>
            <a:off x="9347200" y="3022600"/>
            <a:ext cx="2057400" cy="444500"/>
          </a:xfrm>
          <a:prstGeom prst="rect">
            <a:avLst/>
          </a:prstGeom>
          <a:noFill/>
        </p:spPr>
        <p:txBody>
          <a:bodyPr wrap="square"/>
          <a:lstStyle/>
          <a:p>
            <a:pPr algn="l">
              <a:lnSpc>
                <a:spcPct val="100000"/>
              </a:lnSpc>
            </a:pPr>
            <a:r>
              <a:rPr sz="1000" b="0" i="0">
                <a:solidFill>
                  <a:srgbClr val="FFFFFF"/>
                </a:solidFill>
                <a:latin typeface="Poppins"/>
              </a:rPr>
              <a:t>#thrifthaul — el ritual de comprar como contenido: se documenta el proceso, no solo el botín.</a:t>
            </a:r>
          </a:p>
        </p:txBody>
      </p:sp>
      <p:sp>
        <p:nvSpPr>
          <p:cNvPr id="36" name="TextBox 35"/>
          <p:cNvSpPr txBox="1"/>
          <p:nvPr/>
        </p:nvSpPr>
        <p:spPr>
          <a:xfrm>
            <a:off x="9347200" y="3543300"/>
            <a:ext cx="2057400" cy="152400"/>
          </a:xfrm>
          <a:prstGeom prst="rect">
            <a:avLst/>
          </a:prstGeom>
          <a:noFill/>
        </p:spPr>
        <p:txBody>
          <a:bodyPr wrap="square"/>
          <a:lstStyle/>
          <a:p>
            <a:pPr algn="l">
              <a:lnSpc>
                <a:spcPct val="100000"/>
              </a:lnSpc>
            </a:pPr>
            <a:r>
              <a:rPr sz="650" b="0" i="0">
                <a:solidFill>
                  <a:srgbClr val="666666"/>
                </a:solidFill>
                <a:latin typeface="Poppins"/>
              </a:rPr>
              <a:t>TIKTOK @MR.CHIEFGRIEF9131149 · 2025</a:t>
            </a:r>
          </a:p>
        </p:txBody>
      </p:sp>
      <p:pic>
        <p:nvPicPr>
          <p:cNvPr id="37" name="Picture 36" descr="macro-3-5-tiktok-haul-7556270397939780919.png">
            <a:hlinkClick r:id="rId7"/>
          </p:cNvPr>
          <p:cNvPicPr>
            <a:picLocks noChangeAspect="1"/>
          </p:cNvPicPr>
          <p:nvPr/>
        </p:nvPicPr>
        <p:blipFill>
          <a:blip r:embed="rId6"/>
          <a:stretch>
            <a:fillRect/>
          </a:stretch>
        </p:blipFill>
        <p:spPr>
          <a:xfrm>
            <a:off x="8128000" y="4978400"/>
            <a:ext cx="1117600" cy="1651000"/>
          </a:xfrm>
          <a:prstGeom prst="rect">
            <a:avLst/>
          </a:prstGeom>
        </p:spPr>
      </p:pic>
      <p:sp>
        <p:nvSpPr>
          <p:cNvPr id="38" name="Rectangle 37"/>
          <p:cNvSpPr/>
          <p:nvPr/>
        </p:nvSpPr>
        <p:spPr>
          <a:xfrm>
            <a:off x="8737600" y="5003800"/>
            <a:ext cx="482600" cy="139700"/>
          </a:xfrm>
          <a:prstGeom prst="rect">
            <a:avLst/>
          </a:prstGeom>
          <a:solidFill>
            <a:srgbClr val="FF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63000" y="5016500"/>
            <a:ext cx="431800" cy="114300"/>
          </a:xfrm>
          <a:prstGeom prst="rect">
            <a:avLst/>
          </a:prstGeom>
          <a:noFill/>
        </p:spPr>
        <p:txBody>
          <a:bodyPr wrap="square"/>
          <a:lstStyle/>
          <a:p>
            <a:pPr algn="ctr">
              <a:lnSpc>
                <a:spcPct val="100000"/>
              </a:lnSpc>
            </a:pPr>
            <a:r>
              <a:rPr sz="550" b="1" i="0">
                <a:solidFill>
                  <a:srgbClr val="FFFFFF"/>
                </a:solidFill>
                <a:latin typeface="Poppins"/>
              </a:rPr>
              <a:t>CLICK ME</a:t>
            </a:r>
          </a:p>
        </p:txBody>
      </p:sp>
      <p:sp>
        <p:nvSpPr>
          <p:cNvPr id="40" name="TextBox 39"/>
          <p:cNvSpPr txBox="1"/>
          <p:nvPr/>
        </p:nvSpPr>
        <p:spPr>
          <a:xfrm>
            <a:off x="9347200" y="4978400"/>
            <a:ext cx="2057400" cy="444500"/>
          </a:xfrm>
          <a:prstGeom prst="rect">
            <a:avLst/>
          </a:prstGeom>
          <a:noFill/>
        </p:spPr>
        <p:txBody>
          <a:bodyPr wrap="square"/>
          <a:lstStyle/>
          <a:p>
            <a:pPr algn="l">
              <a:lnSpc>
                <a:spcPct val="100000"/>
              </a:lnSpc>
            </a:pPr>
            <a:r>
              <a:rPr sz="1000" b="0" i="0">
                <a:solidFill>
                  <a:srgbClr val="FFFFFF"/>
                </a:solidFill>
                <a:latin typeface="Poppins"/>
              </a:rPr>
              <a:t>Baby thrift haul — el haul se extiende al consumo familiar: cada compra es potencial contenido.</a:t>
            </a:r>
          </a:p>
        </p:txBody>
      </p:sp>
      <p:sp>
        <p:nvSpPr>
          <p:cNvPr id="41" name="TextBox 40"/>
          <p:cNvSpPr txBox="1"/>
          <p:nvPr/>
        </p:nvSpPr>
        <p:spPr>
          <a:xfrm>
            <a:off x="9347200" y="5499100"/>
            <a:ext cx="2057400" cy="152400"/>
          </a:xfrm>
          <a:prstGeom prst="rect">
            <a:avLst/>
          </a:prstGeom>
          <a:noFill/>
        </p:spPr>
        <p:txBody>
          <a:bodyPr wrap="square"/>
          <a:lstStyle/>
          <a:p>
            <a:pPr algn="l">
              <a:lnSpc>
                <a:spcPct val="100000"/>
              </a:lnSpc>
            </a:pPr>
            <a:r>
              <a:rPr sz="650" b="0" i="0">
                <a:solidFill>
                  <a:srgbClr val="666666"/>
                </a:solidFill>
                <a:latin typeface="Poppins"/>
              </a:rPr>
              <a:t>TIKTOK @ASHLEYKATEBURKE ·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