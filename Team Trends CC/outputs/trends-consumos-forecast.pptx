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chelsychristina/video/7395747286262828319" TargetMode="External"/><Relationship Id="rId4" Type="http://schemas.openxmlformats.org/officeDocument/2006/relationships/image" Target="../media/image2.png"/><Relationship Id="rId5" Type="http://schemas.openxmlformats.org/officeDocument/2006/relationships/hyperlink" Target="https://www.tiktok.com/@breakyourbudget/video/7502132957872819502" TargetMode="External"/><Relationship Id="rId6" Type="http://schemas.openxmlformats.org/officeDocument/2006/relationships/image" Target="../media/image3.png"/><Relationship Id="rId7" Type="http://schemas.openxmlformats.org/officeDocument/2006/relationships/hyperlink" Target="https://girlsunited.essence.com/feedback/from-labubu-to-no-buy-how-viral-trends-are-colliding-with-economic-realit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perfumesiren/video/7546363805240921399" TargetMode="External"/><Relationship Id="rId4" Type="http://schemas.openxmlformats.org/officeDocument/2006/relationships/image" Target="../media/image5.png"/><Relationship Id="rId5" Type="http://schemas.openxmlformats.org/officeDocument/2006/relationships/hyperlink" Target="https://www.tiktok.com/@mannymua733/video/7526268718016400671" TargetMode="External"/><Relationship Id="rId6" Type="http://schemas.openxmlformats.org/officeDocument/2006/relationships/image" Target="../media/image6.png"/><Relationship Id="rId7" Type="http://schemas.openxmlformats.org/officeDocument/2006/relationships/hyperlink" Target="https://www.tiktok.com/@mikaylanogueira/video/7496555296874188074"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tiktok.com/@metalromantic/video/7546587734941404471" TargetMode="External"/><Relationship Id="rId4" Type="http://schemas.openxmlformats.org/officeDocument/2006/relationships/image" Target="../media/image8.png"/><Relationship Id="rId5" Type="http://schemas.openxmlformats.org/officeDocument/2006/relationships/hyperlink" Target="https://www.tiktok.com/@goldenbeetrove/video/7457656349103623466" TargetMode="External"/><Relationship Id="rId6" Type="http://schemas.openxmlformats.org/officeDocument/2006/relationships/image" Target="../media/image9.png"/><Relationship Id="rId7" Type="http://schemas.openxmlformats.org/officeDocument/2006/relationships/hyperlink" Target="https://www.corotos.com.d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www.tiktok.com/@breakyourbudget/video/7451260628603473198" TargetMode="External"/><Relationship Id="rId4" Type="http://schemas.openxmlformats.org/officeDocument/2006/relationships/image" Target="../media/image11.png"/><Relationship Id="rId5" Type="http://schemas.openxmlformats.org/officeDocument/2006/relationships/hyperlink" Target="https://www.tiktok.com/@fifththirdbank/video/7337773119731584302" TargetMode="External"/><Relationship Id="rId6" Type="http://schemas.openxmlformats.org/officeDocument/2006/relationships/image" Target="../media/image12.png"/><Relationship Id="rId7" Type="http://schemas.openxmlformats.org/officeDocument/2006/relationships/hyperlink" Target="https://www.globenewswire.com/news-release/2025/02/27/3033728/28124/en/Latin-America-Buy-Now-Pay-Later-Business-Report-2025-2030.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tiktok.com/@tashamichie124/video/7454705982652943621" TargetMode="External"/><Relationship Id="rId4" Type="http://schemas.openxmlformats.org/officeDocument/2006/relationships/image" Target="../media/image14.png"/><Relationship Id="rId5" Type="http://schemas.openxmlformats.org/officeDocument/2006/relationships/hyperlink" Target="https://www.tiktok.com/@mckennaelianna/video/7264583361304333611" TargetMode="External"/><Relationship Id="rId6" Type="http://schemas.openxmlformats.org/officeDocument/2006/relationships/image" Target="../media/image15.png"/><Relationship Id="rId7" Type="http://schemas.openxmlformats.org/officeDocument/2006/relationships/hyperlink" Target="https://www.tiktok.com/@casandra.mazzucco/video/727620730792131303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unique21official/video/7469936286556589344" TargetMode="External"/><Relationship Id="rId4" Type="http://schemas.openxmlformats.org/officeDocument/2006/relationships/image" Target="../media/image17.png"/><Relationship Id="rId5" Type="http://schemas.openxmlformats.org/officeDocument/2006/relationships/hyperlink" Target="https://retailtechinnovationhub.com/home/2026/1/5/rufus-and-the-ai-shopping-war-why-amazons-assistant-reveals-the-battle-for-customer-intent" TargetMode="External"/><Relationship Id="rId6" Type="http://schemas.openxmlformats.org/officeDocument/2006/relationships/image" Target="../media/image18.png"/><Relationship Id="rId7" Type="http://schemas.openxmlformats.org/officeDocument/2006/relationships/hyperlink" Target="https://novadata.io/resources/news/amazon-rufus-agentic-auto-buy-250-million-user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addi.com" TargetMode="External"/><Relationship Id="rId4" Type="http://schemas.openxmlformats.org/officeDocument/2006/relationships/image" Target="../media/image20.png"/><Relationship Id="rId5" Type="http://schemas.openxmlformats.org/officeDocument/2006/relationships/hyperlink" Target="https://www.globenewswire.com/news-release/2026/01/20/3221587/28124/en/Latin-America-Buy-Now-Pay-Later-Business-Report-2026-2031.html" TargetMode="External"/><Relationship Id="rId6" Type="http://schemas.openxmlformats.org/officeDocument/2006/relationships/image" Target="../media/image21.png"/><Relationship Id="rId7" Type="http://schemas.openxmlformats.org/officeDocument/2006/relationships/hyperlink" Target="https://paymentscmi.com/insights/comercio-electronico-republica-dominicana-datos-clav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tiktok.com/@crece.con.lamore/video/7441997574112021806" TargetMode="External"/><Relationship Id="rId4" Type="http://schemas.openxmlformats.org/officeDocument/2006/relationships/image" Target="../media/image23.png"/><Relationship Id="rId5" Type="http://schemas.openxmlformats.org/officeDocument/2006/relationships/hyperlink" Target="https://awisee.com/blog/tiktok-shop-in-latin-america/" TargetMode="External"/><Relationship Id="rId6" Type="http://schemas.openxmlformats.org/officeDocument/2006/relationships/image" Target="../media/image24.png"/><Relationship Id="rId7" Type="http://schemas.openxmlformats.org/officeDocument/2006/relationships/hyperlink" Target="https://www.emarketer.com/press-releases/tiktok-shop-makes-up-nearly-20-of-social-commerce-in-202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hyperlink" Target="https://www.retaildive.com/news/amazon-releases-dash-smart-shelf-for-consumers-small-businesses/588465/" TargetMode="External"/><Relationship Id="rId4" Type="http://schemas.openxmlformats.org/officeDocument/2006/relationships/image" Target="../media/image26.png"/><Relationship Id="rId5" Type="http://schemas.openxmlformats.org/officeDocument/2006/relationships/hyperlink" Target="https://www.trustedreviews.com/news/amazon-dash-replenishment-service-3514666" TargetMode="External"/><Relationship Id="rId6" Type="http://schemas.openxmlformats.org/officeDocument/2006/relationships/image" Target="../media/image27.png"/><Relationship Id="rId7" Type="http://schemas.openxmlformats.org/officeDocument/2006/relationships/hyperlink" Target="https://www.grandviewresearch.com/industry-analysis/latin-america-live-commerce-market-repor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yavendio.com/en/blog/live-commerce-latam-estadisticas" TargetMode="External"/><Relationship Id="rId4" Type="http://schemas.openxmlformats.org/officeDocument/2006/relationships/image" Target="../media/image27.png"/><Relationship Id="rId5" Type="http://schemas.openxmlformats.org/officeDocument/2006/relationships/hyperlink" Target="https://www.grandviewresearch.com/industry-analysis/latin-america-live-commerce-market-report" TargetMode="External"/><Relationship Id="rId6" Type="http://schemas.openxmlformats.org/officeDocument/2006/relationships/image" Target="../media/image22.png"/><Relationship Id="rId7" Type="http://schemas.openxmlformats.org/officeDocument/2006/relationships/hyperlink" Target="https://www.tiktok.com/@crece.con.lamore/video/744199757411202180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tiktok.com/@unique21official/video/7470330136718527777" TargetMode="External"/><Relationship Id="rId4" Type="http://schemas.openxmlformats.org/officeDocument/2006/relationships/image" Target="../media/image30.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1.png"/><Relationship Id="rId7" Type="http://schemas.openxmlformats.org/officeDocument/2006/relationships/hyperlink" Target="https://www.accio.com/business/top-selling-tiktok-produc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hyperlink" Target="https://www.tiktok.com/@__jbarsty/video/7511087614015966495" TargetMode="External"/><Relationship Id="rId4" Type="http://schemas.openxmlformats.org/officeDocument/2006/relationships/image" Target="../media/image33.png"/><Relationship Id="rId5" Type="http://schemas.openxmlformats.org/officeDocument/2006/relationships/hyperlink" Target="https://hypetrace.com/top/tiktok/dominican-republic/" TargetMode="External"/><Relationship Id="rId6" Type="http://schemas.openxmlformats.org/officeDocument/2006/relationships/image" Target="../media/image34.png"/><Relationship Id="rId7" Type="http://schemas.openxmlformats.org/officeDocument/2006/relationships/hyperlink" Target="https://latamintersectpr.com/2025-e-commerce-trends-social-medias-impact-on-latin-american-consumer-behavio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rlsunited.essence.com/feedback/from-labubu-to-no-buy-how-viral-trends-are-colliding-with-economic-reality/" TargetMode="External"/><Relationship Id="rId4" Type="http://schemas.openxmlformats.org/officeDocument/2006/relationships/image" Target="../media/image35.png"/><Relationship Id="rId5" Type="http://schemas.openxmlformats.org/officeDocument/2006/relationships/hyperlink" Target="https://www.accio.com/business/tik-tok-trending-products" TargetMode="External"/><Relationship Id="rId6" Type="http://schemas.openxmlformats.org/officeDocument/2006/relationships/image" Target="../media/image36.png"/><Relationship Id="rId7" Type="http://schemas.openxmlformats.org/officeDocument/2006/relationships/hyperlink" Target="https://newsroom.tiktok.com/en-us/tiktok-whats-next-2025-trend-report-u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thrift2ship1/video/7569567092769443094" TargetMode="External"/><Relationship Id="rId4" Type="http://schemas.openxmlformats.org/officeDocument/2006/relationships/image" Target="../media/image30.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5.png"/><Relationship Id="rId7" Type="http://schemas.openxmlformats.org/officeDocument/2006/relationships/hyperlink" Target="https://www.accio.com/business/tiktokhotsellingto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hyperlink" Target="https://www.tiktok.com/@evameganosova/video/7558965114267782422" TargetMode="External"/><Relationship Id="rId4" Type="http://schemas.openxmlformats.org/officeDocument/2006/relationships/image" Target="../media/image39.png"/><Relationship Id="rId5" Type="http://schemas.openxmlformats.org/officeDocument/2006/relationships/hyperlink" Target="https://www.tiktok.com/@mr.chiefgrief9131149/video/7552292928236915989" TargetMode="External"/><Relationship Id="rId6" Type="http://schemas.openxmlformats.org/officeDocument/2006/relationships/image" Target="../media/image40.png"/><Relationship Id="rId7" Type="http://schemas.openxmlformats.org/officeDocument/2006/relationships/hyperlink" Target="https://www.tiktok.com/@ashleykateburke/video/755627039793978091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'NO COMPRÉ NADA ESTE MES' REEMPLAZÓ AL ESTRENO COMO FLEX: EL UNDERCONSUMPTION CORE HIZO DEL ARMARIO MÍNIMO UNA SEÑAL DE ESTATUS.</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Antes presumías lo que estrenabas. Ahora hay toda una estética de presumir lo contrario: el armario que repites, el 'what I didn't buy', el reto de cero compras. La austeridad se volvió performance. No es que falte la plata — es que mostrar que no gastas se lee como criterio, como madurez financiera.</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#underconsumptioncore · #nobuy2025 · #lowbuy · #deinfluencing · #mindfulspending</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37%</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Gen Z planea ahorrar más, 29% invertir; el pivote se lee como corrección, no restricción.</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YOUGOV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6B+</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Views de #underconsumptioncore documentado como contra-tendencia viral al deinfluencing.</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VISIBRAIN / TIKTOK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No-Buy</a:t>
            </a:r>
          </a:p>
        </p:txBody>
      </p:sp>
      <p:sp>
        <p:nvSpPr>
          <p:cNvPr id="25" name="TextBox 24"/>
          <p:cNvSpPr txBox="1"/>
          <p:nvPr/>
        </p:nvSpPr>
        <p:spPr>
          <a:xfrm>
            <a:off x="4191000" y="5715000"/>
            <a:ext cx="2159000" cy="476250"/>
          </a:xfrm>
          <a:prstGeom prst="rect">
            <a:avLst/>
          </a:prstGeom>
          <a:noFill/>
        </p:spPr>
        <p:txBody>
          <a:bodyPr wrap="square"/>
          <a:lstStyle/>
          <a:p>
            <a:pPr algn="l">
              <a:lnSpc>
                <a:spcPct val="100000"/>
              </a:lnSpc>
            </a:pPr>
            <a:r>
              <a:rPr sz="1000" b="0" i="0">
                <a:solidFill>
                  <a:srgbClr val="FFFFFF"/>
                </a:solidFill>
                <a:latin typeface="Poppins"/>
              </a:rPr>
              <a:t>'De Labubu al No-Buy': los virales de consumo chocan con la realidad económica.</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pic>
        <p:nvPicPr>
          <p:cNvPr id="27" name="Picture 26" descr="macro-1-1-tiktok-underconsumptioncore-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'underconsumption core / all my furniture' — armario mínimo como flex aspiracional en 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@CHELSYCHRISTINA · 2024</a:t>
            </a:r>
          </a:p>
        </p:txBody>
      </p:sp>
      <p:pic>
        <p:nvPicPr>
          <p:cNvPr id="32" name="Picture 31" descr="macro-1-1-tiktok-underconsumptioncore-2.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'Underconsumption is a CHOICE you make every day' — el no-comprar como performance intencional.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@BREAKYOURBUDGET · 2025</a:t>
            </a:r>
          </a:p>
        </p:txBody>
      </p:sp>
      <p:pic>
        <p:nvPicPr>
          <p:cNvPr id="37" name="Picture 36" descr="macro-1-1-girlsunited-labubu-nobu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De Labubu al No-Buy: virales de consumo chocan con la realidad económica — el ciclo se acelera.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DUPE SALIÓ DEL CLÓSET: COMPRAR LA VERSIÓN BARATA DEL LUJO DEJÓ DE DAR PENA Y PASÓ A PRESUMIRSE COMO INTELIGENCIA DE COMPRA.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El dupe vivía escondido. Era el truco que no decías. Ahora es el contenido: 'dupe vs original', reseñas lado a lado, el ahorro presumido como logro. La marca cara ya no compite solo con otras marcas — compite con su propia copia, legitimada por el feed.</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#dupe · #dupecheck · #lookforless · #amazonfinds · #dupes</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6B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Views de #dupe en TikTok; el hashtag convirtió la copia en categoría de contenido.</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70%</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Gen Z dice haber comprado dupes 'ocasional o muy regularmente' el último año.</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BUSINESS INSIDER / YOUGOV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Shift</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Dupe culture como 'aspirational shift' de Gen Z: el estatus pasa del logo a la astucia.</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LUXURY TRIBUNE · 2025</a:t>
            </a:r>
          </a:p>
        </p:txBody>
      </p:sp>
      <p:pic>
        <p:nvPicPr>
          <p:cNvPr id="27" name="Picture 26" descr="macro-1-2-tiktok-dupe-7546363805240921399.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'Viral perfumes — Dupe VS Original' — reseña lado a lado de alternativas masivas vs. lujo.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@PERFUMESIREN · 2025</a:t>
            </a:r>
          </a:p>
        </p:txBody>
      </p:sp>
      <p:pic>
        <p:nvPicPr>
          <p:cNvPr id="32" name="Picture 31" descr="macro-1-2-tiktok-dupe-7526268718016400671.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Top 5 drugstore dupes de maquillaje high-end — la astucia del consumidor como contenido.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@MANNYMUA733 · 2025</a:t>
            </a:r>
          </a:p>
        </p:txBody>
      </p:sp>
      <p:pic>
        <p:nvPicPr>
          <p:cNvPr id="37" name="Picture 36" descr="macro-1-2-tiktok-dupe-mikayla-mc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'MCO Beauty vs. Original Products' — el dupe legitimado por una mega-creadora de belleza.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@MIKAYLANOGUEIRA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LO USADO DEJÓ DE SER COSA DE POBRE: EN LATAM LA REVENTA PASÓ DE NECESIDAD A ELECCIÓN DE CRITERIO, Y EL PREOWNED SE VOLVIÓ CANAL ASPIRACIONAL.</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Comprar usado cargaba un estigma de clase. Eso se está cayendo en LATAM. El thrift haul es contenido, vender lo propio para financiar lo nuevo es práctica normal, y comprar lujo autenticado de segunda mano se lee como gusto, no como falta de plata.</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508000"/>
          </a:xfrm>
          <a:prstGeom prst="rect">
            <a:avLst/>
          </a:prstGeom>
          <a:noFill/>
        </p:spPr>
        <p:txBody>
          <a:bodyPr wrap="square"/>
          <a:lstStyle/>
          <a:p>
            <a:pPr algn="l">
              <a:lnSpc>
                <a:spcPct val="100000"/>
              </a:lnSpc>
            </a:pPr>
            <a:r>
              <a:rPr sz="1600" b="0" i="0">
                <a:solidFill>
                  <a:srgbClr val="FFFFFF"/>
                </a:solidFill>
                <a:latin typeface="Instrument Serif"/>
              </a:rPr>
              <a:t>#thrifthaul · #segundamano · #preloved · #reventa · #thriftflip</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US$17.9B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Ropa segunda mano LATAM para 2031 vs US$5.2B en 2025, CAGR 22.8%.</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6WRESEARCH / MOBILITY FORESIGHTS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83%</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Gen Z global compró o quiere comprar usado — 10.7 pts sobre el promedio general.</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COGNITIVE MARKET RESEARCH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Outlook reventa LATAM 2026: economía empuja el usado a opción mainstream.</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BANKVOGUE · 2026</a:t>
            </a:r>
          </a:p>
        </p:txBody>
      </p:sp>
      <p:pic>
        <p:nvPicPr>
          <p:cNvPr id="27" name="Picture 26" descr="macro-1-3-tiktok-thrifthaul-754658773494140447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Thrift haul de la semana — botín visual de reventa aspiracional en LATAM.</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@METALROMANTIC · 2025</a:t>
            </a:r>
          </a:p>
        </p:txBody>
      </p:sp>
      <p:pic>
        <p:nvPicPr>
          <p:cNvPr id="32" name="Picture 31" descr="macro-1-3-tiktok-thrifthaul-7457656349103623466.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Tour de tienda #segundamano — la reventa como canal local aspiracional con #thrifthaul.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@GOLDENBEETROVE · 2025</a:t>
            </a:r>
          </a:p>
        </p:txBody>
      </p:sp>
      <p:pic>
        <p:nvPicPr>
          <p:cNvPr id="37" name="Picture 36" descr="macro-1-3-corotos-rd-plataforma-usado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Corotos.com.do — plataforma dominicana de segunda mano con listings de RD$10,000 a US$80,600.</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COROTOS.COM.DO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'NO PUEDO, ESTOY PRESUPUESTANDO' SE VOLVIÓ PRESUMIBLE: EL LOUD BUDGETING CONVIRTIÓ EL AHORRO EN PERFORMANCE Y EL GASTO IMPULSIVO EN COSA DE INMADUROS.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Decir que no tenías plata daba pena. El loud budgeting le dio la vuelta: ahora anuncias en voz alta que no vas porque estás presupuestando, y eso te hace ver con control, no con carencia. La adultez nueva se prueba demostrando que tienes la mano en el timón.</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762000"/>
          </a:xfrm>
          <a:prstGeom prst="rect">
            <a:avLst/>
          </a:prstGeom>
          <a:noFill/>
        </p:spPr>
        <p:txBody>
          <a:bodyPr wrap="square"/>
          <a:lstStyle/>
          <a:p>
            <a:pPr algn="l">
              <a:lnSpc>
                <a:spcPct val="100000"/>
              </a:lnSpc>
            </a:pPr>
            <a:r>
              <a:rPr sz="1600" b="0" i="0">
                <a:solidFill>
                  <a:srgbClr val="FFFFFF"/>
                </a:solidFill>
                <a:latin typeface="Instrument Serif"/>
              </a:rPr>
              <a:t>#loudbudgeting · #presupuesto · #ahorro2025 · #moneytok · #finanzaspersonales</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37%</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Gen Z planea ahorrar más, 29% invertir; el consumo se subordina al plan financiero.</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YOUGOV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BNPL</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Inestabilidad inflacionaria LATAM empuja a estabilizar el poder de compra con instrumentos de planificación.</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GLOBENEWSWIRE / LATAM BNPL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Swaps</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Marcas financieras como Fifth Third Bank hablan en 'loud budgeting swaps' para sonar nativas del feed.</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TIKTOK @FIFTHTHIRDBANK · 2024</a:t>
            </a:r>
          </a:p>
        </p:txBody>
      </p:sp>
      <p:pic>
        <p:nvPicPr>
          <p:cNvPr id="27" name="Picture 26" descr="macro-1-4-tiktok-loudbudgeting-7451260628603473198.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'2025 we are LOUD BUDGETING' — presupuestar en público como nueva señal de adultez.</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@BREAKYOURBUDGET · 2025</a:t>
            </a:r>
          </a:p>
        </p:txBody>
      </p:sp>
      <p:pic>
        <p:nvPicPr>
          <p:cNvPr id="32" name="Picture 31" descr="macro-1-4-tiktok-loudbudgeting-7340699620734995754.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Loud budgeting swaps: marca financiera adopta el lenguaje viral para normalizar el 'no' al gasto social.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@FIFTHTHIRDBANK · 2024</a:t>
            </a:r>
          </a:p>
        </p:txBody>
      </p:sp>
      <p:pic>
        <p:nvPicPr>
          <p:cNvPr id="37" name="Picture 36" descr="macro-2-0-globenewswire-latam-bnpl.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BNPL LATAM +27% en 2025 a US$16.2B — instrumento de estabilización del poder de compra.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FEBRERO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GASTO ASPIRACIONAL SE MUDÓ DEL OBJETO A LA EXPERIENCIA: GIRL MATH Y SOFT LIFE HACEN QUE EL VIAJE PESE MÁS QUE EL CARRO NUEVO.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990600"/>
          </a:xfrm>
          <a:prstGeom prst="rect">
            <a:avLst/>
          </a:prstGeom>
          <a:noFill/>
        </p:spPr>
        <p:txBody>
          <a:bodyPr wrap="square"/>
          <a:lstStyle/>
          <a:p>
            <a:pPr algn="l">
              <a:lnSpc>
                <a:spcPct val="100000"/>
              </a:lnSpc>
            </a:pPr>
            <a:r>
              <a:rPr sz="1000" b="0" i="0">
                <a:solidFill>
                  <a:srgbClr val="FFFFFF"/>
                </a:solidFill>
                <a:latin typeface="Poppins"/>
              </a:rPr>
              <a:t>El nuevo capital social no se acumula en cosas, se acumula en momentos. El gasto aspiracional se corrió de electrodomésticos y lujo material a viajes, conciertos, autocuidado. La 'girl math' es el marco viral que justifica el gasto experiencial. El recuerdo rinde más que la posesión.</a:t>
            </a:r>
          </a:p>
        </p:txBody>
      </p:sp>
      <p:sp>
        <p:nvSpPr>
          <p:cNvPr id="16" name="TextBox 15"/>
          <p:cNvSpPr txBox="1"/>
          <p:nvPr/>
        </p:nvSpPr>
        <p:spPr>
          <a:xfrm>
            <a:off x="254000" y="4826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80000"/>
            <a:ext cx="3683000" cy="762000"/>
          </a:xfrm>
          <a:prstGeom prst="rect">
            <a:avLst/>
          </a:prstGeom>
          <a:noFill/>
        </p:spPr>
        <p:txBody>
          <a:bodyPr wrap="square"/>
          <a:lstStyle/>
          <a:p>
            <a:pPr algn="l">
              <a:lnSpc>
                <a:spcPct val="100000"/>
              </a:lnSpc>
            </a:pPr>
            <a:r>
              <a:rPr sz="1600" b="0" i="0">
                <a:solidFill>
                  <a:srgbClr val="FFFFFF"/>
                </a:solidFill>
                <a:latin typeface="Instrument Serif"/>
              </a:rPr>
              <a:t>#girlmath · #softlife · #treatculture · #selfcarespending · #experienceoverstuff</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66%</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la población global pagaría premium por productos alineados con sus valores.</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GREEN PREMIUM STUDIES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Auge de wellness influencers que venden experiencia y servicio en live commerce LATAM.</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Math</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'Girl math' como marco viral para justificar gasto experiencial vs. material en TikTok.</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TIKTOK · 2023 [HISTÓRICO]</a:t>
            </a:r>
          </a:p>
        </p:txBody>
      </p:sp>
      <p:pic>
        <p:nvPicPr>
          <p:cNvPr id="27" name="Picture 26" descr="macro-1-5-tiktok-girlmath-softlife-745470598265294362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'Dear 2025' con CEO SoftLife — vivir bien como aspiración post-acumulación.</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@TASHAMICHIE124 · 2025</a:t>
            </a:r>
          </a:p>
        </p:txBody>
      </p:sp>
      <p:pic>
        <p:nvPicPr>
          <p:cNvPr id="32" name="Picture 31" descr="macro-1-5-tiktok-girlmath-softlife-7264583361304333611.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'somehow it makes sense #girlmath' — la lógica aspiracional que convierte experiencias en inversión.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@MCKENNAELIANNA · 2023</a:t>
            </a:r>
          </a:p>
        </p:txBody>
      </p:sp>
      <p:pic>
        <p:nvPicPr>
          <p:cNvPr id="37" name="Picture 36" descr="macro-1-5-tiktok-girlmath-softlife-7276207307921313030.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'Justifying purchases with GIRL MATH' — marco viral para validar gasto experiencial vs. material.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@CASANDRA.MAZZUCCO ·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AGENTE DE IA PASÓ DE RECOMENDARTE A COMPRAR POR TI: FIJAS EL PRECIO OBJETIVO Y RUFUS AUTO-BUY EJECUTA EL CHECKOUT SIN QUE TOQUES NADA.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La IA recomendaba. Ahora ejecuta. Rufus Auto-Buy compra cuando se cumplen los parámetros que tú fijaste — precio, condición, momento. El humano deja de hacer el checkout. La compra se vuelve una orden delegada bajo reglas, no un acto consciente cada vez.</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762000"/>
          </a:xfrm>
          <a:prstGeom prst="rect">
            <a:avLst/>
          </a:prstGeom>
          <a:noFill/>
        </p:spPr>
        <p:txBody>
          <a:bodyPr wrap="square"/>
          <a:lstStyle/>
          <a:p>
            <a:pPr algn="l">
              <a:lnSpc>
                <a:spcPct val="100000"/>
              </a:lnSpc>
            </a:pPr>
            <a:r>
              <a:rPr sz="1600" b="0" i="0">
                <a:solidFill>
                  <a:srgbClr val="FFFFFF"/>
                </a:solidFill>
                <a:latin typeface="Instrument Serif"/>
              </a:rPr>
              <a:t>#aishopping · #rufus · #agenticcommerce · #shoppingassistant · #autobuy</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250M</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Usuarios activos mensuales de Rufus (+149% YoY); quien lo usa compra 60% más.</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NOVA ANALYTICS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US$1T</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Commerce agéntico proyectado en retail USA para 2030 (McKinsey) + US$115B adicionales por agentes.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MCKINSEY / MORGAN STANLEY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Pivot</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Amazon abandona Rufus y pivota a Alexa Shopping Agent que ejecuta compras autónomas.</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CNBC · MAYO 2026</a:t>
            </a:r>
          </a:p>
        </p:txBody>
      </p:sp>
      <p:pic>
        <p:nvPicPr>
          <p:cNvPr id="27" name="Picture 26" descr="macro-2-1-tiktok-aishopping-7469936286556589344.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#aishopping — creadores documentan cómo la IA selecciona sus compras en 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@UNIQUE21OFFICIAL · 2025</a:t>
            </a:r>
          </a:p>
        </p:txBody>
      </p:sp>
      <p:pic>
        <p:nvPicPr>
          <p:cNvPr id="32" name="Picture 31" descr="macro-2-1-retailtech-rufus-ai-shoppin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Rufus en acción: el agente de IA recomienda en pantalla — la batalla por la intención de compra.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RETAILTECH INNOVATION HUB · ENERO 2026</a:t>
            </a:r>
          </a:p>
        </p:txBody>
      </p:sp>
      <p:pic>
        <p:nvPicPr>
          <p:cNvPr id="37" name="Picture 36" descr="macro-2-1-novadata-rufus-autobu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Rufus Auto-Buy: 250M usuarios activos mensuales (+149% YoY) — quien lo usa compra 60% más.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NOVA ANALYTICS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PÁGALO EN CUATRO Y NO LO SIENTAS: EL BNPL BORRA EL LÍMITE DEL PRESUPUESTO DE LA EXPERIENCIA DE COMPRA Y CRECE EN LATAM COMO CRÉDITO PARA LOS QUE EL BANCO NO BANCA.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Partir el pago en cuotas sin tarjeta cambia cómo se siente el precio. En LATAM, donde +40% de la población carece de crédito formal, el BNPL crece como herramienta de inclusión. Mercado Pago, Addi, Kueski funcionan como crédito de facto en el checkout. Compras ahora aunque el flujo esté apretado.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#bnpl · #cuotassininteres · #pagaen4 · #mercadopago · #fintechlatam</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US$16.2B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BNPL LATAM en 2025 (+27%); +40% de la población sin crédito formal en la región.</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LATAM BNPL REPORT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Omni</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BNPL se expande de e-commerce a in-store y omnicanal en 2026; super apps dominan el ecosistema.</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GLOBENEWSWIRE · 2026</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Inclusión</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Mercado Pago, Kueski y Creditas diseñan cuotas para no-bancarizados — BNPL como herramienta de acceso.</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HOPE RESEARCH GROUP · 2025</a:t>
            </a:r>
          </a:p>
        </p:txBody>
      </p:sp>
      <p:pic>
        <p:nvPicPr>
          <p:cNvPr id="27" name="Picture 26" descr="macro-2-2-addi-bnpl-checkou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ADDI: 'Compra lo que quieres hoy, págalo después' — el BNPL hace invisible el límite del presupuesto.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ADDI · 2025</a:t>
            </a:r>
          </a:p>
        </p:txBody>
      </p:sp>
      <p:pic>
        <p:nvPicPr>
          <p:cNvPr id="32" name="Picture 31" descr="macro-2-2-globenewswire-bnpl-latam-2026.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BNPL LATAM 2026: expansión de e-commerce a in-store y omnicanal — super apps dominan.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GLOBENEWSWIRE · ENERO 2026</a:t>
            </a:r>
          </a:p>
        </p:txBody>
      </p:sp>
      <p:pic>
        <p:nvPicPr>
          <p:cNvPr id="37" name="Picture 36" descr="macro-2-0-paymentscmi-ecommerce-r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E-commerce RD supera US$5.2B en 2025 — PayPal (58%) y tPago (40%) lideran wallets dominicanas.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PAYMENTSCMI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CHECKOUT SE MUDÓ ADENTRO DEL VIDEO: TIKTOK SHOP COLAPSA ENTRETENIMIENTO Y COMPRA, Y EN BRASIL EL GMV PASÓ DE US$1M A US$25.7M EN TRES MESES.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Ver y comprar eran dos momentos separados. TikTok Shop los fundió: el 'yellow basket' vive dentro del video, descubres-deseas-pagas en segundos sin salir del scroll. Ya está en cinco países de LATAM y los registros de sellers subieron +300% en México desde 2023.</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#tiktokshop · #tiktokmademebuyit · #socialcommerce · #compraporredes · #yellowbasket</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+300%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Registros de sellers TikTok Shop en México desde 2023; en Brasil GMV de US$1M a US$25.7M en 3 meses.</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AWISEE / M2E CLOUD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TikTok Shop captura ~18-20% del social commerce USA; proyectado a 24.1% en 2027.</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EMARKETER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US$20B</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Social commerce LATAM proyectado para 2025; +60% sigue influencers que recomiendan o venden.</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pic>
        <p:nvPicPr>
          <p:cNvPr id="27" name="Picture 26" descr="macro-2-3-tiktok-tiktokshop-7441997574112021806.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Creador LATAM explicando TikTok Shop — el checkout integrado al video llega a vendedores locales.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@CRECE.CON.LAMORE · 2025</a:t>
            </a:r>
          </a:p>
        </p:txBody>
      </p:sp>
      <p:pic>
        <p:nvPicPr>
          <p:cNvPr id="32" name="Picture 31" descr="macro-2-3-awisee-tiktokshop-lata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TikTok Shop en MX, BR, CO, CL, PE — en Brasil GMV pasó de US$1M a US$25.7M en 3 meses.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AWISEE · 2025</a:t>
            </a:r>
          </a:p>
        </p:txBody>
      </p:sp>
      <p:pic>
        <p:nvPicPr>
          <p:cNvPr id="37" name="Picture 36" descr="macro-2-3-emarketer-tiktokshop-20pc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Shop captura ~20% del social commerce USA en 2025; proyectado a 24.1% en 2027.</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EMARKETER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628899"/>
          </a:xfrm>
          <a:prstGeom prst="rect">
            <a:avLst/>
          </a:prstGeom>
          <a:noFill/>
        </p:spPr>
        <p:txBody>
          <a:bodyPr wrap="square"/>
          <a:lstStyle/>
          <a:p>
            <a:pPr algn="l">
              <a:lnSpc>
                <a:spcPct val="114000"/>
              </a:lnSpc>
            </a:pPr>
            <a:r>
              <a:rPr sz="2000" b="0" i="0">
                <a:solidFill>
                  <a:srgbClr val="FFFFFF"/>
                </a:solidFill>
                <a:latin typeface="Instrument Serif"/>
              </a:rPr>
              <a:t>LA DESPENSA EMPEZÓ A LLENARSE SOLA: ESTANTERÍAS INTELIGENTES Y ELECTRODOMÉSTICOS CONECTADOS PESAN EL DETERGENTE Y LO REORDENAN ANTES DE QUE SE ACABE.</a:t>
            </a:r>
          </a:p>
        </p:txBody>
      </p:sp>
      <p:sp>
        <p:nvSpPr>
          <p:cNvPr id="14" name="TextBox 13"/>
          <p:cNvSpPr txBox="1"/>
          <p:nvPr/>
        </p:nvSpPr>
        <p:spPr>
          <a:xfrm>
            <a:off x="254000" y="42799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533900"/>
            <a:ext cx="3683000" cy="990600"/>
          </a:xfrm>
          <a:prstGeom prst="rect">
            <a:avLst/>
          </a:prstGeom>
          <a:noFill/>
        </p:spPr>
        <p:txBody>
          <a:bodyPr wrap="square"/>
          <a:lstStyle/>
          <a:p>
            <a:pPr algn="l">
              <a:lnSpc>
                <a:spcPct val="100000"/>
              </a:lnSpc>
            </a:pPr>
            <a:r>
              <a:rPr sz="1000" b="0" i="0">
                <a:solidFill>
                  <a:srgbClr val="FFFFFF"/>
                </a:solidFill>
                <a:latin typeface="Poppins"/>
              </a:rPr>
              <a:t>Ir a comprar lo básico era una tarea mental fija: revisar, anotar, salir. Esa tarea se está automatizando. El Dash Smart Shelf pesa el inventario y reordena solo. Lavadoras, cafeteras y electrodomésticos con Dash Replenishment integrado piden cápsulas sin que nadie lo decida.</a:t>
            </a:r>
          </a:p>
        </p:txBody>
      </p:sp>
      <p:sp>
        <p:nvSpPr>
          <p:cNvPr id="16" name="TextBox 15"/>
          <p:cNvSpPr txBox="1"/>
          <p:nvPr/>
        </p:nvSpPr>
        <p:spPr>
          <a:xfrm>
            <a:off x="254000" y="5702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956300"/>
            <a:ext cx="3683000" cy="762000"/>
          </a:xfrm>
          <a:prstGeom prst="rect">
            <a:avLst/>
          </a:prstGeom>
          <a:noFill/>
        </p:spPr>
        <p:txBody>
          <a:bodyPr wrap="square"/>
          <a:lstStyle/>
          <a:p>
            <a:pPr algn="l">
              <a:lnSpc>
                <a:spcPct val="100000"/>
              </a:lnSpc>
            </a:pPr>
            <a:r>
              <a:rPr sz="1600" b="0" i="0">
                <a:solidFill>
                  <a:srgbClr val="FFFFFF"/>
                </a:solidFill>
                <a:latin typeface="Instrument Serif"/>
              </a:rPr>
              <a:t>#smarthome · #autoreplenish · #subscribeandsave · #amazondash · #casainteligente</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US$19.99</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Dash Smart Shelf pesa el inventario y reordena solo con Subscribe &amp; Save.</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AMAZON / RETAIL DIVE · 2020</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DRS</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Bosch, Toshiba, illy y Beko integran Dash Replenishment Service en sus electrodomésticos.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TRUSTED REVIEWS · 2018</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Smart home appliances LATAM crece a doble dígito anual — la adopción ya avanza.</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pic>
        <p:nvPicPr>
          <p:cNvPr id="27" name="Picture 26" descr="macro-2-4-retaildive-amazon-dash-shelf.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Amazon Dash Smart Shelf (US$19.99) — pesa el inventario y reordena solo vía Subscribe &amp; Save.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RETAIL DIVE · 2020</a:t>
            </a:r>
          </a:p>
        </p:txBody>
      </p:sp>
      <p:pic>
        <p:nvPicPr>
          <p:cNvPr id="32" name="Picture 31" descr="macro-2-4-trustedreviews-amazon-drs-appliance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Bosch HomeConnect con Amazon DRS: el electrodoméstico que reordena jabón y cápsulas solo.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TRUSTED REVIEWS · 2018</a:t>
            </a:r>
          </a:p>
        </p:txBody>
      </p:sp>
      <p:pic>
        <p:nvPicPr>
          <p:cNvPr id="37" name="Picture 36" descr="macro-2-5-grandviewresearch-livecommerce-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Smart home appliances LATAM creciendo a doble dígito anual — la automatización doméstica avanza.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COMPRAR EN VIVO SE VOLVIÓ EVENTO: EL LIVE SHOPPING CONVIERTE HASTA EL 30% DE QUIEN MIRA (VS 2-3% DEL E-COMMERCE) Y 64% DE LATAM ASISTE A SESIONES CADA MES.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live shopping vuelve el stream un piso de venta. La oferta-relámpago, el drop cronometrado, el chat en tiempo real — todo empuja a comprar ahí mismo, empujado por escasez y comunidad. En LATAM 64% asiste a sesiones mensualmente. La urgencia social hace el trabajo que la página de producto nunca pudo.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#liveshopping · #livecommerce · #ventaenvivo · #droplive · #tiktoklive</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US$32B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Live commerce LATAM para 2033 vs US$3.87B en 2024, CAGR 27.2%; Brasil +90% anual.</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10×</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McKinsey: conversión en live shopping hasta 10x la del e-commerce convencional.</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MCKINSEY / YAVENDIO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64%</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De consumidores LATAM asiste a sesiones de live shopping mensualmente; conversión hasta 30%.</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YAVENDIO · 2025</a:t>
            </a:r>
          </a:p>
        </p:txBody>
      </p:sp>
      <p:pic>
        <p:nvPicPr>
          <p:cNvPr id="27" name="Picture 26" descr="macro-2-5-yavendio-livecommerce-latam-stat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64% de LATAM asiste a live shopping mensual; conversión hasta 30% vs. 2-3% e-commerce.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YAVENDIO · 2025</a:t>
            </a:r>
          </a:p>
        </p:txBody>
      </p:sp>
      <p:pic>
        <p:nvPicPr>
          <p:cNvPr id="32" name="Picture 31" descr="macro-2-5-grandviewresearch-livecommerce-lata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Live commerce LATAM: US$3.87B (2024) → US$32.08B (2033), CAGR 27.2%; Brasil +90% anual.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pic>
        <p:nvPicPr>
          <p:cNvPr id="37" name="Picture 36" descr="macro-2-3-tiktok-tiktokshop-7441997574112021806.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Creador LATAM montando venta en TikTok — el live como tienda: entretenimiento + checkout.</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@CRECE.CON.LAMORE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TIKTOK NO TE SUGIERE, TE OBLIGA: UN VIDEO AGOTA GÓNDOLAS EN DÍAS, Y SOL DE JANEIRO PASÓ DE VIRAL A +US$1B MIENTRAS LABUBU LLEGABA A US$150K EN SUBASTA.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algoritmo fabrica must-haves que vacían el stock en días. Sol de Janeiro acumuló +850M de views y triplicó ventas. Stanley y Labubu agotaron góndolas por puro hype. El deseo no lo programa la necesidad — lo programa el feed. Lo compras para estar adentro, no para usarlo.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#tiktokmademebuyit · #viralproduct · #amazonmusthaves · #soldout · #restock</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15%</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consumidores globales compra solo porque algo es tendencia en TikTok.</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SAP EMARSYS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+US$1B</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Sol de Janeiro: +850M views, ventas triplicadas a +US$1B; Labubu llegó a US$150K en subasta.</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FREE YOURSELF / UC SAN DIEGO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Top</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Ranking de productos TikTok más vendidos 2025 — virales que agotan stock en días.</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27" name="Picture 26" descr="macro-3-1-tiktok-tiktokmademebuyit-7470330136718527777.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#tiktokmademebuyit — el hashtag que acumula 80B de views documenta cada must-have del feed.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@UNIQUE21OFFICIAL · 2025</a:t>
            </a:r>
          </a:p>
        </p:txBody>
      </p:sp>
      <p:pic>
        <p:nvPicPr>
          <p:cNvPr id="32" name="Picture 31" descr="macro-3-4-freeyourself-soldejaneiro-vira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Sol de Janeiro: +850M views TikTok, ventas triplicadas a +US$1B — el frasco diseñado para el feed.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FREEYOURSELF · 2025</a:t>
            </a:r>
          </a:p>
        </p:txBody>
      </p:sp>
      <p:pic>
        <p:nvPicPr>
          <p:cNvPr id="37" name="Picture 36" descr="macro-3-1-accio-top-tiktok-products-pag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Ranking de productos TikTok más vendidos 2025 — el feed como árbitro del must-have.</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LA SUEGRA QUE DECÍA QUÉ COMPRAR PARA LA CASA AHORA ES UNA FAMILY INFLUENCER: +60% DE LATAM LE COPIA LA DESPENSA A QUIEN LA MOSTRÓ EN CÁMARA.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El consejo de qué sirve para la casa venía de la familia. Ahora viene del family/home influencer. La casa compra lo que la creadora-vecina enseñó: replica su despensa, su decoración, su Amazon storefront como lista de compras. La autoridad de consumo doméstico migró del consejo familiar al grid.</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#homeinfluencer · #amazonstorefront · #momtok · #compracomoella · #hometok</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+60%</a:t>
            </a:r>
          </a:p>
        </p:txBody>
      </p:sp>
      <p:sp>
        <p:nvSpPr>
          <p:cNvPr id="19" name="TextBox 18"/>
          <p:cNvSpPr txBox="1"/>
          <p:nvPr/>
        </p:nvSpPr>
        <p:spPr>
          <a:xfrm>
            <a:off x="4191000" y="1803400"/>
            <a:ext cx="2159000" cy="317500"/>
          </a:xfrm>
          <a:prstGeom prst="rect">
            <a:avLst/>
          </a:prstGeom>
          <a:noFill/>
        </p:spPr>
        <p:txBody>
          <a:bodyPr wrap="square"/>
          <a:lstStyle/>
          <a:p>
            <a:pPr algn="l">
              <a:lnSpc>
                <a:spcPct val="100000"/>
              </a:lnSpc>
            </a:pPr>
            <a:r>
              <a:rPr sz="1000" b="0" i="0">
                <a:solidFill>
                  <a:srgbClr val="FFFFFF"/>
                </a:solidFill>
                <a:latin typeface="Poppins"/>
              </a:rPr>
              <a:t>De LATAM sigue influencers que recomiendan o venden productos.</a:t>
            </a:r>
          </a:p>
        </p:txBody>
      </p:sp>
      <p:sp>
        <p:nvSpPr>
          <p:cNvPr id="20" name="TextBox 19"/>
          <p:cNvSpPr txBox="1"/>
          <p:nvPr/>
        </p:nvSpPr>
        <p:spPr>
          <a:xfrm>
            <a:off x="4191000" y="2273300"/>
            <a:ext cx="21590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sp>
        <p:nvSpPr>
          <p:cNvPr id="21" name="TextBox 20"/>
          <p:cNvSpPr txBox="1"/>
          <p:nvPr/>
        </p:nvSpPr>
        <p:spPr>
          <a:xfrm>
            <a:off x="4191000" y="2705100"/>
            <a:ext cx="2159000" cy="584200"/>
          </a:xfrm>
          <a:prstGeom prst="rect">
            <a:avLst/>
          </a:prstGeom>
          <a:noFill/>
        </p:spPr>
        <p:txBody>
          <a:bodyPr wrap="square"/>
          <a:lstStyle/>
          <a:p>
            <a:pPr algn="l">
              <a:lnSpc>
                <a:spcPct val="100000"/>
              </a:lnSpc>
            </a:pPr>
            <a:r>
              <a:rPr sz="4000" b="0" i="0">
                <a:solidFill>
                  <a:srgbClr val="FFFFFF"/>
                </a:solidFill>
                <a:latin typeface="Instrument Serif"/>
              </a:rPr>
              <a:t>Sweet</a:t>
            </a:r>
          </a:p>
        </p:txBody>
      </p:sp>
      <p:sp>
        <p:nvSpPr>
          <p:cNvPr id="22" name="TextBox 21"/>
          <p:cNvSpPr txBox="1"/>
          <p:nvPr/>
        </p:nvSpPr>
        <p:spPr>
          <a:xfrm>
            <a:off x="4191000" y="3441700"/>
            <a:ext cx="2159000" cy="476250"/>
          </a:xfrm>
          <a:prstGeom prst="rect">
            <a:avLst/>
          </a:prstGeom>
          <a:noFill/>
        </p:spPr>
        <p:txBody>
          <a:bodyPr wrap="square"/>
          <a:lstStyle/>
          <a:p>
            <a:pPr algn="l">
              <a:lnSpc>
                <a:spcPct val="100000"/>
              </a:lnSpc>
            </a:pPr>
            <a:r>
              <a:rPr sz="1000" b="0" i="0">
                <a:solidFill>
                  <a:srgbClr val="FFFFFF"/>
                </a:solidFill>
                <a:latin typeface="Poppins"/>
              </a:rPr>
              <a:t>Micro-influencers (10K-100K) en el sweet spot de purchase intent; CPMs caen &gt;50% YoY.</a:t>
            </a:r>
          </a:p>
        </p:txBody>
      </p:sp>
      <p:sp>
        <p:nvSpPr>
          <p:cNvPr id="23" name="TextBox 22"/>
          <p:cNvSpPr txBox="1"/>
          <p:nvPr/>
        </p:nvSpPr>
        <p:spPr>
          <a:xfrm>
            <a:off x="4191000" y="4070350"/>
            <a:ext cx="2159000" cy="152400"/>
          </a:xfrm>
          <a:prstGeom prst="rect">
            <a:avLst/>
          </a:prstGeom>
          <a:noFill/>
        </p:spPr>
        <p:txBody>
          <a:bodyPr wrap="square"/>
          <a:lstStyle/>
          <a:p>
            <a:pPr algn="l">
              <a:lnSpc>
                <a:spcPct val="100000"/>
              </a:lnSpc>
            </a:pPr>
            <a:r>
              <a:rPr sz="650" b="0" i="0">
                <a:solidFill>
                  <a:srgbClr val="666666"/>
                </a:solidFill>
                <a:latin typeface="Poppins"/>
              </a:rPr>
              <a:t>JOINSTATUS / INFLUENCER MARKETING HUB · 2025</a:t>
            </a:r>
          </a:p>
        </p:txBody>
      </p:sp>
      <p:sp>
        <p:nvSpPr>
          <p:cNvPr id="24" name="TextBox 23"/>
          <p:cNvSpPr txBox="1"/>
          <p:nvPr/>
        </p:nvSpPr>
        <p:spPr>
          <a:xfrm>
            <a:off x="4191000" y="4502150"/>
            <a:ext cx="2159000" cy="584200"/>
          </a:xfrm>
          <a:prstGeom prst="rect">
            <a:avLst/>
          </a:prstGeom>
          <a:noFill/>
        </p:spPr>
        <p:txBody>
          <a:bodyPr wrap="square"/>
          <a:lstStyle/>
          <a:p>
            <a:pPr algn="l">
              <a:lnSpc>
                <a:spcPct val="100000"/>
              </a:lnSpc>
            </a:pPr>
            <a:r>
              <a:rPr sz="4000" b="0" i="0">
                <a:solidFill>
                  <a:srgbClr val="FFFFFF"/>
                </a:solidFill>
                <a:latin typeface="Instrument Serif"/>
              </a:rPr>
              <a:t>Top 1K</a:t>
            </a:r>
          </a:p>
        </p:txBody>
      </p:sp>
      <p:sp>
        <p:nvSpPr>
          <p:cNvPr id="25" name="TextBox 24"/>
          <p:cNvSpPr txBox="1"/>
          <p:nvPr/>
        </p:nvSpPr>
        <p:spPr>
          <a:xfrm>
            <a:off x="4191000" y="5238750"/>
            <a:ext cx="2159000" cy="635000"/>
          </a:xfrm>
          <a:prstGeom prst="rect">
            <a:avLst/>
          </a:prstGeom>
          <a:noFill/>
        </p:spPr>
        <p:txBody>
          <a:bodyPr wrap="square"/>
          <a:lstStyle/>
          <a:p>
            <a:pPr algn="l">
              <a:lnSpc>
                <a:spcPct val="100000"/>
              </a:lnSpc>
            </a:pPr>
            <a:r>
              <a:rPr sz="1000" b="0" i="0">
                <a:solidFill>
                  <a:srgbClr val="FFFFFF"/>
                </a:solidFill>
                <a:latin typeface="Poppins"/>
              </a:rPr>
              <a:t>HypeTrace ya rastrea el top 1,000 de creadores TikTok en RD — influencer marketing mainstream local.</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STARNGAGE / HYPETRACE · 2025</a:t>
            </a:r>
          </a:p>
        </p:txBody>
      </p:sp>
      <p:pic>
        <p:nvPicPr>
          <p:cNvPr id="27" name="Picture 26" descr="macro-3-2-tiktok-momtok-amazon-storefront-7511087614015966495.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'Linked in my Amazon storefront #momtok #shoppinghaul' — el hogar como vitrina de compra curada.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@__JBARSTY · 2025</a:t>
            </a:r>
          </a:p>
        </p:txBody>
      </p:sp>
      <p:pic>
        <p:nvPicPr>
          <p:cNvPr id="32" name="Picture 31" descr="macro-3-2-hypetrace-top-tiktok-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Top 1,000 TikTok RD — la comunidad de influencers locales que dicta el consumo doméstico dominicano.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HYPETRACE · 2025</a:t>
            </a:r>
          </a:p>
        </p:txBody>
      </p:sp>
      <p:pic>
        <p:nvPicPr>
          <p:cNvPr id="37" name="Picture 36" descr="macro-3-2-latamintersect-social-ecommerc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+60% de LATAM sigue influencers que recomiendan o venden — el grid reemplaza al consejo familiar.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HOY ESTATUS, MAÑANA CRINGE: EL ALGORITMO COMPRIME LA VIDA ÚTIL DEL OBJETO, Y EL STANLEY QUE REINÓ EN 2023 QUEDÓ 'OUT' CUANDO LLEGÓ EL OWALA.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El feed acelera la muerte cultural del producto. Lo que volvió deseable — el Stanley — muere en meses cuando aparece el siguiente — el Owala. El consumidor compra-descarta al ritmo del trend, no del uso. El producto no se gasta — se vuelve viejo culturalmente.</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#outvsin · #cringe · #trendcycle · #microtrend · #hypecycle</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Stanley</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Stanley reinó en 2023 por hype y escasez; en 2024 quedó 'out' desplazado por Owala.</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Hype →</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Labubu pasó de hype récord a caída de valor de reventa al desinflarse el trend.</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15%</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Compra puramente por tendencia — base estructural de un consumo de vida cultural corta.</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SAP EMARSYS · 2025</a:t>
            </a:r>
          </a:p>
        </p:txBody>
      </p:sp>
      <p:pic>
        <p:nvPicPr>
          <p:cNvPr id="27" name="Picture 26" descr="macro-1-1-girlsunited-labubu-nobuy.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Labubu: de récord de reventa a valor caído al desinflarse el trend — el algoritmo crea y destruye el deseo.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pic>
        <p:nvPicPr>
          <p:cNvPr id="32" name="Picture 31" descr="macro-3-3-accio-stanley-owala-trendcycl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El ciclo de hype: Stanley reinó en 2023, Owala lo desplazó en 2024 — el feed comprime la vida útil.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37" name="Picture 36" descr="macro-3-3-tiktok-whats-next-2025-repor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What's Next 2025 — el reporte de tendencias que anticipa qué productos fabricará el algoritmo.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NEWSROOM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PRODUCTO AHORA SE DISEÑA PARA GRABARSE: EL EMPAQUE CON MOMENTO ASMR Y EL UNBOXING VIRAL LLEGAN ANTES QUE LA FUNCIÓN, Y LA GRABABILIDAD ES LA NUEVA FEATURE.</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La marca diseña empaque y producto pensando en cómo se ve en cámara. El unboxing grabable, el ASMR de apertura, el frasco 'estético' preceden a la función. Sol de Janeiro es el caso central — un perfume que rinde como contenido antes que como producto. Lo grabable se volvió una feature de venta.</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#unboxing · #asmrunboxing · #packaging · #aesthetic · #satisfying</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+US$1B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Sol de Janeiro: +850M views TikTok, ventas triplicadas — el frasco diseñado para el feed.</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FREE YOURSELF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ASMR</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#unboxing y #asmr como motores de descubrimiento de producto: el packaging es el contenido.</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Blind</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Juguetes coleccionables como Labubu y blind boxes diseñados para el unboxing viral.</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27" name="Picture 26" descr="macro-3-4-tiktok-thrift-unboxing-7569567092769443094.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#thrift2ship — reseller que graba el empaque y envío: el packaging ES el contenido.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@THRIFT2SHIP1 · 2025</a:t>
            </a:r>
          </a:p>
        </p:txBody>
      </p:sp>
      <p:pic>
        <p:nvPicPr>
          <p:cNvPr id="32" name="Picture 31" descr="macro-3-4-freeyourself-soldejaneiro-vira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Sol de Janeiro: el frasco diseñado para el feed — +850M views y ventas x3 a +US$1B.</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FREEYOURSELF · 2025</a:t>
            </a:r>
          </a:p>
        </p:txBody>
      </p:sp>
      <p:pic>
        <p:nvPicPr>
          <p:cNvPr id="37" name="Picture 36" descr="macro-3-3-accio-stanley-owala-trendcycl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Labubu blind box — el producto cuyo valor es el momento de apertura: diseñado para ser grabado.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COMPRAR ES CONTENIDO: EL HAUL VOLVIÓ LA COMPRA UN RITUAL DE GRABACIÓN, DONDE SE COMPRA PARA MOSTRAR EL 'QUÉ ME COMPRÉ' Y LA AUDIENCIA MIRA, DESEA Y REPLICA.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haul convirtió el acto de comprar en formato de contenido. Se compra para grabar el 'qué me compré', no solo para usar. El 'come shopping with me', el shopping vlog — el gasto se performa en público y se vuelve capital social. La audiencia que mira desea y replica.</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#haul · #comeshoppingwithme · #whatibought · #shoppingvlog · #grwmshopping</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Gen Z</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TikTok moldea las compras de Gen Z como práctica cultural: haul, GRWM-shopping.</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YR MEDIA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#haul</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'come shopping with me' como formatos masivos de contenido-compra en TikTok.</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64%</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De LATAM asiste a live shopping mensual — comprar es entretenimiento, no solo transacción.</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GRAND VIEW / YAVENDIO · 2025</a:t>
            </a:r>
          </a:p>
        </p:txBody>
      </p:sp>
      <p:pic>
        <p:nvPicPr>
          <p:cNvPr id="27" name="Picture 26" descr="macro-3-5-tiktok-haul-7558965114267782422.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#vintedhaul #thrifthaul — comprar para grabar: la audiencia mira, desea y replica.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@EVAMEGANOSOVA · 2025</a:t>
            </a:r>
          </a:p>
        </p:txBody>
      </p:sp>
      <p:pic>
        <p:nvPicPr>
          <p:cNvPr id="32" name="Picture 31" descr="macro-3-5-tiktok-haul-7552292928236915989.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#thrifthaul — el ritual de comprar como contenido: se documenta el proceso, no solo el botín.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@MR.CHIEFGRIEF9131149 · 2025</a:t>
            </a:r>
          </a:p>
        </p:txBody>
      </p:sp>
      <p:pic>
        <p:nvPicPr>
          <p:cNvPr id="37" name="Picture 36" descr="macro-3-5-tiktok-haul-7556270397939780919.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Baby thrift haul — el haul se extiende al consumo familiar: cada compra es potencial contenido.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@ASHLEYKATEBURKE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