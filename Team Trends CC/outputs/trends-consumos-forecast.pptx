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hyperlink" Target="https://www.tiktok.com/@chelsychristina/video/7395747286262828319" TargetMode="External"/><Relationship Id="rId4" Type="http://schemas.openxmlformats.org/officeDocument/2006/relationships/image" Target="../media/image2.png"/><Relationship Id="rId5" Type="http://schemas.openxmlformats.org/officeDocument/2006/relationships/hyperlink" Target="https://www.tiktok.com/@breakyourbudget/video/7502132957872819502" TargetMode="External"/><Relationship Id="rId6" Type="http://schemas.openxmlformats.org/officeDocument/2006/relationships/image" Target="../media/image3.png"/><Relationship Id="rId7" Type="http://schemas.openxmlformats.org/officeDocument/2006/relationships/hyperlink" Target="https://girlsunited.essence.com/feedback/from-labubu-to-no-buy-how-viral-trends-are-colliding-with-economic-reality/"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hyperlink" Target="https://www.tiktok.com/@perfumesiren/video/7546363805240921399" TargetMode="External"/><Relationship Id="rId4" Type="http://schemas.openxmlformats.org/officeDocument/2006/relationships/image" Target="../media/image5.png"/><Relationship Id="rId5" Type="http://schemas.openxmlformats.org/officeDocument/2006/relationships/hyperlink" Target="https://www.tiktok.com/@mannymua733/video/7526268718016400671" TargetMode="External"/><Relationship Id="rId6" Type="http://schemas.openxmlformats.org/officeDocument/2006/relationships/image" Target="../media/image6.png"/><Relationship Id="rId7" Type="http://schemas.openxmlformats.org/officeDocument/2006/relationships/hyperlink" Target="https://www.tiktok.com/@mikaylanogueira/video/7496555296874188074"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hyperlink" Target="https://www.tiktok.com/@metalromantic/video/7546587734941404471" TargetMode="External"/><Relationship Id="rId4" Type="http://schemas.openxmlformats.org/officeDocument/2006/relationships/image" Target="../media/image8.png"/><Relationship Id="rId5" Type="http://schemas.openxmlformats.org/officeDocument/2006/relationships/hyperlink" Target="https://www.tiktok.com/@goldenbeetrove/video/7457656349103623466" TargetMode="External"/><Relationship Id="rId6" Type="http://schemas.openxmlformats.org/officeDocument/2006/relationships/image" Target="../media/image9.png"/><Relationship Id="rId7" Type="http://schemas.openxmlformats.org/officeDocument/2006/relationships/hyperlink" Target="https://www.corotos.com.do"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hyperlink" Target="https://www.tiktok.com/@breakyourbudget/video/7451260628603473198" TargetMode="External"/><Relationship Id="rId4" Type="http://schemas.openxmlformats.org/officeDocument/2006/relationships/image" Target="../media/image11.png"/><Relationship Id="rId5" Type="http://schemas.openxmlformats.org/officeDocument/2006/relationships/hyperlink" Target="https://www.tiktok.com/@fifththirdbank/video/7337773119731584302" TargetMode="External"/><Relationship Id="rId6" Type="http://schemas.openxmlformats.org/officeDocument/2006/relationships/image" Target="../media/image12.png"/><Relationship Id="rId7" Type="http://schemas.openxmlformats.org/officeDocument/2006/relationships/hyperlink" Target="https://www.globenewswire.com/news-release/2025/02/27/3033728/28124/en/Latin-America-Buy-Now-Pay-Later-Business-Report-2025-2030.html"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hyperlink" Target="https://www.tiktok.com/@tashamichie124/video/7454705982652943621" TargetMode="External"/><Relationship Id="rId4" Type="http://schemas.openxmlformats.org/officeDocument/2006/relationships/image" Target="../media/image14.png"/><Relationship Id="rId5" Type="http://schemas.openxmlformats.org/officeDocument/2006/relationships/hyperlink" Target="https://www.tiktok.com/@mckennaelianna/video/7264583361304333611" TargetMode="External"/><Relationship Id="rId6" Type="http://schemas.openxmlformats.org/officeDocument/2006/relationships/image" Target="../media/image15.png"/><Relationship Id="rId7" Type="http://schemas.openxmlformats.org/officeDocument/2006/relationships/hyperlink" Target="https://www.tiktok.com/@casandra.mazzucco/video/7276207307921313030"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hyperlink" Target="https://www.tiktok.com/@unique21official/video/7469936286556589344" TargetMode="External"/><Relationship Id="rId4" Type="http://schemas.openxmlformats.org/officeDocument/2006/relationships/image" Target="../media/image17.png"/><Relationship Id="rId5" Type="http://schemas.openxmlformats.org/officeDocument/2006/relationships/hyperlink" Target="https://retailtechinnovationhub.com/home/2026/1/5/rufus-and-the-ai-shopping-war-why-amazons-assistant-reveals-the-battle-for-customer-intent" TargetMode="External"/><Relationship Id="rId6" Type="http://schemas.openxmlformats.org/officeDocument/2006/relationships/image" Target="../media/image18.png"/><Relationship Id="rId7" Type="http://schemas.openxmlformats.org/officeDocument/2006/relationships/hyperlink" Target="https://novadata.io/resources/news/amazon-rufus-agentic-auto-buy-250-million-users"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hyperlink" Target="https://addi.com" TargetMode="External"/><Relationship Id="rId4" Type="http://schemas.openxmlformats.org/officeDocument/2006/relationships/image" Target="../media/image20.png"/><Relationship Id="rId5" Type="http://schemas.openxmlformats.org/officeDocument/2006/relationships/hyperlink" Target="https://www.globenewswire.com/news-release/2026/01/20/3221587/28124/en/Latin-America-Buy-Now-Pay-Later-Business-Report-2026-2031.html" TargetMode="External"/><Relationship Id="rId6" Type="http://schemas.openxmlformats.org/officeDocument/2006/relationships/image" Target="../media/image21.png"/><Relationship Id="rId7" Type="http://schemas.openxmlformats.org/officeDocument/2006/relationships/hyperlink" Target="https://paymentscmi.com/insights/comercio-electronico-republica-dominicana-datos-clave/"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hyperlink" Target="https://www.tiktok.com/@crece.con.lamore/video/7441997574112021806" TargetMode="External"/><Relationship Id="rId4" Type="http://schemas.openxmlformats.org/officeDocument/2006/relationships/image" Target="../media/image23.png"/><Relationship Id="rId5" Type="http://schemas.openxmlformats.org/officeDocument/2006/relationships/hyperlink" Target="https://awisee.com/blog/tiktok-shop-in-latin-america/" TargetMode="External"/><Relationship Id="rId6" Type="http://schemas.openxmlformats.org/officeDocument/2006/relationships/image" Target="../media/image24.png"/><Relationship Id="rId7" Type="http://schemas.openxmlformats.org/officeDocument/2006/relationships/hyperlink" Target="https://www.emarketer.com/press-releases/tiktok-shop-makes-up-nearly-20-of-social-commerce-in-2025/"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hyperlink" Target="https://www.retaildive.com/news/amazon-releases-dash-smart-shelf-for-consumers-small-businesses/588465/" TargetMode="External"/><Relationship Id="rId4" Type="http://schemas.openxmlformats.org/officeDocument/2006/relationships/image" Target="../media/image26.png"/><Relationship Id="rId5" Type="http://schemas.openxmlformats.org/officeDocument/2006/relationships/hyperlink" Target="https://www.trustedreviews.com/news/amazon-dash-replenishment-service-3514666" TargetMode="External"/><Relationship Id="rId6" Type="http://schemas.openxmlformats.org/officeDocument/2006/relationships/image" Target="../media/image27.png"/><Relationship Id="rId7" Type="http://schemas.openxmlformats.org/officeDocument/2006/relationships/hyperlink" Target="https://www.grandviewresearch.com/industry-analysis/latin-america-live-commerce-market-report"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hyperlink" Target="https://www.yavendio.com/en/blog/live-commerce-latam-estadisticas" TargetMode="External"/><Relationship Id="rId4" Type="http://schemas.openxmlformats.org/officeDocument/2006/relationships/image" Target="../media/image27.png"/><Relationship Id="rId5" Type="http://schemas.openxmlformats.org/officeDocument/2006/relationships/hyperlink" Target="https://www.grandviewresearch.com/industry-analysis/latin-america-live-commerce-market-report" TargetMode="External"/><Relationship Id="rId6" Type="http://schemas.openxmlformats.org/officeDocument/2006/relationships/image" Target="../media/image22.png"/><Relationship Id="rId7" Type="http://schemas.openxmlformats.org/officeDocument/2006/relationships/hyperlink" Target="https://www.tiktok.com/@crece.con.lamore/video/7441997574112021806"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hyperlink" Target="https://www.tiktok.com/@unique21official/video/7470330136718527777" TargetMode="External"/><Relationship Id="rId4" Type="http://schemas.openxmlformats.org/officeDocument/2006/relationships/image" Target="../media/image30.png"/><Relationship Id="rId5" Type="http://schemas.openxmlformats.org/officeDocument/2006/relationships/hyperlink" Target="https://freeyourself.com/blogs/news/tiktok-viral-perfume-sales-stats" TargetMode="External"/><Relationship Id="rId6" Type="http://schemas.openxmlformats.org/officeDocument/2006/relationships/image" Target="../media/image31.png"/><Relationship Id="rId7" Type="http://schemas.openxmlformats.org/officeDocument/2006/relationships/hyperlink" Target="https://www.accio.com/business/top-selling-tiktok-products"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hyperlink" Target="https://www.tiktok.com/@__jbarsty/video/7511087614015966495" TargetMode="External"/><Relationship Id="rId4" Type="http://schemas.openxmlformats.org/officeDocument/2006/relationships/image" Target="../media/image33.png"/><Relationship Id="rId5" Type="http://schemas.openxmlformats.org/officeDocument/2006/relationships/hyperlink" Target="https://hypetrace.com/top/tiktok/dominican-republic/" TargetMode="External"/><Relationship Id="rId6" Type="http://schemas.openxmlformats.org/officeDocument/2006/relationships/image" Target="../media/image34.png"/><Relationship Id="rId7" Type="http://schemas.openxmlformats.org/officeDocument/2006/relationships/hyperlink" Target="https://latamintersectpr.com/2025-e-commerce-trends-social-medias-impact-on-latin-american-consumer-behavior/"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hyperlink" Target="https://girlsunited.essence.com/feedback/from-labubu-to-no-buy-how-viral-trends-are-colliding-with-economic-reality/" TargetMode="External"/><Relationship Id="rId4" Type="http://schemas.openxmlformats.org/officeDocument/2006/relationships/image" Target="../media/image35.png"/><Relationship Id="rId5" Type="http://schemas.openxmlformats.org/officeDocument/2006/relationships/hyperlink" Target="https://www.accio.com/business/tik-tok-trending-products" TargetMode="External"/><Relationship Id="rId6" Type="http://schemas.openxmlformats.org/officeDocument/2006/relationships/image" Target="../media/image36.png"/><Relationship Id="rId7" Type="http://schemas.openxmlformats.org/officeDocument/2006/relationships/hyperlink" Target="https://newsroom.tiktok.com/en-us/tiktok-whats-next-2025-trend-report-us"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hyperlink" Target="https://www.tiktok.com/@thrift2ship1/video/7569567092769443094" TargetMode="External"/><Relationship Id="rId4" Type="http://schemas.openxmlformats.org/officeDocument/2006/relationships/image" Target="../media/image30.png"/><Relationship Id="rId5" Type="http://schemas.openxmlformats.org/officeDocument/2006/relationships/hyperlink" Target="https://freeyourself.com/blogs/news/tiktok-viral-perfume-sales-stats" TargetMode="External"/><Relationship Id="rId6" Type="http://schemas.openxmlformats.org/officeDocument/2006/relationships/image" Target="../media/image35.png"/><Relationship Id="rId7" Type="http://schemas.openxmlformats.org/officeDocument/2006/relationships/hyperlink" Target="https://www.accio.com/business/tiktokhotsellingtoy"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hyperlink" Target="https://www.tiktok.com/@evameganosova/video/7558965114267782422" TargetMode="External"/><Relationship Id="rId4" Type="http://schemas.openxmlformats.org/officeDocument/2006/relationships/image" Target="../media/image39.png"/><Relationship Id="rId5" Type="http://schemas.openxmlformats.org/officeDocument/2006/relationships/hyperlink" Target="https://www.tiktok.com/@mr.chiefgrief9131149/video/7552292928236915989" TargetMode="External"/><Relationship Id="rId6" Type="http://schemas.openxmlformats.org/officeDocument/2006/relationships/image" Target="../media/image40.png"/><Relationship Id="rId7" Type="http://schemas.openxmlformats.org/officeDocument/2006/relationships/hyperlink" Target="https://www.tiktok.com/@ashleykateburke/video/7556270397939780919"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0" y="2286000"/>
            <a:ext cx="12192000" cy="254000"/>
          </a:xfrm>
          <a:prstGeom prst="rect">
            <a:avLst/>
          </a:prstGeom>
          <a:noFill/>
        </p:spPr>
        <p:txBody>
          <a:bodyPr wrap="square"/>
          <a:lstStyle/>
          <a:p>
            <a:pPr algn="ctr">
              <a:lnSpc>
                <a:spcPct val="100000"/>
              </a:lnSpc>
            </a:pPr>
            <a:r>
              <a:rPr sz="1400" b="1" i="0">
                <a:solidFill>
                  <a:srgbClr val="A0A0A0"/>
                </a:solidFill>
                <a:latin typeface="Poppins"/>
              </a:rPr>
              <a:t>MACRO 1</a:t>
            </a:r>
          </a:p>
        </p:txBody>
      </p:sp>
      <p:sp>
        <p:nvSpPr>
          <p:cNvPr id="4" name="TextBox 3"/>
          <p:cNvSpPr txBox="1"/>
          <p:nvPr/>
        </p:nvSpPr>
        <p:spPr>
          <a:xfrm>
            <a:off x="254000" y="2844800"/>
            <a:ext cx="11684000" cy="1651000"/>
          </a:xfrm>
          <a:prstGeom prst="rect">
            <a:avLst/>
          </a:prstGeom>
          <a:noFill/>
        </p:spPr>
        <p:txBody>
          <a:bodyPr wrap="square"/>
          <a:lstStyle/>
          <a:p>
            <a:pPr algn="ctr">
              <a:lnSpc>
                <a:spcPct val="95000"/>
              </a:lnSpc>
            </a:pPr>
            <a:r>
              <a:rPr sz="10000" b="0" i="0">
                <a:solidFill>
                  <a:srgbClr val="FFFFFF"/>
                </a:solidFill>
                <a:latin typeface="Instrument Serif"/>
              </a:rPr>
              <a:t>INVENTOLOGÍA DE LA ADULTEZ</a:t>
            </a:r>
          </a:p>
        </p:txBody>
      </p:sp>
      <p:sp>
        <p:nvSpPr>
          <p:cNvPr id="5" name="TextBox 4"/>
          <p:cNvSpPr txBox="1"/>
          <p:nvPr/>
        </p:nvSpPr>
        <p:spPr>
          <a:xfrm>
            <a:off x="254000" y="4495800"/>
            <a:ext cx="11684000" cy="457200"/>
          </a:xfrm>
          <a:prstGeom prst="rect">
            <a:avLst/>
          </a:prstGeom>
          <a:noFill/>
        </p:spPr>
        <p:txBody>
          <a:bodyPr wrap="square"/>
          <a:lstStyle/>
          <a:p>
            <a:pPr algn="ctr">
              <a:lnSpc>
                <a:spcPct val="100000"/>
              </a:lnSpc>
            </a:pPr>
            <a:r>
              <a:rPr sz="2400" b="0" i="1">
                <a:solidFill>
                  <a:srgbClr val="A0A0A0"/>
                </a:solidFill>
                <a:latin typeface="Instrument Serif"/>
              </a:rPr>
              <a:t>"Un mundo en crisis está reescribiendo qué significa ser adulto y formar familia."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4" name="TextBox 3"/>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5" name="TextBox 4"/>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6" name="Connector 5"/>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254000" y="10668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04800" y="1104900"/>
            <a:ext cx="660400" cy="228600"/>
          </a:xfrm>
          <a:prstGeom prst="rect">
            <a:avLst/>
          </a:prstGeom>
          <a:noFill/>
        </p:spPr>
        <p:txBody>
          <a:bodyPr wrap="square"/>
          <a:lstStyle/>
          <a:p>
            <a:pPr algn="l">
              <a:lnSpc>
                <a:spcPct val="100000"/>
              </a:lnSpc>
            </a:pPr>
            <a:r>
              <a:rPr sz="750" b="1" i="0">
                <a:solidFill>
                  <a:srgbClr val="000000"/>
                </a:solidFill>
                <a:latin typeface="Poppins"/>
              </a:rPr>
              <a:t>MACRO 1</a:t>
            </a:r>
          </a:p>
        </p:txBody>
      </p:sp>
      <p:sp>
        <p:nvSpPr>
          <p:cNvPr id="11" name="Rectangle 10"/>
          <p:cNvSpPr/>
          <p:nvPr/>
        </p:nvSpPr>
        <p:spPr>
          <a:xfrm>
            <a:off x="1041400" y="10668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2200" y="1104900"/>
            <a:ext cx="2717800" cy="228600"/>
          </a:xfrm>
          <a:prstGeom prst="rect">
            <a:avLst/>
          </a:prstGeom>
          <a:noFill/>
        </p:spPr>
        <p:txBody>
          <a:bodyPr wrap="square"/>
          <a:lstStyle/>
          <a:p>
            <a:pPr algn="l">
              <a:lnSpc>
                <a:spcPct val="100000"/>
              </a:lnSpc>
            </a:pPr>
            <a:r>
              <a:rPr sz="750" b="0" i="0">
                <a:solidFill>
                  <a:srgbClr val="A0A0A0"/>
                </a:solidFill>
                <a:latin typeface="Poppins"/>
              </a:rPr>
              <a:t>INVENTOLOGÍA DE LA ADULTEZ</a:t>
            </a:r>
          </a:p>
        </p:txBody>
      </p:sp>
      <p:sp>
        <p:nvSpPr>
          <p:cNvPr id="13" name="TextBox 12"/>
          <p:cNvSpPr txBox="1"/>
          <p:nvPr/>
        </p:nvSpPr>
        <p:spPr>
          <a:xfrm>
            <a:off x="254000" y="1473200"/>
            <a:ext cx="3683000" cy="2044700"/>
          </a:xfrm>
          <a:prstGeom prst="rect">
            <a:avLst/>
          </a:prstGeom>
          <a:noFill/>
        </p:spPr>
        <p:txBody>
          <a:bodyPr wrap="square"/>
          <a:lstStyle/>
          <a:p>
            <a:pPr algn="l">
              <a:lnSpc>
                <a:spcPct val="114000"/>
              </a:lnSpc>
            </a:pPr>
            <a:r>
              <a:rPr sz="2000" b="0" i="0">
                <a:solidFill>
                  <a:srgbClr val="FFFFFF"/>
                </a:solidFill>
                <a:latin typeface="Instrument Serif"/>
              </a:rPr>
              <a:t>EL 'NO COMPRÉ NADA ESTE MES' REEMPLAZÓ AL ESTRENO COMO FLEX: EL UNDERCONSUMPTION CORE HIZO DEL ARMARIO MÍNIMO UNA SEÑAL DE ESTATUS.</a:t>
            </a:r>
          </a:p>
        </p:txBody>
      </p:sp>
      <p:sp>
        <p:nvSpPr>
          <p:cNvPr id="14" name="TextBox 13"/>
          <p:cNvSpPr txBox="1"/>
          <p:nvPr/>
        </p:nvSpPr>
        <p:spPr>
          <a:xfrm>
            <a:off x="254000" y="36957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3949700"/>
            <a:ext cx="3683000" cy="990600"/>
          </a:xfrm>
          <a:prstGeom prst="rect">
            <a:avLst/>
          </a:prstGeom>
          <a:noFill/>
        </p:spPr>
        <p:txBody>
          <a:bodyPr wrap="square"/>
          <a:lstStyle/>
          <a:p>
            <a:pPr algn="l">
              <a:lnSpc>
                <a:spcPct val="100000"/>
              </a:lnSpc>
            </a:pPr>
            <a:r>
              <a:rPr sz="1000" b="0" i="0">
                <a:solidFill>
                  <a:srgbClr val="FFFFFF"/>
                </a:solidFill>
                <a:latin typeface="Poppins"/>
              </a:rPr>
              <a:t>Antes presumías lo que estrenabas. Ahora hay toda una estética de presumir lo contrario: el armario que repites, el 'what I didn't buy', el reto de cero compras. La austeridad se volvió performance. No es que falte la plata — es que mostrar que no gastas se lee como criterio, como madurez financiera.</a:t>
            </a:r>
          </a:p>
        </p:txBody>
      </p:sp>
      <p:sp>
        <p:nvSpPr>
          <p:cNvPr id="16" name="TextBox 15"/>
          <p:cNvSpPr txBox="1"/>
          <p:nvPr/>
        </p:nvSpPr>
        <p:spPr>
          <a:xfrm>
            <a:off x="254000" y="51181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5372100"/>
            <a:ext cx="3683000" cy="762000"/>
          </a:xfrm>
          <a:prstGeom prst="rect">
            <a:avLst/>
          </a:prstGeom>
          <a:noFill/>
        </p:spPr>
        <p:txBody>
          <a:bodyPr wrap="square"/>
          <a:lstStyle/>
          <a:p>
            <a:pPr algn="l">
              <a:lnSpc>
                <a:spcPct val="100000"/>
              </a:lnSpc>
            </a:pPr>
            <a:r>
              <a:rPr sz="1600" b="0" i="0">
                <a:solidFill>
                  <a:srgbClr val="FFFFFF"/>
                </a:solidFill>
                <a:latin typeface="Instrument Serif"/>
              </a:rPr>
              <a:t>#underconsumptioncore · #nobuy2025 · #lowbuy · #deinfluencing · #mindfulspending</a:t>
            </a:r>
          </a:p>
        </p:txBody>
      </p:sp>
      <p:sp>
        <p:nvSpPr>
          <p:cNvPr id="18" name="TextBox 17"/>
          <p:cNvSpPr txBox="1"/>
          <p:nvPr/>
        </p:nvSpPr>
        <p:spPr>
          <a:xfrm>
            <a:off x="4191000" y="1066800"/>
            <a:ext cx="2159000" cy="584200"/>
          </a:xfrm>
          <a:prstGeom prst="rect">
            <a:avLst/>
          </a:prstGeom>
          <a:noFill/>
        </p:spPr>
        <p:txBody>
          <a:bodyPr wrap="square"/>
          <a:lstStyle/>
          <a:p>
            <a:pPr algn="l">
              <a:lnSpc>
                <a:spcPct val="100000"/>
              </a:lnSpc>
            </a:pPr>
            <a:r>
              <a:rPr sz="4000" b="0" i="0">
                <a:solidFill>
                  <a:srgbClr val="FFFFFF"/>
                </a:solidFill>
                <a:latin typeface="Instrument Serif"/>
              </a:rPr>
              <a:t>37%</a:t>
            </a:r>
          </a:p>
        </p:txBody>
      </p:sp>
      <p:sp>
        <p:nvSpPr>
          <p:cNvPr id="19" name="TextBox 18"/>
          <p:cNvSpPr txBox="1"/>
          <p:nvPr/>
        </p:nvSpPr>
        <p:spPr>
          <a:xfrm>
            <a:off x="4191000" y="1803400"/>
            <a:ext cx="2159000" cy="635000"/>
          </a:xfrm>
          <a:prstGeom prst="rect">
            <a:avLst/>
          </a:prstGeom>
          <a:noFill/>
        </p:spPr>
        <p:txBody>
          <a:bodyPr wrap="square"/>
          <a:lstStyle/>
          <a:p>
            <a:pPr algn="l">
              <a:lnSpc>
                <a:spcPct val="100000"/>
              </a:lnSpc>
            </a:pPr>
            <a:r>
              <a:rPr sz="1000" b="0" i="0">
                <a:solidFill>
                  <a:srgbClr val="FFFFFF"/>
                </a:solidFill>
                <a:latin typeface="Poppins"/>
              </a:rPr>
              <a:t>De Gen Z planea ahorrar más, 29% invertir; el pivote se lee como corrección, no restricción.</a:t>
            </a:r>
          </a:p>
        </p:txBody>
      </p:sp>
      <p:sp>
        <p:nvSpPr>
          <p:cNvPr id="20" name="TextBox 19"/>
          <p:cNvSpPr txBox="1"/>
          <p:nvPr/>
        </p:nvSpPr>
        <p:spPr>
          <a:xfrm>
            <a:off x="4191000" y="2590800"/>
            <a:ext cx="2159000" cy="152400"/>
          </a:xfrm>
          <a:prstGeom prst="rect">
            <a:avLst/>
          </a:prstGeom>
          <a:noFill/>
        </p:spPr>
        <p:txBody>
          <a:bodyPr wrap="square"/>
          <a:lstStyle/>
          <a:p>
            <a:pPr algn="l">
              <a:lnSpc>
                <a:spcPct val="100000"/>
              </a:lnSpc>
            </a:pPr>
            <a:r>
              <a:rPr sz="650" b="0" i="0">
                <a:solidFill>
                  <a:srgbClr val="666666"/>
                </a:solidFill>
                <a:latin typeface="Poppins"/>
              </a:rPr>
              <a:t>YOUGOV · 2025</a:t>
            </a:r>
          </a:p>
        </p:txBody>
      </p:sp>
      <p:sp>
        <p:nvSpPr>
          <p:cNvPr id="21" name="TextBox 20"/>
          <p:cNvSpPr txBox="1"/>
          <p:nvPr/>
        </p:nvSpPr>
        <p:spPr>
          <a:xfrm>
            <a:off x="4191000" y="3022600"/>
            <a:ext cx="2159000" cy="584200"/>
          </a:xfrm>
          <a:prstGeom prst="rect">
            <a:avLst/>
          </a:prstGeom>
          <a:noFill/>
        </p:spPr>
        <p:txBody>
          <a:bodyPr wrap="square"/>
          <a:lstStyle/>
          <a:p>
            <a:pPr algn="l">
              <a:lnSpc>
                <a:spcPct val="100000"/>
              </a:lnSpc>
            </a:pPr>
            <a:r>
              <a:rPr sz="4000" b="0" i="0">
                <a:solidFill>
                  <a:srgbClr val="FFFFFF"/>
                </a:solidFill>
                <a:latin typeface="Instrument Serif"/>
              </a:rPr>
              <a:t>6B+</a:t>
            </a:r>
          </a:p>
        </p:txBody>
      </p:sp>
      <p:sp>
        <p:nvSpPr>
          <p:cNvPr id="22" name="TextBox 21"/>
          <p:cNvSpPr txBox="1"/>
          <p:nvPr/>
        </p:nvSpPr>
        <p:spPr>
          <a:xfrm>
            <a:off x="4191000" y="3759200"/>
            <a:ext cx="2159000" cy="635000"/>
          </a:xfrm>
          <a:prstGeom prst="rect">
            <a:avLst/>
          </a:prstGeom>
          <a:noFill/>
        </p:spPr>
        <p:txBody>
          <a:bodyPr wrap="square"/>
          <a:lstStyle/>
          <a:p>
            <a:pPr algn="l">
              <a:lnSpc>
                <a:spcPct val="100000"/>
              </a:lnSpc>
            </a:pPr>
            <a:r>
              <a:rPr sz="1000" b="0" i="0">
                <a:solidFill>
                  <a:srgbClr val="FFFFFF"/>
                </a:solidFill>
                <a:latin typeface="Poppins"/>
              </a:rPr>
              <a:t>Views de #underconsumptioncore documentado como contra-tendencia viral al deinfluencing.</a:t>
            </a:r>
          </a:p>
        </p:txBody>
      </p:sp>
      <p:sp>
        <p:nvSpPr>
          <p:cNvPr id="23" name="TextBox 22"/>
          <p:cNvSpPr txBox="1"/>
          <p:nvPr/>
        </p:nvSpPr>
        <p:spPr>
          <a:xfrm>
            <a:off x="4191000" y="4546600"/>
            <a:ext cx="2159000" cy="152400"/>
          </a:xfrm>
          <a:prstGeom prst="rect">
            <a:avLst/>
          </a:prstGeom>
          <a:noFill/>
        </p:spPr>
        <p:txBody>
          <a:bodyPr wrap="square"/>
          <a:lstStyle/>
          <a:p>
            <a:pPr algn="l">
              <a:lnSpc>
                <a:spcPct val="100000"/>
              </a:lnSpc>
            </a:pPr>
            <a:r>
              <a:rPr sz="650" b="0" i="0">
                <a:solidFill>
                  <a:srgbClr val="666666"/>
                </a:solidFill>
                <a:latin typeface="Poppins"/>
              </a:rPr>
              <a:t>VISIBRAIN / TIKTOK · 2025</a:t>
            </a:r>
          </a:p>
        </p:txBody>
      </p:sp>
      <p:sp>
        <p:nvSpPr>
          <p:cNvPr id="24" name="TextBox 23"/>
          <p:cNvSpPr txBox="1"/>
          <p:nvPr/>
        </p:nvSpPr>
        <p:spPr>
          <a:xfrm>
            <a:off x="4191000" y="4978400"/>
            <a:ext cx="2159000" cy="584200"/>
          </a:xfrm>
          <a:prstGeom prst="rect">
            <a:avLst/>
          </a:prstGeom>
          <a:noFill/>
        </p:spPr>
        <p:txBody>
          <a:bodyPr wrap="square"/>
          <a:lstStyle/>
          <a:p>
            <a:pPr algn="l">
              <a:lnSpc>
                <a:spcPct val="100000"/>
              </a:lnSpc>
            </a:pPr>
            <a:r>
              <a:rPr sz="4000" b="0" i="0">
                <a:solidFill>
                  <a:srgbClr val="FFFFFF"/>
                </a:solidFill>
                <a:latin typeface="Instrument Serif"/>
              </a:rPr>
              <a:t>No-Buy</a:t>
            </a:r>
          </a:p>
        </p:txBody>
      </p:sp>
      <p:sp>
        <p:nvSpPr>
          <p:cNvPr id="25" name="TextBox 24"/>
          <p:cNvSpPr txBox="1"/>
          <p:nvPr/>
        </p:nvSpPr>
        <p:spPr>
          <a:xfrm>
            <a:off x="4191000" y="5715000"/>
            <a:ext cx="2159000" cy="476250"/>
          </a:xfrm>
          <a:prstGeom prst="rect">
            <a:avLst/>
          </a:prstGeom>
          <a:noFill/>
        </p:spPr>
        <p:txBody>
          <a:bodyPr wrap="square"/>
          <a:lstStyle/>
          <a:p>
            <a:pPr algn="l">
              <a:lnSpc>
                <a:spcPct val="100000"/>
              </a:lnSpc>
            </a:pPr>
            <a:r>
              <a:rPr sz="1000" b="0" i="0">
                <a:solidFill>
                  <a:srgbClr val="FFFFFF"/>
                </a:solidFill>
                <a:latin typeface="Poppins"/>
              </a:rPr>
              <a:t>'De Labubu al No-Buy': los virales de consumo chocan con la realidad económica.</a:t>
            </a:r>
          </a:p>
        </p:txBody>
      </p:sp>
      <p:sp>
        <p:nvSpPr>
          <p:cNvPr id="26" name="TextBox 25"/>
          <p:cNvSpPr txBox="1"/>
          <p:nvPr/>
        </p:nvSpPr>
        <p:spPr>
          <a:xfrm>
            <a:off x="4191000" y="6343650"/>
            <a:ext cx="2159000" cy="152400"/>
          </a:xfrm>
          <a:prstGeom prst="rect">
            <a:avLst/>
          </a:prstGeom>
          <a:noFill/>
        </p:spPr>
        <p:txBody>
          <a:bodyPr wrap="square"/>
          <a:lstStyle/>
          <a:p>
            <a:pPr algn="l">
              <a:lnSpc>
                <a:spcPct val="100000"/>
              </a:lnSpc>
            </a:pPr>
            <a:r>
              <a:rPr sz="650" b="0" i="0">
                <a:solidFill>
                  <a:srgbClr val="666666"/>
                </a:solidFill>
                <a:latin typeface="Poppins"/>
              </a:rPr>
              <a:t>GIRLS UNITED / ESSENCE · 2025</a:t>
            </a:r>
          </a:p>
        </p:txBody>
      </p:sp>
      <p:pic>
        <p:nvPicPr>
          <p:cNvPr id="27" name="Picture 26" descr="macro-1-1-tiktok-underconsumptioncore-1.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ounded Rectangle 27"/>
          <p:cNvSpPr/>
          <p:nvPr/>
        </p:nvSpPr>
        <p:spPr>
          <a:xfrm>
            <a:off x="8610600" y="2476500"/>
            <a:ext cx="584200" cy="190500"/>
          </a:xfrm>
          <a:prstGeom prst="round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lnSpc>
                <a:spcPct val="100000"/>
              </a:lnSpc>
            </a:pPr>
            <a:r>
              <a:rPr sz="700" b="1" i="0">
                <a:solidFill>
                  <a:srgbClr val="FFFFFF"/>
                </a:solidFill>
                <a:latin typeface="Poppins"/>
              </a:rPr>
              <a:t>CLICK ME ▸</a:t>
            </a:r>
          </a:p>
        </p:txBody>
      </p:sp>
      <p:sp>
        <p:nvSpPr>
          <p:cNvPr id="29" name="TextBox 28"/>
          <p:cNvSpPr txBox="1"/>
          <p:nvPr/>
        </p:nvSpPr>
        <p:spPr>
          <a:xfrm>
            <a:off x="9347200" y="1066800"/>
            <a:ext cx="2057400" cy="609600"/>
          </a:xfrm>
          <a:prstGeom prst="rect">
            <a:avLst/>
          </a:prstGeom>
          <a:noFill/>
        </p:spPr>
        <p:txBody>
          <a:bodyPr wrap="square"/>
          <a:lstStyle/>
          <a:p>
            <a:pPr algn="l">
              <a:lnSpc>
                <a:spcPct val="100000"/>
              </a:lnSpc>
            </a:pPr>
            <a:r>
              <a:rPr sz="1000" b="0" i="0">
                <a:solidFill>
                  <a:srgbClr val="FFFFFF"/>
                </a:solidFill>
                <a:latin typeface="Poppins"/>
              </a:rPr>
              <a:t>'underconsumption core / all my furniture' — armario mínimo como flex aspiracional en TikTok.</a:t>
            </a:r>
          </a:p>
        </p:txBody>
      </p:sp>
      <p:sp>
        <p:nvSpPr>
          <p:cNvPr id="30" name="TextBox 29"/>
          <p:cNvSpPr txBox="1"/>
          <p:nvPr/>
        </p:nvSpPr>
        <p:spPr>
          <a:xfrm>
            <a:off x="9347200" y="1803400"/>
            <a:ext cx="2057400" cy="152400"/>
          </a:xfrm>
          <a:prstGeom prst="rect">
            <a:avLst/>
          </a:prstGeom>
          <a:noFill/>
        </p:spPr>
        <p:txBody>
          <a:bodyPr wrap="square"/>
          <a:lstStyle/>
          <a:p>
            <a:pPr algn="l">
              <a:lnSpc>
                <a:spcPct val="100000"/>
              </a:lnSpc>
            </a:pPr>
            <a:r>
              <a:rPr sz="650" b="0" i="0">
                <a:solidFill>
                  <a:srgbClr val="666666"/>
                </a:solidFill>
                <a:latin typeface="Poppins"/>
              </a:rPr>
              <a:t>TIKTOK @CHELSYCHRISTINA · 2024</a:t>
            </a:r>
          </a:p>
        </p:txBody>
      </p:sp>
      <p:pic>
        <p:nvPicPr>
          <p:cNvPr id="31" name="Picture 30" descr="macro-1-1-tiktok-underconsumptioncore-2.png">
            <a:hlinkClick r:id="rId5"/>
          </p:cNvPr>
          <p:cNvPicPr>
            <a:picLocks noChangeAspect="1"/>
          </p:cNvPicPr>
          <p:nvPr/>
        </p:nvPicPr>
        <p:blipFill>
          <a:blip r:embed="rId4"/>
          <a:stretch>
            <a:fillRect/>
          </a:stretch>
        </p:blipFill>
        <p:spPr>
          <a:xfrm>
            <a:off x="8128000" y="3022600"/>
            <a:ext cx="1117600" cy="1651000"/>
          </a:xfrm>
          <a:prstGeom prst="rect">
            <a:avLst/>
          </a:prstGeom>
        </p:spPr>
      </p:pic>
      <p:sp>
        <p:nvSpPr>
          <p:cNvPr id="32" name="Rounded Rectangle 31"/>
          <p:cNvSpPr/>
          <p:nvPr/>
        </p:nvSpPr>
        <p:spPr>
          <a:xfrm>
            <a:off x="8610600" y="4432300"/>
            <a:ext cx="584200" cy="190500"/>
          </a:xfrm>
          <a:prstGeom prst="round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lnSpc>
                <a:spcPct val="100000"/>
              </a:lnSpc>
            </a:pPr>
            <a:r>
              <a:rPr sz="700" b="1" i="0">
                <a:solidFill>
                  <a:srgbClr val="FFFFFF"/>
                </a:solidFill>
                <a:latin typeface="Poppins"/>
              </a:rPr>
              <a:t>CLICK ME ▸</a:t>
            </a:r>
          </a:p>
        </p:txBody>
      </p:sp>
      <p:sp>
        <p:nvSpPr>
          <p:cNvPr id="33" name="TextBox 32"/>
          <p:cNvSpPr txBox="1"/>
          <p:nvPr/>
        </p:nvSpPr>
        <p:spPr>
          <a:xfrm>
            <a:off x="9347200" y="3022600"/>
            <a:ext cx="2057400" cy="609600"/>
          </a:xfrm>
          <a:prstGeom prst="rect">
            <a:avLst/>
          </a:prstGeom>
          <a:noFill/>
        </p:spPr>
        <p:txBody>
          <a:bodyPr wrap="square"/>
          <a:lstStyle/>
          <a:p>
            <a:pPr algn="l">
              <a:lnSpc>
                <a:spcPct val="100000"/>
              </a:lnSpc>
            </a:pPr>
            <a:r>
              <a:rPr sz="1000" b="0" i="0">
                <a:solidFill>
                  <a:srgbClr val="FFFFFF"/>
                </a:solidFill>
                <a:latin typeface="Poppins"/>
              </a:rPr>
              <a:t>'Underconsumption is a CHOICE you make every day' — el no-comprar como performance intencional.</a:t>
            </a:r>
          </a:p>
        </p:txBody>
      </p:sp>
      <p:sp>
        <p:nvSpPr>
          <p:cNvPr id="34" name="TextBox 33"/>
          <p:cNvSpPr txBox="1"/>
          <p:nvPr/>
        </p:nvSpPr>
        <p:spPr>
          <a:xfrm>
            <a:off x="9347200" y="3759200"/>
            <a:ext cx="2057400" cy="152400"/>
          </a:xfrm>
          <a:prstGeom prst="rect">
            <a:avLst/>
          </a:prstGeom>
          <a:noFill/>
        </p:spPr>
        <p:txBody>
          <a:bodyPr wrap="square"/>
          <a:lstStyle/>
          <a:p>
            <a:pPr algn="l">
              <a:lnSpc>
                <a:spcPct val="100000"/>
              </a:lnSpc>
            </a:pPr>
            <a:r>
              <a:rPr sz="650" b="0" i="0">
                <a:solidFill>
                  <a:srgbClr val="666666"/>
                </a:solidFill>
                <a:latin typeface="Poppins"/>
              </a:rPr>
              <a:t>TIKTOK @BREAKYOURBUDGET · 2025</a:t>
            </a:r>
          </a:p>
        </p:txBody>
      </p:sp>
      <p:pic>
        <p:nvPicPr>
          <p:cNvPr id="35" name="Picture 34" descr="macro-1-1-girlsunited-labubu-nobuy.png">
            <a:hlinkClick r:id="rId7"/>
          </p:cNvPr>
          <p:cNvPicPr>
            <a:picLocks noChangeAspect="1"/>
          </p:cNvPicPr>
          <p:nvPr/>
        </p:nvPicPr>
        <p:blipFill>
          <a:blip r:embed="rId6"/>
          <a:stretch>
            <a:fillRect/>
          </a:stretch>
        </p:blipFill>
        <p:spPr>
          <a:xfrm>
            <a:off x="8128000" y="4978400"/>
            <a:ext cx="1117600" cy="1651000"/>
          </a:xfrm>
          <a:prstGeom prst="rect">
            <a:avLst/>
          </a:prstGeom>
        </p:spPr>
      </p:pic>
      <p:sp>
        <p:nvSpPr>
          <p:cNvPr id="36" name="Rounded Rectangle 35"/>
          <p:cNvSpPr/>
          <p:nvPr/>
        </p:nvSpPr>
        <p:spPr>
          <a:xfrm>
            <a:off x="8610600" y="6388100"/>
            <a:ext cx="584200" cy="190500"/>
          </a:xfrm>
          <a:prstGeom prst="round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lnSpc>
                <a:spcPct val="100000"/>
              </a:lnSpc>
            </a:pPr>
            <a:r>
              <a:rPr sz="700" b="1" i="0">
                <a:solidFill>
                  <a:srgbClr val="FFFFFF"/>
                </a:solidFill>
                <a:latin typeface="Poppins"/>
              </a:rPr>
              <a:t>CLICK ME ▸</a:t>
            </a:r>
          </a:p>
        </p:txBody>
      </p:sp>
      <p:sp>
        <p:nvSpPr>
          <p:cNvPr id="37" name="TextBox 36"/>
          <p:cNvSpPr txBox="1"/>
          <p:nvPr/>
        </p:nvSpPr>
        <p:spPr>
          <a:xfrm>
            <a:off x="9347200" y="4978400"/>
            <a:ext cx="2057400" cy="609600"/>
          </a:xfrm>
          <a:prstGeom prst="rect">
            <a:avLst/>
          </a:prstGeom>
          <a:noFill/>
        </p:spPr>
        <p:txBody>
          <a:bodyPr wrap="square"/>
          <a:lstStyle/>
          <a:p>
            <a:pPr algn="l">
              <a:lnSpc>
                <a:spcPct val="100000"/>
              </a:lnSpc>
            </a:pPr>
            <a:r>
              <a:rPr sz="1000" b="0" i="0">
                <a:solidFill>
                  <a:srgbClr val="FFFFFF"/>
                </a:solidFill>
                <a:latin typeface="Poppins"/>
              </a:rPr>
              <a:t>De Labubu al No-Buy: virales de consumo chocan con la realidad económica — el ciclo se acelera.</a:t>
            </a:r>
          </a:p>
        </p:txBody>
      </p:sp>
      <p:sp>
        <p:nvSpPr>
          <p:cNvPr id="38" name="TextBox 37"/>
          <p:cNvSpPr txBox="1"/>
          <p:nvPr/>
        </p:nvSpPr>
        <p:spPr>
          <a:xfrm>
            <a:off x="9347200" y="5715000"/>
            <a:ext cx="2057400" cy="152400"/>
          </a:xfrm>
          <a:prstGeom prst="rect">
            <a:avLst/>
          </a:prstGeom>
          <a:noFill/>
        </p:spPr>
        <p:txBody>
          <a:bodyPr wrap="square"/>
          <a:lstStyle/>
          <a:p>
            <a:pPr algn="l">
              <a:lnSpc>
                <a:spcPct val="100000"/>
              </a:lnSpc>
            </a:pPr>
            <a:r>
              <a:rPr sz="650" b="0" i="0">
                <a:solidFill>
                  <a:srgbClr val="666666"/>
                </a:solidFill>
                <a:latin typeface="Poppins"/>
              </a:rPr>
              <a:t>GIRLS UNITED / ESSENCE · 2025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4" name="TextBox 3"/>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5" name="TextBox 4"/>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6" name="Connector 5"/>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254000" y="10668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04800" y="1104900"/>
            <a:ext cx="660400" cy="228600"/>
          </a:xfrm>
          <a:prstGeom prst="rect">
            <a:avLst/>
          </a:prstGeom>
          <a:noFill/>
        </p:spPr>
        <p:txBody>
          <a:bodyPr wrap="square"/>
          <a:lstStyle/>
          <a:p>
            <a:pPr algn="l">
              <a:lnSpc>
                <a:spcPct val="100000"/>
              </a:lnSpc>
            </a:pPr>
            <a:r>
              <a:rPr sz="750" b="1" i="0">
                <a:solidFill>
                  <a:srgbClr val="000000"/>
                </a:solidFill>
                <a:latin typeface="Poppins"/>
              </a:rPr>
              <a:t>MACRO 1</a:t>
            </a:r>
          </a:p>
        </p:txBody>
      </p:sp>
      <p:sp>
        <p:nvSpPr>
          <p:cNvPr id="11" name="Rectangle 10"/>
          <p:cNvSpPr/>
          <p:nvPr/>
        </p:nvSpPr>
        <p:spPr>
          <a:xfrm>
            <a:off x="1041400" y="10668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2200" y="1104900"/>
            <a:ext cx="2717800" cy="228600"/>
          </a:xfrm>
          <a:prstGeom prst="rect">
            <a:avLst/>
          </a:prstGeom>
          <a:noFill/>
        </p:spPr>
        <p:txBody>
          <a:bodyPr wrap="square"/>
          <a:lstStyle/>
          <a:p>
            <a:pPr algn="l">
              <a:lnSpc>
                <a:spcPct val="100000"/>
              </a:lnSpc>
            </a:pPr>
            <a:r>
              <a:rPr sz="750" b="0" i="0">
                <a:solidFill>
                  <a:srgbClr val="A0A0A0"/>
                </a:solidFill>
                <a:latin typeface="Poppins"/>
              </a:rPr>
              <a:t>INVENTOLOGÍA DE LA ADULTEZ</a:t>
            </a:r>
          </a:p>
        </p:txBody>
      </p:sp>
      <p:sp>
        <p:nvSpPr>
          <p:cNvPr id="13" name="TextBox 12"/>
          <p:cNvSpPr txBox="1"/>
          <p:nvPr/>
        </p:nvSpPr>
        <p:spPr>
          <a:xfrm>
            <a:off x="254000" y="1473200"/>
            <a:ext cx="3683000" cy="2044700"/>
          </a:xfrm>
          <a:prstGeom prst="rect">
            <a:avLst/>
          </a:prstGeom>
          <a:noFill/>
        </p:spPr>
        <p:txBody>
          <a:bodyPr wrap="square"/>
          <a:lstStyle/>
          <a:p>
            <a:pPr algn="l">
              <a:lnSpc>
                <a:spcPct val="114000"/>
              </a:lnSpc>
            </a:pPr>
            <a:r>
              <a:rPr sz="2000" b="0" i="0">
                <a:solidFill>
                  <a:srgbClr val="FFFFFF"/>
                </a:solidFill>
                <a:latin typeface="Instrument Serif"/>
              </a:rPr>
              <a:t>EL DUPE SALIÓ DEL CLÓSET: COMPRAR LA VERSIÓN BARATA DEL LUJO DEJÓ DE DAR PENA Y PASÓ A PRESUMIRSE COMO INTELIGENCIA DE COMPRA.</a:t>
            </a:r>
          </a:p>
        </p:txBody>
      </p:sp>
      <p:sp>
        <p:nvSpPr>
          <p:cNvPr id="14" name="TextBox 13"/>
          <p:cNvSpPr txBox="1"/>
          <p:nvPr/>
        </p:nvSpPr>
        <p:spPr>
          <a:xfrm>
            <a:off x="254000" y="36957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3949700"/>
            <a:ext cx="3683000" cy="825500"/>
          </a:xfrm>
          <a:prstGeom prst="rect">
            <a:avLst/>
          </a:prstGeom>
          <a:noFill/>
        </p:spPr>
        <p:txBody>
          <a:bodyPr wrap="square"/>
          <a:lstStyle/>
          <a:p>
            <a:pPr algn="l">
              <a:lnSpc>
                <a:spcPct val="100000"/>
              </a:lnSpc>
            </a:pPr>
            <a:r>
              <a:rPr sz="1000" b="0" i="0">
                <a:solidFill>
                  <a:srgbClr val="FFFFFF"/>
                </a:solidFill>
                <a:latin typeface="Poppins"/>
              </a:rPr>
              <a:t>El dupe vivía escondido. Era el truco que no decías. Ahora es el contenido: 'dupe vs original', reseñas lado a lado, el ahorro presumido como logro. La marca cara ya no compite solo con otras marcas — compite con su propia copia, legitimada por el feed.</a:t>
            </a:r>
          </a:p>
        </p:txBody>
      </p:sp>
      <p:sp>
        <p:nvSpPr>
          <p:cNvPr id="16" name="TextBox 15"/>
          <p:cNvSpPr txBox="1"/>
          <p:nvPr/>
        </p:nvSpPr>
        <p:spPr>
          <a:xfrm>
            <a:off x="254000" y="49530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5207000"/>
            <a:ext cx="3683000" cy="508000"/>
          </a:xfrm>
          <a:prstGeom prst="rect">
            <a:avLst/>
          </a:prstGeom>
          <a:noFill/>
        </p:spPr>
        <p:txBody>
          <a:bodyPr wrap="square"/>
          <a:lstStyle/>
          <a:p>
            <a:pPr algn="l">
              <a:lnSpc>
                <a:spcPct val="100000"/>
              </a:lnSpc>
            </a:pPr>
            <a:r>
              <a:rPr sz="1600" b="0" i="0">
                <a:solidFill>
                  <a:srgbClr val="FFFFFF"/>
                </a:solidFill>
                <a:latin typeface="Instrument Serif"/>
              </a:rPr>
              <a:t>#dupe · #dupecheck · #lookforless · #amazonfinds · #dupes</a:t>
            </a:r>
          </a:p>
        </p:txBody>
      </p:sp>
      <p:sp>
        <p:nvSpPr>
          <p:cNvPr id="18" name="TextBox 17"/>
          <p:cNvSpPr txBox="1"/>
          <p:nvPr/>
        </p:nvSpPr>
        <p:spPr>
          <a:xfrm>
            <a:off x="4191000" y="1066800"/>
            <a:ext cx="2159000" cy="584200"/>
          </a:xfrm>
          <a:prstGeom prst="rect">
            <a:avLst/>
          </a:prstGeom>
          <a:noFill/>
        </p:spPr>
        <p:txBody>
          <a:bodyPr wrap="square"/>
          <a:lstStyle/>
          <a:p>
            <a:pPr algn="l">
              <a:lnSpc>
                <a:spcPct val="100000"/>
              </a:lnSpc>
            </a:pPr>
            <a:r>
              <a:rPr sz="4000" b="0" i="0">
                <a:solidFill>
                  <a:srgbClr val="FFFFFF"/>
                </a:solidFill>
                <a:latin typeface="Instrument Serif"/>
              </a:rPr>
              <a:t>6B</a:t>
            </a:r>
          </a:p>
        </p:txBody>
      </p:sp>
      <p:sp>
        <p:nvSpPr>
          <p:cNvPr id="19" name="TextBox 18"/>
          <p:cNvSpPr txBox="1"/>
          <p:nvPr/>
        </p:nvSpPr>
        <p:spPr>
          <a:xfrm>
            <a:off x="4191000" y="1803400"/>
            <a:ext cx="2159000" cy="476250"/>
          </a:xfrm>
          <a:prstGeom prst="rect">
            <a:avLst/>
          </a:prstGeom>
          <a:noFill/>
        </p:spPr>
        <p:txBody>
          <a:bodyPr wrap="square"/>
          <a:lstStyle/>
          <a:p>
            <a:pPr algn="l">
              <a:lnSpc>
                <a:spcPct val="100000"/>
              </a:lnSpc>
            </a:pPr>
            <a:r>
              <a:rPr sz="1000" b="0" i="0">
                <a:solidFill>
                  <a:srgbClr val="FFFFFF"/>
                </a:solidFill>
                <a:latin typeface="Poppins"/>
              </a:rPr>
              <a:t>Views de #dupe en TikTok; el hashtag convirtió la copia en categoría de contenido.</a:t>
            </a:r>
          </a:p>
        </p:txBody>
      </p:sp>
      <p:sp>
        <p:nvSpPr>
          <p:cNvPr id="20" name="TextBox 19"/>
          <p:cNvSpPr txBox="1"/>
          <p:nvPr/>
        </p:nvSpPr>
        <p:spPr>
          <a:xfrm>
            <a:off x="4191000" y="2432050"/>
            <a:ext cx="2159000" cy="152400"/>
          </a:xfrm>
          <a:prstGeom prst="rect">
            <a:avLst/>
          </a:prstGeom>
          <a:noFill/>
        </p:spPr>
        <p:txBody>
          <a:bodyPr wrap="square"/>
          <a:lstStyle/>
          <a:p>
            <a:pPr algn="l">
              <a:lnSpc>
                <a:spcPct val="100000"/>
              </a:lnSpc>
            </a:pPr>
            <a:r>
              <a:rPr sz="650" b="0" i="0">
                <a:solidFill>
                  <a:srgbClr val="666666"/>
                </a:solidFill>
                <a:latin typeface="Poppins"/>
              </a:rPr>
              <a:t>TIKTOK CREATIVE CENTER · 2025</a:t>
            </a:r>
          </a:p>
        </p:txBody>
      </p:sp>
      <p:sp>
        <p:nvSpPr>
          <p:cNvPr id="21" name="TextBox 20"/>
          <p:cNvSpPr txBox="1"/>
          <p:nvPr/>
        </p:nvSpPr>
        <p:spPr>
          <a:xfrm>
            <a:off x="4191000" y="2863850"/>
            <a:ext cx="2159000" cy="584200"/>
          </a:xfrm>
          <a:prstGeom prst="rect">
            <a:avLst/>
          </a:prstGeom>
          <a:noFill/>
        </p:spPr>
        <p:txBody>
          <a:bodyPr wrap="square"/>
          <a:lstStyle/>
          <a:p>
            <a:pPr algn="l">
              <a:lnSpc>
                <a:spcPct val="100000"/>
              </a:lnSpc>
            </a:pPr>
            <a:r>
              <a:rPr sz="4000" b="0" i="0">
                <a:solidFill>
                  <a:srgbClr val="FFFFFF"/>
                </a:solidFill>
                <a:latin typeface="Instrument Serif"/>
              </a:rPr>
              <a:t>70%</a:t>
            </a:r>
          </a:p>
        </p:txBody>
      </p:sp>
      <p:sp>
        <p:nvSpPr>
          <p:cNvPr id="22" name="TextBox 21"/>
          <p:cNvSpPr txBox="1"/>
          <p:nvPr/>
        </p:nvSpPr>
        <p:spPr>
          <a:xfrm>
            <a:off x="4191000" y="3600450"/>
            <a:ext cx="2159000" cy="476250"/>
          </a:xfrm>
          <a:prstGeom prst="rect">
            <a:avLst/>
          </a:prstGeom>
          <a:noFill/>
        </p:spPr>
        <p:txBody>
          <a:bodyPr wrap="square"/>
          <a:lstStyle/>
          <a:p>
            <a:pPr algn="l">
              <a:lnSpc>
                <a:spcPct val="100000"/>
              </a:lnSpc>
            </a:pPr>
            <a:r>
              <a:rPr sz="1000" b="0" i="0">
                <a:solidFill>
                  <a:srgbClr val="FFFFFF"/>
                </a:solidFill>
                <a:latin typeface="Poppins"/>
              </a:rPr>
              <a:t>De Gen Z dice haber comprado dupes 'ocasional o muy regularmente' el último año.</a:t>
            </a:r>
          </a:p>
        </p:txBody>
      </p:sp>
      <p:sp>
        <p:nvSpPr>
          <p:cNvPr id="23" name="TextBox 22"/>
          <p:cNvSpPr txBox="1"/>
          <p:nvPr/>
        </p:nvSpPr>
        <p:spPr>
          <a:xfrm>
            <a:off x="4191000" y="4229100"/>
            <a:ext cx="2159000" cy="152400"/>
          </a:xfrm>
          <a:prstGeom prst="rect">
            <a:avLst/>
          </a:prstGeom>
          <a:noFill/>
        </p:spPr>
        <p:txBody>
          <a:bodyPr wrap="square"/>
          <a:lstStyle/>
          <a:p>
            <a:pPr algn="l">
              <a:lnSpc>
                <a:spcPct val="100000"/>
              </a:lnSpc>
            </a:pPr>
            <a:r>
              <a:rPr sz="650" b="0" i="0">
                <a:solidFill>
                  <a:srgbClr val="666666"/>
                </a:solidFill>
                <a:latin typeface="Poppins"/>
              </a:rPr>
              <a:t>BUSINESS INSIDER / YOUGOV · 2025</a:t>
            </a:r>
          </a:p>
        </p:txBody>
      </p:sp>
      <p:sp>
        <p:nvSpPr>
          <p:cNvPr id="24" name="TextBox 23"/>
          <p:cNvSpPr txBox="1"/>
          <p:nvPr/>
        </p:nvSpPr>
        <p:spPr>
          <a:xfrm>
            <a:off x="4191000" y="4660900"/>
            <a:ext cx="2159000" cy="584200"/>
          </a:xfrm>
          <a:prstGeom prst="rect">
            <a:avLst/>
          </a:prstGeom>
          <a:noFill/>
        </p:spPr>
        <p:txBody>
          <a:bodyPr wrap="square"/>
          <a:lstStyle/>
          <a:p>
            <a:pPr algn="l">
              <a:lnSpc>
                <a:spcPct val="100000"/>
              </a:lnSpc>
            </a:pPr>
            <a:r>
              <a:rPr sz="4000" b="0" i="0">
                <a:solidFill>
                  <a:srgbClr val="FFFFFF"/>
                </a:solidFill>
                <a:latin typeface="Instrument Serif"/>
              </a:rPr>
              <a:t>Shift</a:t>
            </a:r>
          </a:p>
        </p:txBody>
      </p:sp>
      <p:sp>
        <p:nvSpPr>
          <p:cNvPr id="25" name="TextBox 24"/>
          <p:cNvSpPr txBox="1"/>
          <p:nvPr/>
        </p:nvSpPr>
        <p:spPr>
          <a:xfrm>
            <a:off x="4191000" y="5397500"/>
            <a:ext cx="2159000" cy="476250"/>
          </a:xfrm>
          <a:prstGeom prst="rect">
            <a:avLst/>
          </a:prstGeom>
          <a:noFill/>
        </p:spPr>
        <p:txBody>
          <a:bodyPr wrap="square"/>
          <a:lstStyle/>
          <a:p>
            <a:pPr algn="l">
              <a:lnSpc>
                <a:spcPct val="100000"/>
              </a:lnSpc>
            </a:pPr>
            <a:r>
              <a:rPr sz="1000" b="0" i="0">
                <a:solidFill>
                  <a:srgbClr val="FFFFFF"/>
                </a:solidFill>
                <a:latin typeface="Poppins"/>
              </a:rPr>
              <a:t>Dupe culture como 'aspirational shift' de Gen Z: el estatus pasa del logo a la astucia.</a:t>
            </a:r>
          </a:p>
        </p:txBody>
      </p:sp>
      <p:sp>
        <p:nvSpPr>
          <p:cNvPr id="26" name="TextBox 25"/>
          <p:cNvSpPr txBox="1"/>
          <p:nvPr/>
        </p:nvSpPr>
        <p:spPr>
          <a:xfrm>
            <a:off x="4191000" y="6026150"/>
            <a:ext cx="2159000" cy="152400"/>
          </a:xfrm>
          <a:prstGeom prst="rect">
            <a:avLst/>
          </a:prstGeom>
          <a:noFill/>
        </p:spPr>
        <p:txBody>
          <a:bodyPr wrap="square"/>
          <a:lstStyle/>
          <a:p>
            <a:pPr algn="l">
              <a:lnSpc>
                <a:spcPct val="100000"/>
              </a:lnSpc>
            </a:pPr>
            <a:r>
              <a:rPr sz="650" b="0" i="0">
                <a:solidFill>
                  <a:srgbClr val="666666"/>
                </a:solidFill>
                <a:latin typeface="Poppins"/>
              </a:rPr>
              <a:t>LUXURY TRIBUNE · 2025</a:t>
            </a:r>
          </a:p>
        </p:txBody>
      </p:sp>
      <p:pic>
        <p:nvPicPr>
          <p:cNvPr id="27" name="Picture 26" descr="macro-1-2-tiktok-dupe-7546363805240921399.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ounded Rectangle 27"/>
          <p:cNvSpPr/>
          <p:nvPr/>
        </p:nvSpPr>
        <p:spPr>
          <a:xfrm>
            <a:off x="8610600" y="2476500"/>
            <a:ext cx="584200" cy="190500"/>
          </a:xfrm>
          <a:prstGeom prst="round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lnSpc>
                <a:spcPct val="100000"/>
              </a:lnSpc>
            </a:pPr>
            <a:r>
              <a:rPr sz="700" b="1" i="0">
                <a:solidFill>
                  <a:srgbClr val="FFFFFF"/>
                </a:solidFill>
                <a:latin typeface="Poppins"/>
              </a:rPr>
              <a:t>CLICK ME ▸</a:t>
            </a:r>
          </a:p>
        </p:txBody>
      </p:sp>
      <p:sp>
        <p:nvSpPr>
          <p:cNvPr id="29" name="TextBox 28"/>
          <p:cNvSpPr txBox="1"/>
          <p:nvPr/>
        </p:nvSpPr>
        <p:spPr>
          <a:xfrm>
            <a:off x="9347200" y="1066800"/>
            <a:ext cx="2057400" cy="609600"/>
          </a:xfrm>
          <a:prstGeom prst="rect">
            <a:avLst/>
          </a:prstGeom>
          <a:noFill/>
        </p:spPr>
        <p:txBody>
          <a:bodyPr wrap="square"/>
          <a:lstStyle/>
          <a:p>
            <a:pPr algn="l">
              <a:lnSpc>
                <a:spcPct val="100000"/>
              </a:lnSpc>
            </a:pPr>
            <a:r>
              <a:rPr sz="1000" b="0" i="0">
                <a:solidFill>
                  <a:srgbClr val="FFFFFF"/>
                </a:solidFill>
                <a:latin typeface="Poppins"/>
              </a:rPr>
              <a:t>'Viral perfumes — Dupe VS Original' — reseña lado a lado de alternativas masivas vs. lujo.</a:t>
            </a:r>
          </a:p>
        </p:txBody>
      </p:sp>
      <p:sp>
        <p:nvSpPr>
          <p:cNvPr id="30" name="TextBox 29"/>
          <p:cNvSpPr txBox="1"/>
          <p:nvPr/>
        </p:nvSpPr>
        <p:spPr>
          <a:xfrm>
            <a:off x="9347200" y="1803400"/>
            <a:ext cx="2057400" cy="152400"/>
          </a:xfrm>
          <a:prstGeom prst="rect">
            <a:avLst/>
          </a:prstGeom>
          <a:noFill/>
        </p:spPr>
        <p:txBody>
          <a:bodyPr wrap="square"/>
          <a:lstStyle/>
          <a:p>
            <a:pPr algn="l">
              <a:lnSpc>
                <a:spcPct val="100000"/>
              </a:lnSpc>
            </a:pPr>
            <a:r>
              <a:rPr sz="650" b="0" i="0">
                <a:solidFill>
                  <a:srgbClr val="666666"/>
                </a:solidFill>
                <a:latin typeface="Poppins"/>
              </a:rPr>
              <a:t>TIKTOK @PERFUMESIREN · 2025</a:t>
            </a:r>
          </a:p>
        </p:txBody>
      </p:sp>
      <p:pic>
        <p:nvPicPr>
          <p:cNvPr id="31" name="Picture 30" descr="macro-1-2-tiktok-dupe-7526268718016400671.png">
            <a:hlinkClick r:id="rId5"/>
          </p:cNvPr>
          <p:cNvPicPr>
            <a:picLocks noChangeAspect="1"/>
          </p:cNvPicPr>
          <p:nvPr/>
        </p:nvPicPr>
        <p:blipFill>
          <a:blip r:embed="rId4"/>
          <a:stretch>
            <a:fillRect/>
          </a:stretch>
        </p:blipFill>
        <p:spPr>
          <a:xfrm>
            <a:off x="8128000" y="3022600"/>
            <a:ext cx="1117600" cy="1651000"/>
          </a:xfrm>
          <a:prstGeom prst="rect">
            <a:avLst/>
          </a:prstGeom>
        </p:spPr>
      </p:pic>
      <p:sp>
        <p:nvSpPr>
          <p:cNvPr id="32" name="Rounded Rectangle 31"/>
          <p:cNvSpPr/>
          <p:nvPr/>
        </p:nvSpPr>
        <p:spPr>
          <a:xfrm>
            <a:off x="8610600" y="4432300"/>
            <a:ext cx="584200" cy="190500"/>
          </a:xfrm>
          <a:prstGeom prst="round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lnSpc>
                <a:spcPct val="100000"/>
              </a:lnSpc>
            </a:pPr>
            <a:r>
              <a:rPr sz="700" b="1" i="0">
                <a:solidFill>
                  <a:srgbClr val="FFFFFF"/>
                </a:solidFill>
                <a:latin typeface="Poppins"/>
              </a:rPr>
              <a:t>CLICK ME ▸</a:t>
            </a:r>
          </a:p>
        </p:txBody>
      </p:sp>
      <p:sp>
        <p:nvSpPr>
          <p:cNvPr id="33" name="TextBox 32"/>
          <p:cNvSpPr txBox="1"/>
          <p:nvPr/>
        </p:nvSpPr>
        <p:spPr>
          <a:xfrm>
            <a:off x="9347200" y="3022600"/>
            <a:ext cx="2057400" cy="609600"/>
          </a:xfrm>
          <a:prstGeom prst="rect">
            <a:avLst/>
          </a:prstGeom>
          <a:noFill/>
        </p:spPr>
        <p:txBody>
          <a:bodyPr wrap="square"/>
          <a:lstStyle/>
          <a:p>
            <a:pPr algn="l">
              <a:lnSpc>
                <a:spcPct val="100000"/>
              </a:lnSpc>
            </a:pPr>
            <a:r>
              <a:rPr sz="1000" b="0" i="0">
                <a:solidFill>
                  <a:srgbClr val="FFFFFF"/>
                </a:solidFill>
                <a:latin typeface="Poppins"/>
              </a:rPr>
              <a:t>Top 5 drugstore dupes de maquillaje high-end — la astucia del consumidor como contenido.</a:t>
            </a:r>
          </a:p>
        </p:txBody>
      </p:sp>
      <p:sp>
        <p:nvSpPr>
          <p:cNvPr id="34" name="TextBox 33"/>
          <p:cNvSpPr txBox="1"/>
          <p:nvPr/>
        </p:nvSpPr>
        <p:spPr>
          <a:xfrm>
            <a:off x="9347200" y="3759200"/>
            <a:ext cx="2057400" cy="152400"/>
          </a:xfrm>
          <a:prstGeom prst="rect">
            <a:avLst/>
          </a:prstGeom>
          <a:noFill/>
        </p:spPr>
        <p:txBody>
          <a:bodyPr wrap="square"/>
          <a:lstStyle/>
          <a:p>
            <a:pPr algn="l">
              <a:lnSpc>
                <a:spcPct val="100000"/>
              </a:lnSpc>
            </a:pPr>
            <a:r>
              <a:rPr sz="650" b="0" i="0">
                <a:solidFill>
                  <a:srgbClr val="666666"/>
                </a:solidFill>
                <a:latin typeface="Poppins"/>
              </a:rPr>
              <a:t>TIKTOK @MANNYMUA733 · 2025</a:t>
            </a:r>
          </a:p>
        </p:txBody>
      </p:sp>
      <p:pic>
        <p:nvPicPr>
          <p:cNvPr id="35" name="Picture 34" descr="macro-1-2-tiktok-dupe-mikayla-mco.png">
            <a:hlinkClick r:id="rId7"/>
          </p:cNvPr>
          <p:cNvPicPr>
            <a:picLocks noChangeAspect="1"/>
          </p:cNvPicPr>
          <p:nvPr/>
        </p:nvPicPr>
        <p:blipFill>
          <a:blip r:embed="rId6"/>
          <a:stretch>
            <a:fillRect/>
          </a:stretch>
        </p:blipFill>
        <p:spPr>
          <a:xfrm>
            <a:off x="8128000" y="4978400"/>
            <a:ext cx="1117600" cy="1651000"/>
          </a:xfrm>
          <a:prstGeom prst="rect">
            <a:avLst/>
          </a:prstGeom>
        </p:spPr>
      </p:pic>
      <p:sp>
        <p:nvSpPr>
          <p:cNvPr id="36" name="Rounded Rectangle 35"/>
          <p:cNvSpPr/>
          <p:nvPr/>
        </p:nvSpPr>
        <p:spPr>
          <a:xfrm>
            <a:off x="8610600" y="6388100"/>
            <a:ext cx="584200" cy="190500"/>
          </a:xfrm>
          <a:prstGeom prst="round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lnSpc>
                <a:spcPct val="100000"/>
              </a:lnSpc>
            </a:pPr>
            <a:r>
              <a:rPr sz="700" b="1" i="0">
                <a:solidFill>
                  <a:srgbClr val="FFFFFF"/>
                </a:solidFill>
                <a:latin typeface="Poppins"/>
              </a:rPr>
              <a:t>CLICK ME ▸</a:t>
            </a:r>
          </a:p>
        </p:txBody>
      </p:sp>
      <p:sp>
        <p:nvSpPr>
          <p:cNvPr id="37" name="TextBox 36"/>
          <p:cNvSpPr txBox="1"/>
          <p:nvPr/>
        </p:nvSpPr>
        <p:spPr>
          <a:xfrm>
            <a:off x="9347200" y="4978400"/>
            <a:ext cx="2057400" cy="609600"/>
          </a:xfrm>
          <a:prstGeom prst="rect">
            <a:avLst/>
          </a:prstGeom>
          <a:noFill/>
        </p:spPr>
        <p:txBody>
          <a:bodyPr wrap="square"/>
          <a:lstStyle/>
          <a:p>
            <a:pPr algn="l">
              <a:lnSpc>
                <a:spcPct val="100000"/>
              </a:lnSpc>
            </a:pPr>
            <a:r>
              <a:rPr sz="1000" b="0" i="0">
                <a:solidFill>
                  <a:srgbClr val="FFFFFF"/>
                </a:solidFill>
                <a:latin typeface="Poppins"/>
              </a:rPr>
              <a:t>'MCO Beauty vs. Original Products' — el dupe legitimado por una mega-creadora de belleza.</a:t>
            </a:r>
          </a:p>
        </p:txBody>
      </p:sp>
      <p:sp>
        <p:nvSpPr>
          <p:cNvPr id="38" name="TextBox 37"/>
          <p:cNvSpPr txBox="1"/>
          <p:nvPr/>
        </p:nvSpPr>
        <p:spPr>
          <a:xfrm>
            <a:off x="9347200" y="5715000"/>
            <a:ext cx="2057400" cy="152400"/>
          </a:xfrm>
          <a:prstGeom prst="rect">
            <a:avLst/>
          </a:prstGeom>
          <a:noFill/>
        </p:spPr>
        <p:txBody>
          <a:bodyPr wrap="square"/>
          <a:lstStyle/>
          <a:p>
            <a:pPr algn="l">
              <a:lnSpc>
                <a:spcPct val="100000"/>
              </a:lnSpc>
            </a:pPr>
            <a:r>
              <a:rPr sz="650" b="0" i="0">
                <a:solidFill>
                  <a:srgbClr val="666666"/>
                </a:solidFill>
                <a:latin typeface="Poppins"/>
              </a:rPr>
              <a:t>TIKTOK @MIKAYLANOGUEIRA · 2025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4" name="TextBox 3"/>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5" name="TextBox 4"/>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6" name="Connector 5"/>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254000" y="10668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04800" y="1104900"/>
            <a:ext cx="660400" cy="228600"/>
          </a:xfrm>
          <a:prstGeom prst="rect">
            <a:avLst/>
          </a:prstGeom>
          <a:noFill/>
        </p:spPr>
        <p:txBody>
          <a:bodyPr wrap="square"/>
          <a:lstStyle/>
          <a:p>
            <a:pPr algn="l">
              <a:lnSpc>
                <a:spcPct val="100000"/>
              </a:lnSpc>
            </a:pPr>
            <a:r>
              <a:rPr sz="750" b="1" i="0">
                <a:solidFill>
                  <a:srgbClr val="000000"/>
                </a:solidFill>
                <a:latin typeface="Poppins"/>
              </a:rPr>
              <a:t>MACRO 1</a:t>
            </a:r>
          </a:p>
        </p:txBody>
      </p:sp>
      <p:sp>
        <p:nvSpPr>
          <p:cNvPr id="11" name="Rectangle 10"/>
          <p:cNvSpPr/>
          <p:nvPr/>
        </p:nvSpPr>
        <p:spPr>
          <a:xfrm>
            <a:off x="1041400" y="10668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2200" y="1104900"/>
            <a:ext cx="2717800" cy="228600"/>
          </a:xfrm>
          <a:prstGeom prst="rect">
            <a:avLst/>
          </a:prstGeom>
          <a:noFill/>
        </p:spPr>
        <p:txBody>
          <a:bodyPr wrap="square"/>
          <a:lstStyle/>
          <a:p>
            <a:pPr algn="l">
              <a:lnSpc>
                <a:spcPct val="100000"/>
              </a:lnSpc>
            </a:pPr>
            <a:r>
              <a:rPr sz="750" b="0" i="0">
                <a:solidFill>
                  <a:srgbClr val="A0A0A0"/>
                </a:solidFill>
                <a:latin typeface="Poppins"/>
              </a:rPr>
              <a:t>INVENTOLOGÍA DE LA ADULTEZ</a:t>
            </a:r>
          </a:p>
        </p:txBody>
      </p:sp>
      <p:sp>
        <p:nvSpPr>
          <p:cNvPr id="13" name="TextBox 12"/>
          <p:cNvSpPr txBox="1"/>
          <p:nvPr/>
        </p:nvSpPr>
        <p:spPr>
          <a:xfrm>
            <a:off x="254000" y="1473200"/>
            <a:ext cx="3683000" cy="2336800"/>
          </a:xfrm>
          <a:prstGeom prst="rect">
            <a:avLst/>
          </a:prstGeom>
          <a:noFill/>
        </p:spPr>
        <p:txBody>
          <a:bodyPr wrap="square"/>
          <a:lstStyle/>
          <a:p>
            <a:pPr algn="l">
              <a:lnSpc>
                <a:spcPct val="114000"/>
              </a:lnSpc>
            </a:pPr>
            <a:r>
              <a:rPr sz="2000" b="0" i="0">
                <a:solidFill>
                  <a:srgbClr val="FFFFFF"/>
                </a:solidFill>
                <a:latin typeface="Instrument Serif"/>
              </a:rPr>
              <a:t>LO USADO DEJÓ DE SER COSA DE POBRE: EN LATAM LA REVENTA PASÓ DE NECESIDAD A ELECCIÓN DE CRITERIO, Y EL PREOWNED SE VOLVIÓ CANAL ASPIRACIONAL.</a:t>
            </a:r>
          </a:p>
        </p:txBody>
      </p:sp>
      <p:sp>
        <p:nvSpPr>
          <p:cNvPr id="14" name="TextBox 13"/>
          <p:cNvSpPr txBox="1"/>
          <p:nvPr/>
        </p:nvSpPr>
        <p:spPr>
          <a:xfrm>
            <a:off x="254000" y="39878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4241800"/>
            <a:ext cx="3683000" cy="825500"/>
          </a:xfrm>
          <a:prstGeom prst="rect">
            <a:avLst/>
          </a:prstGeom>
          <a:noFill/>
        </p:spPr>
        <p:txBody>
          <a:bodyPr wrap="square"/>
          <a:lstStyle/>
          <a:p>
            <a:pPr algn="l">
              <a:lnSpc>
                <a:spcPct val="100000"/>
              </a:lnSpc>
            </a:pPr>
            <a:r>
              <a:rPr sz="1000" b="0" i="0">
                <a:solidFill>
                  <a:srgbClr val="FFFFFF"/>
                </a:solidFill>
                <a:latin typeface="Poppins"/>
              </a:rPr>
              <a:t>Comprar usado cargaba un estigma de clase. Eso se está cayendo en LATAM. El thrift haul es contenido, vender lo propio para financiar lo nuevo es práctica normal, y comprar lujo autenticado de segunda mano se lee como gusto, no como falta de plata.</a:t>
            </a:r>
          </a:p>
        </p:txBody>
      </p:sp>
      <p:sp>
        <p:nvSpPr>
          <p:cNvPr id="16" name="TextBox 15"/>
          <p:cNvSpPr txBox="1"/>
          <p:nvPr/>
        </p:nvSpPr>
        <p:spPr>
          <a:xfrm>
            <a:off x="254000" y="52451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5499100"/>
            <a:ext cx="3683000" cy="508000"/>
          </a:xfrm>
          <a:prstGeom prst="rect">
            <a:avLst/>
          </a:prstGeom>
          <a:noFill/>
        </p:spPr>
        <p:txBody>
          <a:bodyPr wrap="square"/>
          <a:lstStyle/>
          <a:p>
            <a:pPr algn="l">
              <a:lnSpc>
                <a:spcPct val="100000"/>
              </a:lnSpc>
            </a:pPr>
            <a:r>
              <a:rPr sz="1600" b="0" i="0">
                <a:solidFill>
                  <a:srgbClr val="FFFFFF"/>
                </a:solidFill>
                <a:latin typeface="Instrument Serif"/>
              </a:rPr>
              <a:t>#thrifthaul · #segundamano · #preloved · #reventa · #thriftflip</a:t>
            </a:r>
          </a:p>
        </p:txBody>
      </p:sp>
      <p:sp>
        <p:nvSpPr>
          <p:cNvPr id="18" name="TextBox 17"/>
          <p:cNvSpPr txBox="1"/>
          <p:nvPr/>
        </p:nvSpPr>
        <p:spPr>
          <a:xfrm>
            <a:off x="4191000" y="1066800"/>
            <a:ext cx="2159000" cy="584200"/>
          </a:xfrm>
          <a:prstGeom prst="rect">
            <a:avLst/>
          </a:prstGeom>
          <a:noFill/>
        </p:spPr>
        <p:txBody>
          <a:bodyPr wrap="square"/>
          <a:lstStyle/>
          <a:p>
            <a:pPr algn="l">
              <a:lnSpc>
                <a:spcPct val="100000"/>
              </a:lnSpc>
            </a:pPr>
            <a:r>
              <a:rPr sz="4000" b="0" i="0">
                <a:solidFill>
                  <a:srgbClr val="FFFFFF"/>
                </a:solidFill>
                <a:latin typeface="Instrument Serif"/>
              </a:rPr>
              <a:t>US$17.9B</a:t>
            </a:r>
          </a:p>
        </p:txBody>
      </p:sp>
      <p:sp>
        <p:nvSpPr>
          <p:cNvPr id="19" name="TextBox 18"/>
          <p:cNvSpPr txBox="1"/>
          <p:nvPr/>
        </p:nvSpPr>
        <p:spPr>
          <a:xfrm>
            <a:off x="4191000" y="1803400"/>
            <a:ext cx="2159000" cy="476250"/>
          </a:xfrm>
          <a:prstGeom prst="rect">
            <a:avLst/>
          </a:prstGeom>
          <a:noFill/>
        </p:spPr>
        <p:txBody>
          <a:bodyPr wrap="square"/>
          <a:lstStyle/>
          <a:p>
            <a:pPr algn="l">
              <a:lnSpc>
                <a:spcPct val="100000"/>
              </a:lnSpc>
            </a:pPr>
            <a:r>
              <a:rPr sz="1000" b="0" i="0">
                <a:solidFill>
                  <a:srgbClr val="FFFFFF"/>
                </a:solidFill>
                <a:latin typeface="Poppins"/>
              </a:rPr>
              <a:t>Ropa segunda mano LATAM para 2031 vs US$5.2B en 2025, CAGR 22.8%.</a:t>
            </a:r>
          </a:p>
        </p:txBody>
      </p:sp>
      <p:sp>
        <p:nvSpPr>
          <p:cNvPr id="20" name="TextBox 19"/>
          <p:cNvSpPr txBox="1"/>
          <p:nvPr/>
        </p:nvSpPr>
        <p:spPr>
          <a:xfrm>
            <a:off x="4191000" y="2432050"/>
            <a:ext cx="2159000" cy="152400"/>
          </a:xfrm>
          <a:prstGeom prst="rect">
            <a:avLst/>
          </a:prstGeom>
          <a:noFill/>
        </p:spPr>
        <p:txBody>
          <a:bodyPr wrap="square"/>
          <a:lstStyle/>
          <a:p>
            <a:pPr algn="l">
              <a:lnSpc>
                <a:spcPct val="100000"/>
              </a:lnSpc>
            </a:pPr>
            <a:r>
              <a:rPr sz="650" b="0" i="0">
                <a:solidFill>
                  <a:srgbClr val="666666"/>
                </a:solidFill>
                <a:latin typeface="Poppins"/>
              </a:rPr>
              <a:t>6WRESEARCH / MOBILITY FORESIGHTS · 2025</a:t>
            </a:r>
          </a:p>
        </p:txBody>
      </p:sp>
      <p:sp>
        <p:nvSpPr>
          <p:cNvPr id="21" name="TextBox 20"/>
          <p:cNvSpPr txBox="1"/>
          <p:nvPr/>
        </p:nvSpPr>
        <p:spPr>
          <a:xfrm>
            <a:off x="4191000" y="2863850"/>
            <a:ext cx="2159000" cy="584200"/>
          </a:xfrm>
          <a:prstGeom prst="rect">
            <a:avLst/>
          </a:prstGeom>
          <a:noFill/>
        </p:spPr>
        <p:txBody>
          <a:bodyPr wrap="square"/>
          <a:lstStyle/>
          <a:p>
            <a:pPr algn="l">
              <a:lnSpc>
                <a:spcPct val="100000"/>
              </a:lnSpc>
            </a:pPr>
            <a:r>
              <a:rPr sz="4000" b="0" i="0">
                <a:solidFill>
                  <a:srgbClr val="FFFFFF"/>
                </a:solidFill>
                <a:latin typeface="Instrument Serif"/>
              </a:rPr>
              <a:t>83%</a:t>
            </a:r>
          </a:p>
        </p:txBody>
      </p:sp>
      <p:sp>
        <p:nvSpPr>
          <p:cNvPr id="22" name="TextBox 21"/>
          <p:cNvSpPr txBox="1"/>
          <p:nvPr/>
        </p:nvSpPr>
        <p:spPr>
          <a:xfrm>
            <a:off x="4191000" y="3600450"/>
            <a:ext cx="2159000" cy="476250"/>
          </a:xfrm>
          <a:prstGeom prst="rect">
            <a:avLst/>
          </a:prstGeom>
          <a:noFill/>
        </p:spPr>
        <p:txBody>
          <a:bodyPr wrap="square"/>
          <a:lstStyle/>
          <a:p>
            <a:pPr algn="l">
              <a:lnSpc>
                <a:spcPct val="100000"/>
              </a:lnSpc>
            </a:pPr>
            <a:r>
              <a:rPr sz="1000" b="0" i="0">
                <a:solidFill>
                  <a:srgbClr val="FFFFFF"/>
                </a:solidFill>
                <a:latin typeface="Poppins"/>
              </a:rPr>
              <a:t>De Gen Z global compró o quiere comprar usado — 10.7 pts sobre el promedio general.</a:t>
            </a:r>
          </a:p>
        </p:txBody>
      </p:sp>
      <p:sp>
        <p:nvSpPr>
          <p:cNvPr id="23" name="TextBox 22"/>
          <p:cNvSpPr txBox="1"/>
          <p:nvPr/>
        </p:nvSpPr>
        <p:spPr>
          <a:xfrm>
            <a:off x="4191000" y="4229100"/>
            <a:ext cx="2159000" cy="152400"/>
          </a:xfrm>
          <a:prstGeom prst="rect">
            <a:avLst/>
          </a:prstGeom>
          <a:noFill/>
        </p:spPr>
        <p:txBody>
          <a:bodyPr wrap="square"/>
          <a:lstStyle/>
          <a:p>
            <a:pPr algn="l">
              <a:lnSpc>
                <a:spcPct val="100000"/>
              </a:lnSpc>
            </a:pPr>
            <a:r>
              <a:rPr sz="650" b="0" i="0">
                <a:solidFill>
                  <a:srgbClr val="666666"/>
                </a:solidFill>
                <a:latin typeface="Poppins"/>
              </a:rPr>
              <a:t>COGNITIVE MARKET RESEARCH · 2025</a:t>
            </a:r>
          </a:p>
        </p:txBody>
      </p:sp>
      <p:sp>
        <p:nvSpPr>
          <p:cNvPr id="24" name="TextBox 23"/>
          <p:cNvSpPr txBox="1"/>
          <p:nvPr/>
        </p:nvSpPr>
        <p:spPr>
          <a:xfrm>
            <a:off x="4191000" y="4660900"/>
            <a:ext cx="2159000" cy="584200"/>
          </a:xfrm>
          <a:prstGeom prst="rect">
            <a:avLst/>
          </a:prstGeom>
          <a:noFill/>
        </p:spPr>
        <p:txBody>
          <a:bodyPr wrap="square"/>
          <a:lstStyle/>
          <a:p>
            <a:pPr algn="l">
              <a:lnSpc>
                <a:spcPct val="100000"/>
              </a:lnSpc>
            </a:pPr>
            <a:r>
              <a:rPr sz="4000" b="0" i="0">
                <a:solidFill>
                  <a:srgbClr val="FFFFFF"/>
                </a:solidFill>
                <a:latin typeface="Instrument Serif"/>
              </a:rPr>
              <a:t>LATAM</a:t>
            </a:r>
          </a:p>
        </p:txBody>
      </p:sp>
      <p:sp>
        <p:nvSpPr>
          <p:cNvPr id="25" name="TextBox 24"/>
          <p:cNvSpPr txBox="1"/>
          <p:nvPr/>
        </p:nvSpPr>
        <p:spPr>
          <a:xfrm>
            <a:off x="4191000" y="5397500"/>
            <a:ext cx="2159000" cy="476250"/>
          </a:xfrm>
          <a:prstGeom prst="rect">
            <a:avLst/>
          </a:prstGeom>
          <a:noFill/>
        </p:spPr>
        <p:txBody>
          <a:bodyPr wrap="square"/>
          <a:lstStyle/>
          <a:p>
            <a:pPr algn="l">
              <a:lnSpc>
                <a:spcPct val="100000"/>
              </a:lnSpc>
            </a:pPr>
            <a:r>
              <a:rPr sz="1000" b="0" i="0">
                <a:solidFill>
                  <a:srgbClr val="FFFFFF"/>
                </a:solidFill>
                <a:latin typeface="Poppins"/>
              </a:rPr>
              <a:t>Outlook reventa LATAM 2026: economía empuja el usado a opción mainstream.</a:t>
            </a:r>
          </a:p>
        </p:txBody>
      </p:sp>
      <p:sp>
        <p:nvSpPr>
          <p:cNvPr id="26" name="TextBox 25"/>
          <p:cNvSpPr txBox="1"/>
          <p:nvPr/>
        </p:nvSpPr>
        <p:spPr>
          <a:xfrm>
            <a:off x="4191000" y="6026150"/>
            <a:ext cx="2159000" cy="152400"/>
          </a:xfrm>
          <a:prstGeom prst="rect">
            <a:avLst/>
          </a:prstGeom>
          <a:noFill/>
        </p:spPr>
        <p:txBody>
          <a:bodyPr wrap="square"/>
          <a:lstStyle/>
          <a:p>
            <a:pPr algn="l">
              <a:lnSpc>
                <a:spcPct val="100000"/>
              </a:lnSpc>
            </a:pPr>
            <a:r>
              <a:rPr sz="650" b="0" i="0">
                <a:solidFill>
                  <a:srgbClr val="666666"/>
                </a:solidFill>
                <a:latin typeface="Poppins"/>
              </a:rPr>
              <a:t>BANKVOGUE · 2026</a:t>
            </a:r>
          </a:p>
        </p:txBody>
      </p:sp>
      <p:pic>
        <p:nvPicPr>
          <p:cNvPr id="27" name="Picture 26" descr="macro-1-3-tiktok-thrifthaul-7546587734941404471.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ounded Rectangle 27"/>
          <p:cNvSpPr/>
          <p:nvPr/>
        </p:nvSpPr>
        <p:spPr>
          <a:xfrm>
            <a:off x="8610600" y="2476500"/>
            <a:ext cx="584200" cy="190500"/>
          </a:xfrm>
          <a:prstGeom prst="round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lnSpc>
                <a:spcPct val="100000"/>
              </a:lnSpc>
            </a:pPr>
            <a:r>
              <a:rPr sz="700" b="1" i="0">
                <a:solidFill>
                  <a:srgbClr val="FFFFFF"/>
                </a:solidFill>
                <a:latin typeface="Poppins"/>
              </a:rPr>
              <a:t>CLICK ME ▸</a:t>
            </a:r>
          </a:p>
        </p:txBody>
      </p:sp>
      <p:sp>
        <p:nvSpPr>
          <p:cNvPr id="29" name="TextBox 28"/>
          <p:cNvSpPr txBox="1"/>
          <p:nvPr/>
        </p:nvSpPr>
        <p:spPr>
          <a:xfrm>
            <a:off x="9347200" y="1066800"/>
            <a:ext cx="2057400" cy="457200"/>
          </a:xfrm>
          <a:prstGeom prst="rect">
            <a:avLst/>
          </a:prstGeom>
          <a:noFill/>
        </p:spPr>
        <p:txBody>
          <a:bodyPr wrap="square"/>
          <a:lstStyle/>
          <a:p>
            <a:pPr algn="l">
              <a:lnSpc>
                <a:spcPct val="100000"/>
              </a:lnSpc>
            </a:pPr>
            <a:r>
              <a:rPr sz="1000" b="0" i="0">
                <a:solidFill>
                  <a:srgbClr val="FFFFFF"/>
                </a:solidFill>
                <a:latin typeface="Poppins"/>
              </a:rPr>
              <a:t>Thrift haul de la semana — botín visual de reventa aspiracional en LATAM.</a:t>
            </a:r>
          </a:p>
        </p:txBody>
      </p:sp>
      <p:sp>
        <p:nvSpPr>
          <p:cNvPr id="30" name="TextBox 29"/>
          <p:cNvSpPr txBox="1"/>
          <p:nvPr/>
        </p:nvSpPr>
        <p:spPr>
          <a:xfrm>
            <a:off x="9347200" y="1651000"/>
            <a:ext cx="2057400" cy="152400"/>
          </a:xfrm>
          <a:prstGeom prst="rect">
            <a:avLst/>
          </a:prstGeom>
          <a:noFill/>
        </p:spPr>
        <p:txBody>
          <a:bodyPr wrap="square"/>
          <a:lstStyle/>
          <a:p>
            <a:pPr algn="l">
              <a:lnSpc>
                <a:spcPct val="100000"/>
              </a:lnSpc>
            </a:pPr>
            <a:r>
              <a:rPr sz="650" b="0" i="0">
                <a:solidFill>
                  <a:srgbClr val="666666"/>
                </a:solidFill>
                <a:latin typeface="Poppins"/>
              </a:rPr>
              <a:t>TIKTOK @METALROMANTIC · 2025</a:t>
            </a:r>
          </a:p>
        </p:txBody>
      </p:sp>
      <p:pic>
        <p:nvPicPr>
          <p:cNvPr id="31" name="Picture 30" descr="macro-1-3-tiktok-thrifthaul-7457656349103623466.png">
            <a:hlinkClick r:id="rId5"/>
          </p:cNvPr>
          <p:cNvPicPr>
            <a:picLocks noChangeAspect="1"/>
          </p:cNvPicPr>
          <p:nvPr/>
        </p:nvPicPr>
        <p:blipFill>
          <a:blip r:embed="rId4"/>
          <a:stretch>
            <a:fillRect/>
          </a:stretch>
        </p:blipFill>
        <p:spPr>
          <a:xfrm>
            <a:off x="8128000" y="3022600"/>
            <a:ext cx="1117600" cy="1651000"/>
          </a:xfrm>
          <a:prstGeom prst="rect">
            <a:avLst/>
          </a:prstGeom>
        </p:spPr>
      </p:pic>
      <p:sp>
        <p:nvSpPr>
          <p:cNvPr id="32" name="Rounded Rectangle 31"/>
          <p:cNvSpPr/>
          <p:nvPr/>
        </p:nvSpPr>
        <p:spPr>
          <a:xfrm>
            <a:off x="8610600" y="4432300"/>
            <a:ext cx="584200" cy="190500"/>
          </a:xfrm>
          <a:prstGeom prst="round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lnSpc>
                <a:spcPct val="100000"/>
              </a:lnSpc>
            </a:pPr>
            <a:r>
              <a:rPr sz="700" b="1" i="0">
                <a:solidFill>
                  <a:srgbClr val="FFFFFF"/>
                </a:solidFill>
                <a:latin typeface="Poppins"/>
              </a:rPr>
              <a:t>CLICK ME ▸</a:t>
            </a:r>
          </a:p>
        </p:txBody>
      </p:sp>
      <p:sp>
        <p:nvSpPr>
          <p:cNvPr id="33" name="TextBox 32"/>
          <p:cNvSpPr txBox="1"/>
          <p:nvPr/>
        </p:nvSpPr>
        <p:spPr>
          <a:xfrm>
            <a:off x="9347200" y="3022600"/>
            <a:ext cx="2057400" cy="457200"/>
          </a:xfrm>
          <a:prstGeom prst="rect">
            <a:avLst/>
          </a:prstGeom>
          <a:noFill/>
        </p:spPr>
        <p:txBody>
          <a:bodyPr wrap="square"/>
          <a:lstStyle/>
          <a:p>
            <a:pPr algn="l">
              <a:lnSpc>
                <a:spcPct val="100000"/>
              </a:lnSpc>
            </a:pPr>
            <a:r>
              <a:rPr sz="1000" b="0" i="0">
                <a:solidFill>
                  <a:srgbClr val="FFFFFF"/>
                </a:solidFill>
                <a:latin typeface="Poppins"/>
              </a:rPr>
              <a:t>Tour de tienda #segundamano — la reventa como canal local aspiracional con #thrifthaul.</a:t>
            </a:r>
          </a:p>
        </p:txBody>
      </p:sp>
      <p:sp>
        <p:nvSpPr>
          <p:cNvPr id="34" name="TextBox 33"/>
          <p:cNvSpPr txBox="1"/>
          <p:nvPr/>
        </p:nvSpPr>
        <p:spPr>
          <a:xfrm>
            <a:off x="9347200" y="3606800"/>
            <a:ext cx="2057400" cy="152400"/>
          </a:xfrm>
          <a:prstGeom prst="rect">
            <a:avLst/>
          </a:prstGeom>
          <a:noFill/>
        </p:spPr>
        <p:txBody>
          <a:bodyPr wrap="square"/>
          <a:lstStyle/>
          <a:p>
            <a:pPr algn="l">
              <a:lnSpc>
                <a:spcPct val="100000"/>
              </a:lnSpc>
            </a:pPr>
            <a:r>
              <a:rPr sz="650" b="0" i="0">
                <a:solidFill>
                  <a:srgbClr val="666666"/>
                </a:solidFill>
                <a:latin typeface="Poppins"/>
              </a:rPr>
              <a:t>TIKTOK @GOLDENBEETROVE · 2025</a:t>
            </a:r>
          </a:p>
        </p:txBody>
      </p:sp>
      <p:pic>
        <p:nvPicPr>
          <p:cNvPr id="35" name="Picture 34" descr="macro-1-3-corotos-rd-plataforma-usados.png">
            <a:hlinkClick r:id="rId7"/>
          </p:cNvPr>
          <p:cNvPicPr>
            <a:picLocks noChangeAspect="1"/>
          </p:cNvPicPr>
          <p:nvPr/>
        </p:nvPicPr>
        <p:blipFill>
          <a:blip r:embed="rId6"/>
          <a:stretch>
            <a:fillRect/>
          </a:stretch>
        </p:blipFill>
        <p:spPr>
          <a:xfrm>
            <a:off x="8128000" y="4978400"/>
            <a:ext cx="1117600" cy="1651000"/>
          </a:xfrm>
          <a:prstGeom prst="rect">
            <a:avLst/>
          </a:prstGeom>
        </p:spPr>
      </p:pic>
      <p:sp>
        <p:nvSpPr>
          <p:cNvPr id="36" name="Rounded Rectangle 35"/>
          <p:cNvSpPr/>
          <p:nvPr/>
        </p:nvSpPr>
        <p:spPr>
          <a:xfrm>
            <a:off x="8610600" y="6388100"/>
            <a:ext cx="584200" cy="190500"/>
          </a:xfrm>
          <a:prstGeom prst="round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lnSpc>
                <a:spcPct val="100000"/>
              </a:lnSpc>
            </a:pPr>
            <a:r>
              <a:rPr sz="700" b="1" i="0">
                <a:solidFill>
                  <a:srgbClr val="FFFFFF"/>
                </a:solidFill>
                <a:latin typeface="Poppins"/>
              </a:rPr>
              <a:t>CLICK ME ▸</a:t>
            </a:r>
          </a:p>
        </p:txBody>
      </p:sp>
      <p:sp>
        <p:nvSpPr>
          <p:cNvPr id="37" name="TextBox 36"/>
          <p:cNvSpPr txBox="1"/>
          <p:nvPr/>
        </p:nvSpPr>
        <p:spPr>
          <a:xfrm>
            <a:off x="9347200" y="4978400"/>
            <a:ext cx="2057400" cy="609600"/>
          </a:xfrm>
          <a:prstGeom prst="rect">
            <a:avLst/>
          </a:prstGeom>
          <a:noFill/>
        </p:spPr>
        <p:txBody>
          <a:bodyPr wrap="square"/>
          <a:lstStyle/>
          <a:p>
            <a:pPr algn="l">
              <a:lnSpc>
                <a:spcPct val="100000"/>
              </a:lnSpc>
            </a:pPr>
            <a:r>
              <a:rPr sz="1000" b="0" i="0">
                <a:solidFill>
                  <a:srgbClr val="FFFFFF"/>
                </a:solidFill>
                <a:latin typeface="Poppins"/>
              </a:rPr>
              <a:t>Corotos.com.do — plataforma dominicana de segunda mano con listings de RD$10,000 a US$80,600.</a:t>
            </a:r>
          </a:p>
        </p:txBody>
      </p:sp>
      <p:sp>
        <p:nvSpPr>
          <p:cNvPr id="38" name="TextBox 37"/>
          <p:cNvSpPr txBox="1"/>
          <p:nvPr/>
        </p:nvSpPr>
        <p:spPr>
          <a:xfrm>
            <a:off x="9347200" y="5715000"/>
            <a:ext cx="2057400" cy="152400"/>
          </a:xfrm>
          <a:prstGeom prst="rect">
            <a:avLst/>
          </a:prstGeom>
          <a:noFill/>
        </p:spPr>
        <p:txBody>
          <a:bodyPr wrap="square"/>
          <a:lstStyle/>
          <a:p>
            <a:pPr algn="l">
              <a:lnSpc>
                <a:spcPct val="100000"/>
              </a:lnSpc>
            </a:pPr>
            <a:r>
              <a:rPr sz="650" b="0" i="0">
                <a:solidFill>
                  <a:srgbClr val="666666"/>
                </a:solidFill>
                <a:latin typeface="Poppins"/>
              </a:rPr>
              <a:t>COROTOS.COM.DO · 2026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4" name="TextBox 3"/>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5" name="TextBox 4"/>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6" name="Connector 5"/>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254000" y="10668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04800" y="1104900"/>
            <a:ext cx="660400" cy="228600"/>
          </a:xfrm>
          <a:prstGeom prst="rect">
            <a:avLst/>
          </a:prstGeom>
          <a:noFill/>
        </p:spPr>
        <p:txBody>
          <a:bodyPr wrap="square"/>
          <a:lstStyle/>
          <a:p>
            <a:pPr algn="l">
              <a:lnSpc>
                <a:spcPct val="100000"/>
              </a:lnSpc>
            </a:pPr>
            <a:r>
              <a:rPr sz="750" b="1" i="0">
                <a:solidFill>
                  <a:srgbClr val="000000"/>
                </a:solidFill>
                <a:latin typeface="Poppins"/>
              </a:rPr>
              <a:t>MACRO 1</a:t>
            </a:r>
          </a:p>
        </p:txBody>
      </p:sp>
      <p:sp>
        <p:nvSpPr>
          <p:cNvPr id="11" name="Rectangle 10"/>
          <p:cNvSpPr/>
          <p:nvPr/>
        </p:nvSpPr>
        <p:spPr>
          <a:xfrm>
            <a:off x="1041400" y="10668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2200" y="1104900"/>
            <a:ext cx="2717800" cy="228600"/>
          </a:xfrm>
          <a:prstGeom prst="rect">
            <a:avLst/>
          </a:prstGeom>
          <a:noFill/>
        </p:spPr>
        <p:txBody>
          <a:bodyPr wrap="square"/>
          <a:lstStyle/>
          <a:p>
            <a:pPr algn="l">
              <a:lnSpc>
                <a:spcPct val="100000"/>
              </a:lnSpc>
            </a:pPr>
            <a:r>
              <a:rPr sz="750" b="0" i="0">
                <a:solidFill>
                  <a:srgbClr val="A0A0A0"/>
                </a:solidFill>
                <a:latin typeface="Poppins"/>
              </a:rPr>
              <a:t>INVENTOLOGÍA DE LA ADULTEZ</a:t>
            </a:r>
          </a:p>
        </p:txBody>
      </p:sp>
      <p:sp>
        <p:nvSpPr>
          <p:cNvPr id="13" name="TextBox 12"/>
          <p:cNvSpPr txBox="1"/>
          <p:nvPr/>
        </p:nvSpPr>
        <p:spPr>
          <a:xfrm>
            <a:off x="254000" y="1473200"/>
            <a:ext cx="3683000" cy="2336800"/>
          </a:xfrm>
          <a:prstGeom prst="rect">
            <a:avLst/>
          </a:prstGeom>
          <a:noFill/>
        </p:spPr>
        <p:txBody>
          <a:bodyPr wrap="square"/>
          <a:lstStyle/>
          <a:p>
            <a:pPr algn="l">
              <a:lnSpc>
                <a:spcPct val="114000"/>
              </a:lnSpc>
            </a:pPr>
            <a:r>
              <a:rPr sz="2000" b="0" i="0">
                <a:solidFill>
                  <a:srgbClr val="FFFFFF"/>
                </a:solidFill>
                <a:latin typeface="Instrument Serif"/>
              </a:rPr>
              <a:t>'NO PUEDO, ESTOY PRESUPUESTANDO' SE VOLVIÓ PRESUMIBLE: EL LOUD BUDGETING CONVIRTIÓ EL AHORRO EN PERFORMANCE Y EL GASTO IMPULSIVO EN COSA DE INMADUROS.</a:t>
            </a:r>
          </a:p>
        </p:txBody>
      </p:sp>
      <p:sp>
        <p:nvSpPr>
          <p:cNvPr id="14" name="TextBox 13"/>
          <p:cNvSpPr txBox="1"/>
          <p:nvPr/>
        </p:nvSpPr>
        <p:spPr>
          <a:xfrm>
            <a:off x="254000" y="39878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4241800"/>
            <a:ext cx="3683000" cy="825500"/>
          </a:xfrm>
          <a:prstGeom prst="rect">
            <a:avLst/>
          </a:prstGeom>
          <a:noFill/>
        </p:spPr>
        <p:txBody>
          <a:bodyPr wrap="square"/>
          <a:lstStyle/>
          <a:p>
            <a:pPr algn="l">
              <a:lnSpc>
                <a:spcPct val="100000"/>
              </a:lnSpc>
            </a:pPr>
            <a:r>
              <a:rPr sz="1000" b="0" i="0">
                <a:solidFill>
                  <a:srgbClr val="FFFFFF"/>
                </a:solidFill>
                <a:latin typeface="Poppins"/>
              </a:rPr>
              <a:t>Decir que no tenías plata daba pena. El loud budgeting le dio la vuelta: ahora anuncias en voz alta que no vas porque estás presupuestando, y eso te hace ver con control, no con carencia. La adultez nueva se prueba demostrando que tienes la mano en el timón.</a:t>
            </a:r>
          </a:p>
        </p:txBody>
      </p:sp>
      <p:sp>
        <p:nvSpPr>
          <p:cNvPr id="16" name="TextBox 15"/>
          <p:cNvSpPr txBox="1"/>
          <p:nvPr/>
        </p:nvSpPr>
        <p:spPr>
          <a:xfrm>
            <a:off x="254000" y="52451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5499100"/>
            <a:ext cx="3683000" cy="762000"/>
          </a:xfrm>
          <a:prstGeom prst="rect">
            <a:avLst/>
          </a:prstGeom>
          <a:noFill/>
        </p:spPr>
        <p:txBody>
          <a:bodyPr wrap="square"/>
          <a:lstStyle/>
          <a:p>
            <a:pPr algn="l">
              <a:lnSpc>
                <a:spcPct val="100000"/>
              </a:lnSpc>
            </a:pPr>
            <a:r>
              <a:rPr sz="1600" b="0" i="0">
                <a:solidFill>
                  <a:srgbClr val="FFFFFF"/>
                </a:solidFill>
                <a:latin typeface="Instrument Serif"/>
              </a:rPr>
              <a:t>#loudbudgeting · #presupuesto · #ahorro2025 · #moneytok · #finanzaspersonales</a:t>
            </a:r>
          </a:p>
        </p:txBody>
      </p:sp>
      <p:sp>
        <p:nvSpPr>
          <p:cNvPr id="18" name="TextBox 17"/>
          <p:cNvSpPr txBox="1"/>
          <p:nvPr/>
        </p:nvSpPr>
        <p:spPr>
          <a:xfrm>
            <a:off x="4191000" y="1066800"/>
            <a:ext cx="2159000" cy="584200"/>
          </a:xfrm>
          <a:prstGeom prst="rect">
            <a:avLst/>
          </a:prstGeom>
          <a:noFill/>
        </p:spPr>
        <p:txBody>
          <a:bodyPr wrap="square"/>
          <a:lstStyle/>
          <a:p>
            <a:pPr algn="l">
              <a:lnSpc>
                <a:spcPct val="100000"/>
              </a:lnSpc>
            </a:pPr>
            <a:r>
              <a:rPr sz="4000" b="0" i="0">
                <a:solidFill>
                  <a:srgbClr val="FFFFFF"/>
                </a:solidFill>
                <a:latin typeface="Instrument Serif"/>
              </a:rPr>
              <a:t>37%</a:t>
            </a:r>
          </a:p>
        </p:txBody>
      </p:sp>
      <p:sp>
        <p:nvSpPr>
          <p:cNvPr id="19" name="TextBox 18"/>
          <p:cNvSpPr txBox="1"/>
          <p:nvPr/>
        </p:nvSpPr>
        <p:spPr>
          <a:xfrm>
            <a:off x="4191000" y="1803400"/>
            <a:ext cx="2159000" cy="476250"/>
          </a:xfrm>
          <a:prstGeom prst="rect">
            <a:avLst/>
          </a:prstGeom>
          <a:noFill/>
        </p:spPr>
        <p:txBody>
          <a:bodyPr wrap="square"/>
          <a:lstStyle/>
          <a:p>
            <a:pPr algn="l">
              <a:lnSpc>
                <a:spcPct val="100000"/>
              </a:lnSpc>
            </a:pPr>
            <a:r>
              <a:rPr sz="1000" b="0" i="0">
                <a:solidFill>
                  <a:srgbClr val="FFFFFF"/>
                </a:solidFill>
                <a:latin typeface="Poppins"/>
              </a:rPr>
              <a:t>De Gen Z planea ahorrar más, 29% invertir; el consumo se subordina al plan financiero.</a:t>
            </a:r>
          </a:p>
        </p:txBody>
      </p:sp>
      <p:sp>
        <p:nvSpPr>
          <p:cNvPr id="20" name="TextBox 19"/>
          <p:cNvSpPr txBox="1"/>
          <p:nvPr/>
        </p:nvSpPr>
        <p:spPr>
          <a:xfrm>
            <a:off x="4191000" y="2432050"/>
            <a:ext cx="2159000" cy="152400"/>
          </a:xfrm>
          <a:prstGeom prst="rect">
            <a:avLst/>
          </a:prstGeom>
          <a:noFill/>
        </p:spPr>
        <p:txBody>
          <a:bodyPr wrap="square"/>
          <a:lstStyle/>
          <a:p>
            <a:pPr algn="l">
              <a:lnSpc>
                <a:spcPct val="100000"/>
              </a:lnSpc>
            </a:pPr>
            <a:r>
              <a:rPr sz="650" b="0" i="0">
                <a:solidFill>
                  <a:srgbClr val="666666"/>
                </a:solidFill>
                <a:latin typeface="Poppins"/>
              </a:rPr>
              <a:t>YOUGOV · 2025</a:t>
            </a:r>
          </a:p>
        </p:txBody>
      </p:sp>
      <p:sp>
        <p:nvSpPr>
          <p:cNvPr id="21" name="TextBox 20"/>
          <p:cNvSpPr txBox="1"/>
          <p:nvPr/>
        </p:nvSpPr>
        <p:spPr>
          <a:xfrm>
            <a:off x="4191000" y="2863850"/>
            <a:ext cx="2159000" cy="584200"/>
          </a:xfrm>
          <a:prstGeom prst="rect">
            <a:avLst/>
          </a:prstGeom>
          <a:noFill/>
        </p:spPr>
        <p:txBody>
          <a:bodyPr wrap="square"/>
          <a:lstStyle/>
          <a:p>
            <a:pPr algn="l">
              <a:lnSpc>
                <a:spcPct val="100000"/>
              </a:lnSpc>
            </a:pPr>
            <a:r>
              <a:rPr sz="4000" b="0" i="0">
                <a:solidFill>
                  <a:srgbClr val="FFFFFF"/>
                </a:solidFill>
                <a:latin typeface="Instrument Serif"/>
              </a:rPr>
              <a:t>BNPL</a:t>
            </a:r>
          </a:p>
        </p:txBody>
      </p:sp>
      <p:sp>
        <p:nvSpPr>
          <p:cNvPr id="22" name="TextBox 21"/>
          <p:cNvSpPr txBox="1"/>
          <p:nvPr/>
        </p:nvSpPr>
        <p:spPr>
          <a:xfrm>
            <a:off x="4191000" y="3600450"/>
            <a:ext cx="2159000" cy="635000"/>
          </a:xfrm>
          <a:prstGeom prst="rect">
            <a:avLst/>
          </a:prstGeom>
          <a:noFill/>
        </p:spPr>
        <p:txBody>
          <a:bodyPr wrap="square"/>
          <a:lstStyle/>
          <a:p>
            <a:pPr algn="l">
              <a:lnSpc>
                <a:spcPct val="100000"/>
              </a:lnSpc>
            </a:pPr>
            <a:r>
              <a:rPr sz="1000" b="0" i="0">
                <a:solidFill>
                  <a:srgbClr val="FFFFFF"/>
                </a:solidFill>
                <a:latin typeface="Poppins"/>
              </a:rPr>
              <a:t>Inestabilidad inflacionaria LATAM empuja a estabilizar el poder de compra con instrumentos de planificación.</a:t>
            </a:r>
          </a:p>
        </p:txBody>
      </p:sp>
      <p:sp>
        <p:nvSpPr>
          <p:cNvPr id="23" name="TextBox 22"/>
          <p:cNvSpPr txBox="1"/>
          <p:nvPr/>
        </p:nvSpPr>
        <p:spPr>
          <a:xfrm>
            <a:off x="4191000" y="4387850"/>
            <a:ext cx="2159000" cy="152400"/>
          </a:xfrm>
          <a:prstGeom prst="rect">
            <a:avLst/>
          </a:prstGeom>
          <a:noFill/>
        </p:spPr>
        <p:txBody>
          <a:bodyPr wrap="square"/>
          <a:lstStyle/>
          <a:p>
            <a:pPr algn="l">
              <a:lnSpc>
                <a:spcPct val="100000"/>
              </a:lnSpc>
            </a:pPr>
            <a:r>
              <a:rPr sz="650" b="0" i="0">
                <a:solidFill>
                  <a:srgbClr val="666666"/>
                </a:solidFill>
                <a:latin typeface="Poppins"/>
              </a:rPr>
              <a:t>GLOBENEWSWIRE / LATAM BNPL · 2025</a:t>
            </a:r>
          </a:p>
        </p:txBody>
      </p:sp>
      <p:sp>
        <p:nvSpPr>
          <p:cNvPr id="24" name="TextBox 23"/>
          <p:cNvSpPr txBox="1"/>
          <p:nvPr/>
        </p:nvSpPr>
        <p:spPr>
          <a:xfrm>
            <a:off x="4191000" y="4819650"/>
            <a:ext cx="2159000" cy="584200"/>
          </a:xfrm>
          <a:prstGeom prst="rect">
            <a:avLst/>
          </a:prstGeom>
          <a:noFill/>
        </p:spPr>
        <p:txBody>
          <a:bodyPr wrap="square"/>
          <a:lstStyle/>
          <a:p>
            <a:pPr algn="l">
              <a:lnSpc>
                <a:spcPct val="100000"/>
              </a:lnSpc>
            </a:pPr>
            <a:r>
              <a:rPr sz="4000" b="0" i="0">
                <a:solidFill>
                  <a:srgbClr val="FFFFFF"/>
                </a:solidFill>
                <a:latin typeface="Instrument Serif"/>
              </a:rPr>
              <a:t>Swaps</a:t>
            </a:r>
          </a:p>
        </p:txBody>
      </p:sp>
      <p:sp>
        <p:nvSpPr>
          <p:cNvPr id="25" name="TextBox 24"/>
          <p:cNvSpPr txBox="1"/>
          <p:nvPr/>
        </p:nvSpPr>
        <p:spPr>
          <a:xfrm>
            <a:off x="4191000" y="5556250"/>
            <a:ext cx="2159000" cy="635000"/>
          </a:xfrm>
          <a:prstGeom prst="rect">
            <a:avLst/>
          </a:prstGeom>
          <a:noFill/>
        </p:spPr>
        <p:txBody>
          <a:bodyPr wrap="square"/>
          <a:lstStyle/>
          <a:p>
            <a:pPr algn="l">
              <a:lnSpc>
                <a:spcPct val="100000"/>
              </a:lnSpc>
            </a:pPr>
            <a:r>
              <a:rPr sz="1000" b="0" i="0">
                <a:solidFill>
                  <a:srgbClr val="FFFFFF"/>
                </a:solidFill>
                <a:latin typeface="Poppins"/>
              </a:rPr>
              <a:t>Marcas financieras como Fifth Third Bank hablan en 'loud budgeting swaps' para sonar nativas del feed.</a:t>
            </a:r>
          </a:p>
        </p:txBody>
      </p:sp>
      <p:sp>
        <p:nvSpPr>
          <p:cNvPr id="26" name="TextBox 25"/>
          <p:cNvSpPr txBox="1"/>
          <p:nvPr/>
        </p:nvSpPr>
        <p:spPr>
          <a:xfrm>
            <a:off x="4191000" y="6343650"/>
            <a:ext cx="2159000" cy="152400"/>
          </a:xfrm>
          <a:prstGeom prst="rect">
            <a:avLst/>
          </a:prstGeom>
          <a:noFill/>
        </p:spPr>
        <p:txBody>
          <a:bodyPr wrap="square"/>
          <a:lstStyle/>
          <a:p>
            <a:pPr algn="l">
              <a:lnSpc>
                <a:spcPct val="100000"/>
              </a:lnSpc>
            </a:pPr>
            <a:r>
              <a:rPr sz="650" b="0" i="0">
                <a:solidFill>
                  <a:srgbClr val="666666"/>
                </a:solidFill>
                <a:latin typeface="Poppins"/>
              </a:rPr>
              <a:t>TIKTOK @FIFTHTHIRDBANK · 2024</a:t>
            </a:r>
          </a:p>
        </p:txBody>
      </p:sp>
      <p:pic>
        <p:nvPicPr>
          <p:cNvPr id="27" name="Picture 26" descr="macro-1-4-tiktok-loudbudgeting-7451260628603473198.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ounded Rectangle 27"/>
          <p:cNvSpPr/>
          <p:nvPr/>
        </p:nvSpPr>
        <p:spPr>
          <a:xfrm>
            <a:off x="8610600" y="2476500"/>
            <a:ext cx="584200" cy="190500"/>
          </a:xfrm>
          <a:prstGeom prst="round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lnSpc>
                <a:spcPct val="100000"/>
              </a:lnSpc>
            </a:pPr>
            <a:r>
              <a:rPr sz="700" b="1" i="0">
                <a:solidFill>
                  <a:srgbClr val="FFFFFF"/>
                </a:solidFill>
                <a:latin typeface="Poppins"/>
              </a:rPr>
              <a:t>CLICK ME ▸</a:t>
            </a:r>
          </a:p>
        </p:txBody>
      </p:sp>
      <p:sp>
        <p:nvSpPr>
          <p:cNvPr id="29" name="TextBox 28"/>
          <p:cNvSpPr txBox="1"/>
          <p:nvPr/>
        </p:nvSpPr>
        <p:spPr>
          <a:xfrm>
            <a:off x="9347200" y="1066800"/>
            <a:ext cx="2057400" cy="457200"/>
          </a:xfrm>
          <a:prstGeom prst="rect">
            <a:avLst/>
          </a:prstGeom>
          <a:noFill/>
        </p:spPr>
        <p:txBody>
          <a:bodyPr wrap="square"/>
          <a:lstStyle/>
          <a:p>
            <a:pPr algn="l">
              <a:lnSpc>
                <a:spcPct val="100000"/>
              </a:lnSpc>
            </a:pPr>
            <a:r>
              <a:rPr sz="1000" b="0" i="0">
                <a:solidFill>
                  <a:srgbClr val="FFFFFF"/>
                </a:solidFill>
                <a:latin typeface="Poppins"/>
              </a:rPr>
              <a:t>'2025 we are LOUD BUDGETING' — presupuestar en público como nueva señal de adultez.</a:t>
            </a:r>
          </a:p>
        </p:txBody>
      </p:sp>
      <p:sp>
        <p:nvSpPr>
          <p:cNvPr id="30" name="TextBox 29"/>
          <p:cNvSpPr txBox="1"/>
          <p:nvPr/>
        </p:nvSpPr>
        <p:spPr>
          <a:xfrm>
            <a:off x="9347200" y="1651000"/>
            <a:ext cx="2057400" cy="152400"/>
          </a:xfrm>
          <a:prstGeom prst="rect">
            <a:avLst/>
          </a:prstGeom>
          <a:noFill/>
        </p:spPr>
        <p:txBody>
          <a:bodyPr wrap="square"/>
          <a:lstStyle/>
          <a:p>
            <a:pPr algn="l">
              <a:lnSpc>
                <a:spcPct val="100000"/>
              </a:lnSpc>
            </a:pPr>
            <a:r>
              <a:rPr sz="650" b="0" i="0">
                <a:solidFill>
                  <a:srgbClr val="666666"/>
                </a:solidFill>
                <a:latin typeface="Poppins"/>
              </a:rPr>
              <a:t>TIKTOK @BREAKYOURBUDGET · 2025</a:t>
            </a:r>
          </a:p>
        </p:txBody>
      </p:sp>
      <p:pic>
        <p:nvPicPr>
          <p:cNvPr id="31" name="Picture 30" descr="macro-1-4-tiktok-loudbudgeting-7340699620734995754.png">
            <a:hlinkClick r:id="rId5"/>
          </p:cNvPr>
          <p:cNvPicPr>
            <a:picLocks noChangeAspect="1"/>
          </p:cNvPicPr>
          <p:nvPr/>
        </p:nvPicPr>
        <p:blipFill>
          <a:blip r:embed="rId4"/>
          <a:stretch>
            <a:fillRect/>
          </a:stretch>
        </p:blipFill>
        <p:spPr>
          <a:xfrm>
            <a:off x="8128000" y="3022600"/>
            <a:ext cx="1117600" cy="1651000"/>
          </a:xfrm>
          <a:prstGeom prst="rect">
            <a:avLst/>
          </a:prstGeom>
        </p:spPr>
      </p:pic>
      <p:sp>
        <p:nvSpPr>
          <p:cNvPr id="32" name="Rounded Rectangle 31"/>
          <p:cNvSpPr/>
          <p:nvPr/>
        </p:nvSpPr>
        <p:spPr>
          <a:xfrm>
            <a:off x="8610600" y="4432300"/>
            <a:ext cx="584200" cy="190500"/>
          </a:xfrm>
          <a:prstGeom prst="round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lnSpc>
                <a:spcPct val="100000"/>
              </a:lnSpc>
            </a:pPr>
            <a:r>
              <a:rPr sz="700" b="1" i="0">
                <a:solidFill>
                  <a:srgbClr val="FFFFFF"/>
                </a:solidFill>
                <a:latin typeface="Poppins"/>
              </a:rPr>
              <a:t>CLICK ME ▸</a:t>
            </a:r>
          </a:p>
        </p:txBody>
      </p:sp>
      <p:sp>
        <p:nvSpPr>
          <p:cNvPr id="33" name="TextBox 32"/>
          <p:cNvSpPr txBox="1"/>
          <p:nvPr/>
        </p:nvSpPr>
        <p:spPr>
          <a:xfrm>
            <a:off x="9347200" y="3022600"/>
            <a:ext cx="2057400" cy="609600"/>
          </a:xfrm>
          <a:prstGeom prst="rect">
            <a:avLst/>
          </a:prstGeom>
          <a:noFill/>
        </p:spPr>
        <p:txBody>
          <a:bodyPr wrap="square"/>
          <a:lstStyle/>
          <a:p>
            <a:pPr algn="l">
              <a:lnSpc>
                <a:spcPct val="100000"/>
              </a:lnSpc>
            </a:pPr>
            <a:r>
              <a:rPr sz="1000" b="0" i="0">
                <a:solidFill>
                  <a:srgbClr val="FFFFFF"/>
                </a:solidFill>
                <a:latin typeface="Poppins"/>
              </a:rPr>
              <a:t>Loud budgeting swaps: marca financiera adopta el lenguaje viral para normalizar el 'no' al gasto social.</a:t>
            </a:r>
          </a:p>
        </p:txBody>
      </p:sp>
      <p:sp>
        <p:nvSpPr>
          <p:cNvPr id="34" name="TextBox 33"/>
          <p:cNvSpPr txBox="1"/>
          <p:nvPr/>
        </p:nvSpPr>
        <p:spPr>
          <a:xfrm>
            <a:off x="9347200" y="3759200"/>
            <a:ext cx="2057400" cy="152400"/>
          </a:xfrm>
          <a:prstGeom prst="rect">
            <a:avLst/>
          </a:prstGeom>
          <a:noFill/>
        </p:spPr>
        <p:txBody>
          <a:bodyPr wrap="square"/>
          <a:lstStyle/>
          <a:p>
            <a:pPr algn="l">
              <a:lnSpc>
                <a:spcPct val="100000"/>
              </a:lnSpc>
            </a:pPr>
            <a:r>
              <a:rPr sz="650" b="0" i="0">
                <a:solidFill>
                  <a:srgbClr val="666666"/>
                </a:solidFill>
                <a:latin typeface="Poppins"/>
              </a:rPr>
              <a:t>TIKTOK @FIFTHTHIRDBANK · 2024</a:t>
            </a:r>
          </a:p>
        </p:txBody>
      </p:sp>
      <p:pic>
        <p:nvPicPr>
          <p:cNvPr id="35" name="Picture 34" descr="macro-2-0-globenewswire-latam-bnpl.png">
            <a:hlinkClick r:id="rId7"/>
          </p:cNvPr>
          <p:cNvPicPr>
            <a:picLocks noChangeAspect="1"/>
          </p:cNvPicPr>
          <p:nvPr/>
        </p:nvPicPr>
        <p:blipFill>
          <a:blip r:embed="rId6"/>
          <a:stretch>
            <a:fillRect/>
          </a:stretch>
        </p:blipFill>
        <p:spPr>
          <a:xfrm>
            <a:off x="8128000" y="4978400"/>
            <a:ext cx="1117600" cy="1651000"/>
          </a:xfrm>
          <a:prstGeom prst="rect">
            <a:avLst/>
          </a:prstGeom>
        </p:spPr>
      </p:pic>
      <p:sp>
        <p:nvSpPr>
          <p:cNvPr id="36" name="Rounded Rectangle 35"/>
          <p:cNvSpPr/>
          <p:nvPr/>
        </p:nvSpPr>
        <p:spPr>
          <a:xfrm>
            <a:off x="8610600" y="6388100"/>
            <a:ext cx="584200" cy="190500"/>
          </a:xfrm>
          <a:prstGeom prst="round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lnSpc>
                <a:spcPct val="100000"/>
              </a:lnSpc>
            </a:pPr>
            <a:r>
              <a:rPr sz="700" b="1" i="0">
                <a:solidFill>
                  <a:srgbClr val="FFFFFF"/>
                </a:solidFill>
                <a:latin typeface="Poppins"/>
              </a:rPr>
              <a:t>CLICK ME ▸</a:t>
            </a:r>
          </a:p>
        </p:txBody>
      </p:sp>
      <p:sp>
        <p:nvSpPr>
          <p:cNvPr id="37" name="TextBox 36"/>
          <p:cNvSpPr txBox="1"/>
          <p:nvPr/>
        </p:nvSpPr>
        <p:spPr>
          <a:xfrm>
            <a:off x="9347200" y="4978400"/>
            <a:ext cx="2057400" cy="609600"/>
          </a:xfrm>
          <a:prstGeom prst="rect">
            <a:avLst/>
          </a:prstGeom>
          <a:noFill/>
        </p:spPr>
        <p:txBody>
          <a:bodyPr wrap="square"/>
          <a:lstStyle/>
          <a:p>
            <a:pPr algn="l">
              <a:lnSpc>
                <a:spcPct val="100000"/>
              </a:lnSpc>
            </a:pPr>
            <a:r>
              <a:rPr sz="1000" b="0" i="0">
                <a:solidFill>
                  <a:srgbClr val="FFFFFF"/>
                </a:solidFill>
                <a:latin typeface="Poppins"/>
              </a:rPr>
              <a:t>BNPL LATAM +27% en 2025 a US$16.2B — instrumento de estabilización del poder de compra.</a:t>
            </a:r>
          </a:p>
        </p:txBody>
      </p:sp>
      <p:sp>
        <p:nvSpPr>
          <p:cNvPr id="38" name="TextBox 37"/>
          <p:cNvSpPr txBox="1"/>
          <p:nvPr/>
        </p:nvSpPr>
        <p:spPr>
          <a:xfrm>
            <a:off x="9347200" y="5715000"/>
            <a:ext cx="2057400" cy="152400"/>
          </a:xfrm>
          <a:prstGeom prst="rect">
            <a:avLst/>
          </a:prstGeom>
          <a:noFill/>
        </p:spPr>
        <p:txBody>
          <a:bodyPr wrap="square"/>
          <a:lstStyle/>
          <a:p>
            <a:pPr algn="l">
              <a:lnSpc>
                <a:spcPct val="100000"/>
              </a:lnSpc>
            </a:pPr>
            <a:r>
              <a:rPr sz="650" b="0" i="0">
                <a:solidFill>
                  <a:srgbClr val="666666"/>
                </a:solidFill>
                <a:latin typeface="Poppins"/>
              </a:rPr>
              <a:t>GLOBENEWSWIRE · FEBRERO 2025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4" name="TextBox 3"/>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5" name="TextBox 4"/>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6" name="Connector 5"/>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254000" y="10668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04800" y="1104900"/>
            <a:ext cx="660400" cy="228600"/>
          </a:xfrm>
          <a:prstGeom prst="rect">
            <a:avLst/>
          </a:prstGeom>
          <a:noFill/>
        </p:spPr>
        <p:txBody>
          <a:bodyPr wrap="square"/>
          <a:lstStyle/>
          <a:p>
            <a:pPr algn="l">
              <a:lnSpc>
                <a:spcPct val="100000"/>
              </a:lnSpc>
            </a:pPr>
            <a:r>
              <a:rPr sz="750" b="1" i="0">
                <a:solidFill>
                  <a:srgbClr val="000000"/>
                </a:solidFill>
                <a:latin typeface="Poppins"/>
              </a:rPr>
              <a:t>MACRO 1</a:t>
            </a:r>
          </a:p>
        </p:txBody>
      </p:sp>
      <p:sp>
        <p:nvSpPr>
          <p:cNvPr id="11" name="Rectangle 10"/>
          <p:cNvSpPr/>
          <p:nvPr/>
        </p:nvSpPr>
        <p:spPr>
          <a:xfrm>
            <a:off x="1041400" y="10668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2200" y="1104900"/>
            <a:ext cx="2717800" cy="228600"/>
          </a:xfrm>
          <a:prstGeom prst="rect">
            <a:avLst/>
          </a:prstGeom>
          <a:noFill/>
        </p:spPr>
        <p:txBody>
          <a:bodyPr wrap="square"/>
          <a:lstStyle/>
          <a:p>
            <a:pPr algn="l">
              <a:lnSpc>
                <a:spcPct val="100000"/>
              </a:lnSpc>
            </a:pPr>
            <a:r>
              <a:rPr sz="750" b="0" i="0">
                <a:solidFill>
                  <a:srgbClr val="A0A0A0"/>
                </a:solidFill>
                <a:latin typeface="Poppins"/>
              </a:rPr>
              <a:t>INVENTOLOGÍA DE LA ADULTEZ</a:t>
            </a:r>
          </a:p>
        </p:txBody>
      </p:sp>
      <p:sp>
        <p:nvSpPr>
          <p:cNvPr id="13" name="TextBox 12"/>
          <p:cNvSpPr txBox="1"/>
          <p:nvPr/>
        </p:nvSpPr>
        <p:spPr>
          <a:xfrm>
            <a:off x="254000" y="1473200"/>
            <a:ext cx="3683000" cy="1752600"/>
          </a:xfrm>
          <a:prstGeom prst="rect">
            <a:avLst/>
          </a:prstGeom>
          <a:noFill/>
        </p:spPr>
        <p:txBody>
          <a:bodyPr wrap="square"/>
          <a:lstStyle/>
          <a:p>
            <a:pPr algn="l">
              <a:lnSpc>
                <a:spcPct val="114000"/>
              </a:lnSpc>
            </a:pPr>
            <a:r>
              <a:rPr sz="2000" b="0" i="0">
                <a:solidFill>
                  <a:srgbClr val="FFFFFF"/>
                </a:solidFill>
                <a:latin typeface="Instrument Serif"/>
              </a:rPr>
              <a:t>EL GASTO ASPIRACIONAL SE MUDÓ DEL OBJETO A LA EXPERIENCIA: GIRL MATH Y SOFT LIFE HACEN QUE EL VIAJE PESE MÁS QUE EL CARRO NUEVO.</a:t>
            </a:r>
          </a:p>
        </p:txBody>
      </p:sp>
      <p:sp>
        <p:nvSpPr>
          <p:cNvPr id="14" name="TextBox 13"/>
          <p:cNvSpPr txBox="1"/>
          <p:nvPr/>
        </p:nvSpPr>
        <p:spPr>
          <a:xfrm>
            <a:off x="254000" y="34036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3657600"/>
            <a:ext cx="3683000" cy="990600"/>
          </a:xfrm>
          <a:prstGeom prst="rect">
            <a:avLst/>
          </a:prstGeom>
          <a:noFill/>
        </p:spPr>
        <p:txBody>
          <a:bodyPr wrap="square"/>
          <a:lstStyle/>
          <a:p>
            <a:pPr algn="l">
              <a:lnSpc>
                <a:spcPct val="100000"/>
              </a:lnSpc>
            </a:pPr>
            <a:r>
              <a:rPr sz="1000" b="0" i="0">
                <a:solidFill>
                  <a:srgbClr val="FFFFFF"/>
                </a:solidFill>
                <a:latin typeface="Poppins"/>
              </a:rPr>
              <a:t>El nuevo capital social no se acumula en cosas, se acumula en momentos. El gasto aspiracional se corrió de electrodomésticos y lujo material a viajes, conciertos, autocuidado. La 'girl math' es el marco viral que justifica el gasto experiencial. El recuerdo rinde más que la posesión.</a:t>
            </a:r>
          </a:p>
        </p:txBody>
      </p:sp>
      <p:sp>
        <p:nvSpPr>
          <p:cNvPr id="16" name="TextBox 15"/>
          <p:cNvSpPr txBox="1"/>
          <p:nvPr/>
        </p:nvSpPr>
        <p:spPr>
          <a:xfrm>
            <a:off x="254000" y="48260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5080000"/>
            <a:ext cx="3683000" cy="762000"/>
          </a:xfrm>
          <a:prstGeom prst="rect">
            <a:avLst/>
          </a:prstGeom>
          <a:noFill/>
        </p:spPr>
        <p:txBody>
          <a:bodyPr wrap="square"/>
          <a:lstStyle/>
          <a:p>
            <a:pPr algn="l">
              <a:lnSpc>
                <a:spcPct val="100000"/>
              </a:lnSpc>
            </a:pPr>
            <a:r>
              <a:rPr sz="1600" b="0" i="0">
                <a:solidFill>
                  <a:srgbClr val="FFFFFF"/>
                </a:solidFill>
                <a:latin typeface="Instrument Serif"/>
              </a:rPr>
              <a:t>#girlmath · #softlife · #treatculture · #selfcarespending · #experienceoverstuff</a:t>
            </a:r>
          </a:p>
        </p:txBody>
      </p:sp>
      <p:sp>
        <p:nvSpPr>
          <p:cNvPr id="18" name="TextBox 17"/>
          <p:cNvSpPr txBox="1"/>
          <p:nvPr/>
        </p:nvSpPr>
        <p:spPr>
          <a:xfrm>
            <a:off x="4191000" y="1066800"/>
            <a:ext cx="2159000" cy="584200"/>
          </a:xfrm>
          <a:prstGeom prst="rect">
            <a:avLst/>
          </a:prstGeom>
          <a:noFill/>
        </p:spPr>
        <p:txBody>
          <a:bodyPr wrap="square"/>
          <a:lstStyle/>
          <a:p>
            <a:pPr algn="l">
              <a:lnSpc>
                <a:spcPct val="100000"/>
              </a:lnSpc>
            </a:pPr>
            <a:r>
              <a:rPr sz="4000" b="0" i="0">
                <a:solidFill>
                  <a:srgbClr val="FFFFFF"/>
                </a:solidFill>
                <a:latin typeface="Instrument Serif"/>
              </a:rPr>
              <a:t>66%</a:t>
            </a:r>
          </a:p>
        </p:txBody>
      </p:sp>
      <p:sp>
        <p:nvSpPr>
          <p:cNvPr id="19" name="TextBox 18"/>
          <p:cNvSpPr txBox="1"/>
          <p:nvPr/>
        </p:nvSpPr>
        <p:spPr>
          <a:xfrm>
            <a:off x="4191000" y="1803400"/>
            <a:ext cx="2159000" cy="476250"/>
          </a:xfrm>
          <a:prstGeom prst="rect">
            <a:avLst/>
          </a:prstGeom>
          <a:noFill/>
        </p:spPr>
        <p:txBody>
          <a:bodyPr wrap="square"/>
          <a:lstStyle/>
          <a:p>
            <a:pPr algn="l">
              <a:lnSpc>
                <a:spcPct val="100000"/>
              </a:lnSpc>
            </a:pPr>
            <a:r>
              <a:rPr sz="1000" b="0" i="0">
                <a:solidFill>
                  <a:srgbClr val="FFFFFF"/>
                </a:solidFill>
                <a:latin typeface="Poppins"/>
              </a:rPr>
              <a:t>De la población global pagaría premium por productos alineados con sus valores.</a:t>
            </a:r>
          </a:p>
        </p:txBody>
      </p:sp>
      <p:sp>
        <p:nvSpPr>
          <p:cNvPr id="20" name="TextBox 19"/>
          <p:cNvSpPr txBox="1"/>
          <p:nvPr/>
        </p:nvSpPr>
        <p:spPr>
          <a:xfrm>
            <a:off x="4191000" y="2432050"/>
            <a:ext cx="2159000" cy="152400"/>
          </a:xfrm>
          <a:prstGeom prst="rect">
            <a:avLst/>
          </a:prstGeom>
          <a:noFill/>
        </p:spPr>
        <p:txBody>
          <a:bodyPr wrap="square"/>
          <a:lstStyle/>
          <a:p>
            <a:pPr algn="l">
              <a:lnSpc>
                <a:spcPct val="100000"/>
              </a:lnSpc>
            </a:pPr>
            <a:r>
              <a:rPr sz="650" b="0" i="0">
                <a:solidFill>
                  <a:srgbClr val="666666"/>
                </a:solidFill>
                <a:latin typeface="Poppins"/>
              </a:rPr>
              <a:t>GREEN PREMIUM STUDIES · 2025</a:t>
            </a:r>
          </a:p>
        </p:txBody>
      </p:sp>
      <p:sp>
        <p:nvSpPr>
          <p:cNvPr id="21" name="TextBox 20"/>
          <p:cNvSpPr txBox="1"/>
          <p:nvPr/>
        </p:nvSpPr>
        <p:spPr>
          <a:xfrm>
            <a:off x="4191000" y="2863850"/>
            <a:ext cx="2159000" cy="584200"/>
          </a:xfrm>
          <a:prstGeom prst="rect">
            <a:avLst/>
          </a:prstGeom>
          <a:noFill/>
        </p:spPr>
        <p:txBody>
          <a:bodyPr wrap="square"/>
          <a:lstStyle/>
          <a:p>
            <a:pPr algn="l">
              <a:lnSpc>
                <a:spcPct val="100000"/>
              </a:lnSpc>
            </a:pPr>
            <a:r>
              <a:rPr sz="4000" b="0" i="0">
                <a:solidFill>
                  <a:srgbClr val="FFFFFF"/>
                </a:solidFill>
                <a:latin typeface="Instrument Serif"/>
              </a:rPr>
              <a:t>LATAM</a:t>
            </a:r>
          </a:p>
        </p:txBody>
      </p:sp>
      <p:sp>
        <p:nvSpPr>
          <p:cNvPr id="22" name="TextBox 21"/>
          <p:cNvSpPr txBox="1"/>
          <p:nvPr/>
        </p:nvSpPr>
        <p:spPr>
          <a:xfrm>
            <a:off x="4191000" y="3600450"/>
            <a:ext cx="2159000" cy="635000"/>
          </a:xfrm>
          <a:prstGeom prst="rect">
            <a:avLst/>
          </a:prstGeom>
          <a:noFill/>
        </p:spPr>
        <p:txBody>
          <a:bodyPr wrap="square"/>
          <a:lstStyle/>
          <a:p>
            <a:pPr algn="l">
              <a:lnSpc>
                <a:spcPct val="100000"/>
              </a:lnSpc>
            </a:pPr>
            <a:r>
              <a:rPr sz="1000" b="0" i="0">
                <a:solidFill>
                  <a:srgbClr val="FFFFFF"/>
                </a:solidFill>
                <a:latin typeface="Poppins"/>
              </a:rPr>
              <a:t>Auge de wellness influencers que venden experiencia y servicio en live commerce LATAM.</a:t>
            </a:r>
          </a:p>
        </p:txBody>
      </p:sp>
      <p:sp>
        <p:nvSpPr>
          <p:cNvPr id="23" name="TextBox 22"/>
          <p:cNvSpPr txBox="1"/>
          <p:nvPr/>
        </p:nvSpPr>
        <p:spPr>
          <a:xfrm>
            <a:off x="4191000" y="4387850"/>
            <a:ext cx="2159000" cy="152400"/>
          </a:xfrm>
          <a:prstGeom prst="rect">
            <a:avLst/>
          </a:prstGeom>
          <a:noFill/>
        </p:spPr>
        <p:txBody>
          <a:bodyPr wrap="square"/>
          <a:lstStyle/>
          <a:p>
            <a:pPr algn="l">
              <a:lnSpc>
                <a:spcPct val="100000"/>
              </a:lnSpc>
            </a:pPr>
            <a:r>
              <a:rPr sz="650" b="0" i="0">
                <a:solidFill>
                  <a:srgbClr val="666666"/>
                </a:solidFill>
                <a:latin typeface="Poppins"/>
              </a:rPr>
              <a:t>GRAND VIEW RESEARCH · 2025</a:t>
            </a:r>
          </a:p>
        </p:txBody>
      </p:sp>
      <p:sp>
        <p:nvSpPr>
          <p:cNvPr id="24" name="TextBox 23"/>
          <p:cNvSpPr txBox="1"/>
          <p:nvPr/>
        </p:nvSpPr>
        <p:spPr>
          <a:xfrm>
            <a:off x="4191000" y="4819650"/>
            <a:ext cx="2159000" cy="584200"/>
          </a:xfrm>
          <a:prstGeom prst="rect">
            <a:avLst/>
          </a:prstGeom>
          <a:noFill/>
        </p:spPr>
        <p:txBody>
          <a:bodyPr wrap="square"/>
          <a:lstStyle/>
          <a:p>
            <a:pPr algn="l">
              <a:lnSpc>
                <a:spcPct val="100000"/>
              </a:lnSpc>
            </a:pPr>
            <a:r>
              <a:rPr sz="4000" b="0" i="0">
                <a:solidFill>
                  <a:srgbClr val="FFFFFF"/>
                </a:solidFill>
                <a:latin typeface="Instrument Serif"/>
              </a:rPr>
              <a:t>Math</a:t>
            </a:r>
          </a:p>
        </p:txBody>
      </p:sp>
      <p:sp>
        <p:nvSpPr>
          <p:cNvPr id="25" name="TextBox 24"/>
          <p:cNvSpPr txBox="1"/>
          <p:nvPr/>
        </p:nvSpPr>
        <p:spPr>
          <a:xfrm>
            <a:off x="4191000" y="5556250"/>
            <a:ext cx="2159000" cy="635000"/>
          </a:xfrm>
          <a:prstGeom prst="rect">
            <a:avLst/>
          </a:prstGeom>
          <a:noFill/>
        </p:spPr>
        <p:txBody>
          <a:bodyPr wrap="square"/>
          <a:lstStyle/>
          <a:p>
            <a:pPr algn="l">
              <a:lnSpc>
                <a:spcPct val="100000"/>
              </a:lnSpc>
            </a:pPr>
            <a:r>
              <a:rPr sz="1000" b="0" i="0">
                <a:solidFill>
                  <a:srgbClr val="FFFFFF"/>
                </a:solidFill>
                <a:latin typeface="Poppins"/>
              </a:rPr>
              <a:t>'Girl math' como marco viral para justificar gasto experiencial vs. material en TikTok.</a:t>
            </a:r>
          </a:p>
        </p:txBody>
      </p:sp>
      <p:sp>
        <p:nvSpPr>
          <p:cNvPr id="26" name="TextBox 25"/>
          <p:cNvSpPr txBox="1"/>
          <p:nvPr/>
        </p:nvSpPr>
        <p:spPr>
          <a:xfrm>
            <a:off x="4191000" y="6343650"/>
            <a:ext cx="2159000" cy="152400"/>
          </a:xfrm>
          <a:prstGeom prst="rect">
            <a:avLst/>
          </a:prstGeom>
          <a:noFill/>
        </p:spPr>
        <p:txBody>
          <a:bodyPr wrap="square"/>
          <a:lstStyle/>
          <a:p>
            <a:pPr algn="l">
              <a:lnSpc>
                <a:spcPct val="100000"/>
              </a:lnSpc>
            </a:pPr>
            <a:r>
              <a:rPr sz="650" b="0" i="0">
                <a:solidFill>
                  <a:srgbClr val="666666"/>
                </a:solidFill>
                <a:latin typeface="Poppins"/>
              </a:rPr>
              <a:t>TIKTOK · 2023 [HISTÓRICO]</a:t>
            </a:r>
          </a:p>
        </p:txBody>
      </p:sp>
      <p:pic>
        <p:nvPicPr>
          <p:cNvPr id="27" name="Picture 26" descr="macro-1-5-tiktok-girlmath-softlife-7454705982652943621.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ounded Rectangle 27"/>
          <p:cNvSpPr/>
          <p:nvPr/>
        </p:nvSpPr>
        <p:spPr>
          <a:xfrm>
            <a:off x="8610600" y="2476500"/>
            <a:ext cx="584200" cy="190500"/>
          </a:xfrm>
          <a:prstGeom prst="round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lnSpc>
                <a:spcPct val="100000"/>
              </a:lnSpc>
            </a:pPr>
            <a:r>
              <a:rPr sz="700" b="1" i="0">
                <a:solidFill>
                  <a:srgbClr val="FFFFFF"/>
                </a:solidFill>
                <a:latin typeface="Poppins"/>
              </a:rPr>
              <a:t>CLICK ME ▸</a:t>
            </a:r>
          </a:p>
        </p:txBody>
      </p:sp>
      <p:sp>
        <p:nvSpPr>
          <p:cNvPr id="29" name="TextBox 28"/>
          <p:cNvSpPr txBox="1"/>
          <p:nvPr/>
        </p:nvSpPr>
        <p:spPr>
          <a:xfrm>
            <a:off x="9347200" y="1066800"/>
            <a:ext cx="2057400" cy="457200"/>
          </a:xfrm>
          <a:prstGeom prst="rect">
            <a:avLst/>
          </a:prstGeom>
          <a:noFill/>
        </p:spPr>
        <p:txBody>
          <a:bodyPr wrap="square"/>
          <a:lstStyle/>
          <a:p>
            <a:pPr algn="l">
              <a:lnSpc>
                <a:spcPct val="100000"/>
              </a:lnSpc>
            </a:pPr>
            <a:r>
              <a:rPr sz="1000" b="0" i="0">
                <a:solidFill>
                  <a:srgbClr val="FFFFFF"/>
                </a:solidFill>
                <a:latin typeface="Poppins"/>
              </a:rPr>
              <a:t>'Dear 2025' con CEO SoftLife — vivir bien como aspiración post-acumulación.</a:t>
            </a:r>
          </a:p>
        </p:txBody>
      </p:sp>
      <p:sp>
        <p:nvSpPr>
          <p:cNvPr id="30" name="TextBox 29"/>
          <p:cNvSpPr txBox="1"/>
          <p:nvPr/>
        </p:nvSpPr>
        <p:spPr>
          <a:xfrm>
            <a:off x="9347200" y="1651000"/>
            <a:ext cx="2057400" cy="152400"/>
          </a:xfrm>
          <a:prstGeom prst="rect">
            <a:avLst/>
          </a:prstGeom>
          <a:noFill/>
        </p:spPr>
        <p:txBody>
          <a:bodyPr wrap="square"/>
          <a:lstStyle/>
          <a:p>
            <a:pPr algn="l">
              <a:lnSpc>
                <a:spcPct val="100000"/>
              </a:lnSpc>
            </a:pPr>
            <a:r>
              <a:rPr sz="650" b="0" i="0">
                <a:solidFill>
                  <a:srgbClr val="666666"/>
                </a:solidFill>
                <a:latin typeface="Poppins"/>
              </a:rPr>
              <a:t>TIKTOK @TASHAMICHIE124 · 2025</a:t>
            </a:r>
          </a:p>
        </p:txBody>
      </p:sp>
      <p:pic>
        <p:nvPicPr>
          <p:cNvPr id="31" name="Picture 30" descr="macro-1-5-tiktok-girlmath-softlife-7264583361304333611.png">
            <a:hlinkClick r:id="rId5"/>
          </p:cNvPr>
          <p:cNvPicPr>
            <a:picLocks noChangeAspect="1"/>
          </p:cNvPicPr>
          <p:nvPr/>
        </p:nvPicPr>
        <p:blipFill>
          <a:blip r:embed="rId4"/>
          <a:stretch>
            <a:fillRect/>
          </a:stretch>
        </p:blipFill>
        <p:spPr>
          <a:xfrm>
            <a:off x="8128000" y="3022600"/>
            <a:ext cx="1117600" cy="1651000"/>
          </a:xfrm>
          <a:prstGeom prst="rect">
            <a:avLst/>
          </a:prstGeom>
        </p:spPr>
      </p:pic>
      <p:sp>
        <p:nvSpPr>
          <p:cNvPr id="32" name="Rounded Rectangle 31"/>
          <p:cNvSpPr/>
          <p:nvPr/>
        </p:nvSpPr>
        <p:spPr>
          <a:xfrm>
            <a:off x="8610600" y="4432300"/>
            <a:ext cx="584200" cy="190500"/>
          </a:xfrm>
          <a:prstGeom prst="round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lnSpc>
                <a:spcPct val="100000"/>
              </a:lnSpc>
            </a:pPr>
            <a:r>
              <a:rPr sz="700" b="1" i="0">
                <a:solidFill>
                  <a:srgbClr val="FFFFFF"/>
                </a:solidFill>
                <a:latin typeface="Poppins"/>
              </a:rPr>
              <a:t>CLICK ME ▸</a:t>
            </a:r>
          </a:p>
        </p:txBody>
      </p:sp>
      <p:sp>
        <p:nvSpPr>
          <p:cNvPr id="33" name="TextBox 32"/>
          <p:cNvSpPr txBox="1"/>
          <p:nvPr/>
        </p:nvSpPr>
        <p:spPr>
          <a:xfrm>
            <a:off x="9347200" y="3022600"/>
            <a:ext cx="2057400" cy="609600"/>
          </a:xfrm>
          <a:prstGeom prst="rect">
            <a:avLst/>
          </a:prstGeom>
          <a:noFill/>
        </p:spPr>
        <p:txBody>
          <a:bodyPr wrap="square"/>
          <a:lstStyle/>
          <a:p>
            <a:pPr algn="l">
              <a:lnSpc>
                <a:spcPct val="100000"/>
              </a:lnSpc>
            </a:pPr>
            <a:r>
              <a:rPr sz="1000" b="0" i="0">
                <a:solidFill>
                  <a:srgbClr val="FFFFFF"/>
                </a:solidFill>
                <a:latin typeface="Poppins"/>
              </a:rPr>
              <a:t>'somehow it makes sense #girlmath' — la lógica aspiracional que convierte experiencias en inversión.</a:t>
            </a:r>
          </a:p>
        </p:txBody>
      </p:sp>
      <p:sp>
        <p:nvSpPr>
          <p:cNvPr id="34" name="TextBox 33"/>
          <p:cNvSpPr txBox="1"/>
          <p:nvPr/>
        </p:nvSpPr>
        <p:spPr>
          <a:xfrm>
            <a:off x="9347200" y="3759200"/>
            <a:ext cx="2057400" cy="152400"/>
          </a:xfrm>
          <a:prstGeom prst="rect">
            <a:avLst/>
          </a:prstGeom>
          <a:noFill/>
        </p:spPr>
        <p:txBody>
          <a:bodyPr wrap="square"/>
          <a:lstStyle/>
          <a:p>
            <a:pPr algn="l">
              <a:lnSpc>
                <a:spcPct val="100000"/>
              </a:lnSpc>
            </a:pPr>
            <a:r>
              <a:rPr sz="650" b="0" i="0">
                <a:solidFill>
                  <a:srgbClr val="666666"/>
                </a:solidFill>
                <a:latin typeface="Poppins"/>
              </a:rPr>
              <a:t>TIKTOK @MCKENNAELIANNA · 2023</a:t>
            </a:r>
          </a:p>
        </p:txBody>
      </p:sp>
      <p:pic>
        <p:nvPicPr>
          <p:cNvPr id="35" name="Picture 34" descr="macro-1-5-tiktok-girlmath-softlife-7276207307921313030.png">
            <a:hlinkClick r:id="rId7"/>
          </p:cNvPr>
          <p:cNvPicPr>
            <a:picLocks noChangeAspect="1"/>
          </p:cNvPicPr>
          <p:nvPr/>
        </p:nvPicPr>
        <p:blipFill>
          <a:blip r:embed="rId6"/>
          <a:stretch>
            <a:fillRect/>
          </a:stretch>
        </p:blipFill>
        <p:spPr>
          <a:xfrm>
            <a:off x="8128000" y="4978400"/>
            <a:ext cx="1117600" cy="1651000"/>
          </a:xfrm>
          <a:prstGeom prst="rect">
            <a:avLst/>
          </a:prstGeom>
        </p:spPr>
      </p:pic>
      <p:sp>
        <p:nvSpPr>
          <p:cNvPr id="36" name="Rounded Rectangle 35"/>
          <p:cNvSpPr/>
          <p:nvPr/>
        </p:nvSpPr>
        <p:spPr>
          <a:xfrm>
            <a:off x="8610600" y="6388100"/>
            <a:ext cx="584200" cy="190500"/>
          </a:xfrm>
          <a:prstGeom prst="round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lnSpc>
                <a:spcPct val="100000"/>
              </a:lnSpc>
            </a:pPr>
            <a:r>
              <a:rPr sz="700" b="1" i="0">
                <a:solidFill>
                  <a:srgbClr val="FFFFFF"/>
                </a:solidFill>
                <a:latin typeface="Poppins"/>
              </a:rPr>
              <a:t>CLICK ME ▸</a:t>
            </a:r>
          </a:p>
        </p:txBody>
      </p:sp>
      <p:sp>
        <p:nvSpPr>
          <p:cNvPr id="37" name="TextBox 36"/>
          <p:cNvSpPr txBox="1"/>
          <p:nvPr/>
        </p:nvSpPr>
        <p:spPr>
          <a:xfrm>
            <a:off x="9347200" y="4978400"/>
            <a:ext cx="2057400" cy="609600"/>
          </a:xfrm>
          <a:prstGeom prst="rect">
            <a:avLst/>
          </a:prstGeom>
          <a:noFill/>
        </p:spPr>
        <p:txBody>
          <a:bodyPr wrap="square"/>
          <a:lstStyle/>
          <a:p>
            <a:pPr algn="l">
              <a:lnSpc>
                <a:spcPct val="100000"/>
              </a:lnSpc>
            </a:pPr>
            <a:r>
              <a:rPr sz="1000" b="0" i="0">
                <a:solidFill>
                  <a:srgbClr val="FFFFFF"/>
                </a:solidFill>
                <a:latin typeface="Poppins"/>
              </a:rPr>
              <a:t>'Justifying purchases with GIRL MATH' — marco viral para validar gasto experiencial vs. material.</a:t>
            </a:r>
          </a:p>
        </p:txBody>
      </p:sp>
      <p:sp>
        <p:nvSpPr>
          <p:cNvPr id="38" name="TextBox 37"/>
          <p:cNvSpPr txBox="1"/>
          <p:nvPr/>
        </p:nvSpPr>
        <p:spPr>
          <a:xfrm>
            <a:off x="9347200" y="5715000"/>
            <a:ext cx="2057400" cy="152400"/>
          </a:xfrm>
          <a:prstGeom prst="rect">
            <a:avLst/>
          </a:prstGeom>
          <a:noFill/>
        </p:spPr>
        <p:txBody>
          <a:bodyPr wrap="square"/>
          <a:lstStyle/>
          <a:p>
            <a:pPr algn="l">
              <a:lnSpc>
                <a:spcPct val="100000"/>
              </a:lnSpc>
            </a:pPr>
            <a:r>
              <a:rPr sz="650" b="0" i="0">
                <a:solidFill>
                  <a:srgbClr val="666666"/>
                </a:solidFill>
                <a:latin typeface="Poppins"/>
              </a:rPr>
              <a:t>TIKTOK @CASANDRA.MAZZUCCO · 2023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0" y="2286000"/>
            <a:ext cx="12192000" cy="254000"/>
          </a:xfrm>
          <a:prstGeom prst="rect">
            <a:avLst/>
          </a:prstGeom>
          <a:noFill/>
        </p:spPr>
        <p:txBody>
          <a:bodyPr wrap="square"/>
          <a:lstStyle/>
          <a:p>
            <a:pPr algn="ctr">
              <a:lnSpc>
                <a:spcPct val="100000"/>
              </a:lnSpc>
            </a:pPr>
            <a:r>
              <a:rPr sz="1400" b="1" i="0">
                <a:solidFill>
                  <a:srgbClr val="A0A0A0"/>
                </a:solidFill>
                <a:latin typeface="Poppins"/>
              </a:rPr>
              <a:t>MACRO 2</a:t>
            </a:r>
          </a:p>
        </p:txBody>
      </p:sp>
      <p:sp>
        <p:nvSpPr>
          <p:cNvPr id="4" name="TextBox 3"/>
          <p:cNvSpPr txBox="1"/>
          <p:nvPr/>
        </p:nvSpPr>
        <p:spPr>
          <a:xfrm>
            <a:off x="254000" y="2844800"/>
            <a:ext cx="11684000" cy="1651000"/>
          </a:xfrm>
          <a:prstGeom prst="rect">
            <a:avLst/>
          </a:prstGeom>
          <a:noFill/>
        </p:spPr>
        <p:txBody>
          <a:bodyPr wrap="square"/>
          <a:lstStyle/>
          <a:p>
            <a:pPr algn="ctr">
              <a:lnSpc>
                <a:spcPct val="95000"/>
              </a:lnSpc>
            </a:pPr>
            <a:r>
              <a:rPr sz="10000" b="0" i="0">
                <a:solidFill>
                  <a:srgbClr val="FFFFFF"/>
                </a:solidFill>
                <a:latin typeface="Instrument Serif"/>
              </a:rPr>
              <a:t>LOS HERNÁNDEZ ARE PROMPTED</a:t>
            </a:r>
          </a:p>
        </p:txBody>
      </p:sp>
      <p:sp>
        <p:nvSpPr>
          <p:cNvPr id="5" name="TextBox 4"/>
          <p:cNvSpPr txBox="1"/>
          <p:nvPr/>
        </p:nvSpPr>
        <p:spPr>
          <a:xfrm>
            <a:off x="254000" y="4495800"/>
            <a:ext cx="11684000" cy="457200"/>
          </a:xfrm>
          <a:prstGeom prst="rect">
            <a:avLst/>
          </a:prstGeom>
          <a:noFill/>
        </p:spPr>
        <p:txBody>
          <a:bodyPr wrap="square"/>
          <a:lstStyle/>
          <a:p>
            <a:pPr algn="ctr">
              <a:lnSpc>
                <a:spcPct val="100000"/>
              </a:lnSpc>
            </a:pPr>
            <a:r>
              <a:rPr sz="2400" b="0" i="1">
                <a:solidFill>
                  <a:srgbClr val="A0A0A0"/>
                </a:solidFill>
                <a:latin typeface="Instrument Serif"/>
              </a:rPr>
              <a:t>"El dominicano ya entró al mundo prompteado. Solo no lo nombra así."</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4" name="TextBox 3"/>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5" name="TextBox 4"/>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6" name="Connector 5"/>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254000" y="10668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04800" y="1104900"/>
            <a:ext cx="660400" cy="228600"/>
          </a:xfrm>
          <a:prstGeom prst="rect">
            <a:avLst/>
          </a:prstGeom>
          <a:noFill/>
        </p:spPr>
        <p:txBody>
          <a:bodyPr wrap="square"/>
          <a:lstStyle/>
          <a:p>
            <a:pPr algn="l">
              <a:lnSpc>
                <a:spcPct val="100000"/>
              </a:lnSpc>
            </a:pPr>
            <a:r>
              <a:rPr sz="750" b="1" i="0">
                <a:solidFill>
                  <a:srgbClr val="000000"/>
                </a:solidFill>
                <a:latin typeface="Poppins"/>
              </a:rPr>
              <a:t>MACRO 2</a:t>
            </a:r>
          </a:p>
        </p:txBody>
      </p:sp>
      <p:sp>
        <p:nvSpPr>
          <p:cNvPr id="11" name="Rectangle 10"/>
          <p:cNvSpPr/>
          <p:nvPr/>
        </p:nvSpPr>
        <p:spPr>
          <a:xfrm>
            <a:off x="1041400" y="10668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2200" y="1104900"/>
            <a:ext cx="2717800" cy="228600"/>
          </a:xfrm>
          <a:prstGeom prst="rect">
            <a:avLst/>
          </a:prstGeom>
          <a:noFill/>
        </p:spPr>
        <p:txBody>
          <a:bodyPr wrap="square"/>
          <a:lstStyle/>
          <a:p>
            <a:pPr algn="l">
              <a:lnSpc>
                <a:spcPct val="100000"/>
              </a:lnSpc>
            </a:pPr>
            <a:r>
              <a:rPr sz="750" b="0" i="0">
                <a:solidFill>
                  <a:srgbClr val="A0A0A0"/>
                </a:solidFill>
                <a:latin typeface="Poppins"/>
              </a:rPr>
              <a:t>LOS HERNÁNDEZ ARE PROMPTED</a:t>
            </a:r>
          </a:p>
        </p:txBody>
      </p:sp>
      <p:sp>
        <p:nvSpPr>
          <p:cNvPr id="13" name="TextBox 12"/>
          <p:cNvSpPr txBox="1"/>
          <p:nvPr/>
        </p:nvSpPr>
        <p:spPr>
          <a:xfrm>
            <a:off x="254000" y="1473200"/>
            <a:ext cx="3683000" cy="2044700"/>
          </a:xfrm>
          <a:prstGeom prst="rect">
            <a:avLst/>
          </a:prstGeom>
          <a:noFill/>
        </p:spPr>
        <p:txBody>
          <a:bodyPr wrap="square"/>
          <a:lstStyle/>
          <a:p>
            <a:pPr algn="l">
              <a:lnSpc>
                <a:spcPct val="114000"/>
              </a:lnSpc>
            </a:pPr>
            <a:r>
              <a:rPr sz="2000" b="0" i="0">
                <a:solidFill>
                  <a:srgbClr val="FFFFFF"/>
                </a:solidFill>
                <a:latin typeface="Instrument Serif"/>
              </a:rPr>
              <a:t>EL AGENTE DE IA PASÓ DE RECOMENDARTE A COMPRAR POR TI: FIJAS EL PRECIO OBJETIVO Y RUFUS AUTO-BUY EJECUTA EL CHECKOUT SIN QUE TOQUES NADA.</a:t>
            </a:r>
          </a:p>
        </p:txBody>
      </p:sp>
      <p:sp>
        <p:nvSpPr>
          <p:cNvPr id="14" name="TextBox 13"/>
          <p:cNvSpPr txBox="1"/>
          <p:nvPr/>
        </p:nvSpPr>
        <p:spPr>
          <a:xfrm>
            <a:off x="254000" y="36957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3949700"/>
            <a:ext cx="3683000" cy="825500"/>
          </a:xfrm>
          <a:prstGeom prst="rect">
            <a:avLst/>
          </a:prstGeom>
          <a:noFill/>
        </p:spPr>
        <p:txBody>
          <a:bodyPr wrap="square"/>
          <a:lstStyle/>
          <a:p>
            <a:pPr algn="l">
              <a:lnSpc>
                <a:spcPct val="100000"/>
              </a:lnSpc>
            </a:pPr>
            <a:r>
              <a:rPr sz="1000" b="0" i="0">
                <a:solidFill>
                  <a:srgbClr val="FFFFFF"/>
                </a:solidFill>
                <a:latin typeface="Poppins"/>
              </a:rPr>
              <a:t>La IA recomendaba. Ahora ejecuta. Rufus Auto-Buy compra cuando se cumplen los parámetros que tú fijaste — precio, condición, momento. El humano deja de hacer el checkout. La compra se vuelve una orden delegada bajo reglas, no un acto consciente cada vez.</a:t>
            </a:r>
          </a:p>
        </p:txBody>
      </p:sp>
      <p:sp>
        <p:nvSpPr>
          <p:cNvPr id="16" name="TextBox 15"/>
          <p:cNvSpPr txBox="1"/>
          <p:nvPr/>
        </p:nvSpPr>
        <p:spPr>
          <a:xfrm>
            <a:off x="254000" y="49530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5207000"/>
            <a:ext cx="3683000" cy="762000"/>
          </a:xfrm>
          <a:prstGeom prst="rect">
            <a:avLst/>
          </a:prstGeom>
          <a:noFill/>
        </p:spPr>
        <p:txBody>
          <a:bodyPr wrap="square"/>
          <a:lstStyle/>
          <a:p>
            <a:pPr algn="l">
              <a:lnSpc>
                <a:spcPct val="100000"/>
              </a:lnSpc>
            </a:pPr>
            <a:r>
              <a:rPr sz="1600" b="0" i="0">
                <a:solidFill>
                  <a:srgbClr val="FFFFFF"/>
                </a:solidFill>
                <a:latin typeface="Instrument Serif"/>
              </a:rPr>
              <a:t>#aishopping · #rufus · #agenticcommerce · #shoppingassistant · #autobuy</a:t>
            </a:r>
          </a:p>
        </p:txBody>
      </p:sp>
      <p:sp>
        <p:nvSpPr>
          <p:cNvPr id="18" name="TextBox 17"/>
          <p:cNvSpPr txBox="1"/>
          <p:nvPr/>
        </p:nvSpPr>
        <p:spPr>
          <a:xfrm>
            <a:off x="4191000" y="1066800"/>
            <a:ext cx="2159000" cy="584200"/>
          </a:xfrm>
          <a:prstGeom prst="rect">
            <a:avLst/>
          </a:prstGeom>
          <a:noFill/>
        </p:spPr>
        <p:txBody>
          <a:bodyPr wrap="square"/>
          <a:lstStyle/>
          <a:p>
            <a:pPr algn="l">
              <a:lnSpc>
                <a:spcPct val="100000"/>
              </a:lnSpc>
            </a:pPr>
            <a:r>
              <a:rPr sz="4000" b="0" i="0">
                <a:solidFill>
                  <a:srgbClr val="FFFFFF"/>
                </a:solidFill>
                <a:latin typeface="Instrument Serif"/>
              </a:rPr>
              <a:t>250M</a:t>
            </a:r>
          </a:p>
        </p:txBody>
      </p:sp>
      <p:sp>
        <p:nvSpPr>
          <p:cNvPr id="19" name="TextBox 18"/>
          <p:cNvSpPr txBox="1"/>
          <p:nvPr/>
        </p:nvSpPr>
        <p:spPr>
          <a:xfrm>
            <a:off x="4191000" y="1803400"/>
            <a:ext cx="2159000" cy="476250"/>
          </a:xfrm>
          <a:prstGeom prst="rect">
            <a:avLst/>
          </a:prstGeom>
          <a:noFill/>
        </p:spPr>
        <p:txBody>
          <a:bodyPr wrap="square"/>
          <a:lstStyle/>
          <a:p>
            <a:pPr algn="l">
              <a:lnSpc>
                <a:spcPct val="100000"/>
              </a:lnSpc>
            </a:pPr>
            <a:r>
              <a:rPr sz="1000" b="0" i="0">
                <a:solidFill>
                  <a:srgbClr val="FFFFFF"/>
                </a:solidFill>
                <a:latin typeface="Poppins"/>
              </a:rPr>
              <a:t>Usuarios activos mensuales de Rufus (+149% YoY); quien lo usa compra 60% más.</a:t>
            </a:r>
          </a:p>
        </p:txBody>
      </p:sp>
      <p:sp>
        <p:nvSpPr>
          <p:cNvPr id="20" name="TextBox 19"/>
          <p:cNvSpPr txBox="1"/>
          <p:nvPr/>
        </p:nvSpPr>
        <p:spPr>
          <a:xfrm>
            <a:off x="4191000" y="2432050"/>
            <a:ext cx="2159000" cy="152400"/>
          </a:xfrm>
          <a:prstGeom prst="rect">
            <a:avLst/>
          </a:prstGeom>
          <a:noFill/>
        </p:spPr>
        <p:txBody>
          <a:bodyPr wrap="square"/>
          <a:lstStyle/>
          <a:p>
            <a:pPr algn="l">
              <a:lnSpc>
                <a:spcPct val="100000"/>
              </a:lnSpc>
            </a:pPr>
            <a:r>
              <a:rPr sz="650" b="0" i="0">
                <a:solidFill>
                  <a:srgbClr val="666666"/>
                </a:solidFill>
                <a:latin typeface="Poppins"/>
              </a:rPr>
              <a:t>NOVA ANALYTICS · 2025</a:t>
            </a:r>
          </a:p>
        </p:txBody>
      </p:sp>
      <p:sp>
        <p:nvSpPr>
          <p:cNvPr id="21" name="TextBox 20"/>
          <p:cNvSpPr txBox="1"/>
          <p:nvPr/>
        </p:nvSpPr>
        <p:spPr>
          <a:xfrm>
            <a:off x="4191000" y="2863850"/>
            <a:ext cx="2159000" cy="584200"/>
          </a:xfrm>
          <a:prstGeom prst="rect">
            <a:avLst/>
          </a:prstGeom>
          <a:noFill/>
        </p:spPr>
        <p:txBody>
          <a:bodyPr wrap="square"/>
          <a:lstStyle/>
          <a:p>
            <a:pPr algn="l">
              <a:lnSpc>
                <a:spcPct val="100000"/>
              </a:lnSpc>
            </a:pPr>
            <a:r>
              <a:rPr sz="4000" b="0" i="0">
                <a:solidFill>
                  <a:srgbClr val="FFFFFF"/>
                </a:solidFill>
                <a:latin typeface="Instrument Serif"/>
              </a:rPr>
              <a:t>US$1T</a:t>
            </a:r>
          </a:p>
        </p:txBody>
      </p:sp>
      <p:sp>
        <p:nvSpPr>
          <p:cNvPr id="22" name="TextBox 21"/>
          <p:cNvSpPr txBox="1"/>
          <p:nvPr/>
        </p:nvSpPr>
        <p:spPr>
          <a:xfrm>
            <a:off x="4191000" y="3600450"/>
            <a:ext cx="2159000" cy="635000"/>
          </a:xfrm>
          <a:prstGeom prst="rect">
            <a:avLst/>
          </a:prstGeom>
          <a:noFill/>
        </p:spPr>
        <p:txBody>
          <a:bodyPr wrap="square"/>
          <a:lstStyle/>
          <a:p>
            <a:pPr algn="l">
              <a:lnSpc>
                <a:spcPct val="100000"/>
              </a:lnSpc>
            </a:pPr>
            <a:r>
              <a:rPr sz="1000" b="0" i="0">
                <a:solidFill>
                  <a:srgbClr val="FFFFFF"/>
                </a:solidFill>
                <a:latin typeface="Poppins"/>
              </a:rPr>
              <a:t>Commerce agéntico proyectado en retail USA para 2030 (McKinsey) + US$115B adicionales por agentes.</a:t>
            </a:r>
          </a:p>
        </p:txBody>
      </p:sp>
      <p:sp>
        <p:nvSpPr>
          <p:cNvPr id="23" name="TextBox 22"/>
          <p:cNvSpPr txBox="1"/>
          <p:nvPr/>
        </p:nvSpPr>
        <p:spPr>
          <a:xfrm>
            <a:off x="4191000" y="4387850"/>
            <a:ext cx="2159000" cy="152400"/>
          </a:xfrm>
          <a:prstGeom prst="rect">
            <a:avLst/>
          </a:prstGeom>
          <a:noFill/>
        </p:spPr>
        <p:txBody>
          <a:bodyPr wrap="square"/>
          <a:lstStyle/>
          <a:p>
            <a:pPr algn="l">
              <a:lnSpc>
                <a:spcPct val="100000"/>
              </a:lnSpc>
            </a:pPr>
            <a:r>
              <a:rPr sz="650" b="0" i="0">
                <a:solidFill>
                  <a:srgbClr val="666666"/>
                </a:solidFill>
                <a:latin typeface="Poppins"/>
              </a:rPr>
              <a:t>MCKINSEY / MORGAN STANLEY · 2025</a:t>
            </a:r>
          </a:p>
        </p:txBody>
      </p:sp>
      <p:sp>
        <p:nvSpPr>
          <p:cNvPr id="24" name="TextBox 23"/>
          <p:cNvSpPr txBox="1"/>
          <p:nvPr/>
        </p:nvSpPr>
        <p:spPr>
          <a:xfrm>
            <a:off x="4191000" y="4819650"/>
            <a:ext cx="2159000" cy="584200"/>
          </a:xfrm>
          <a:prstGeom prst="rect">
            <a:avLst/>
          </a:prstGeom>
          <a:noFill/>
        </p:spPr>
        <p:txBody>
          <a:bodyPr wrap="square"/>
          <a:lstStyle/>
          <a:p>
            <a:pPr algn="l">
              <a:lnSpc>
                <a:spcPct val="100000"/>
              </a:lnSpc>
            </a:pPr>
            <a:r>
              <a:rPr sz="4000" b="0" i="0">
                <a:solidFill>
                  <a:srgbClr val="FFFFFF"/>
                </a:solidFill>
                <a:latin typeface="Instrument Serif"/>
              </a:rPr>
              <a:t>Pivot</a:t>
            </a:r>
          </a:p>
        </p:txBody>
      </p:sp>
      <p:sp>
        <p:nvSpPr>
          <p:cNvPr id="25" name="TextBox 24"/>
          <p:cNvSpPr txBox="1"/>
          <p:nvPr/>
        </p:nvSpPr>
        <p:spPr>
          <a:xfrm>
            <a:off x="4191000" y="5556250"/>
            <a:ext cx="2159000" cy="476250"/>
          </a:xfrm>
          <a:prstGeom prst="rect">
            <a:avLst/>
          </a:prstGeom>
          <a:noFill/>
        </p:spPr>
        <p:txBody>
          <a:bodyPr wrap="square"/>
          <a:lstStyle/>
          <a:p>
            <a:pPr algn="l">
              <a:lnSpc>
                <a:spcPct val="100000"/>
              </a:lnSpc>
            </a:pPr>
            <a:r>
              <a:rPr sz="1000" b="0" i="0">
                <a:solidFill>
                  <a:srgbClr val="FFFFFF"/>
                </a:solidFill>
                <a:latin typeface="Poppins"/>
              </a:rPr>
              <a:t>Amazon abandona Rufus y pivota a Alexa Shopping Agent que ejecuta compras autónomas.</a:t>
            </a:r>
          </a:p>
        </p:txBody>
      </p:sp>
      <p:sp>
        <p:nvSpPr>
          <p:cNvPr id="26" name="TextBox 25"/>
          <p:cNvSpPr txBox="1"/>
          <p:nvPr/>
        </p:nvSpPr>
        <p:spPr>
          <a:xfrm>
            <a:off x="4191000" y="6184900"/>
            <a:ext cx="2159000" cy="152400"/>
          </a:xfrm>
          <a:prstGeom prst="rect">
            <a:avLst/>
          </a:prstGeom>
          <a:noFill/>
        </p:spPr>
        <p:txBody>
          <a:bodyPr wrap="square"/>
          <a:lstStyle/>
          <a:p>
            <a:pPr algn="l">
              <a:lnSpc>
                <a:spcPct val="100000"/>
              </a:lnSpc>
            </a:pPr>
            <a:r>
              <a:rPr sz="650" b="0" i="0">
                <a:solidFill>
                  <a:srgbClr val="666666"/>
                </a:solidFill>
                <a:latin typeface="Poppins"/>
              </a:rPr>
              <a:t>CNBC · MAYO 2026</a:t>
            </a:r>
          </a:p>
        </p:txBody>
      </p:sp>
      <p:pic>
        <p:nvPicPr>
          <p:cNvPr id="27" name="Picture 26" descr="macro-2-1-tiktok-aishopping-7469936286556589344.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ounded Rectangle 27"/>
          <p:cNvSpPr/>
          <p:nvPr/>
        </p:nvSpPr>
        <p:spPr>
          <a:xfrm>
            <a:off x="8610600" y="2476500"/>
            <a:ext cx="584200" cy="190500"/>
          </a:xfrm>
          <a:prstGeom prst="round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lnSpc>
                <a:spcPct val="100000"/>
              </a:lnSpc>
            </a:pPr>
            <a:r>
              <a:rPr sz="700" b="1" i="0">
                <a:solidFill>
                  <a:srgbClr val="FFFFFF"/>
                </a:solidFill>
                <a:latin typeface="Poppins"/>
              </a:rPr>
              <a:t>CLICK ME ▸</a:t>
            </a:r>
          </a:p>
        </p:txBody>
      </p:sp>
      <p:sp>
        <p:nvSpPr>
          <p:cNvPr id="29" name="TextBox 28"/>
          <p:cNvSpPr txBox="1"/>
          <p:nvPr/>
        </p:nvSpPr>
        <p:spPr>
          <a:xfrm>
            <a:off x="9347200" y="1066800"/>
            <a:ext cx="2057400" cy="609600"/>
          </a:xfrm>
          <a:prstGeom prst="rect">
            <a:avLst/>
          </a:prstGeom>
          <a:noFill/>
        </p:spPr>
        <p:txBody>
          <a:bodyPr wrap="square"/>
          <a:lstStyle/>
          <a:p>
            <a:pPr algn="l">
              <a:lnSpc>
                <a:spcPct val="100000"/>
              </a:lnSpc>
            </a:pPr>
            <a:r>
              <a:rPr sz="1000" b="0" i="0">
                <a:solidFill>
                  <a:srgbClr val="FFFFFF"/>
                </a:solidFill>
                <a:latin typeface="Poppins"/>
              </a:rPr>
              <a:t>#aishopping — creadores documentan cómo la IA selecciona sus compras en TikTok.</a:t>
            </a:r>
          </a:p>
        </p:txBody>
      </p:sp>
      <p:sp>
        <p:nvSpPr>
          <p:cNvPr id="30" name="TextBox 29"/>
          <p:cNvSpPr txBox="1"/>
          <p:nvPr/>
        </p:nvSpPr>
        <p:spPr>
          <a:xfrm>
            <a:off x="9347200" y="1803400"/>
            <a:ext cx="2057400" cy="152400"/>
          </a:xfrm>
          <a:prstGeom prst="rect">
            <a:avLst/>
          </a:prstGeom>
          <a:noFill/>
        </p:spPr>
        <p:txBody>
          <a:bodyPr wrap="square"/>
          <a:lstStyle/>
          <a:p>
            <a:pPr algn="l">
              <a:lnSpc>
                <a:spcPct val="100000"/>
              </a:lnSpc>
            </a:pPr>
            <a:r>
              <a:rPr sz="650" b="0" i="0">
                <a:solidFill>
                  <a:srgbClr val="666666"/>
                </a:solidFill>
                <a:latin typeface="Poppins"/>
              </a:rPr>
              <a:t>TIKTOK @UNIQUE21OFFICIAL · 2025</a:t>
            </a:r>
          </a:p>
        </p:txBody>
      </p:sp>
      <p:pic>
        <p:nvPicPr>
          <p:cNvPr id="31" name="Picture 30" descr="macro-2-1-retailtech-rufus-ai-shopping.png">
            <a:hlinkClick r:id="rId5"/>
          </p:cNvPr>
          <p:cNvPicPr>
            <a:picLocks noChangeAspect="1"/>
          </p:cNvPicPr>
          <p:nvPr/>
        </p:nvPicPr>
        <p:blipFill>
          <a:blip r:embed="rId4"/>
          <a:stretch>
            <a:fillRect/>
          </a:stretch>
        </p:blipFill>
        <p:spPr>
          <a:xfrm>
            <a:off x="8128000" y="3022600"/>
            <a:ext cx="1117600" cy="1651000"/>
          </a:xfrm>
          <a:prstGeom prst="rect">
            <a:avLst/>
          </a:prstGeom>
        </p:spPr>
      </p:pic>
      <p:sp>
        <p:nvSpPr>
          <p:cNvPr id="32" name="Rounded Rectangle 31"/>
          <p:cNvSpPr/>
          <p:nvPr/>
        </p:nvSpPr>
        <p:spPr>
          <a:xfrm>
            <a:off x="8610600" y="4432300"/>
            <a:ext cx="584200" cy="190500"/>
          </a:xfrm>
          <a:prstGeom prst="round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lnSpc>
                <a:spcPct val="100000"/>
              </a:lnSpc>
            </a:pPr>
            <a:r>
              <a:rPr sz="700" b="1" i="0">
                <a:solidFill>
                  <a:srgbClr val="FFFFFF"/>
                </a:solidFill>
                <a:latin typeface="Poppins"/>
              </a:rPr>
              <a:t>CLICK ME ▸</a:t>
            </a:r>
          </a:p>
        </p:txBody>
      </p:sp>
      <p:sp>
        <p:nvSpPr>
          <p:cNvPr id="33" name="TextBox 32"/>
          <p:cNvSpPr txBox="1"/>
          <p:nvPr/>
        </p:nvSpPr>
        <p:spPr>
          <a:xfrm>
            <a:off x="9347200" y="3022600"/>
            <a:ext cx="2057400" cy="609600"/>
          </a:xfrm>
          <a:prstGeom prst="rect">
            <a:avLst/>
          </a:prstGeom>
          <a:noFill/>
        </p:spPr>
        <p:txBody>
          <a:bodyPr wrap="square"/>
          <a:lstStyle/>
          <a:p>
            <a:pPr algn="l">
              <a:lnSpc>
                <a:spcPct val="100000"/>
              </a:lnSpc>
            </a:pPr>
            <a:r>
              <a:rPr sz="1000" b="0" i="0">
                <a:solidFill>
                  <a:srgbClr val="FFFFFF"/>
                </a:solidFill>
                <a:latin typeface="Poppins"/>
              </a:rPr>
              <a:t>Rufus en acción: el agente de IA recomienda en pantalla — la batalla por la intención de compra.</a:t>
            </a:r>
          </a:p>
        </p:txBody>
      </p:sp>
      <p:sp>
        <p:nvSpPr>
          <p:cNvPr id="34" name="TextBox 33"/>
          <p:cNvSpPr txBox="1"/>
          <p:nvPr/>
        </p:nvSpPr>
        <p:spPr>
          <a:xfrm>
            <a:off x="9347200" y="3759200"/>
            <a:ext cx="2057400" cy="152400"/>
          </a:xfrm>
          <a:prstGeom prst="rect">
            <a:avLst/>
          </a:prstGeom>
          <a:noFill/>
        </p:spPr>
        <p:txBody>
          <a:bodyPr wrap="square"/>
          <a:lstStyle/>
          <a:p>
            <a:pPr algn="l">
              <a:lnSpc>
                <a:spcPct val="100000"/>
              </a:lnSpc>
            </a:pPr>
            <a:r>
              <a:rPr sz="650" b="0" i="0">
                <a:solidFill>
                  <a:srgbClr val="666666"/>
                </a:solidFill>
                <a:latin typeface="Poppins"/>
              </a:rPr>
              <a:t>RETAILTECH INNOVATION HUB · ENERO 2026</a:t>
            </a:r>
          </a:p>
        </p:txBody>
      </p:sp>
      <p:pic>
        <p:nvPicPr>
          <p:cNvPr id="35" name="Picture 34" descr="macro-2-1-novadata-rufus-autobuy.png">
            <a:hlinkClick r:id="rId7"/>
          </p:cNvPr>
          <p:cNvPicPr>
            <a:picLocks noChangeAspect="1"/>
          </p:cNvPicPr>
          <p:nvPr/>
        </p:nvPicPr>
        <p:blipFill>
          <a:blip r:embed="rId6"/>
          <a:stretch>
            <a:fillRect/>
          </a:stretch>
        </p:blipFill>
        <p:spPr>
          <a:xfrm>
            <a:off x="8128000" y="4978400"/>
            <a:ext cx="1117600" cy="1651000"/>
          </a:xfrm>
          <a:prstGeom prst="rect">
            <a:avLst/>
          </a:prstGeom>
        </p:spPr>
      </p:pic>
      <p:sp>
        <p:nvSpPr>
          <p:cNvPr id="36" name="Rounded Rectangle 35"/>
          <p:cNvSpPr/>
          <p:nvPr/>
        </p:nvSpPr>
        <p:spPr>
          <a:xfrm>
            <a:off x="8610600" y="6388100"/>
            <a:ext cx="584200" cy="190500"/>
          </a:xfrm>
          <a:prstGeom prst="round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lnSpc>
                <a:spcPct val="100000"/>
              </a:lnSpc>
            </a:pPr>
            <a:r>
              <a:rPr sz="700" b="1" i="0">
                <a:solidFill>
                  <a:srgbClr val="FFFFFF"/>
                </a:solidFill>
                <a:latin typeface="Poppins"/>
              </a:rPr>
              <a:t>CLICK ME ▸</a:t>
            </a:r>
          </a:p>
        </p:txBody>
      </p:sp>
      <p:sp>
        <p:nvSpPr>
          <p:cNvPr id="37" name="TextBox 36"/>
          <p:cNvSpPr txBox="1"/>
          <p:nvPr/>
        </p:nvSpPr>
        <p:spPr>
          <a:xfrm>
            <a:off x="9347200" y="4978400"/>
            <a:ext cx="2057400" cy="457200"/>
          </a:xfrm>
          <a:prstGeom prst="rect">
            <a:avLst/>
          </a:prstGeom>
          <a:noFill/>
        </p:spPr>
        <p:txBody>
          <a:bodyPr wrap="square"/>
          <a:lstStyle/>
          <a:p>
            <a:pPr algn="l">
              <a:lnSpc>
                <a:spcPct val="100000"/>
              </a:lnSpc>
            </a:pPr>
            <a:r>
              <a:rPr sz="1000" b="0" i="0">
                <a:solidFill>
                  <a:srgbClr val="FFFFFF"/>
                </a:solidFill>
                <a:latin typeface="Poppins"/>
              </a:rPr>
              <a:t>Rufus Auto-Buy: 250M usuarios activos mensuales (+149% YoY) — quien lo usa compra 60% más.</a:t>
            </a:r>
          </a:p>
        </p:txBody>
      </p:sp>
      <p:sp>
        <p:nvSpPr>
          <p:cNvPr id="38" name="TextBox 37"/>
          <p:cNvSpPr txBox="1"/>
          <p:nvPr/>
        </p:nvSpPr>
        <p:spPr>
          <a:xfrm>
            <a:off x="9347200" y="5562600"/>
            <a:ext cx="2057400" cy="152400"/>
          </a:xfrm>
          <a:prstGeom prst="rect">
            <a:avLst/>
          </a:prstGeom>
          <a:noFill/>
        </p:spPr>
        <p:txBody>
          <a:bodyPr wrap="square"/>
          <a:lstStyle/>
          <a:p>
            <a:pPr algn="l">
              <a:lnSpc>
                <a:spcPct val="100000"/>
              </a:lnSpc>
            </a:pPr>
            <a:r>
              <a:rPr sz="650" b="0" i="0">
                <a:solidFill>
                  <a:srgbClr val="666666"/>
                </a:solidFill>
                <a:latin typeface="Poppins"/>
              </a:rPr>
              <a:t>NOVA ANALYTICS · 2025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4" name="TextBox 3"/>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5" name="TextBox 4"/>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6" name="Connector 5"/>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254000" y="10668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04800" y="1104900"/>
            <a:ext cx="660400" cy="228600"/>
          </a:xfrm>
          <a:prstGeom prst="rect">
            <a:avLst/>
          </a:prstGeom>
          <a:noFill/>
        </p:spPr>
        <p:txBody>
          <a:bodyPr wrap="square"/>
          <a:lstStyle/>
          <a:p>
            <a:pPr algn="l">
              <a:lnSpc>
                <a:spcPct val="100000"/>
              </a:lnSpc>
            </a:pPr>
            <a:r>
              <a:rPr sz="750" b="1" i="0">
                <a:solidFill>
                  <a:srgbClr val="000000"/>
                </a:solidFill>
                <a:latin typeface="Poppins"/>
              </a:rPr>
              <a:t>MACRO 2</a:t>
            </a:r>
          </a:p>
        </p:txBody>
      </p:sp>
      <p:sp>
        <p:nvSpPr>
          <p:cNvPr id="11" name="Rectangle 10"/>
          <p:cNvSpPr/>
          <p:nvPr/>
        </p:nvSpPr>
        <p:spPr>
          <a:xfrm>
            <a:off x="1041400" y="10668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2200" y="1104900"/>
            <a:ext cx="2717800" cy="228600"/>
          </a:xfrm>
          <a:prstGeom prst="rect">
            <a:avLst/>
          </a:prstGeom>
          <a:noFill/>
        </p:spPr>
        <p:txBody>
          <a:bodyPr wrap="square"/>
          <a:lstStyle/>
          <a:p>
            <a:pPr algn="l">
              <a:lnSpc>
                <a:spcPct val="100000"/>
              </a:lnSpc>
            </a:pPr>
            <a:r>
              <a:rPr sz="750" b="0" i="0">
                <a:solidFill>
                  <a:srgbClr val="A0A0A0"/>
                </a:solidFill>
                <a:latin typeface="Poppins"/>
              </a:rPr>
              <a:t>LOS HERNÁNDEZ ARE PROMPTED</a:t>
            </a:r>
          </a:p>
        </p:txBody>
      </p:sp>
      <p:sp>
        <p:nvSpPr>
          <p:cNvPr id="13" name="TextBox 12"/>
          <p:cNvSpPr txBox="1"/>
          <p:nvPr/>
        </p:nvSpPr>
        <p:spPr>
          <a:xfrm>
            <a:off x="254000" y="1473200"/>
            <a:ext cx="3683000" cy="2336800"/>
          </a:xfrm>
          <a:prstGeom prst="rect">
            <a:avLst/>
          </a:prstGeom>
          <a:noFill/>
        </p:spPr>
        <p:txBody>
          <a:bodyPr wrap="square"/>
          <a:lstStyle/>
          <a:p>
            <a:pPr algn="l">
              <a:lnSpc>
                <a:spcPct val="114000"/>
              </a:lnSpc>
            </a:pPr>
            <a:r>
              <a:rPr sz="2000" b="0" i="0">
                <a:solidFill>
                  <a:srgbClr val="FFFFFF"/>
                </a:solidFill>
                <a:latin typeface="Instrument Serif"/>
              </a:rPr>
              <a:t>PÁGALO EN CUATRO Y NO LO SIENTAS: EL BNPL BORRA EL LÍMITE DEL PRESUPUESTO DE LA EXPERIENCIA DE COMPRA Y CRECE EN LATAM COMO CRÉDITO PARA LOS QUE EL BANCO NO BANCA.</a:t>
            </a:r>
          </a:p>
        </p:txBody>
      </p:sp>
      <p:sp>
        <p:nvSpPr>
          <p:cNvPr id="14" name="TextBox 13"/>
          <p:cNvSpPr txBox="1"/>
          <p:nvPr/>
        </p:nvSpPr>
        <p:spPr>
          <a:xfrm>
            <a:off x="254000" y="39878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4241800"/>
            <a:ext cx="3683000" cy="990600"/>
          </a:xfrm>
          <a:prstGeom prst="rect">
            <a:avLst/>
          </a:prstGeom>
          <a:noFill/>
        </p:spPr>
        <p:txBody>
          <a:bodyPr wrap="square"/>
          <a:lstStyle/>
          <a:p>
            <a:pPr algn="l">
              <a:lnSpc>
                <a:spcPct val="100000"/>
              </a:lnSpc>
            </a:pPr>
            <a:r>
              <a:rPr sz="1000" b="0" i="0">
                <a:solidFill>
                  <a:srgbClr val="FFFFFF"/>
                </a:solidFill>
                <a:latin typeface="Poppins"/>
              </a:rPr>
              <a:t>Partir el pago en cuotas sin tarjeta cambia cómo se siente el precio. En LATAM, donde +40% de la población carece de crédito formal, el BNPL crece como herramienta de inclusión. Mercado Pago, Addi, Kueski funcionan como crédito de facto en el checkout. Compras ahora aunque el flujo esté apretado.</a:t>
            </a:r>
          </a:p>
        </p:txBody>
      </p:sp>
      <p:sp>
        <p:nvSpPr>
          <p:cNvPr id="16" name="TextBox 15"/>
          <p:cNvSpPr txBox="1"/>
          <p:nvPr/>
        </p:nvSpPr>
        <p:spPr>
          <a:xfrm>
            <a:off x="254000" y="54102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5664200"/>
            <a:ext cx="3683000" cy="762000"/>
          </a:xfrm>
          <a:prstGeom prst="rect">
            <a:avLst/>
          </a:prstGeom>
          <a:noFill/>
        </p:spPr>
        <p:txBody>
          <a:bodyPr wrap="square"/>
          <a:lstStyle/>
          <a:p>
            <a:pPr algn="l">
              <a:lnSpc>
                <a:spcPct val="100000"/>
              </a:lnSpc>
            </a:pPr>
            <a:r>
              <a:rPr sz="1600" b="0" i="0">
                <a:solidFill>
                  <a:srgbClr val="FFFFFF"/>
                </a:solidFill>
                <a:latin typeface="Instrument Serif"/>
              </a:rPr>
              <a:t>#bnpl · #cuotassininteres · #pagaen4 · #mercadopago · #fintechlatam</a:t>
            </a:r>
          </a:p>
        </p:txBody>
      </p:sp>
      <p:sp>
        <p:nvSpPr>
          <p:cNvPr id="18" name="TextBox 17"/>
          <p:cNvSpPr txBox="1"/>
          <p:nvPr/>
        </p:nvSpPr>
        <p:spPr>
          <a:xfrm>
            <a:off x="4191000" y="1066800"/>
            <a:ext cx="2159000" cy="584200"/>
          </a:xfrm>
          <a:prstGeom prst="rect">
            <a:avLst/>
          </a:prstGeom>
          <a:noFill/>
        </p:spPr>
        <p:txBody>
          <a:bodyPr wrap="square"/>
          <a:lstStyle/>
          <a:p>
            <a:pPr algn="l">
              <a:lnSpc>
                <a:spcPct val="100000"/>
              </a:lnSpc>
            </a:pPr>
            <a:r>
              <a:rPr sz="4000" b="0" i="0">
                <a:solidFill>
                  <a:srgbClr val="FFFFFF"/>
                </a:solidFill>
                <a:latin typeface="Instrument Serif"/>
              </a:rPr>
              <a:t>US$16.2B</a:t>
            </a:r>
          </a:p>
        </p:txBody>
      </p:sp>
      <p:sp>
        <p:nvSpPr>
          <p:cNvPr id="19" name="TextBox 18"/>
          <p:cNvSpPr txBox="1"/>
          <p:nvPr/>
        </p:nvSpPr>
        <p:spPr>
          <a:xfrm>
            <a:off x="4191000" y="1803400"/>
            <a:ext cx="2159000" cy="476250"/>
          </a:xfrm>
          <a:prstGeom prst="rect">
            <a:avLst/>
          </a:prstGeom>
          <a:noFill/>
        </p:spPr>
        <p:txBody>
          <a:bodyPr wrap="square"/>
          <a:lstStyle/>
          <a:p>
            <a:pPr algn="l">
              <a:lnSpc>
                <a:spcPct val="100000"/>
              </a:lnSpc>
            </a:pPr>
            <a:r>
              <a:rPr sz="1000" b="0" i="0">
                <a:solidFill>
                  <a:srgbClr val="FFFFFF"/>
                </a:solidFill>
                <a:latin typeface="Poppins"/>
              </a:rPr>
              <a:t>BNPL LATAM en 2025 (+27%); +40% de la población sin crédito formal en la región.</a:t>
            </a:r>
          </a:p>
        </p:txBody>
      </p:sp>
      <p:sp>
        <p:nvSpPr>
          <p:cNvPr id="20" name="TextBox 19"/>
          <p:cNvSpPr txBox="1"/>
          <p:nvPr/>
        </p:nvSpPr>
        <p:spPr>
          <a:xfrm>
            <a:off x="4191000" y="2432050"/>
            <a:ext cx="2159000" cy="152400"/>
          </a:xfrm>
          <a:prstGeom prst="rect">
            <a:avLst/>
          </a:prstGeom>
          <a:noFill/>
        </p:spPr>
        <p:txBody>
          <a:bodyPr wrap="square"/>
          <a:lstStyle/>
          <a:p>
            <a:pPr algn="l">
              <a:lnSpc>
                <a:spcPct val="100000"/>
              </a:lnSpc>
            </a:pPr>
            <a:r>
              <a:rPr sz="650" b="0" i="0">
                <a:solidFill>
                  <a:srgbClr val="666666"/>
                </a:solidFill>
                <a:latin typeface="Poppins"/>
              </a:rPr>
              <a:t>LATAM BNPL REPORT · 2025</a:t>
            </a:r>
          </a:p>
        </p:txBody>
      </p:sp>
      <p:sp>
        <p:nvSpPr>
          <p:cNvPr id="21" name="TextBox 20"/>
          <p:cNvSpPr txBox="1"/>
          <p:nvPr/>
        </p:nvSpPr>
        <p:spPr>
          <a:xfrm>
            <a:off x="4191000" y="2863850"/>
            <a:ext cx="2159000" cy="584200"/>
          </a:xfrm>
          <a:prstGeom prst="rect">
            <a:avLst/>
          </a:prstGeom>
          <a:noFill/>
        </p:spPr>
        <p:txBody>
          <a:bodyPr wrap="square"/>
          <a:lstStyle/>
          <a:p>
            <a:pPr algn="l">
              <a:lnSpc>
                <a:spcPct val="100000"/>
              </a:lnSpc>
            </a:pPr>
            <a:r>
              <a:rPr sz="4000" b="0" i="0">
                <a:solidFill>
                  <a:srgbClr val="FFFFFF"/>
                </a:solidFill>
                <a:latin typeface="Instrument Serif"/>
              </a:rPr>
              <a:t>Omni</a:t>
            </a:r>
          </a:p>
        </p:txBody>
      </p:sp>
      <p:sp>
        <p:nvSpPr>
          <p:cNvPr id="22" name="TextBox 21"/>
          <p:cNvSpPr txBox="1"/>
          <p:nvPr/>
        </p:nvSpPr>
        <p:spPr>
          <a:xfrm>
            <a:off x="4191000" y="3600450"/>
            <a:ext cx="2159000" cy="635000"/>
          </a:xfrm>
          <a:prstGeom prst="rect">
            <a:avLst/>
          </a:prstGeom>
          <a:noFill/>
        </p:spPr>
        <p:txBody>
          <a:bodyPr wrap="square"/>
          <a:lstStyle/>
          <a:p>
            <a:pPr algn="l">
              <a:lnSpc>
                <a:spcPct val="100000"/>
              </a:lnSpc>
            </a:pPr>
            <a:r>
              <a:rPr sz="1000" b="0" i="0">
                <a:solidFill>
                  <a:srgbClr val="FFFFFF"/>
                </a:solidFill>
                <a:latin typeface="Poppins"/>
              </a:rPr>
              <a:t>BNPL se expande de e-commerce a in-store y omnicanal en 2026; super apps dominan el ecosistema.</a:t>
            </a:r>
          </a:p>
        </p:txBody>
      </p:sp>
      <p:sp>
        <p:nvSpPr>
          <p:cNvPr id="23" name="TextBox 22"/>
          <p:cNvSpPr txBox="1"/>
          <p:nvPr/>
        </p:nvSpPr>
        <p:spPr>
          <a:xfrm>
            <a:off x="4191000" y="4387850"/>
            <a:ext cx="2159000" cy="152400"/>
          </a:xfrm>
          <a:prstGeom prst="rect">
            <a:avLst/>
          </a:prstGeom>
          <a:noFill/>
        </p:spPr>
        <p:txBody>
          <a:bodyPr wrap="square"/>
          <a:lstStyle/>
          <a:p>
            <a:pPr algn="l">
              <a:lnSpc>
                <a:spcPct val="100000"/>
              </a:lnSpc>
            </a:pPr>
            <a:r>
              <a:rPr sz="650" b="0" i="0">
                <a:solidFill>
                  <a:srgbClr val="666666"/>
                </a:solidFill>
                <a:latin typeface="Poppins"/>
              </a:rPr>
              <a:t>GLOBENEWSWIRE · 2026</a:t>
            </a:r>
          </a:p>
        </p:txBody>
      </p:sp>
      <p:sp>
        <p:nvSpPr>
          <p:cNvPr id="24" name="TextBox 23"/>
          <p:cNvSpPr txBox="1"/>
          <p:nvPr/>
        </p:nvSpPr>
        <p:spPr>
          <a:xfrm>
            <a:off x="4191000" y="4819650"/>
            <a:ext cx="2159000" cy="584200"/>
          </a:xfrm>
          <a:prstGeom prst="rect">
            <a:avLst/>
          </a:prstGeom>
          <a:noFill/>
        </p:spPr>
        <p:txBody>
          <a:bodyPr wrap="square"/>
          <a:lstStyle/>
          <a:p>
            <a:pPr algn="l">
              <a:lnSpc>
                <a:spcPct val="100000"/>
              </a:lnSpc>
            </a:pPr>
            <a:r>
              <a:rPr sz="4000" b="0" i="0">
                <a:solidFill>
                  <a:srgbClr val="FFFFFF"/>
                </a:solidFill>
                <a:latin typeface="Instrument Serif"/>
              </a:rPr>
              <a:t>Inclusión</a:t>
            </a:r>
          </a:p>
        </p:txBody>
      </p:sp>
      <p:sp>
        <p:nvSpPr>
          <p:cNvPr id="25" name="TextBox 24"/>
          <p:cNvSpPr txBox="1"/>
          <p:nvPr/>
        </p:nvSpPr>
        <p:spPr>
          <a:xfrm>
            <a:off x="4191000" y="5556250"/>
            <a:ext cx="2159000" cy="635000"/>
          </a:xfrm>
          <a:prstGeom prst="rect">
            <a:avLst/>
          </a:prstGeom>
          <a:noFill/>
        </p:spPr>
        <p:txBody>
          <a:bodyPr wrap="square"/>
          <a:lstStyle/>
          <a:p>
            <a:pPr algn="l">
              <a:lnSpc>
                <a:spcPct val="100000"/>
              </a:lnSpc>
            </a:pPr>
            <a:r>
              <a:rPr sz="1000" b="0" i="0">
                <a:solidFill>
                  <a:srgbClr val="FFFFFF"/>
                </a:solidFill>
                <a:latin typeface="Poppins"/>
              </a:rPr>
              <a:t>Mercado Pago, Kueski y Creditas diseñan cuotas para no-bancarizados — BNPL como herramienta de acceso.</a:t>
            </a:r>
          </a:p>
        </p:txBody>
      </p:sp>
      <p:sp>
        <p:nvSpPr>
          <p:cNvPr id="26" name="TextBox 25"/>
          <p:cNvSpPr txBox="1"/>
          <p:nvPr/>
        </p:nvSpPr>
        <p:spPr>
          <a:xfrm>
            <a:off x="4191000" y="6343650"/>
            <a:ext cx="2159000" cy="152400"/>
          </a:xfrm>
          <a:prstGeom prst="rect">
            <a:avLst/>
          </a:prstGeom>
          <a:noFill/>
        </p:spPr>
        <p:txBody>
          <a:bodyPr wrap="square"/>
          <a:lstStyle/>
          <a:p>
            <a:pPr algn="l">
              <a:lnSpc>
                <a:spcPct val="100000"/>
              </a:lnSpc>
            </a:pPr>
            <a:r>
              <a:rPr sz="650" b="0" i="0">
                <a:solidFill>
                  <a:srgbClr val="666666"/>
                </a:solidFill>
                <a:latin typeface="Poppins"/>
              </a:rPr>
              <a:t>HOPE RESEARCH GROUP · 2025</a:t>
            </a:r>
          </a:p>
        </p:txBody>
      </p:sp>
      <p:pic>
        <p:nvPicPr>
          <p:cNvPr id="27" name="Picture 26" descr="macro-2-2-addi-bnpl-checkout.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ounded Rectangle 27"/>
          <p:cNvSpPr/>
          <p:nvPr/>
        </p:nvSpPr>
        <p:spPr>
          <a:xfrm>
            <a:off x="8610600" y="2476500"/>
            <a:ext cx="584200" cy="190500"/>
          </a:xfrm>
          <a:prstGeom prst="round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lnSpc>
                <a:spcPct val="100000"/>
              </a:lnSpc>
            </a:pPr>
            <a:r>
              <a:rPr sz="700" b="1" i="0">
                <a:solidFill>
                  <a:srgbClr val="FFFFFF"/>
                </a:solidFill>
                <a:latin typeface="Poppins"/>
              </a:rPr>
              <a:t>CLICK ME ▸</a:t>
            </a:r>
          </a:p>
        </p:txBody>
      </p:sp>
      <p:sp>
        <p:nvSpPr>
          <p:cNvPr id="29" name="TextBox 28"/>
          <p:cNvSpPr txBox="1"/>
          <p:nvPr/>
        </p:nvSpPr>
        <p:spPr>
          <a:xfrm>
            <a:off x="9347200" y="1066800"/>
            <a:ext cx="2057400" cy="609600"/>
          </a:xfrm>
          <a:prstGeom prst="rect">
            <a:avLst/>
          </a:prstGeom>
          <a:noFill/>
        </p:spPr>
        <p:txBody>
          <a:bodyPr wrap="square"/>
          <a:lstStyle/>
          <a:p>
            <a:pPr algn="l">
              <a:lnSpc>
                <a:spcPct val="100000"/>
              </a:lnSpc>
            </a:pPr>
            <a:r>
              <a:rPr sz="1000" b="0" i="0">
                <a:solidFill>
                  <a:srgbClr val="FFFFFF"/>
                </a:solidFill>
                <a:latin typeface="Poppins"/>
              </a:rPr>
              <a:t>ADDI: 'Compra lo que quieres hoy, págalo después' — el BNPL hace invisible el límite del presupuesto.</a:t>
            </a:r>
          </a:p>
        </p:txBody>
      </p:sp>
      <p:sp>
        <p:nvSpPr>
          <p:cNvPr id="30" name="TextBox 29"/>
          <p:cNvSpPr txBox="1"/>
          <p:nvPr/>
        </p:nvSpPr>
        <p:spPr>
          <a:xfrm>
            <a:off x="9347200" y="1803400"/>
            <a:ext cx="2057400" cy="152400"/>
          </a:xfrm>
          <a:prstGeom prst="rect">
            <a:avLst/>
          </a:prstGeom>
          <a:noFill/>
        </p:spPr>
        <p:txBody>
          <a:bodyPr wrap="square"/>
          <a:lstStyle/>
          <a:p>
            <a:pPr algn="l">
              <a:lnSpc>
                <a:spcPct val="100000"/>
              </a:lnSpc>
            </a:pPr>
            <a:r>
              <a:rPr sz="650" b="0" i="0">
                <a:solidFill>
                  <a:srgbClr val="666666"/>
                </a:solidFill>
                <a:latin typeface="Poppins"/>
              </a:rPr>
              <a:t>ADDI · 2025</a:t>
            </a:r>
          </a:p>
        </p:txBody>
      </p:sp>
      <p:pic>
        <p:nvPicPr>
          <p:cNvPr id="31" name="Picture 30" descr="macro-2-2-globenewswire-bnpl-latam-2026.png">
            <a:hlinkClick r:id="rId5"/>
          </p:cNvPr>
          <p:cNvPicPr>
            <a:picLocks noChangeAspect="1"/>
          </p:cNvPicPr>
          <p:nvPr/>
        </p:nvPicPr>
        <p:blipFill>
          <a:blip r:embed="rId4"/>
          <a:stretch>
            <a:fillRect/>
          </a:stretch>
        </p:blipFill>
        <p:spPr>
          <a:xfrm>
            <a:off x="8128000" y="3022600"/>
            <a:ext cx="1117600" cy="1651000"/>
          </a:xfrm>
          <a:prstGeom prst="rect">
            <a:avLst/>
          </a:prstGeom>
        </p:spPr>
      </p:pic>
      <p:sp>
        <p:nvSpPr>
          <p:cNvPr id="32" name="Rounded Rectangle 31"/>
          <p:cNvSpPr/>
          <p:nvPr/>
        </p:nvSpPr>
        <p:spPr>
          <a:xfrm>
            <a:off x="8610600" y="4432300"/>
            <a:ext cx="584200" cy="190500"/>
          </a:xfrm>
          <a:prstGeom prst="round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lnSpc>
                <a:spcPct val="100000"/>
              </a:lnSpc>
            </a:pPr>
            <a:r>
              <a:rPr sz="700" b="1" i="0">
                <a:solidFill>
                  <a:srgbClr val="FFFFFF"/>
                </a:solidFill>
                <a:latin typeface="Poppins"/>
              </a:rPr>
              <a:t>CLICK ME ▸</a:t>
            </a:r>
          </a:p>
        </p:txBody>
      </p:sp>
      <p:sp>
        <p:nvSpPr>
          <p:cNvPr id="33" name="TextBox 32"/>
          <p:cNvSpPr txBox="1"/>
          <p:nvPr/>
        </p:nvSpPr>
        <p:spPr>
          <a:xfrm>
            <a:off x="9347200" y="3022600"/>
            <a:ext cx="2057400" cy="609600"/>
          </a:xfrm>
          <a:prstGeom prst="rect">
            <a:avLst/>
          </a:prstGeom>
          <a:noFill/>
        </p:spPr>
        <p:txBody>
          <a:bodyPr wrap="square"/>
          <a:lstStyle/>
          <a:p>
            <a:pPr algn="l">
              <a:lnSpc>
                <a:spcPct val="100000"/>
              </a:lnSpc>
            </a:pPr>
            <a:r>
              <a:rPr sz="1000" b="0" i="0">
                <a:solidFill>
                  <a:srgbClr val="FFFFFF"/>
                </a:solidFill>
                <a:latin typeface="Poppins"/>
              </a:rPr>
              <a:t>BNPL LATAM 2026: expansión de e-commerce a in-store y omnicanal — super apps dominan.</a:t>
            </a:r>
          </a:p>
        </p:txBody>
      </p:sp>
      <p:sp>
        <p:nvSpPr>
          <p:cNvPr id="34" name="TextBox 33"/>
          <p:cNvSpPr txBox="1"/>
          <p:nvPr/>
        </p:nvSpPr>
        <p:spPr>
          <a:xfrm>
            <a:off x="9347200" y="3759200"/>
            <a:ext cx="2057400" cy="152400"/>
          </a:xfrm>
          <a:prstGeom prst="rect">
            <a:avLst/>
          </a:prstGeom>
          <a:noFill/>
        </p:spPr>
        <p:txBody>
          <a:bodyPr wrap="square"/>
          <a:lstStyle/>
          <a:p>
            <a:pPr algn="l">
              <a:lnSpc>
                <a:spcPct val="100000"/>
              </a:lnSpc>
            </a:pPr>
            <a:r>
              <a:rPr sz="650" b="0" i="0">
                <a:solidFill>
                  <a:srgbClr val="666666"/>
                </a:solidFill>
                <a:latin typeface="Poppins"/>
              </a:rPr>
              <a:t>GLOBENEWSWIRE · ENERO 2026</a:t>
            </a:r>
          </a:p>
        </p:txBody>
      </p:sp>
      <p:pic>
        <p:nvPicPr>
          <p:cNvPr id="35" name="Picture 34" descr="macro-2-0-paymentscmi-ecommerce-rd.png">
            <a:hlinkClick r:id="rId7"/>
          </p:cNvPr>
          <p:cNvPicPr>
            <a:picLocks noChangeAspect="1"/>
          </p:cNvPicPr>
          <p:nvPr/>
        </p:nvPicPr>
        <p:blipFill>
          <a:blip r:embed="rId6"/>
          <a:stretch>
            <a:fillRect/>
          </a:stretch>
        </p:blipFill>
        <p:spPr>
          <a:xfrm>
            <a:off x="8128000" y="4978400"/>
            <a:ext cx="1117600" cy="1651000"/>
          </a:xfrm>
          <a:prstGeom prst="rect">
            <a:avLst/>
          </a:prstGeom>
        </p:spPr>
      </p:pic>
      <p:sp>
        <p:nvSpPr>
          <p:cNvPr id="36" name="Rounded Rectangle 35"/>
          <p:cNvSpPr/>
          <p:nvPr/>
        </p:nvSpPr>
        <p:spPr>
          <a:xfrm>
            <a:off x="8610600" y="6388100"/>
            <a:ext cx="584200" cy="190500"/>
          </a:xfrm>
          <a:prstGeom prst="round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lnSpc>
                <a:spcPct val="100000"/>
              </a:lnSpc>
            </a:pPr>
            <a:r>
              <a:rPr sz="700" b="1" i="0">
                <a:solidFill>
                  <a:srgbClr val="FFFFFF"/>
                </a:solidFill>
                <a:latin typeface="Poppins"/>
              </a:rPr>
              <a:t>CLICK ME ▸</a:t>
            </a:r>
          </a:p>
        </p:txBody>
      </p:sp>
      <p:sp>
        <p:nvSpPr>
          <p:cNvPr id="37" name="TextBox 36"/>
          <p:cNvSpPr txBox="1"/>
          <p:nvPr/>
        </p:nvSpPr>
        <p:spPr>
          <a:xfrm>
            <a:off x="9347200" y="4978400"/>
            <a:ext cx="2057400" cy="609600"/>
          </a:xfrm>
          <a:prstGeom prst="rect">
            <a:avLst/>
          </a:prstGeom>
          <a:noFill/>
        </p:spPr>
        <p:txBody>
          <a:bodyPr wrap="square"/>
          <a:lstStyle/>
          <a:p>
            <a:pPr algn="l">
              <a:lnSpc>
                <a:spcPct val="100000"/>
              </a:lnSpc>
            </a:pPr>
            <a:r>
              <a:rPr sz="1000" b="0" i="0">
                <a:solidFill>
                  <a:srgbClr val="FFFFFF"/>
                </a:solidFill>
                <a:latin typeface="Poppins"/>
              </a:rPr>
              <a:t>E-commerce RD supera US$5.2B en 2025 — PayPal (58%) y tPago (40%) lideran wallets dominicanas.</a:t>
            </a:r>
          </a:p>
        </p:txBody>
      </p:sp>
      <p:sp>
        <p:nvSpPr>
          <p:cNvPr id="38" name="TextBox 37"/>
          <p:cNvSpPr txBox="1"/>
          <p:nvPr/>
        </p:nvSpPr>
        <p:spPr>
          <a:xfrm>
            <a:off x="9347200" y="5715000"/>
            <a:ext cx="2057400" cy="152400"/>
          </a:xfrm>
          <a:prstGeom prst="rect">
            <a:avLst/>
          </a:prstGeom>
          <a:noFill/>
        </p:spPr>
        <p:txBody>
          <a:bodyPr wrap="square"/>
          <a:lstStyle/>
          <a:p>
            <a:pPr algn="l">
              <a:lnSpc>
                <a:spcPct val="100000"/>
              </a:lnSpc>
            </a:pPr>
            <a:r>
              <a:rPr sz="650" b="0" i="0">
                <a:solidFill>
                  <a:srgbClr val="666666"/>
                </a:solidFill>
                <a:latin typeface="Poppins"/>
              </a:rPr>
              <a:t>PAYMENTSCMI · 2025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4" name="TextBox 3"/>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5" name="TextBox 4"/>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6" name="Connector 5"/>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254000" y="10668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04800" y="1104900"/>
            <a:ext cx="660400" cy="228600"/>
          </a:xfrm>
          <a:prstGeom prst="rect">
            <a:avLst/>
          </a:prstGeom>
          <a:noFill/>
        </p:spPr>
        <p:txBody>
          <a:bodyPr wrap="square"/>
          <a:lstStyle/>
          <a:p>
            <a:pPr algn="l">
              <a:lnSpc>
                <a:spcPct val="100000"/>
              </a:lnSpc>
            </a:pPr>
            <a:r>
              <a:rPr sz="750" b="1" i="0">
                <a:solidFill>
                  <a:srgbClr val="000000"/>
                </a:solidFill>
                <a:latin typeface="Poppins"/>
              </a:rPr>
              <a:t>MACRO 2</a:t>
            </a:r>
          </a:p>
        </p:txBody>
      </p:sp>
      <p:sp>
        <p:nvSpPr>
          <p:cNvPr id="11" name="Rectangle 10"/>
          <p:cNvSpPr/>
          <p:nvPr/>
        </p:nvSpPr>
        <p:spPr>
          <a:xfrm>
            <a:off x="1041400" y="10668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2200" y="1104900"/>
            <a:ext cx="2717800" cy="228600"/>
          </a:xfrm>
          <a:prstGeom prst="rect">
            <a:avLst/>
          </a:prstGeom>
          <a:noFill/>
        </p:spPr>
        <p:txBody>
          <a:bodyPr wrap="square"/>
          <a:lstStyle/>
          <a:p>
            <a:pPr algn="l">
              <a:lnSpc>
                <a:spcPct val="100000"/>
              </a:lnSpc>
            </a:pPr>
            <a:r>
              <a:rPr sz="750" b="0" i="0">
                <a:solidFill>
                  <a:srgbClr val="A0A0A0"/>
                </a:solidFill>
                <a:latin typeface="Poppins"/>
              </a:rPr>
              <a:t>LOS HERNÁNDEZ ARE PROMPTED</a:t>
            </a:r>
          </a:p>
        </p:txBody>
      </p:sp>
      <p:sp>
        <p:nvSpPr>
          <p:cNvPr id="13" name="TextBox 12"/>
          <p:cNvSpPr txBox="1"/>
          <p:nvPr/>
        </p:nvSpPr>
        <p:spPr>
          <a:xfrm>
            <a:off x="254000" y="1473200"/>
            <a:ext cx="3683000" cy="2336800"/>
          </a:xfrm>
          <a:prstGeom prst="rect">
            <a:avLst/>
          </a:prstGeom>
          <a:noFill/>
        </p:spPr>
        <p:txBody>
          <a:bodyPr wrap="square"/>
          <a:lstStyle/>
          <a:p>
            <a:pPr algn="l">
              <a:lnSpc>
                <a:spcPct val="114000"/>
              </a:lnSpc>
            </a:pPr>
            <a:r>
              <a:rPr sz="2000" b="0" i="0">
                <a:solidFill>
                  <a:srgbClr val="FFFFFF"/>
                </a:solidFill>
                <a:latin typeface="Instrument Serif"/>
              </a:rPr>
              <a:t>EL CHECKOUT SE MUDÓ ADENTRO DEL VIDEO: TIKTOK SHOP COLAPSA ENTRETENIMIENTO Y COMPRA, Y EN BRASIL EL GMV PASÓ DE US$1M A US$25.7M EN TRES MESES.</a:t>
            </a:r>
          </a:p>
        </p:txBody>
      </p:sp>
      <p:sp>
        <p:nvSpPr>
          <p:cNvPr id="14" name="TextBox 13"/>
          <p:cNvSpPr txBox="1"/>
          <p:nvPr/>
        </p:nvSpPr>
        <p:spPr>
          <a:xfrm>
            <a:off x="254000" y="39878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4241800"/>
            <a:ext cx="3683000" cy="990600"/>
          </a:xfrm>
          <a:prstGeom prst="rect">
            <a:avLst/>
          </a:prstGeom>
          <a:noFill/>
        </p:spPr>
        <p:txBody>
          <a:bodyPr wrap="square"/>
          <a:lstStyle/>
          <a:p>
            <a:pPr algn="l">
              <a:lnSpc>
                <a:spcPct val="100000"/>
              </a:lnSpc>
            </a:pPr>
            <a:r>
              <a:rPr sz="1000" b="0" i="0">
                <a:solidFill>
                  <a:srgbClr val="FFFFFF"/>
                </a:solidFill>
                <a:latin typeface="Poppins"/>
              </a:rPr>
              <a:t>Ver y comprar eran dos momentos separados. TikTok Shop los fundió: el 'yellow basket' vive dentro del video, descubres-deseas-pagas en segundos sin salir del scroll. Ya está en cinco países de LATAM y los registros de sellers subieron +300% en México desde 2023.</a:t>
            </a:r>
          </a:p>
        </p:txBody>
      </p:sp>
      <p:sp>
        <p:nvSpPr>
          <p:cNvPr id="16" name="TextBox 15"/>
          <p:cNvSpPr txBox="1"/>
          <p:nvPr/>
        </p:nvSpPr>
        <p:spPr>
          <a:xfrm>
            <a:off x="254000" y="54102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5664200"/>
            <a:ext cx="3683000" cy="762000"/>
          </a:xfrm>
          <a:prstGeom prst="rect">
            <a:avLst/>
          </a:prstGeom>
          <a:noFill/>
        </p:spPr>
        <p:txBody>
          <a:bodyPr wrap="square"/>
          <a:lstStyle/>
          <a:p>
            <a:pPr algn="l">
              <a:lnSpc>
                <a:spcPct val="100000"/>
              </a:lnSpc>
            </a:pPr>
            <a:r>
              <a:rPr sz="1600" b="0" i="0">
                <a:solidFill>
                  <a:srgbClr val="FFFFFF"/>
                </a:solidFill>
                <a:latin typeface="Instrument Serif"/>
              </a:rPr>
              <a:t>#tiktokshop · #tiktokmademebuyit · #socialcommerce · #compraporredes · #yellowbasket</a:t>
            </a:r>
          </a:p>
        </p:txBody>
      </p:sp>
      <p:sp>
        <p:nvSpPr>
          <p:cNvPr id="18" name="TextBox 17"/>
          <p:cNvSpPr txBox="1"/>
          <p:nvPr/>
        </p:nvSpPr>
        <p:spPr>
          <a:xfrm>
            <a:off x="4191000" y="1066800"/>
            <a:ext cx="2159000" cy="584200"/>
          </a:xfrm>
          <a:prstGeom prst="rect">
            <a:avLst/>
          </a:prstGeom>
          <a:noFill/>
        </p:spPr>
        <p:txBody>
          <a:bodyPr wrap="square"/>
          <a:lstStyle/>
          <a:p>
            <a:pPr algn="l">
              <a:lnSpc>
                <a:spcPct val="100000"/>
              </a:lnSpc>
            </a:pPr>
            <a:r>
              <a:rPr sz="4000" b="0" i="0">
                <a:solidFill>
                  <a:srgbClr val="FFFFFF"/>
                </a:solidFill>
                <a:latin typeface="Instrument Serif"/>
              </a:rPr>
              <a:t>+300%</a:t>
            </a:r>
          </a:p>
        </p:txBody>
      </p:sp>
      <p:sp>
        <p:nvSpPr>
          <p:cNvPr id="19" name="TextBox 18"/>
          <p:cNvSpPr txBox="1"/>
          <p:nvPr/>
        </p:nvSpPr>
        <p:spPr>
          <a:xfrm>
            <a:off x="4191000" y="1803400"/>
            <a:ext cx="2159000" cy="635000"/>
          </a:xfrm>
          <a:prstGeom prst="rect">
            <a:avLst/>
          </a:prstGeom>
          <a:noFill/>
        </p:spPr>
        <p:txBody>
          <a:bodyPr wrap="square"/>
          <a:lstStyle/>
          <a:p>
            <a:pPr algn="l">
              <a:lnSpc>
                <a:spcPct val="100000"/>
              </a:lnSpc>
            </a:pPr>
            <a:r>
              <a:rPr sz="1000" b="0" i="0">
                <a:solidFill>
                  <a:srgbClr val="FFFFFF"/>
                </a:solidFill>
                <a:latin typeface="Poppins"/>
              </a:rPr>
              <a:t>Registros de sellers TikTok Shop en México desde 2023; en Brasil GMV de US$1M a US$25.7M en 3 meses.</a:t>
            </a:r>
          </a:p>
        </p:txBody>
      </p:sp>
      <p:sp>
        <p:nvSpPr>
          <p:cNvPr id="20" name="TextBox 19"/>
          <p:cNvSpPr txBox="1"/>
          <p:nvPr/>
        </p:nvSpPr>
        <p:spPr>
          <a:xfrm>
            <a:off x="4191000" y="2590800"/>
            <a:ext cx="2159000" cy="152400"/>
          </a:xfrm>
          <a:prstGeom prst="rect">
            <a:avLst/>
          </a:prstGeom>
          <a:noFill/>
        </p:spPr>
        <p:txBody>
          <a:bodyPr wrap="square"/>
          <a:lstStyle/>
          <a:p>
            <a:pPr algn="l">
              <a:lnSpc>
                <a:spcPct val="100000"/>
              </a:lnSpc>
            </a:pPr>
            <a:r>
              <a:rPr sz="650" b="0" i="0">
                <a:solidFill>
                  <a:srgbClr val="666666"/>
                </a:solidFill>
                <a:latin typeface="Poppins"/>
              </a:rPr>
              <a:t>AWISEE / M2E CLOUD · 2025</a:t>
            </a:r>
          </a:p>
        </p:txBody>
      </p:sp>
      <p:sp>
        <p:nvSpPr>
          <p:cNvPr id="21" name="TextBox 20"/>
          <p:cNvSpPr txBox="1"/>
          <p:nvPr/>
        </p:nvSpPr>
        <p:spPr>
          <a:xfrm>
            <a:off x="4191000" y="3022600"/>
            <a:ext cx="2159000" cy="584200"/>
          </a:xfrm>
          <a:prstGeom prst="rect">
            <a:avLst/>
          </a:prstGeom>
          <a:noFill/>
        </p:spPr>
        <p:txBody>
          <a:bodyPr wrap="square"/>
          <a:lstStyle/>
          <a:p>
            <a:pPr algn="l">
              <a:lnSpc>
                <a:spcPct val="100000"/>
              </a:lnSpc>
            </a:pPr>
            <a:r>
              <a:rPr sz="4000" b="0" i="0">
                <a:solidFill>
                  <a:srgbClr val="FFFFFF"/>
                </a:solidFill>
                <a:latin typeface="Instrument Serif"/>
              </a:rPr>
              <a:t>20%</a:t>
            </a:r>
          </a:p>
        </p:txBody>
      </p:sp>
      <p:sp>
        <p:nvSpPr>
          <p:cNvPr id="22" name="TextBox 21"/>
          <p:cNvSpPr txBox="1"/>
          <p:nvPr/>
        </p:nvSpPr>
        <p:spPr>
          <a:xfrm>
            <a:off x="4191000" y="3759200"/>
            <a:ext cx="2159000" cy="476250"/>
          </a:xfrm>
          <a:prstGeom prst="rect">
            <a:avLst/>
          </a:prstGeom>
          <a:noFill/>
        </p:spPr>
        <p:txBody>
          <a:bodyPr wrap="square"/>
          <a:lstStyle/>
          <a:p>
            <a:pPr algn="l">
              <a:lnSpc>
                <a:spcPct val="100000"/>
              </a:lnSpc>
            </a:pPr>
            <a:r>
              <a:rPr sz="1000" b="0" i="0">
                <a:solidFill>
                  <a:srgbClr val="FFFFFF"/>
                </a:solidFill>
                <a:latin typeface="Poppins"/>
              </a:rPr>
              <a:t>TikTok Shop captura ~18-20% del social commerce USA; proyectado a 24.1% en 2027.</a:t>
            </a:r>
          </a:p>
        </p:txBody>
      </p:sp>
      <p:sp>
        <p:nvSpPr>
          <p:cNvPr id="23" name="TextBox 22"/>
          <p:cNvSpPr txBox="1"/>
          <p:nvPr/>
        </p:nvSpPr>
        <p:spPr>
          <a:xfrm>
            <a:off x="4191000" y="4387850"/>
            <a:ext cx="2159000" cy="152400"/>
          </a:xfrm>
          <a:prstGeom prst="rect">
            <a:avLst/>
          </a:prstGeom>
          <a:noFill/>
        </p:spPr>
        <p:txBody>
          <a:bodyPr wrap="square"/>
          <a:lstStyle/>
          <a:p>
            <a:pPr algn="l">
              <a:lnSpc>
                <a:spcPct val="100000"/>
              </a:lnSpc>
            </a:pPr>
            <a:r>
              <a:rPr sz="650" b="0" i="0">
                <a:solidFill>
                  <a:srgbClr val="666666"/>
                </a:solidFill>
                <a:latin typeface="Poppins"/>
              </a:rPr>
              <a:t>EMARKETER · 2025</a:t>
            </a:r>
          </a:p>
        </p:txBody>
      </p:sp>
      <p:sp>
        <p:nvSpPr>
          <p:cNvPr id="24" name="TextBox 23"/>
          <p:cNvSpPr txBox="1"/>
          <p:nvPr/>
        </p:nvSpPr>
        <p:spPr>
          <a:xfrm>
            <a:off x="4191000" y="4819650"/>
            <a:ext cx="2159000" cy="584200"/>
          </a:xfrm>
          <a:prstGeom prst="rect">
            <a:avLst/>
          </a:prstGeom>
          <a:noFill/>
        </p:spPr>
        <p:txBody>
          <a:bodyPr wrap="square"/>
          <a:lstStyle/>
          <a:p>
            <a:pPr algn="l">
              <a:lnSpc>
                <a:spcPct val="100000"/>
              </a:lnSpc>
            </a:pPr>
            <a:r>
              <a:rPr sz="4000" b="0" i="0">
                <a:solidFill>
                  <a:srgbClr val="FFFFFF"/>
                </a:solidFill>
                <a:latin typeface="Instrument Serif"/>
              </a:rPr>
              <a:t>US$20B</a:t>
            </a:r>
          </a:p>
        </p:txBody>
      </p:sp>
      <p:sp>
        <p:nvSpPr>
          <p:cNvPr id="25" name="TextBox 24"/>
          <p:cNvSpPr txBox="1"/>
          <p:nvPr/>
        </p:nvSpPr>
        <p:spPr>
          <a:xfrm>
            <a:off x="4191000" y="5556250"/>
            <a:ext cx="2159000" cy="635000"/>
          </a:xfrm>
          <a:prstGeom prst="rect">
            <a:avLst/>
          </a:prstGeom>
          <a:noFill/>
        </p:spPr>
        <p:txBody>
          <a:bodyPr wrap="square"/>
          <a:lstStyle/>
          <a:p>
            <a:pPr algn="l">
              <a:lnSpc>
                <a:spcPct val="100000"/>
              </a:lnSpc>
            </a:pPr>
            <a:r>
              <a:rPr sz="1000" b="0" i="0">
                <a:solidFill>
                  <a:srgbClr val="FFFFFF"/>
                </a:solidFill>
                <a:latin typeface="Poppins"/>
              </a:rPr>
              <a:t>Social commerce LATAM proyectado para 2025; +60% sigue influencers que recomiendan o venden.</a:t>
            </a:r>
          </a:p>
        </p:txBody>
      </p:sp>
      <p:sp>
        <p:nvSpPr>
          <p:cNvPr id="26" name="TextBox 25"/>
          <p:cNvSpPr txBox="1"/>
          <p:nvPr/>
        </p:nvSpPr>
        <p:spPr>
          <a:xfrm>
            <a:off x="4191000" y="6343650"/>
            <a:ext cx="2159000" cy="152400"/>
          </a:xfrm>
          <a:prstGeom prst="rect">
            <a:avLst/>
          </a:prstGeom>
          <a:noFill/>
        </p:spPr>
        <p:txBody>
          <a:bodyPr wrap="square"/>
          <a:lstStyle/>
          <a:p>
            <a:pPr algn="l">
              <a:lnSpc>
                <a:spcPct val="100000"/>
              </a:lnSpc>
            </a:pPr>
            <a:r>
              <a:rPr sz="650" b="0" i="0">
                <a:solidFill>
                  <a:srgbClr val="666666"/>
                </a:solidFill>
                <a:latin typeface="Poppins"/>
              </a:rPr>
              <a:t>LATAM INTERSECT PR · 2025</a:t>
            </a:r>
          </a:p>
        </p:txBody>
      </p:sp>
      <p:pic>
        <p:nvPicPr>
          <p:cNvPr id="27" name="Picture 26" descr="macro-2-3-tiktok-tiktokshop-7441997574112021806.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ounded Rectangle 27"/>
          <p:cNvSpPr/>
          <p:nvPr/>
        </p:nvSpPr>
        <p:spPr>
          <a:xfrm>
            <a:off x="8610600" y="2476500"/>
            <a:ext cx="584200" cy="190500"/>
          </a:xfrm>
          <a:prstGeom prst="round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lnSpc>
                <a:spcPct val="100000"/>
              </a:lnSpc>
            </a:pPr>
            <a:r>
              <a:rPr sz="700" b="1" i="0">
                <a:solidFill>
                  <a:srgbClr val="FFFFFF"/>
                </a:solidFill>
                <a:latin typeface="Poppins"/>
              </a:rPr>
              <a:t>CLICK ME ▸</a:t>
            </a:r>
          </a:p>
        </p:txBody>
      </p:sp>
      <p:sp>
        <p:nvSpPr>
          <p:cNvPr id="29" name="TextBox 28"/>
          <p:cNvSpPr txBox="1"/>
          <p:nvPr/>
        </p:nvSpPr>
        <p:spPr>
          <a:xfrm>
            <a:off x="9347200" y="1066800"/>
            <a:ext cx="2057400" cy="609600"/>
          </a:xfrm>
          <a:prstGeom prst="rect">
            <a:avLst/>
          </a:prstGeom>
          <a:noFill/>
        </p:spPr>
        <p:txBody>
          <a:bodyPr wrap="square"/>
          <a:lstStyle/>
          <a:p>
            <a:pPr algn="l">
              <a:lnSpc>
                <a:spcPct val="100000"/>
              </a:lnSpc>
            </a:pPr>
            <a:r>
              <a:rPr sz="1000" b="0" i="0">
                <a:solidFill>
                  <a:srgbClr val="FFFFFF"/>
                </a:solidFill>
                <a:latin typeface="Poppins"/>
              </a:rPr>
              <a:t>Creador LATAM explicando TikTok Shop — el checkout integrado al video llega a vendedores locales.</a:t>
            </a:r>
          </a:p>
        </p:txBody>
      </p:sp>
      <p:sp>
        <p:nvSpPr>
          <p:cNvPr id="30" name="TextBox 29"/>
          <p:cNvSpPr txBox="1"/>
          <p:nvPr/>
        </p:nvSpPr>
        <p:spPr>
          <a:xfrm>
            <a:off x="9347200" y="1803400"/>
            <a:ext cx="2057400" cy="152400"/>
          </a:xfrm>
          <a:prstGeom prst="rect">
            <a:avLst/>
          </a:prstGeom>
          <a:noFill/>
        </p:spPr>
        <p:txBody>
          <a:bodyPr wrap="square"/>
          <a:lstStyle/>
          <a:p>
            <a:pPr algn="l">
              <a:lnSpc>
                <a:spcPct val="100000"/>
              </a:lnSpc>
            </a:pPr>
            <a:r>
              <a:rPr sz="650" b="0" i="0">
                <a:solidFill>
                  <a:srgbClr val="666666"/>
                </a:solidFill>
                <a:latin typeface="Poppins"/>
              </a:rPr>
              <a:t>TIKTOK @CRECE.CON.LAMORE · 2025</a:t>
            </a:r>
          </a:p>
        </p:txBody>
      </p:sp>
      <p:pic>
        <p:nvPicPr>
          <p:cNvPr id="31" name="Picture 30" descr="macro-2-3-awisee-tiktokshop-latam.png">
            <a:hlinkClick r:id="rId5"/>
          </p:cNvPr>
          <p:cNvPicPr>
            <a:picLocks noChangeAspect="1"/>
          </p:cNvPicPr>
          <p:nvPr/>
        </p:nvPicPr>
        <p:blipFill>
          <a:blip r:embed="rId4"/>
          <a:stretch>
            <a:fillRect/>
          </a:stretch>
        </p:blipFill>
        <p:spPr>
          <a:xfrm>
            <a:off x="8128000" y="3022600"/>
            <a:ext cx="1117600" cy="1651000"/>
          </a:xfrm>
          <a:prstGeom prst="rect">
            <a:avLst/>
          </a:prstGeom>
        </p:spPr>
      </p:pic>
      <p:sp>
        <p:nvSpPr>
          <p:cNvPr id="32" name="Rounded Rectangle 31"/>
          <p:cNvSpPr/>
          <p:nvPr/>
        </p:nvSpPr>
        <p:spPr>
          <a:xfrm>
            <a:off x="8610600" y="4432300"/>
            <a:ext cx="584200" cy="190500"/>
          </a:xfrm>
          <a:prstGeom prst="round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lnSpc>
                <a:spcPct val="100000"/>
              </a:lnSpc>
            </a:pPr>
            <a:r>
              <a:rPr sz="700" b="1" i="0">
                <a:solidFill>
                  <a:srgbClr val="FFFFFF"/>
                </a:solidFill>
                <a:latin typeface="Poppins"/>
              </a:rPr>
              <a:t>CLICK ME ▸</a:t>
            </a:r>
          </a:p>
        </p:txBody>
      </p:sp>
      <p:sp>
        <p:nvSpPr>
          <p:cNvPr id="33" name="TextBox 32"/>
          <p:cNvSpPr txBox="1"/>
          <p:nvPr/>
        </p:nvSpPr>
        <p:spPr>
          <a:xfrm>
            <a:off x="9347200" y="3022600"/>
            <a:ext cx="2057400" cy="457200"/>
          </a:xfrm>
          <a:prstGeom prst="rect">
            <a:avLst/>
          </a:prstGeom>
          <a:noFill/>
        </p:spPr>
        <p:txBody>
          <a:bodyPr wrap="square"/>
          <a:lstStyle/>
          <a:p>
            <a:pPr algn="l">
              <a:lnSpc>
                <a:spcPct val="100000"/>
              </a:lnSpc>
            </a:pPr>
            <a:r>
              <a:rPr sz="1000" b="0" i="0">
                <a:solidFill>
                  <a:srgbClr val="FFFFFF"/>
                </a:solidFill>
                <a:latin typeface="Poppins"/>
              </a:rPr>
              <a:t>TikTok Shop en MX, BR, CO, CL, PE — en Brasil GMV pasó de US$1M a US$25.7M en 3 meses.</a:t>
            </a:r>
          </a:p>
        </p:txBody>
      </p:sp>
      <p:sp>
        <p:nvSpPr>
          <p:cNvPr id="34" name="TextBox 33"/>
          <p:cNvSpPr txBox="1"/>
          <p:nvPr/>
        </p:nvSpPr>
        <p:spPr>
          <a:xfrm>
            <a:off x="9347200" y="3606800"/>
            <a:ext cx="2057400" cy="152400"/>
          </a:xfrm>
          <a:prstGeom prst="rect">
            <a:avLst/>
          </a:prstGeom>
          <a:noFill/>
        </p:spPr>
        <p:txBody>
          <a:bodyPr wrap="square"/>
          <a:lstStyle/>
          <a:p>
            <a:pPr algn="l">
              <a:lnSpc>
                <a:spcPct val="100000"/>
              </a:lnSpc>
            </a:pPr>
            <a:r>
              <a:rPr sz="650" b="0" i="0">
                <a:solidFill>
                  <a:srgbClr val="666666"/>
                </a:solidFill>
                <a:latin typeface="Poppins"/>
              </a:rPr>
              <a:t>AWISEE · 2025</a:t>
            </a:r>
          </a:p>
        </p:txBody>
      </p:sp>
      <p:pic>
        <p:nvPicPr>
          <p:cNvPr id="35" name="Picture 34" descr="macro-2-3-emarketer-tiktokshop-20pct.png">
            <a:hlinkClick r:id="rId7"/>
          </p:cNvPr>
          <p:cNvPicPr>
            <a:picLocks noChangeAspect="1"/>
          </p:cNvPicPr>
          <p:nvPr/>
        </p:nvPicPr>
        <p:blipFill>
          <a:blip r:embed="rId6"/>
          <a:stretch>
            <a:fillRect/>
          </a:stretch>
        </p:blipFill>
        <p:spPr>
          <a:xfrm>
            <a:off x="8128000" y="4978400"/>
            <a:ext cx="1117600" cy="1651000"/>
          </a:xfrm>
          <a:prstGeom prst="rect">
            <a:avLst/>
          </a:prstGeom>
        </p:spPr>
      </p:pic>
      <p:sp>
        <p:nvSpPr>
          <p:cNvPr id="36" name="Rounded Rectangle 35"/>
          <p:cNvSpPr/>
          <p:nvPr/>
        </p:nvSpPr>
        <p:spPr>
          <a:xfrm>
            <a:off x="8610600" y="6388100"/>
            <a:ext cx="584200" cy="190500"/>
          </a:xfrm>
          <a:prstGeom prst="round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lnSpc>
                <a:spcPct val="100000"/>
              </a:lnSpc>
            </a:pPr>
            <a:r>
              <a:rPr sz="700" b="1" i="0">
                <a:solidFill>
                  <a:srgbClr val="FFFFFF"/>
                </a:solidFill>
                <a:latin typeface="Poppins"/>
              </a:rPr>
              <a:t>CLICK ME ▸</a:t>
            </a:r>
          </a:p>
        </p:txBody>
      </p:sp>
      <p:sp>
        <p:nvSpPr>
          <p:cNvPr id="37" name="TextBox 36"/>
          <p:cNvSpPr txBox="1"/>
          <p:nvPr/>
        </p:nvSpPr>
        <p:spPr>
          <a:xfrm>
            <a:off x="9347200" y="4978400"/>
            <a:ext cx="2057400" cy="457200"/>
          </a:xfrm>
          <a:prstGeom prst="rect">
            <a:avLst/>
          </a:prstGeom>
          <a:noFill/>
        </p:spPr>
        <p:txBody>
          <a:bodyPr wrap="square"/>
          <a:lstStyle/>
          <a:p>
            <a:pPr algn="l">
              <a:lnSpc>
                <a:spcPct val="100000"/>
              </a:lnSpc>
            </a:pPr>
            <a:r>
              <a:rPr sz="1000" b="0" i="0">
                <a:solidFill>
                  <a:srgbClr val="FFFFFF"/>
                </a:solidFill>
                <a:latin typeface="Poppins"/>
              </a:rPr>
              <a:t>TikTok Shop captura ~20% del social commerce USA en 2025; proyectado a 24.1% en 2027.</a:t>
            </a:r>
          </a:p>
        </p:txBody>
      </p:sp>
      <p:sp>
        <p:nvSpPr>
          <p:cNvPr id="38" name="TextBox 37"/>
          <p:cNvSpPr txBox="1"/>
          <p:nvPr/>
        </p:nvSpPr>
        <p:spPr>
          <a:xfrm>
            <a:off x="9347200" y="5562600"/>
            <a:ext cx="2057400" cy="152400"/>
          </a:xfrm>
          <a:prstGeom prst="rect">
            <a:avLst/>
          </a:prstGeom>
          <a:noFill/>
        </p:spPr>
        <p:txBody>
          <a:bodyPr wrap="square"/>
          <a:lstStyle/>
          <a:p>
            <a:pPr algn="l">
              <a:lnSpc>
                <a:spcPct val="100000"/>
              </a:lnSpc>
            </a:pPr>
            <a:r>
              <a:rPr sz="650" b="0" i="0">
                <a:solidFill>
                  <a:srgbClr val="666666"/>
                </a:solidFill>
                <a:latin typeface="Poppins"/>
              </a:rPr>
              <a:t>EMARKETER · 2025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4" name="TextBox 3"/>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5" name="TextBox 4"/>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6" name="Connector 5"/>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254000" y="10668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04800" y="1104900"/>
            <a:ext cx="660400" cy="228600"/>
          </a:xfrm>
          <a:prstGeom prst="rect">
            <a:avLst/>
          </a:prstGeom>
          <a:noFill/>
        </p:spPr>
        <p:txBody>
          <a:bodyPr wrap="square"/>
          <a:lstStyle/>
          <a:p>
            <a:pPr algn="l">
              <a:lnSpc>
                <a:spcPct val="100000"/>
              </a:lnSpc>
            </a:pPr>
            <a:r>
              <a:rPr sz="750" b="1" i="0">
                <a:solidFill>
                  <a:srgbClr val="000000"/>
                </a:solidFill>
                <a:latin typeface="Poppins"/>
              </a:rPr>
              <a:t>MACRO 2</a:t>
            </a:r>
          </a:p>
        </p:txBody>
      </p:sp>
      <p:sp>
        <p:nvSpPr>
          <p:cNvPr id="11" name="Rectangle 10"/>
          <p:cNvSpPr/>
          <p:nvPr/>
        </p:nvSpPr>
        <p:spPr>
          <a:xfrm>
            <a:off x="1041400" y="10668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2200" y="1104900"/>
            <a:ext cx="2717800" cy="228600"/>
          </a:xfrm>
          <a:prstGeom prst="rect">
            <a:avLst/>
          </a:prstGeom>
          <a:noFill/>
        </p:spPr>
        <p:txBody>
          <a:bodyPr wrap="square"/>
          <a:lstStyle/>
          <a:p>
            <a:pPr algn="l">
              <a:lnSpc>
                <a:spcPct val="100000"/>
              </a:lnSpc>
            </a:pPr>
            <a:r>
              <a:rPr sz="750" b="0" i="0">
                <a:solidFill>
                  <a:srgbClr val="A0A0A0"/>
                </a:solidFill>
                <a:latin typeface="Poppins"/>
              </a:rPr>
              <a:t>LOS HERNÁNDEZ ARE PROMPTED</a:t>
            </a:r>
          </a:p>
        </p:txBody>
      </p:sp>
      <p:sp>
        <p:nvSpPr>
          <p:cNvPr id="13" name="TextBox 12"/>
          <p:cNvSpPr txBox="1"/>
          <p:nvPr/>
        </p:nvSpPr>
        <p:spPr>
          <a:xfrm>
            <a:off x="254000" y="1473200"/>
            <a:ext cx="3683000" cy="2628899"/>
          </a:xfrm>
          <a:prstGeom prst="rect">
            <a:avLst/>
          </a:prstGeom>
          <a:noFill/>
        </p:spPr>
        <p:txBody>
          <a:bodyPr wrap="square"/>
          <a:lstStyle/>
          <a:p>
            <a:pPr algn="l">
              <a:lnSpc>
                <a:spcPct val="114000"/>
              </a:lnSpc>
            </a:pPr>
            <a:r>
              <a:rPr sz="2000" b="0" i="0">
                <a:solidFill>
                  <a:srgbClr val="FFFFFF"/>
                </a:solidFill>
                <a:latin typeface="Instrument Serif"/>
              </a:rPr>
              <a:t>LA DESPENSA EMPEZÓ A LLENARSE SOLA: ESTANTERÍAS INTELIGENTES Y ELECTRODOMÉSTICOS CONECTADOS PESAN EL DETERGENTE Y LO REORDENAN ANTES DE QUE SE ACABE.</a:t>
            </a:r>
          </a:p>
        </p:txBody>
      </p:sp>
      <p:sp>
        <p:nvSpPr>
          <p:cNvPr id="14" name="TextBox 13"/>
          <p:cNvSpPr txBox="1"/>
          <p:nvPr/>
        </p:nvSpPr>
        <p:spPr>
          <a:xfrm>
            <a:off x="254000" y="42799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4533900"/>
            <a:ext cx="3683000" cy="990600"/>
          </a:xfrm>
          <a:prstGeom prst="rect">
            <a:avLst/>
          </a:prstGeom>
          <a:noFill/>
        </p:spPr>
        <p:txBody>
          <a:bodyPr wrap="square"/>
          <a:lstStyle/>
          <a:p>
            <a:pPr algn="l">
              <a:lnSpc>
                <a:spcPct val="100000"/>
              </a:lnSpc>
            </a:pPr>
            <a:r>
              <a:rPr sz="1000" b="0" i="0">
                <a:solidFill>
                  <a:srgbClr val="FFFFFF"/>
                </a:solidFill>
                <a:latin typeface="Poppins"/>
              </a:rPr>
              <a:t>Ir a comprar lo básico era una tarea mental fija: revisar, anotar, salir. Esa tarea se está automatizando. El Dash Smart Shelf pesa el inventario y reordena solo. Lavadoras, cafeteras y electrodomésticos con Dash Replenishment integrado piden cápsulas sin que nadie lo decida.</a:t>
            </a:r>
          </a:p>
        </p:txBody>
      </p:sp>
      <p:sp>
        <p:nvSpPr>
          <p:cNvPr id="16" name="TextBox 15"/>
          <p:cNvSpPr txBox="1"/>
          <p:nvPr/>
        </p:nvSpPr>
        <p:spPr>
          <a:xfrm>
            <a:off x="254000" y="57023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5956300"/>
            <a:ext cx="3683000" cy="762000"/>
          </a:xfrm>
          <a:prstGeom prst="rect">
            <a:avLst/>
          </a:prstGeom>
          <a:noFill/>
        </p:spPr>
        <p:txBody>
          <a:bodyPr wrap="square"/>
          <a:lstStyle/>
          <a:p>
            <a:pPr algn="l">
              <a:lnSpc>
                <a:spcPct val="100000"/>
              </a:lnSpc>
            </a:pPr>
            <a:r>
              <a:rPr sz="1600" b="0" i="0">
                <a:solidFill>
                  <a:srgbClr val="FFFFFF"/>
                </a:solidFill>
                <a:latin typeface="Instrument Serif"/>
              </a:rPr>
              <a:t>#smarthome · #autoreplenish · #subscribeandsave · #amazondash · #casainteligente</a:t>
            </a:r>
          </a:p>
        </p:txBody>
      </p:sp>
      <p:sp>
        <p:nvSpPr>
          <p:cNvPr id="18" name="TextBox 17"/>
          <p:cNvSpPr txBox="1"/>
          <p:nvPr/>
        </p:nvSpPr>
        <p:spPr>
          <a:xfrm>
            <a:off x="4191000" y="1066800"/>
            <a:ext cx="2159000" cy="584200"/>
          </a:xfrm>
          <a:prstGeom prst="rect">
            <a:avLst/>
          </a:prstGeom>
          <a:noFill/>
        </p:spPr>
        <p:txBody>
          <a:bodyPr wrap="square"/>
          <a:lstStyle/>
          <a:p>
            <a:pPr algn="l">
              <a:lnSpc>
                <a:spcPct val="100000"/>
              </a:lnSpc>
            </a:pPr>
            <a:r>
              <a:rPr sz="4000" b="0" i="0">
                <a:solidFill>
                  <a:srgbClr val="FFFFFF"/>
                </a:solidFill>
                <a:latin typeface="Instrument Serif"/>
              </a:rPr>
              <a:t>US$19.99</a:t>
            </a:r>
          </a:p>
        </p:txBody>
      </p:sp>
      <p:sp>
        <p:nvSpPr>
          <p:cNvPr id="19" name="TextBox 18"/>
          <p:cNvSpPr txBox="1"/>
          <p:nvPr/>
        </p:nvSpPr>
        <p:spPr>
          <a:xfrm>
            <a:off x="4191000" y="1803400"/>
            <a:ext cx="2159000" cy="476250"/>
          </a:xfrm>
          <a:prstGeom prst="rect">
            <a:avLst/>
          </a:prstGeom>
          <a:noFill/>
        </p:spPr>
        <p:txBody>
          <a:bodyPr wrap="square"/>
          <a:lstStyle/>
          <a:p>
            <a:pPr algn="l">
              <a:lnSpc>
                <a:spcPct val="100000"/>
              </a:lnSpc>
            </a:pPr>
            <a:r>
              <a:rPr sz="1000" b="0" i="0">
                <a:solidFill>
                  <a:srgbClr val="FFFFFF"/>
                </a:solidFill>
                <a:latin typeface="Poppins"/>
              </a:rPr>
              <a:t>Dash Smart Shelf pesa el inventario y reordena solo con Subscribe &amp; Save.</a:t>
            </a:r>
          </a:p>
        </p:txBody>
      </p:sp>
      <p:sp>
        <p:nvSpPr>
          <p:cNvPr id="20" name="TextBox 19"/>
          <p:cNvSpPr txBox="1"/>
          <p:nvPr/>
        </p:nvSpPr>
        <p:spPr>
          <a:xfrm>
            <a:off x="4191000" y="2432050"/>
            <a:ext cx="2159000" cy="152400"/>
          </a:xfrm>
          <a:prstGeom prst="rect">
            <a:avLst/>
          </a:prstGeom>
          <a:noFill/>
        </p:spPr>
        <p:txBody>
          <a:bodyPr wrap="square"/>
          <a:lstStyle/>
          <a:p>
            <a:pPr algn="l">
              <a:lnSpc>
                <a:spcPct val="100000"/>
              </a:lnSpc>
            </a:pPr>
            <a:r>
              <a:rPr sz="650" b="0" i="0">
                <a:solidFill>
                  <a:srgbClr val="666666"/>
                </a:solidFill>
                <a:latin typeface="Poppins"/>
              </a:rPr>
              <a:t>AMAZON / RETAIL DIVE · 2020</a:t>
            </a:r>
          </a:p>
        </p:txBody>
      </p:sp>
      <p:sp>
        <p:nvSpPr>
          <p:cNvPr id="21" name="TextBox 20"/>
          <p:cNvSpPr txBox="1"/>
          <p:nvPr/>
        </p:nvSpPr>
        <p:spPr>
          <a:xfrm>
            <a:off x="4191000" y="2863850"/>
            <a:ext cx="2159000" cy="584200"/>
          </a:xfrm>
          <a:prstGeom prst="rect">
            <a:avLst/>
          </a:prstGeom>
          <a:noFill/>
        </p:spPr>
        <p:txBody>
          <a:bodyPr wrap="square"/>
          <a:lstStyle/>
          <a:p>
            <a:pPr algn="l">
              <a:lnSpc>
                <a:spcPct val="100000"/>
              </a:lnSpc>
            </a:pPr>
            <a:r>
              <a:rPr sz="4000" b="0" i="0">
                <a:solidFill>
                  <a:srgbClr val="FFFFFF"/>
                </a:solidFill>
                <a:latin typeface="Instrument Serif"/>
              </a:rPr>
              <a:t>DRS</a:t>
            </a:r>
          </a:p>
        </p:txBody>
      </p:sp>
      <p:sp>
        <p:nvSpPr>
          <p:cNvPr id="22" name="TextBox 21"/>
          <p:cNvSpPr txBox="1"/>
          <p:nvPr/>
        </p:nvSpPr>
        <p:spPr>
          <a:xfrm>
            <a:off x="4191000" y="3600450"/>
            <a:ext cx="2159000" cy="635000"/>
          </a:xfrm>
          <a:prstGeom prst="rect">
            <a:avLst/>
          </a:prstGeom>
          <a:noFill/>
        </p:spPr>
        <p:txBody>
          <a:bodyPr wrap="square"/>
          <a:lstStyle/>
          <a:p>
            <a:pPr algn="l">
              <a:lnSpc>
                <a:spcPct val="100000"/>
              </a:lnSpc>
            </a:pPr>
            <a:r>
              <a:rPr sz="1000" b="0" i="0">
                <a:solidFill>
                  <a:srgbClr val="FFFFFF"/>
                </a:solidFill>
                <a:latin typeface="Poppins"/>
              </a:rPr>
              <a:t>Bosch, Toshiba, illy y Beko integran Dash Replenishment Service en sus electrodomésticos.</a:t>
            </a:r>
          </a:p>
        </p:txBody>
      </p:sp>
      <p:sp>
        <p:nvSpPr>
          <p:cNvPr id="23" name="TextBox 22"/>
          <p:cNvSpPr txBox="1"/>
          <p:nvPr/>
        </p:nvSpPr>
        <p:spPr>
          <a:xfrm>
            <a:off x="4191000" y="4387850"/>
            <a:ext cx="2159000" cy="152400"/>
          </a:xfrm>
          <a:prstGeom prst="rect">
            <a:avLst/>
          </a:prstGeom>
          <a:noFill/>
        </p:spPr>
        <p:txBody>
          <a:bodyPr wrap="square"/>
          <a:lstStyle/>
          <a:p>
            <a:pPr algn="l">
              <a:lnSpc>
                <a:spcPct val="100000"/>
              </a:lnSpc>
            </a:pPr>
            <a:r>
              <a:rPr sz="650" b="0" i="0">
                <a:solidFill>
                  <a:srgbClr val="666666"/>
                </a:solidFill>
                <a:latin typeface="Poppins"/>
              </a:rPr>
              <a:t>TRUSTED REVIEWS · 2018</a:t>
            </a:r>
          </a:p>
        </p:txBody>
      </p:sp>
      <p:sp>
        <p:nvSpPr>
          <p:cNvPr id="24" name="TextBox 23"/>
          <p:cNvSpPr txBox="1"/>
          <p:nvPr/>
        </p:nvSpPr>
        <p:spPr>
          <a:xfrm>
            <a:off x="4191000" y="4819650"/>
            <a:ext cx="2159000" cy="584200"/>
          </a:xfrm>
          <a:prstGeom prst="rect">
            <a:avLst/>
          </a:prstGeom>
          <a:noFill/>
        </p:spPr>
        <p:txBody>
          <a:bodyPr wrap="square"/>
          <a:lstStyle/>
          <a:p>
            <a:pPr algn="l">
              <a:lnSpc>
                <a:spcPct val="100000"/>
              </a:lnSpc>
            </a:pPr>
            <a:r>
              <a:rPr sz="4000" b="0" i="0">
                <a:solidFill>
                  <a:srgbClr val="FFFFFF"/>
                </a:solidFill>
                <a:latin typeface="Instrument Serif"/>
              </a:rPr>
              <a:t>2×</a:t>
            </a:r>
          </a:p>
        </p:txBody>
      </p:sp>
      <p:sp>
        <p:nvSpPr>
          <p:cNvPr id="25" name="TextBox 24"/>
          <p:cNvSpPr txBox="1"/>
          <p:nvPr/>
        </p:nvSpPr>
        <p:spPr>
          <a:xfrm>
            <a:off x="4191000" y="5556250"/>
            <a:ext cx="2159000" cy="476250"/>
          </a:xfrm>
          <a:prstGeom prst="rect">
            <a:avLst/>
          </a:prstGeom>
          <a:noFill/>
        </p:spPr>
        <p:txBody>
          <a:bodyPr wrap="square"/>
          <a:lstStyle/>
          <a:p>
            <a:pPr algn="l">
              <a:lnSpc>
                <a:spcPct val="100000"/>
              </a:lnSpc>
            </a:pPr>
            <a:r>
              <a:rPr sz="1000" b="0" i="0">
                <a:solidFill>
                  <a:srgbClr val="FFFFFF"/>
                </a:solidFill>
                <a:latin typeface="Poppins"/>
              </a:rPr>
              <a:t>Smart home appliances LATAM crece a doble dígito anual — la adopción ya avanza.</a:t>
            </a:r>
          </a:p>
        </p:txBody>
      </p:sp>
      <p:sp>
        <p:nvSpPr>
          <p:cNvPr id="26" name="TextBox 25"/>
          <p:cNvSpPr txBox="1"/>
          <p:nvPr/>
        </p:nvSpPr>
        <p:spPr>
          <a:xfrm>
            <a:off x="4191000" y="6184900"/>
            <a:ext cx="2159000" cy="152400"/>
          </a:xfrm>
          <a:prstGeom prst="rect">
            <a:avLst/>
          </a:prstGeom>
          <a:noFill/>
        </p:spPr>
        <p:txBody>
          <a:bodyPr wrap="square"/>
          <a:lstStyle/>
          <a:p>
            <a:pPr algn="l">
              <a:lnSpc>
                <a:spcPct val="100000"/>
              </a:lnSpc>
            </a:pPr>
            <a:r>
              <a:rPr sz="650" b="0" i="0">
                <a:solidFill>
                  <a:srgbClr val="666666"/>
                </a:solidFill>
                <a:latin typeface="Poppins"/>
              </a:rPr>
              <a:t>GRAND VIEW RESEARCH · 2025</a:t>
            </a:r>
          </a:p>
        </p:txBody>
      </p:sp>
      <p:pic>
        <p:nvPicPr>
          <p:cNvPr id="27" name="Picture 26" descr="macro-2-4-retaildive-amazon-dash-shelf.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ounded Rectangle 27"/>
          <p:cNvSpPr/>
          <p:nvPr/>
        </p:nvSpPr>
        <p:spPr>
          <a:xfrm>
            <a:off x="8610600" y="2476500"/>
            <a:ext cx="584200" cy="190500"/>
          </a:xfrm>
          <a:prstGeom prst="round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lnSpc>
                <a:spcPct val="100000"/>
              </a:lnSpc>
            </a:pPr>
            <a:r>
              <a:rPr sz="700" b="1" i="0">
                <a:solidFill>
                  <a:srgbClr val="FFFFFF"/>
                </a:solidFill>
                <a:latin typeface="Poppins"/>
              </a:rPr>
              <a:t>CLICK ME ▸</a:t>
            </a:r>
          </a:p>
        </p:txBody>
      </p:sp>
      <p:sp>
        <p:nvSpPr>
          <p:cNvPr id="29" name="TextBox 28"/>
          <p:cNvSpPr txBox="1"/>
          <p:nvPr/>
        </p:nvSpPr>
        <p:spPr>
          <a:xfrm>
            <a:off x="9347200" y="1066800"/>
            <a:ext cx="2057400" cy="609600"/>
          </a:xfrm>
          <a:prstGeom prst="rect">
            <a:avLst/>
          </a:prstGeom>
          <a:noFill/>
        </p:spPr>
        <p:txBody>
          <a:bodyPr wrap="square"/>
          <a:lstStyle/>
          <a:p>
            <a:pPr algn="l">
              <a:lnSpc>
                <a:spcPct val="100000"/>
              </a:lnSpc>
            </a:pPr>
            <a:r>
              <a:rPr sz="1000" b="0" i="0">
                <a:solidFill>
                  <a:srgbClr val="FFFFFF"/>
                </a:solidFill>
                <a:latin typeface="Poppins"/>
              </a:rPr>
              <a:t>Amazon Dash Smart Shelf (US$19.99) — pesa el inventario y reordena solo vía Subscribe &amp; Save.</a:t>
            </a:r>
          </a:p>
        </p:txBody>
      </p:sp>
      <p:sp>
        <p:nvSpPr>
          <p:cNvPr id="30" name="TextBox 29"/>
          <p:cNvSpPr txBox="1"/>
          <p:nvPr/>
        </p:nvSpPr>
        <p:spPr>
          <a:xfrm>
            <a:off x="9347200" y="1803400"/>
            <a:ext cx="2057400" cy="152400"/>
          </a:xfrm>
          <a:prstGeom prst="rect">
            <a:avLst/>
          </a:prstGeom>
          <a:noFill/>
        </p:spPr>
        <p:txBody>
          <a:bodyPr wrap="square"/>
          <a:lstStyle/>
          <a:p>
            <a:pPr algn="l">
              <a:lnSpc>
                <a:spcPct val="100000"/>
              </a:lnSpc>
            </a:pPr>
            <a:r>
              <a:rPr sz="650" b="0" i="0">
                <a:solidFill>
                  <a:srgbClr val="666666"/>
                </a:solidFill>
                <a:latin typeface="Poppins"/>
              </a:rPr>
              <a:t>RETAIL DIVE · 2020</a:t>
            </a:r>
          </a:p>
        </p:txBody>
      </p:sp>
      <p:pic>
        <p:nvPicPr>
          <p:cNvPr id="31" name="Picture 30" descr="macro-2-4-trustedreviews-amazon-drs-appliances.png">
            <a:hlinkClick r:id="rId5"/>
          </p:cNvPr>
          <p:cNvPicPr>
            <a:picLocks noChangeAspect="1"/>
          </p:cNvPicPr>
          <p:nvPr/>
        </p:nvPicPr>
        <p:blipFill>
          <a:blip r:embed="rId4"/>
          <a:stretch>
            <a:fillRect/>
          </a:stretch>
        </p:blipFill>
        <p:spPr>
          <a:xfrm>
            <a:off x="8128000" y="3022600"/>
            <a:ext cx="1117600" cy="1651000"/>
          </a:xfrm>
          <a:prstGeom prst="rect">
            <a:avLst/>
          </a:prstGeom>
        </p:spPr>
      </p:pic>
      <p:sp>
        <p:nvSpPr>
          <p:cNvPr id="32" name="Rounded Rectangle 31"/>
          <p:cNvSpPr/>
          <p:nvPr/>
        </p:nvSpPr>
        <p:spPr>
          <a:xfrm>
            <a:off x="8610600" y="4432300"/>
            <a:ext cx="584200" cy="190500"/>
          </a:xfrm>
          <a:prstGeom prst="round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lnSpc>
                <a:spcPct val="100000"/>
              </a:lnSpc>
            </a:pPr>
            <a:r>
              <a:rPr sz="700" b="1" i="0">
                <a:solidFill>
                  <a:srgbClr val="FFFFFF"/>
                </a:solidFill>
                <a:latin typeface="Poppins"/>
              </a:rPr>
              <a:t>CLICK ME ▸</a:t>
            </a:r>
          </a:p>
        </p:txBody>
      </p:sp>
      <p:sp>
        <p:nvSpPr>
          <p:cNvPr id="33" name="TextBox 32"/>
          <p:cNvSpPr txBox="1"/>
          <p:nvPr/>
        </p:nvSpPr>
        <p:spPr>
          <a:xfrm>
            <a:off x="9347200" y="3022600"/>
            <a:ext cx="2057400" cy="609600"/>
          </a:xfrm>
          <a:prstGeom prst="rect">
            <a:avLst/>
          </a:prstGeom>
          <a:noFill/>
        </p:spPr>
        <p:txBody>
          <a:bodyPr wrap="square"/>
          <a:lstStyle/>
          <a:p>
            <a:pPr algn="l">
              <a:lnSpc>
                <a:spcPct val="100000"/>
              </a:lnSpc>
            </a:pPr>
            <a:r>
              <a:rPr sz="1000" b="0" i="0">
                <a:solidFill>
                  <a:srgbClr val="FFFFFF"/>
                </a:solidFill>
                <a:latin typeface="Poppins"/>
              </a:rPr>
              <a:t>Bosch HomeConnect con Amazon DRS: el electrodoméstico que reordena jabón y cápsulas solo.</a:t>
            </a:r>
          </a:p>
        </p:txBody>
      </p:sp>
      <p:sp>
        <p:nvSpPr>
          <p:cNvPr id="34" name="TextBox 33"/>
          <p:cNvSpPr txBox="1"/>
          <p:nvPr/>
        </p:nvSpPr>
        <p:spPr>
          <a:xfrm>
            <a:off x="9347200" y="3759200"/>
            <a:ext cx="2057400" cy="152400"/>
          </a:xfrm>
          <a:prstGeom prst="rect">
            <a:avLst/>
          </a:prstGeom>
          <a:noFill/>
        </p:spPr>
        <p:txBody>
          <a:bodyPr wrap="square"/>
          <a:lstStyle/>
          <a:p>
            <a:pPr algn="l">
              <a:lnSpc>
                <a:spcPct val="100000"/>
              </a:lnSpc>
            </a:pPr>
            <a:r>
              <a:rPr sz="650" b="0" i="0">
                <a:solidFill>
                  <a:srgbClr val="666666"/>
                </a:solidFill>
                <a:latin typeface="Poppins"/>
              </a:rPr>
              <a:t>TRUSTED REVIEWS · 2018</a:t>
            </a:r>
          </a:p>
        </p:txBody>
      </p:sp>
      <p:pic>
        <p:nvPicPr>
          <p:cNvPr id="35" name="Picture 34" descr="macro-2-5-grandviewresearch-livecommerce-latam.png">
            <a:hlinkClick r:id="rId7"/>
          </p:cNvPr>
          <p:cNvPicPr>
            <a:picLocks noChangeAspect="1"/>
          </p:cNvPicPr>
          <p:nvPr/>
        </p:nvPicPr>
        <p:blipFill>
          <a:blip r:embed="rId6"/>
          <a:stretch>
            <a:fillRect/>
          </a:stretch>
        </p:blipFill>
        <p:spPr>
          <a:xfrm>
            <a:off x="8128000" y="4978400"/>
            <a:ext cx="1117600" cy="1651000"/>
          </a:xfrm>
          <a:prstGeom prst="rect">
            <a:avLst/>
          </a:prstGeom>
        </p:spPr>
      </p:pic>
      <p:sp>
        <p:nvSpPr>
          <p:cNvPr id="36" name="Rounded Rectangle 35"/>
          <p:cNvSpPr/>
          <p:nvPr/>
        </p:nvSpPr>
        <p:spPr>
          <a:xfrm>
            <a:off x="8610600" y="6388100"/>
            <a:ext cx="584200" cy="190500"/>
          </a:xfrm>
          <a:prstGeom prst="round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lnSpc>
                <a:spcPct val="100000"/>
              </a:lnSpc>
            </a:pPr>
            <a:r>
              <a:rPr sz="700" b="1" i="0">
                <a:solidFill>
                  <a:srgbClr val="FFFFFF"/>
                </a:solidFill>
                <a:latin typeface="Poppins"/>
              </a:rPr>
              <a:t>CLICK ME ▸</a:t>
            </a:r>
          </a:p>
        </p:txBody>
      </p:sp>
      <p:sp>
        <p:nvSpPr>
          <p:cNvPr id="37" name="TextBox 36"/>
          <p:cNvSpPr txBox="1"/>
          <p:nvPr/>
        </p:nvSpPr>
        <p:spPr>
          <a:xfrm>
            <a:off x="9347200" y="4978400"/>
            <a:ext cx="2057400" cy="609600"/>
          </a:xfrm>
          <a:prstGeom prst="rect">
            <a:avLst/>
          </a:prstGeom>
          <a:noFill/>
        </p:spPr>
        <p:txBody>
          <a:bodyPr wrap="square"/>
          <a:lstStyle/>
          <a:p>
            <a:pPr algn="l">
              <a:lnSpc>
                <a:spcPct val="100000"/>
              </a:lnSpc>
            </a:pPr>
            <a:r>
              <a:rPr sz="1000" b="0" i="0">
                <a:solidFill>
                  <a:srgbClr val="FFFFFF"/>
                </a:solidFill>
                <a:latin typeface="Poppins"/>
              </a:rPr>
              <a:t>Smart home appliances LATAM creciendo a doble dígito anual — la automatización doméstica avanza.</a:t>
            </a:r>
          </a:p>
        </p:txBody>
      </p:sp>
      <p:sp>
        <p:nvSpPr>
          <p:cNvPr id="38" name="TextBox 37"/>
          <p:cNvSpPr txBox="1"/>
          <p:nvPr/>
        </p:nvSpPr>
        <p:spPr>
          <a:xfrm>
            <a:off x="9347200" y="5715000"/>
            <a:ext cx="2057400" cy="152400"/>
          </a:xfrm>
          <a:prstGeom prst="rect">
            <a:avLst/>
          </a:prstGeom>
          <a:noFill/>
        </p:spPr>
        <p:txBody>
          <a:bodyPr wrap="square"/>
          <a:lstStyle/>
          <a:p>
            <a:pPr algn="l">
              <a:lnSpc>
                <a:spcPct val="100000"/>
              </a:lnSpc>
            </a:pPr>
            <a:r>
              <a:rPr sz="650" b="0" i="0">
                <a:solidFill>
                  <a:srgbClr val="666666"/>
                </a:solidFill>
                <a:latin typeface="Poppins"/>
              </a:rPr>
              <a:t>GRAND VIEW RESEARCH · 2025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4" name="TextBox 3"/>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5" name="TextBox 4"/>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6" name="Connector 5"/>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254000" y="10668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04800" y="1104900"/>
            <a:ext cx="660400" cy="228600"/>
          </a:xfrm>
          <a:prstGeom prst="rect">
            <a:avLst/>
          </a:prstGeom>
          <a:noFill/>
        </p:spPr>
        <p:txBody>
          <a:bodyPr wrap="square"/>
          <a:lstStyle/>
          <a:p>
            <a:pPr algn="l">
              <a:lnSpc>
                <a:spcPct val="100000"/>
              </a:lnSpc>
            </a:pPr>
            <a:r>
              <a:rPr sz="750" b="1" i="0">
                <a:solidFill>
                  <a:srgbClr val="000000"/>
                </a:solidFill>
                <a:latin typeface="Poppins"/>
              </a:rPr>
              <a:t>MACRO 2</a:t>
            </a:r>
          </a:p>
        </p:txBody>
      </p:sp>
      <p:sp>
        <p:nvSpPr>
          <p:cNvPr id="11" name="Rectangle 10"/>
          <p:cNvSpPr/>
          <p:nvPr/>
        </p:nvSpPr>
        <p:spPr>
          <a:xfrm>
            <a:off x="1041400" y="10668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2200" y="1104900"/>
            <a:ext cx="2717800" cy="228600"/>
          </a:xfrm>
          <a:prstGeom prst="rect">
            <a:avLst/>
          </a:prstGeom>
          <a:noFill/>
        </p:spPr>
        <p:txBody>
          <a:bodyPr wrap="square"/>
          <a:lstStyle/>
          <a:p>
            <a:pPr algn="l">
              <a:lnSpc>
                <a:spcPct val="100000"/>
              </a:lnSpc>
            </a:pPr>
            <a:r>
              <a:rPr sz="750" b="0" i="0">
                <a:solidFill>
                  <a:srgbClr val="A0A0A0"/>
                </a:solidFill>
                <a:latin typeface="Poppins"/>
              </a:rPr>
              <a:t>LOS HERNÁNDEZ ARE PROMPTED</a:t>
            </a:r>
          </a:p>
        </p:txBody>
      </p:sp>
      <p:sp>
        <p:nvSpPr>
          <p:cNvPr id="13" name="TextBox 12"/>
          <p:cNvSpPr txBox="1"/>
          <p:nvPr/>
        </p:nvSpPr>
        <p:spPr>
          <a:xfrm>
            <a:off x="254000" y="1473200"/>
            <a:ext cx="3683000" cy="2336800"/>
          </a:xfrm>
          <a:prstGeom prst="rect">
            <a:avLst/>
          </a:prstGeom>
          <a:noFill/>
        </p:spPr>
        <p:txBody>
          <a:bodyPr wrap="square"/>
          <a:lstStyle/>
          <a:p>
            <a:pPr algn="l">
              <a:lnSpc>
                <a:spcPct val="114000"/>
              </a:lnSpc>
            </a:pPr>
            <a:r>
              <a:rPr sz="2000" b="0" i="0">
                <a:solidFill>
                  <a:srgbClr val="FFFFFF"/>
                </a:solidFill>
                <a:latin typeface="Instrument Serif"/>
              </a:rPr>
              <a:t>COMPRAR EN VIVO SE VOLVIÓ EVENTO: EL LIVE SHOPPING CONVIERTE HASTA EL 30% DE QUIEN MIRA (VS 2-3% DEL E-COMMERCE) Y 64% DE LATAM ASISTE A SESIONES CADA MES.</a:t>
            </a:r>
          </a:p>
        </p:txBody>
      </p:sp>
      <p:sp>
        <p:nvSpPr>
          <p:cNvPr id="14" name="TextBox 13"/>
          <p:cNvSpPr txBox="1"/>
          <p:nvPr/>
        </p:nvSpPr>
        <p:spPr>
          <a:xfrm>
            <a:off x="254000" y="39878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4241800"/>
            <a:ext cx="3683000" cy="990600"/>
          </a:xfrm>
          <a:prstGeom prst="rect">
            <a:avLst/>
          </a:prstGeom>
          <a:noFill/>
        </p:spPr>
        <p:txBody>
          <a:bodyPr wrap="square"/>
          <a:lstStyle/>
          <a:p>
            <a:pPr algn="l">
              <a:lnSpc>
                <a:spcPct val="100000"/>
              </a:lnSpc>
            </a:pPr>
            <a:r>
              <a:rPr sz="1000" b="0" i="0">
                <a:solidFill>
                  <a:srgbClr val="FFFFFF"/>
                </a:solidFill>
                <a:latin typeface="Poppins"/>
              </a:rPr>
              <a:t>El live shopping vuelve el stream un piso de venta. La oferta-relámpago, el drop cronometrado, el chat en tiempo real — todo empuja a comprar ahí mismo, empujado por escasez y comunidad. En LATAM 64% asiste a sesiones mensualmente. La urgencia social hace el trabajo que la página de producto nunca pudo.</a:t>
            </a:r>
          </a:p>
        </p:txBody>
      </p:sp>
      <p:sp>
        <p:nvSpPr>
          <p:cNvPr id="16" name="TextBox 15"/>
          <p:cNvSpPr txBox="1"/>
          <p:nvPr/>
        </p:nvSpPr>
        <p:spPr>
          <a:xfrm>
            <a:off x="254000" y="54102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5664200"/>
            <a:ext cx="3683000" cy="762000"/>
          </a:xfrm>
          <a:prstGeom prst="rect">
            <a:avLst/>
          </a:prstGeom>
          <a:noFill/>
        </p:spPr>
        <p:txBody>
          <a:bodyPr wrap="square"/>
          <a:lstStyle/>
          <a:p>
            <a:pPr algn="l">
              <a:lnSpc>
                <a:spcPct val="100000"/>
              </a:lnSpc>
            </a:pPr>
            <a:r>
              <a:rPr sz="1600" b="0" i="0">
                <a:solidFill>
                  <a:srgbClr val="FFFFFF"/>
                </a:solidFill>
                <a:latin typeface="Instrument Serif"/>
              </a:rPr>
              <a:t>#liveshopping · #livecommerce · #ventaenvivo · #droplive · #tiktoklive</a:t>
            </a:r>
          </a:p>
        </p:txBody>
      </p:sp>
      <p:sp>
        <p:nvSpPr>
          <p:cNvPr id="18" name="TextBox 17"/>
          <p:cNvSpPr txBox="1"/>
          <p:nvPr/>
        </p:nvSpPr>
        <p:spPr>
          <a:xfrm>
            <a:off x="4191000" y="1066800"/>
            <a:ext cx="2159000" cy="584200"/>
          </a:xfrm>
          <a:prstGeom prst="rect">
            <a:avLst/>
          </a:prstGeom>
          <a:noFill/>
        </p:spPr>
        <p:txBody>
          <a:bodyPr wrap="square"/>
          <a:lstStyle/>
          <a:p>
            <a:pPr algn="l">
              <a:lnSpc>
                <a:spcPct val="100000"/>
              </a:lnSpc>
            </a:pPr>
            <a:r>
              <a:rPr sz="4000" b="0" i="0">
                <a:solidFill>
                  <a:srgbClr val="FFFFFF"/>
                </a:solidFill>
                <a:latin typeface="Instrument Serif"/>
              </a:rPr>
              <a:t>US$32B</a:t>
            </a:r>
          </a:p>
        </p:txBody>
      </p:sp>
      <p:sp>
        <p:nvSpPr>
          <p:cNvPr id="19" name="TextBox 18"/>
          <p:cNvSpPr txBox="1"/>
          <p:nvPr/>
        </p:nvSpPr>
        <p:spPr>
          <a:xfrm>
            <a:off x="4191000" y="1803400"/>
            <a:ext cx="2159000" cy="476250"/>
          </a:xfrm>
          <a:prstGeom prst="rect">
            <a:avLst/>
          </a:prstGeom>
          <a:noFill/>
        </p:spPr>
        <p:txBody>
          <a:bodyPr wrap="square"/>
          <a:lstStyle/>
          <a:p>
            <a:pPr algn="l">
              <a:lnSpc>
                <a:spcPct val="100000"/>
              </a:lnSpc>
            </a:pPr>
            <a:r>
              <a:rPr sz="1000" b="0" i="0">
                <a:solidFill>
                  <a:srgbClr val="FFFFFF"/>
                </a:solidFill>
                <a:latin typeface="Poppins"/>
              </a:rPr>
              <a:t>Live commerce LATAM para 2033 vs US$3.87B en 2024, CAGR 27.2%; Brasil +90% anual.</a:t>
            </a:r>
          </a:p>
        </p:txBody>
      </p:sp>
      <p:sp>
        <p:nvSpPr>
          <p:cNvPr id="20" name="TextBox 19"/>
          <p:cNvSpPr txBox="1"/>
          <p:nvPr/>
        </p:nvSpPr>
        <p:spPr>
          <a:xfrm>
            <a:off x="4191000" y="2432050"/>
            <a:ext cx="2159000" cy="152400"/>
          </a:xfrm>
          <a:prstGeom prst="rect">
            <a:avLst/>
          </a:prstGeom>
          <a:noFill/>
        </p:spPr>
        <p:txBody>
          <a:bodyPr wrap="square"/>
          <a:lstStyle/>
          <a:p>
            <a:pPr algn="l">
              <a:lnSpc>
                <a:spcPct val="100000"/>
              </a:lnSpc>
            </a:pPr>
            <a:r>
              <a:rPr sz="650" b="0" i="0">
                <a:solidFill>
                  <a:srgbClr val="666666"/>
                </a:solidFill>
                <a:latin typeface="Poppins"/>
              </a:rPr>
              <a:t>GRAND VIEW RESEARCH · 2025</a:t>
            </a:r>
          </a:p>
        </p:txBody>
      </p:sp>
      <p:sp>
        <p:nvSpPr>
          <p:cNvPr id="21" name="TextBox 20"/>
          <p:cNvSpPr txBox="1"/>
          <p:nvPr/>
        </p:nvSpPr>
        <p:spPr>
          <a:xfrm>
            <a:off x="4191000" y="2863850"/>
            <a:ext cx="2159000" cy="584200"/>
          </a:xfrm>
          <a:prstGeom prst="rect">
            <a:avLst/>
          </a:prstGeom>
          <a:noFill/>
        </p:spPr>
        <p:txBody>
          <a:bodyPr wrap="square"/>
          <a:lstStyle/>
          <a:p>
            <a:pPr algn="l">
              <a:lnSpc>
                <a:spcPct val="100000"/>
              </a:lnSpc>
            </a:pPr>
            <a:r>
              <a:rPr sz="4000" b="0" i="0">
                <a:solidFill>
                  <a:srgbClr val="FFFFFF"/>
                </a:solidFill>
                <a:latin typeface="Instrument Serif"/>
              </a:rPr>
              <a:t>10×</a:t>
            </a:r>
          </a:p>
        </p:txBody>
      </p:sp>
      <p:sp>
        <p:nvSpPr>
          <p:cNvPr id="22" name="TextBox 21"/>
          <p:cNvSpPr txBox="1"/>
          <p:nvPr/>
        </p:nvSpPr>
        <p:spPr>
          <a:xfrm>
            <a:off x="4191000" y="3600450"/>
            <a:ext cx="2159000" cy="476250"/>
          </a:xfrm>
          <a:prstGeom prst="rect">
            <a:avLst/>
          </a:prstGeom>
          <a:noFill/>
        </p:spPr>
        <p:txBody>
          <a:bodyPr wrap="square"/>
          <a:lstStyle/>
          <a:p>
            <a:pPr algn="l">
              <a:lnSpc>
                <a:spcPct val="100000"/>
              </a:lnSpc>
            </a:pPr>
            <a:r>
              <a:rPr sz="1000" b="0" i="0">
                <a:solidFill>
                  <a:srgbClr val="FFFFFF"/>
                </a:solidFill>
                <a:latin typeface="Poppins"/>
              </a:rPr>
              <a:t>McKinsey: conversión en live shopping hasta 10x la del e-commerce convencional.</a:t>
            </a:r>
          </a:p>
        </p:txBody>
      </p:sp>
      <p:sp>
        <p:nvSpPr>
          <p:cNvPr id="23" name="TextBox 22"/>
          <p:cNvSpPr txBox="1"/>
          <p:nvPr/>
        </p:nvSpPr>
        <p:spPr>
          <a:xfrm>
            <a:off x="4191000" y="4229100"/>
            <a:ext cx="2159000" cy="152400"/>
          </a:xfrm>
          <a:prstGeom prst="rect">
            <a:avLst/>
          </a:prstGeom>
          <a:noFill/>
        </p:spPr>
        <p:txBody>
          <a:bodyPr wrap="square"/>
          <a:lstStyle/>
          <a:p>
            <a:pPr algn="l">
              <a:lnSpc>
                <a:spcPct val="100000"/>
              </a:lnSpc>
            </a:pPr>
            <a:r>
              <a:rPr sz="650" b="0" i="0">
                <a:solidFill>
                  <a:srgbClr val="666666"/>
                </a:solidFill>
                <a:latin typeface="Poppins"/>
              </a:rPr>
              <a:t>MCKINSEY / YAVENDIO · 2025</a:t>
            </a:r>
          </a:p>
        </p:txBody>
      </p:sp>
      <p:sp>
        <p:nvSpPr>
          <p:cNvPr id="24" name="TextBox 23"/>
          <p:cNvSpPr txBox="1"/>
          <p:nvPr/>
        </p:nvSpPr>
        <p:spPr>
          <a:xfrm>
            <a:off x="4191000" y="4660900"/>
            <a:ext cx="2159000" cy="584200"/>
          </a:xfrm>
          <a:prstGeom prst="rect">
            <a:avLst/>
          </a:prstGeom>
          <a:noFill/>
        </p:spPr>
        <p:txBody>
          <a:bodyPr wrap="square"/>
          <a:lstStyle/>
          <a:p>
            <a:pPr algn="l">
              <a:lnSpc>
                <a:spcPct val="100000"/>
              </a:lnSpc>
            </a:pPr>
            <a:r>
              <a:rPr sz="4000" b="0" i="0">
                <a:solidFill>
                  <a:srgbClr val="FFFFFF"/>
                </a:solidFill>
                <a:latin typeface="Instrument Serif"/>
              </a:rPr>
              <a:t>64%</a:t>
            </a:r>
          </a:p>
        </p:txBody>
      </p:sp>
      <p:sp>
        <p:nvSpPr>
          <p:cNvPr id="25" name="TextBox 24"/>
          <p:cNvSpPr txBox="1"/>
          <p:nvPr/>
        </p:nvSpPr>
        <p:spPr>
          <a:xfrm>
            <a:off x="4191000" y="5397500"/>
            <a:ext cx="2159000" cy="635000"/>
          </a:xfrm>
          <a:prstGeom prst="rect">
            <a:avLst/>
          </a:prstGeom>
          <a:noFill/>
        </p:spPr>
        <p:txBody>
          <a:bodyPr wrap="square"/>
          <a:lstStyle/>
          <a:p>
            <a:pPr algn="l">
              <a:lnSpc>
                <a:spcPct val="100000"/>
              </a:lnSpc>
            </a:pPr>
            <a:r>
              <a:rPr sz="1000" b="0" i="0">
                <a:solidFill>
                  <a:srgbClr val="FFFFFF"/>
                </a:solidFill>
                <a:latin typeface="Poppins"/>
              </a:rPr>
              <a:t>De consumidores LATAM asiste a sesiones de live shopping mensualmente; conversión hasta 30%.</a:t>
            </a:r>
          </a:p>
        </p:txBody>
      </p:sp>
      <p:sp>
        <p:nvSpPr>
          <p:cNvPr id="26" name="TextBox 25"/>
          <p:cNvSpPr txBox="1"/>
          <p:nvPr/>
        </p:nvSpPr>
        <p:spPr>
          <a:xfrm>
            <a:off x="4191000" y="6184900"/>
            <a:ext cx="2159000" cy="152400"/>
          </a:xfrm>
          <a:prstGeom prst="rect">
            <a:avLst/>
          </a:prstGeom>
          <a:noFill/>
        </p:spPr>
        <p:txBody>
          <a:bodyPr wrap="square"/>
          <a:lstStyle/>
          <a:p>
            <a:pPr algn="l">
              <a:lnSpc>
                <a:spcPct val="100000"/>
              </a:lnSpc>
            </a:pPr>
            <a:r>
              <a:rPr sz="650" b="0" i="0">
                <a:solidFill>
                  <a:srgbClr val="666666"/>
                </a:solidFill>
                <a:latin typeface="Poppins"/>
              </a:rPr>
              <a:t>YAVENDIO · 2025</a:t>
            </a:r>
          </a:p>
        </p:txBody>
      </p:sp>
      <p:pic>
        <p:nvPicPr>
          <p:cNvPr id="27" name="Picture 26" descr="macro-2-5-yavendio-livecommerce-latam-stats.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ounded Rectangle 27"/>
          <p:cNvSpPr/>
          <p:nvPr/>
        </p:nvSpPr>
        <p:spPr>
          <a:xfrm>
            <a:off x="8610600" y="2476500"/>
            <a:ext cx="584200" cy="190500"/>
          </a:xfrm>
          <a:prstGeom prst="round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lnSpc>
                <a:spcPct val="100000"/>
              </a:lnSpc>
            </a:pPr>
            <a:r>
              <a:rPr sz="700" b="1" i="0">
                <a:solidFill>
                  <a:srgbClr val="FFFFFF"/>
                </a:solidFill>
                <a:latin typeface="Poppins"/>
              </a:rPr>
              <a:t>CLICK ME ▸</a:t>
            </a:r>
          </a:p>
        </p:txBody>
      </p:sp>
      <p:sp>
        <p:nvSpPr>
          <p:cNvPr id="29" name="TextBox 28"/>
          <p:cNvSpPr txBox="1"/>
          <p:nvPr/>
        </p:nvSpPr>
        <p:spPr>
          <a:xfrm>
            <a:off x="9347200" y="1066800"/>
            <a:ext cx="2057400" cy="457200"/>
          </a:xfrm>
          <a:prstGeom prst="rect">
            <a:avLst/>
          </a:prstGeom>
          <a:noFill/>
        </p:spPr>
        <p:txBody>
          <a:bodyPr wrap="square"/>
          <a:lstStyle/>
          <a:p>
            <a:pPr algn="l">
              <a:lnSpc>
                <a:spcPct val="100000"/>
              </a:lnSpc>
            </a:pPr>
            <a:r>
              <a:rPr sz="1000" b="0" i="0">
                <a:solidFill>
                  <a:srgbClr val="FFFFFF"/>
                </a:solidFill>
                <a:latin typeface="Poppins"/>
              </a:rPr>
              <a:t>64% de LATAM asiste a live shopping mensual; conversión hasta 30% vs. 2-3% e-commerce.</a:t>
            </a:r>
          </a:p>
        </p:txBody>
      </p:sp>
      <p:sp>
        <p:nvSpPr>
          <p:cNvPr id="30" name="TextBox 29"/>
          <p:cNvSpPr txBox="1"/>
          <p:nvPr/>
        </p:nvSpPr>
        <p:spPr>
          <a:xfrm>
            <a:off x="9347200" y="1651000"/>
            <a:ext cx="2057400" cy="152400"/>
          </a:xfrm>
          <a:prstGeom prst="rect">
            <a:avLst/>
          </a:prstGeom>
          <a:noFill/>
        </p:spPr>
        <p:txBody>
          <a:bodyPr wrap="square"/>
          <a:lstStyle/>
          <a:p>
            <a:pPr algn="l">
              <a:lnSpc>
                <a:spcPct val="100000"/>
              </a:lnSpc>
            </a:pPr>
            <a:r>
              <a:rPr sz="650" b="0" i="0">
                <a:solidFill>
                  <a:srgbClr val="666666"/>
                </a:solidFill>
                <a:latin typeface="Poppins"/>
              </a:rPr>
              <a:t>YAVENDIO · 2025</a:t>
            </a:r>
          </a:p>
        </p:txBody>
      </p:sp>
      <p:pic>
        <p:nvPicPr>
          <p:cNvPr id="31" name="Picture 30" descr="macro-2-5-grandviewresearch-livecommerce-latam.png">
            <a:hlinkClick r:id="rId5"/>
          </p:cNvPr>
          <p:cNvPicPr>
            <a:picLocks noChangeAspect="1"/>
          </p:cNvPicPr>
          <p:nvPr/>
        </p:nvPicPr>
        <p:blipFill>
          <a:blip r:embed="rId4"/>
          <a:stretch>
            <a:fillRect/>
          </a:stretch>
        </p:blipFill>
        <p:spPr>
          <a:xfrm>
            <a:off x="8128000" y="3022600"/>
            <a:ext cx="1117600" cy="1651000"/>
          </a:xfrm>
          <a:prstGeom prst="rect">
            <a:avLst/>
          </a:prstGeom>
        </p:spPr>
      </p:pic>
      <p:sp>
        <p:nvSpPr>
          <p:cNvPr id="32" name="Rounded Rectangle 31"/>
          <p:cNvSpPr/>
          <p:nvPr/>
        </p:nvSpPr>
        <p:spPr>
          <a:xfrm>
            <a:off x="8610600" y="4432300"/>
            <a:ext cx="584200" cy="190500"/>
          </a:xfrm>
          <a:prstGeom prst="round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lnSpc>
                <a:spcPct val="100000"/>
              </a:lnSpc>
            </a:pPr>
            <a:r>
              <a:rPr sz="700" b="1" i="0">
                <a:solidFill>
                  <a:srgbClr val="FFFFFF"/>
                </a:solidFill>
                <a:latin typeface="Poppins"/>
              </a:rPr>
              <a:t>CLICK ME ▸</a:t>
            </a:r>
          </a:p>
        </p:txBody>
      </p:sp>
      <p:sp>
        <p:nvSpPr>
          <p:cNvPr id="33" name="TextBox 32"/>
          <p:cNvSpPr txBox="1"/>
          <p:nvPr/>
        </p:nvSpPr>
        <p:spPr>
          <a:xfrm>
            <a:off x="9347200" y="3022600"/>
            <a:ext cx="2057400" cy="457200"/>
          </a:xfrm>
          <a:prstGeom prst="rect">
            <a:avLst/>
          </a:prstGeom>
          <a:noFill/>
        </p:spPr>
        <p:txBody>
          <a:bodyPr wrap="square"/>
          <a:lstStyle/>
          <a:p>
            <a:pPr algn="l">
              <a:lnSpc>
                <a:spcPct val="100000"/>
              </a:lnSpc>
            </a:pPr>
            <a:r>
              <a:rPr sz="1000" b="0" i="0">
                <a:solidFill>
                  <a:srgbClr val="FFFFFF"/>
                </a:solidFill>
                <a:latin typeface="Poppins"/>
              </a:rPr>
              <a:t>Live commerce LATAM: US$3.87B (2024) → US$32.08B (2033), CAGR 27.2%; Brasil +90% anual.</a:t>
            </a:r>
          </a:p>
        </p:txBody>
      </p:sp>
      <p:sp>
        <p:nvSpPr>
          <p:cNvPr id="34" name="TextBox 33"/>
          <p:cNvSpPr txBox="1"/>
          <p:nvPr/>
        </p:nvSpPr>
        <p:spPr>
          <a:xfrm>
            <a:off x="9347200" y="3606800"/>
            <a:ext cx="2057400" cy="152400"/>
          </a:xfrm>
          <a:prstGeom prst="rect">
            <a:avLst/>
          </a:prstGeom>
          <a:noFill/>
        </p:spPr>
        <p:txBody>
          <a:bodyPr wrap="square"/>
          <a:lstStyle/>
          <a:p>
            <a:pPr algn="l">
              <a:lnSpc>
                <a:spcPct val="100000"/>
              </a:lnSpc>
            </a:pPr>
            <a:r>
              <a:rPr sz="650" b="0" i="0">
                <a:solidFill>
                  <a:srgbClr val="666666"/>
                </a:solidFill>
                <a:latin typeface="Poppins"/>
              </a:rPr>
              <a:t>GRAND VIEW RESEARCH · 2025</a:t>
            </a:r>
          </a:p>
        </p:txBody>
      </p:sp>
      <p:pic>
        <p:nvPicPr>
          <p:cNvPr id="35" name="Picture 34" descr="macro-2-3-tiktok-tiktokshop-7441997574112021806.png">
            <a:hlinkClick r:id="rId7"/>
          </p:cNvPr>
          <p:cNvPicPr>
            <a:picLocks noChangeAspect="1"/>
          </p:cNvPicPr>
          <p:nvPr/>
        </p:nvPicPr>
        <p:blipFill>
          <a:blip r:embed="rId6"/>
          <a:stretch>
            <a:fillRect/>
          </a:stretch>
        </p:blipFill>
        <p:spPr>
          <a:xfrm>
            <a:off x="8128000" y="4978400"/>
            <a:ext cx="1117600" cy="1651000"/>
          </a:xfrm>
          <a:prstGeom prst="rect">
            <a:avLst/>
          </a:prstGeom>
        </p:spPr>
      </p:pic>
      <p:sp>
        <p:nvSpPr>
          <p:cNvPr id="36" name="Rounded Rectangle 35"/>
          <p:cNvSpPr/>
          <p:nvPr/>
        </p:nvSpPr>
        <p:spPr>
          <a:xfrm>
            <a:off x="8610600" y="6388100"/>
            <a:ext cx="584200" cy="190500"/>
          </a:xfrm>
          <a:prstGeom prst="round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lnSpc>
                <a:spcPct val="100000"/>
              </a:lnSpc>
            </a:pPr>
            <a:r>
              <a:rPr sz="700" b="1" i="0">
                <a:solidFill>
                  <a:srgbClr val="FFFFFF"/>
                </a:solidFill>
                <a:latin typeface="Poppins"/>
              </a:rPr>
              <a:t>CLICK ME ▸</a:t>
            </a:r>
          </a:p>
        </p:txBody>
      </p:sp>
      <p:sp>
        <p:nvSpPr>
          <p:cNvPr id="37" name="TextBox 36"/>
          <p:cNvSpPr txBox="1"/>
          <p:nvPr/>
        </p:nvSpPr>
        <p:spPr>
          <a:xfrm>
            <a:off x="9347200" y="4978400"/>
            <a:ext cx="2057400" cy="609600"/>
          </a:xfrm>
          <a:prstGeom prst="rect">
            <a:avLst/>
          </a:prstGeom>
          <a:noFill/>
        </p:spPr>
        <p:txBody>
          <a:bodyPr wrap="square"/>
          <a:lstStyle/>
          <a:p>
            <a:pPr algn="l">
              <a:lnSpc>
                <a:spcPct val="100000"/>
              </a:lnSpc>
            </a:pPr>
            <a:r>
              <a:rPr sz="1000" b="0" i="0">
                <a:solidFill>
                  <a:srgbClr val="FFFFFF"/>
                </a:solidFill>
                <a:latin typeface="Poppins"/>
              </a:rPr>
              <a:t>Creador LATAM montando venta en TikTok — el live como tienda: entretenimiento + checkout.</a:t>
            </a:r>
          </a:p>
        </p:txBody>
      </p:sp>
      <p:sp>
        <p:nvSpPr>
          <p:cNvPr id="38" name="TextBox 37"/>
          <p:cNvSpPr txBox="1"/>
          <p:nvPr/>
        </p:nvSpPr>
        <p:spPr>
          <a:xfrm>
            <a:off x="9347200" y="5715000"/>
            <a:ext cx="2057400" cy="152400"/>
          </a:xfrm>
          <a:prstGeom prst="rect">
            <a:avLst/>
          </a:prstGeom>
          <a:noFill/>
        </p:spPr>
        <p:txBody>
          <a:bodyPr wrap="square"/>
          <a:lstStyle/>
          <a:p>
            <a:pPr algn="l">
              <a:lnSpc>
                <a:spcPct val="100000"/>
              </a:lnSpc>
            </a:pPr>
            <a:r>
              <a:rPr sz="650" b="0" i="0">
                <a:solidFill>
                  <a:srgbClr val="666666"/>
                </a:solidFill>
                <a:latin typeface="Poppins"/>
              </a:rPr>
              <a:t>TIKTOK @CRECE.CON.LAMORE · 2025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0" y="2286000"/>
            <a:ext cx="12192000" cy="254000"/>
          </a:xfrm>
          <a:prstGeom prst="rect">
            <a:avLst/>
          </a:prstGeom>
          <a:noFill/>
        </p:spPr>
        <p:txBody>
          <a:bodyPr wrap="square"/>
          <a:lstStyle/>
          <a:p>
            <a:pPr algn="ctr">
              <a:lnSpc>
                <a:spcPct val="100000"/>
              </a:lnSpc>
            </a:pPr>
            <a:r>
              <a:rPr sz="1400" b="1" i="0">
                <a:solidFill>
                  <a:srgbClr val="A0A0A0"/>
                </a:solidFill>
                <a:latin typeface="Poppins"/>
              </a:rPr>
              <a:t>MACRO 3</a:t>
            </a:r>
          </a:p>
        </p:txBody>
      </p:sp>
      <p:sp>
        <p:nvSpPr>
          <p:cNvPr id="4" name="TextBox 3"/>
          <p:cNvSpPr txBox="1"/>
          <p:nvPr/>
        </p:nvSpPr>
        <p:spPr>
          <a:xfrm>
            <a:off x="254000" y="2844800"/>
            <a:ext cx="11684000" cy="1651000"/>
          </a:xfrm>
          <a:prstGeom prst="rect">
            <a:avLst/>
          </a:prstGeom>
          <a:noFill/>
        </p:spPr>
        <p:txBody>
          <a:bodyPr wrap="square"/>
          <a:lstStyle/>
          <a:p>
            <a:pPr algn="ctr">
              <a:lnSpc>
                <a:spcPct val="95000"/>
              </a:lnSpc>
            </a:pPr>
            <a:r>
              <a:rPr sz="10000" b="0" i="0">
                <a:solidFill>
                  <a:srgbClr val="FFFFFF"/>
                </a:solidFill>
                <a:latin typeface="Instrument Serif"/>
              </a:rPr>
              <a:t>ALGORITMO DEL HOGAR</a:t>
            </a:r>
          </a:p>
        </p:txBody>
      </p:sp>
      <p:sp>
        <p:nvSpPr>
          <p:cNvPr id="5" name="TextBox 4"/>
          <p:cNvSpPr txBox="1"/>
          <p:nvPr/>
        </p:nvSpPr>
        <p:spPr>
          <a:xfrm>
            <a:off x="254000" y="4495800"/>
            <a:ext cx="11684000" cy="457200"/>
          </a:xfrm>
          <a:prstGeom prst="rect">
            <a:avLst/>
          </a:prstGeom>
          <a:noFill/>
        </p:spPr>
        <p:txBody>
          <a:bodyPr wrap="square"/>
          <a:lstStyle/>
          <a:p>
            <a:pPr algn="ctr">
              <a:lnSpc>
                <a:spcPct val="100000"/>
              </a:lnSpc>
            </a:pPr>
            <a:r>
              <a:rPr sz="2400" b="0" i="1">
                <a:solidFill>
                  <a:srgbClr val="A0A0A0"/>
                </a:solidFill>
                <a:latin typeface="Instrument Serif"/>
              </a:rPr>
              <a:t>"El feed se sentó en la mesa y nadie le ofreció silla."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4" name="TextBox 3"/>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5" name="TextBox 4"/>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6" name="Connector 5"/>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254000" y="10668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04800" y="1104900"/>
            <a:ext cx="660400" cy="228600"/>
          </a:xfrm>
          <a:prstGeom prst="rect">
            <a:avLst/>
          </a:prstGeom>
          <a:noFill/>
        </p:spPr>
        <p:txBody>
          <a:bodyPr wrap="square"/>
          <a:lstStyle/>
          <a:p>
            <a:pPr algn="l">
              <a:lnSpc>
                <a:spcPct val="100000"/>
              </a:lnSpc>
            </a:pPr>
            <a:r>
              <a:rPr sz="750" b="1" i="0">
                <a:solidFill>
                  <a:srgbClr val="000000"/>
                </a:solidFill>
                <a:latin typeface="Poppins"/>
              </a:rPr>
              <a:t>MACRO 3</a:t>
            </a:r>
          </a:p>
        </p:txBody>
      </p:sp>
      <p:sp>
        <p:nvSpPr>
          <p:cNvPr id="11" name="Rectangle 10"/>
          <p:cNvSpPr/>
          <p:nvPr/>
        </p:nvSpPr>
        <p:spPr>
          <a:xfrm>
            <a:off x="1041400" y="10668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2200" y="1104900"/>
            <a:ext cx="2717800" cy="228600"/>
          </a:xfrm>
          <a:prstGeom prst="rect">
            <a:avLst/>
          </a:prstGeom>
          <a:noFill/>
        </p:spPr>
        <p:txBody>
          <a:bodyPr wrap="square"/>
          <a:lstStyle/>
          <a:p>
            <a:pPr algn="l">
              <a:lnSpc>
                <a:spcPct val="100000"/>
              </a:lnSpc>
            </a:pPr>
            <a:r>
              <a:rPr sz="750" b="0" i="0">
                <a:solidFill>
                  <a:srgbClr val="A0A0A0"/>
                </a:solidFill>
                <a:latin typeface="Poppins"/>
              </a:rPr>
              <a:t>ALGORITMO DEL HOGAR</a:t>
            </a:r>
          </a:p>
        </p:txBody>
      </p:sp>
      <p:sp>
        <p:nvSpPr>
          <p:cNvPr id="13" name="TextBox 12"/>
          <p:cNvSpPr txBox="1"/>
          <p:nvPr/>
        </p:nvSpPr>
        <p:spPr>
          <a:xfrm>
            <a:off x="254000" y="1473200"/>
            <a:ext cx="3683000" cy="2336800"/>
          </a:xfrm>
          <a:prstGeom prst="rect">
            <a:avLst/>
          </a:prstGeom>
          <a:noFill/>
        </p:spPr>
        <p:txBody>
          <a:bodyPr wrap="square"/>
          <a:lstStyle/>
          <a:p>
            <a:pPr algn="l">
              <a:lnSpc>
                <a:spcPct val="114000"/>
              </a:lnSpc>
            </a:pPr>
            <a:r>
              <a:rPr sz="2000" b="0" i="0">
                <a:solidFill>
                  <a:srgbClr val="FFFFFF"/>
                </a:solidFill>
                <a:latin typeface="Instrument Serif"/>
              </a:rPr>
              <a:t>TIKTOK NO TE SUGIERE, TE OBLIGA: UN VIDEO AGOTA GÓNDOLAS EN DÍAS, Y SOL DE JANEIRO PASÓ DE VIRAL A +US$1B MIENTRAS LABUBU LLEGABA A US$150K EN SUBASTA.</a:t>
            </a:r>
          </a:p>
        </p:txBody>
      </p:sp>
      <p:sp>
        <p:nvSpPr>
          <p:cNvPr id="14" name="TextBox 13"/>
          <p:cNvSpPr txBox="1"/>
          <p:nvPr/>
        </p:nvSpPr>
        <p:spPr>
          <a:xfrm>
            <a:off x="254000" y="39878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4241800"/>
            <a:ext cx="3683000" cy="990600"/>
          </a:xfrm>
          <a:prstGeom prst="rect">
            <a:avLst/>
          </a:prstGeom>
          <a:noFill/>
        </p:spPr>
        <p:txBody>
          <a:bodyPr wrap="square"/>
          <a:lstStyle/>
          <a:p>
            <a:pPr algn="l">
              <a:lnSpc>
                <a:spcPct val="100000"/>
              </a:lnSpc>
            </a:pPr>
            <a:r>
              <a:rPr sz="1000" b="0" i="0">
                <a:solidFill>
                  <a:srgbClr val="FFFFFF"/>
                </a:solidFill>
                <a:latin typeface="Poppins"/>
              </a:rPr>
              <a:t>El algoritmo fabrica must-haves que vacían el stock en días. Sol de Janeiro acumuló +850M de views y triplicó ventas. Stanley y Labubu agotaron góndolas por puro hype. El deseo no lo programa la necesidad — lo programa el feed. Lo compras para estar adentro, no para usarlo.</a:t>
            </a:r>
          </a:p>
        </p:txBody>
      </p:sp>
      <p:sp>
        <p:nvSpPr>
          <p:cNvPr id="16" name="TextBox 15"/>
          <p:cNvSpPr txBox="1"/>
          <p:nvPr/>
        </p:nvSpPr>
        <p:spPr>
          <a:xfrm>
            <a:off x="254000" y="54102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5664200"/>
            <a:ext cx="3683000" cy="762000"/>
          </a:xfrm>
          <a:prstGeom prst="rect">
            <a:avLst/>
          </a:prstGeom>
          <a:noFill/>
        </p:spPr>
        <p:txBody>
          <a:bodyPr wrap="square"/>
          <a:lstStyle/>
          <a:p>
            <a:pPr algn="l">
              <a:lnSpc>
                <a:spcPct val="100000"/>
              </a:lnSpc>
            </a:pPr>
            <a:r>
              <a:rPr sz="1600" b="0" i="0">
                <a:solidFill>
                  <a:srgbClr val="FFFFFF"/>
                </a:solidFill>
                <a:latin typeface="Instrument Serif"/>
              </a:rPr>
              <a:t>#tiktokmademebuyit · #viralproduct · #amazonmusthaves · #soldout · #restock</a:t>
            </a:r>
          </a:p>
        </p:txBody>
      </p:sp>
      <p:sp>
        <p:nvSpPr>
          <p:cNvPr id="18" name="TextBox 17"/>
          <p:cNvSpPr txBox="1"/>
          <p:nvPr/>
        </p:nvSpPr>
        <p:spPr>
          <a:xfrm>
            <a:off x="4191000" y="1066800"/>
            <a:ext cx="2159000" cy="584200"/>
          </a:xfrm>
          <a:prstGeom prst="rect">
            <a:avLst/>
          </a:prstGeom>
          <a:noFill/>
        </p:spPr>
        <p:txBody>
          <a:bodyPr wrap="square"/>
          <a:lstStyle/>
          <a:p>
            <a:pPr algn="l">
              <a:lnSpc>
                <a:spcPct val="100000"/>
              </a:lnSpc>
            </a:pPr>
            <a:r>
              <a:rPr sz="4000" b="0" i="0">
                <a:solidFill>
                  <a:srgbClr val="FFFFFF"/>
                </a:solidFill>
                <a:latin typeface="Instrument Serif"/>
              </a:rPr>
              <a:t>15%</a:t>
            </a:r>
          </a:p>
        </p:txBody>
      </p:sp>
      <p:sp>
        <p:nvSpPr>
          <p:cNvPr id="19" name="TextBox 18"/>
          <p:cNvSpPr txBox="1"/>
          <p:nvPr/>
        </p:nvSpPr>
        <p:spPr>
          <a:xfrm>
            <a:off x="4191000" y="1803400"/>
            <a:ext cx="2159000" cy="476250"/>
          </a:xfrm>
          <a:prstGeom prst="rect">
            <a:avLst/>
          </a:prstGeom>
          <a:noFill/>
        </p:spPr>
        <p:txBody>
          <a:bodyPr wrap="square"/>
          <a:lstStyle/>
          <a:p>
            <a:pPr algn="l">
              <a:lnSpc>
                <a:spcPct val="100000"/>
              </a:lnSpc>
            </a:pPr>
            <a:r>
              <a:rPr sz="1000" b="0" i="0">
                <a:solidFill>
                  <a:srgbClr val="FFFFFF"/>
                </a:solidFill>
                <a:latin typeface="Poppins"/>
              </a:rPr>
              <a:t>De consumidores globales compra solo porque algo es tendencia en TikTok.</a:t>
            </a:r>
          </a:p>
        </p:txBody>
      </p:sp>
      <p:sp>
        <p:nvSpPr>
          <p:cNvPr id="20" name="TextBox 19"/>
          <p:cNvSpPr txBox="1"/>
          <p:nvPr/>
        </p:nvSpPr>
        <p:spPr>
          <a:xfrm>
            <a:off x="4191000" y="2432050"/>
            <a:ext cx="2159000" cy="152400"/>
          </a:xfrm>
          <a:prstGeom prst="rect">
            <a:avLst/>
          </a:prstGeom>
          <a:noFill/>
        </p:spPr>
        <p:txBody>
          <a:bodyPr wrap="square"/>
          <a:lstStyle/>
          <a:p>
            <a:pPr algn="l">
              <a:lnSpc>
                <a:spcPct val="100000"/>
              </a:lnSpc>
            </a:pPr>
            <a:r>
              <a:rPr sz="650" b="0" i="0">
                <a:solidFill>
                  <a:srgbClr val="666666"/>
                </a:solidFill>
                <a:latin typeface="Poppins"/>
              </a:rPr>
              <a:t>SAP EMARSYS · 2025</a:t>
            </a:r>
          </a:p>
        </p:txBody>
      </p:sp>
      <p:sp>
        <p:nvSpPr>
          <p:cNvPr id="21" name="TextBox 20"/>
          <p:cNvSpPr txBox="1"/>
          <p:nvPr/>
        </p:nvSpPr>
        <p:spPr>
          <a:xfrm>
            <a:off x="4191000" y="2863850"/>
            <a:ext cx="2159000" cy="584200"/>
          </a:xfrm>
          <a:prstGeom prst="rect">
            <a:avLst/>
          </a:prstGeom>
          <a:noFill/>
        </p:spPr>
        <p:txBody>
          <a:bodyPr wrap="square"/>
          <a:lstStyle/>
          <a:p>
            <a:pPr algn="l">
              <a:lnSpc>
                <a:spcPct val="100000"/>
              </a:lnSpc>
            </a:pPr>
            <a:r>
              <a:rPr sz="4000" b="0" i="0">
                <a:solidFill>
                  <a:srgbClr val="FFFFFF"/>
                </a:solidFill>
                <a:latin typeface="Instrument Serif"/>
              </a:rPr>
              <a:t>+US$1B</a:t>
            </a:r>
          </a:p>
        </p:txBody>
      </p:sp>
      <p:sp>
        <p:nvSpPr>
          <p:cNvPr id="22" name="TextBox 21"/>
          <p:cNvSpPr txBox="1"/>
          <p:nvPr/>
        </p:nvSpPr>
        <p:spPr>
          <a:xfrm>
            <a:off x="4191000" y="3600450"/>
            <a:ext cx="2159000" cy="635000"/>
          </a:xfrm>
          <a:prstGeom prst="rect">
            <a:avLst/>
          </a:prstGeom>
          <a:noFill/>
        </p:spPr>
        <p:txBody>
          <a:bodyPr wrap="square"/>
          <a:lstStyle/>
          <a:p>
            <a:pPr algn="l">
              <a:lnSpc>
                <a:spcPct val="100000"/>
              </a:lnSpc>
            </a:pPr>
            <a:r>
              <a:rPr sz="1000" b="0" i="0">
                <a:solidFill>
                  <a:srgbClr val="FFFFFF"/>
                </a:solidFill>
                <a:latin typeface="Poppins"/>
              </a:rPr>
              <a:t>Sol de Janeiro: +850M views, ventas triplicadas a +US$1B; Labubu llegó a US$150K en subasta.</a:t>
            </a:r>
          </a:p>
        </p:txBody>
      </p:sp>
      <p:sp>
        <p:nvSpPr>
          <p:cNvPr id="23" name="TextBox 22"/>
          <p:cNvSpPr txBox="1"/>
          <p:nvPr/>
        </p:nvSpPr>
        <p:spPr>
          <a:xfrm>
            <a:off x="4191000" y="4387850"/>
            <a:ext cx="2159000" cy="152400"/>
          </a:xfrm>
          <a:prstGeom prst="rect">
            <a:avLst/>
          </a:prstGeom>
          <a:noFill/>
        </p:spPr>
        <p:txBody>
          <a:bodyPr wrap="square"/>
          <a:lstStyle/>
          <a:p>
            <a:pPr algn="l">
              <a:lnSpc>
                <a:spcPct val="100000"/>
              </a:lnSpc>
            </a:pPr>
            <a:r>
              <a:rPr sz="650" b="0" i="0">
                <a:solidFill>
                  <a:srgbClr val="666666"/>
                </a:solidFill>
                <a:latin typeface="Poppins"/>
              </a:rPr>
              <a:t>FREE YOURSELF / UC SAN DIEGO · 2025</a:t>
            </a:r>
          </a:p>
        </p:txBody>
      </p:sp>
      <p:sp>
        <p:nvSpPr>
          <p:cNvPr id="24" name="TextBox 23"/>
          <p:cNvSpPr txBox="1"/>
          <p:nvPr/>
        </p:nvSpPr>
        <p:spPr>
          <a:xfrm>
            <a:off x="4191000" y="4819650"/>
            <a:ext cx="2159000" cy="584200"/>
          </a:xfrm>
          <a:prstGeom prst="rect">
            <a:avLst/>
          </a:prstGeom>
          <a:noFill/>
        </p:spPr>
        <p:txBody>
          <a:bodyPr wrap="square"/>
          <a:lstStyle/>
          <a:p>
            <a:pPr algn="l">
              <a:lnSpc>
                <a:spcPct val="100000"/>
              </a:lnSpc>
            </a:pPr>
            <a:r>
              <a:rPr sz="4000" b="0" i="0">
                <a:solidFill>
                  <a:srgbClr val="FFFFFF"/>
                </a:solidFill>
                <a:latin typeface="Instrument Serif"/>
              </a:rPr>
              <a:t>Top</a:t>
            </a:r>
          </a:p>
        </p:txBody>
      </p:sp>
      <p:sp>
        <p:nvSpPr>
          <p:cNvPr id="25" name="TextBox 24"/>
          <p:cNvSpPr txBox="1"/>
          <p:nvPr/>
        </p:nvSpPr>
        <p:spPr>
          <a:xfrm>
            <a:off x="4191000" y="5556250"/>
            <a:ext cx="2159000" cy="476250"/>
          </a:xfrm>
          <a:prstGeom prst="rect">
            <a:avLst/>
          </a:prstGeom>
          <a:noFill/>
        </p:spPr>
        <p:txBody>
          <a:bodyPr wrap="square"/>
          <a:lstStyle/>
          <a:p>
            <a:pPr algn="l">
              <a:lnSpc>
                <a:spcPct val="100000"/>
              </a:lnSpc>
            </a:pPr>
            <a:r>
              <a:rPr sz="1000" b="0" i="0">
                <a:solidFill>
                  <a:srgbClr val="FFFFFF"/>
                </a:solidFill>
                <a:latin typeface="Poppins"/>
              </a:rPr>
              <a:t>Ranking de productos TikTok más vendidos 2025 — virales que agotan stock en días.</a:t>
            </a:r>
          </a:p>
        </p:txBody>
      </p:sp>
      <p:sp>
        <p:nvSpPr>
          <p:cNvPr id="26" name="TextBox 25"/>
          <p:cNvSpPr txBox="1"/>
          <p:nvPr/>
        </p:nvSpPr>
        <p:spPr>
          <a:xfrm>
            <a:off x="4191000" y="6184900"/>
            <a:ext cx="2159000" cy="152400"/>
          </a:xfrm>
          <a:prstGeom prst="rect">
            <a:avLst/>
          </a:prstGeom>
          <a:noFill/>
        </p:spPr>
        <p:txBody>
          <a:bodyPr wrap="square"/>
          <a:lstStyle/>
          <a:p>
            <a:pPr algn="l">
              <a:lnSpc>
                <a:spcPct val="100000"/>
              </a:lnSpc>
            </a:pPr>
            <a:r>
              <a:rPr sz="650" b="0" i="0">
                <a:solidFill>
                  <a:srgbClr val="666666"/>
                </a:solidFill>
                <a:latin typeface="Poppins"/>
              </a:rPr>
              <a:t>ACCIO · 2025</a:t>
            </a:r>
          </a:p>
        </p:txBody>
      </p:sp>
      <p:pic>
        <p:nvPicPr>
          <p:cNvPr id="27" name="Picture 26" descr="macro-3-1-tiktok-tiktokmademebuyit-7470330136718527777.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ounded Rectangle 27"/>
          <p:cNvSpPr/>
          <p:nvPr/>
        </p:nvSpPr>
        <p:spPr>
          <a:xfrm>
            <a:off x="8610600" y="2476500"/>
            <a:ext cx="584200" cy="190500"/>
          </a:xfrm>
          <a:prstGeom prst="round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lnSpc>
                <a:spcPct val="100000"/>
              </a:lnSpc>
            </a:pPr>
            <a:r>
              <a:rPr sz="700" b="1" i="0">
                <a:solidFill>
                  <a:srgbClr val="FFFFFF"/>
                </a:solidFill>
                <a:latin typeface="Poppins"/>
              </a:rPr>
              <a:t>CLICK ME ▸</a:t>
            </a:r>
          </a:p>
        </p:txBody>
      </p:sp>
      <p:sp>
        <p:nvSpPr>
          <p:cNvPr id="29" name="TextBox 28"/>
          <p:cNvSpPr txBox="1"/>
          <p:nvPr/>
        </p:nvSpPr>
        <p:spPr>
          <a:xfrm>
            <a:off x="9347200" y="1066800"/>
            <a:ext cx="2057400" cy="609600"/>
          </a:xfrm>
          <a:prstGeom prst="rect">
            <a:avLst/>
          </a:prstGeom>
          <a:noFill/>
        </p:spPr>
        <p:txBody>
          <a:bodyPr wrap="square"/>
          <a:lstStyle/>
          <a:p>
            <a:pPr algn="l">
              <a:lnSpc>
                <a:spcPct val="100000"/>
              </a:lnSpc>
            </a:pPr>
            <a:r>
              <a:rPr sz="1000" b="0" i="0">
                <a:solidFill>
                  <a:srgbClr val="FFFFFF"/>
                </a:solidFill>
                <a:latin typeface="Poppins"/>
              </a:rPr>
              <a:t>#tiktokmademebuyit — el hashtag que acumula 80B de views documenta cada must-have del feed.</a:t>
            </a:r>
          </a:p>
        </p:txBody>
      </p:sp>
      <p:sp>
        <p:nvSpPr>
          <p:cNvPr id="30" name="TextBox 29"/>
          <p:cNvSpPr txBox="1"/>
          <p:nvPr/>
        </p:nvSpPr>
        <p:spPr>
          <a:xfrm>
            <a:off x="9347200" y="1803400"/>
            <a:ext cx="2057400" cy="152400"/>
          </a:xfrm>
          <a:prstGeom prst="rect">
            <a:avLst/>
          </a:prstGeom>
          <a:noFill/>
        </p:spPr>
        <p:txBody>
          <a:bodyPr wrap="square"/>
          <a:lstStyle/>
          <a:p>
            <a:pPr algn="l">
              <a:lnSpc>
                <a:spcPct val="100000"/>
              </a:lnSpc>
            </a:pPr>
            <a:r>
              <a:rPr sz="650" b="0" i="0">
                <a:solidFill>
                  <a:srgbClr val="666666"/>
                </a:solidFill>
                <a:latin typeface="Poppins"/>
              </a:rPr>
              <a:t>TIKTOK @UNIQUE21OFFICIAL · 2025</a:t>
            </a:r>
          </a:p>
        </p:txBody>
      </p:sp>
      <p:pic>
        <p:nvPicPr>
          <p:cNvPr id="31" name="Picture 30" descr="macro-3-4-freeyourself-soldejaneiro-viral.png">
            <a:hlinkClick r:id="rId5"/>
          </p:cNvPr>
          <p:cNvPicPr>
            <a:picLocks noChangeAspect="1"/>
          </p:cNvPicPr>
          <p:nvPr/>
        </p:nvPicPr>
        <p:blipFill>
          <a:blip r:embed="rId4"/>
          <a:stretch>
            <a:fillRect/>
          </a:stretch>
        </p:blipFill>
        <p:spPr>
          <a:xfrm>
            <a:off x="8128000" y="3022600"/>
            <a:ext cx="1117600" cy="1651000"/>
          </a:xfrm>
          <a:prstGeom prst="rect">
            <a:avLst/>
          </a:prstGeom>
        </p:spPr>
      </p:pic>
      <p:sp>
        <p:nvSpPr>
          <p:cNvPr id="32" name="Rounded Rectangle 31"/>
          <p:cNvSpPr/>
          <p:nvPr/>
        </p:nvSpPr>
        <p:spPr>
          <a:xfrm>
            <a:off x="8610600" y="4432300"/>
            <a:ext cx="584200" cy="190500"/>
          </a:xfrm>
          <a:prstGeom prst="round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lnSpc>
                <a:spcPct val="100000"/>
              </a:lnSpc>
            </a:pPr>
            <a:r>
              <a:rPr sz="700" b="1" i="0">
                <a:solidFill>
                  <a:srgbClr val="FFFFFF"/>
                </a:solidFill>
                <a:latin typeface="Poppins"/>
              </a:rPr>
              <a:t>CLICK ME ▸</a:t>
            </a:r>
          </a:p>
        </p:txBody>
      </p:sp>
      <p:sp>
        <p:nvSpPr>
          <p:cNvPr id="33" name="TextBox 32"/>
          <p:cNvSpPr txBox="1"/>
          <p:nvPr/>
        </p:nvSpPr>
        <p:spPr>
          <a:xfrm>
            <a:off x="9347200" y="3022600"/>
            <a:ext cx="2057400" cy="609600"/>
          </a:xfrm>
          <a:prstGeom prst="rect">
            <a:avLst/>
          </a:prstGeom>
          <a:noFill/>
        </p:spPr>
        <p:txBody>
          <a:bodyPr wrap="square"/>
          <a:lstStyle/>
          <a:p>
            <a:pPr algn="l">
              <a:lnSpc>
                <a:spcPct val="100000"/>
              </a:lnSpc>
            </a:pPr>
            <a:r>
              <a:rPr sz="1000" b="0" i="0">
                <a:solidFill>
                  <a:srgbClr val="FFFFFF"/>
                </a:solidFill>
                <a:latin typeface="Poppins"/>
              </a:rPr>
              <a:t>Sol de Janeiro: +850M views TikTok, ventas triplicadas a +US$1B — el frasco diseñado para el feed.</a:t>
            </a:r>
          </a:p>
        </p:txBody>
      </p:sp>
      <p:sp>
        <p:nvSpPr>
          <p:cNvPr id="34" name="TextBox 33"/>
          <p:cNvSpPr txBox="1"/>
          <p:nvPr/>
        </p:nvSpPr>
        <p:spPr>
          <a:xfrm>
            <a:off x="9347200" y="3759200"/>
            <a:ext cx="2057400" cy="152400"/>
          </a:xfrm>
          <a:prstGeom prst="rect">
            <a:avLst/>
          </a:prstGeom>
          <a:noFill/>
        </p:spPr>
        <p:txBody>
          <a:bodyPr wrap="square"/>
          <a:lstStyle/>
          <a:p>
            <a:pPr algn="l">
              <a:lnSpc>
                <a:spcPct val="100000"/>
              </a:lnSpc>
            </a:pPr>
            <a:r>
              <a:rPr sz="650" b="0" i="0">
                <a:solidFill>
                  <a:srgbClr val="666666"/>
                </a:solidFill>
                <a:latin typeface="Poppins"/>
              </a:rPr>
              <a:t>FREEYOURSELF · 2025</a:t>
            </a:r>
          </a:p>
        </p:txBody>
      </p:sp>
      <p:pic>
        <p:nvPicPr>
          <p:cNvPr id="35" name="Picture 34" descr="macro-3-1-accio-top-tiktok-products-page.png">
            <a:hlinkClick r:id="rId7"/>
          </p:cNvPr>
          <p:cNvPicPr>
            <a:picLocks noChangeAspect="1"/>
          </p:cNvPicPr>
          <p:nvPr/>
        </p:nvPicPr>
        <p:blipFill>
          <a:blip r:embed="rId6"/>
          <a:stretch>
            <a:fillRect/>
          </a:stretch>
        </p:blipFill>
        <p:spPr>
          <a:xfrm>
            <a:off x="8128000" y="4978400"/>
            <a:ext cx="1117600" cy="1651000"/>
          </a:xfrm>
          <a:prstGeom prst="rect">
            <a:avLst/>
          </a:prstGeom>
        </p:spPr>
      </p:pic>
      <p:sp>
        <p:nvSpPr>
          <p:cNvPr id="36" name="Rounded Rectangle 35"/>
          <p:cNvSpPr/>
          <p:nvPr/>
        </p:nvSpPr>
        <p:spPr>
          <a:xfrm>
            <a:off x="8610600" y="6388100"/>
            <a:ext cx="584200" cy="190500"/>
          </a:xfrm>
          <a:prstGeom prst="round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lnSpc>
                <a:spcPct val="100000"/>
              </a:lnSpc>
            </a:pPr>
            <a:r>
              <a:rPr sz="700" b="1" i="0">
                <a:solidFill>
                  <a:srgbClr val="FFFFFF"/>
                </a:solidFill>
                <a:latin typeface="Poppins"/>
              </a:rPr>
              <a:t>CLICK ME ▸</a:t>
            </a:r>
          </a:p>
        </p:txBody>
      </p:sp>
      <p:sp>
        <p:nvSpPr>
          <p:cNvPr id="37" name="TextBox 36"/>
          <p:cNvSpPr txBox="1"/>
          <p:nvPr/>
        </p:nvSpPr>
        <p:spPr>
          <a:xfrm>
            <a:off x="9347200" y="4978400"/>
            <a:ext cx="2057400" cy="457200"/>
          </a:xfrm>
          <a:prstGeom prst="rect">
            <a:avLst/>
          </a:prstGeom>
          <a:noFill/>
        </p:spPr>
        <p:txBody>
          <a:bodyPr wrap="square"/>
          <a:lstStyle/>
          <a:p>
            <a:pPr algn="l">
              <a:lnSpc>
                <a:spcPct val="100000"/>
              </a:lnSpc>
            </a:pPr>
            <a:r>
              <a:rPr sz="1000" b="0" i="0">
                <a:solidFill>
                  <a:srgbClr val="FFFFFF"/>
                </a:solidFill>
                <a:latin typeface="Poppins"/>
              </a:rPr>
              <a:t>Ranking de productos TikTok más vendidos 2025 — el feed como árbitro del must-have.</a:t>
            </a:r>
          </a:p>
        </p:txBody>
      </p:sp>
      <p:sp>
        <p:nvSpPr>
          <p:cNvPr id="38" name="TextBox 37"/>
          <p:cNvSpPr txBox="1"/>
          <p:nvPr/>
        </p:nvSpPr>
        <p:spPr>
          <a:xfrm>
            <a:off x="9347200" y="5562600"/>
            <a:ext cx="2057400" cy="152400"/>
          </a:xfrm>
          <a:prstGeom prst="rect">
            <a:avLst/>
          </a:prstGeom>
          <a:noFill/>
        </p:spPr>
        <p:txBody>
          <a:bodyPr wrap="square"/>
          <a:lstStyle/>
          <a:p>
            <a:pPr algn="l">
              <a:lnSpc>
                <a:spcPct val="100000"/>
              </a:lnSpc>
            </a:pPr>
            <a:r>
              <a:rPr sz="650" b="0" i="0">
                <a:solidFill>
                  <a:srgbClr val="666666"/>
                </a:solidFill>
                <a:latin typeface="Poppins"/>
              </a:rPr>
              <a:t>ACCIO · 2025</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4" name="TextBox 3"/>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5" name="TextBox 4"/>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6" name="Connector 5"/>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254000" y="10668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04800" y="1104900"/>
            <a:ext cx="660400" cy="228600"/>
          </a:xfrm>
          <a:prstGeom prst="rect">
            <a:avLst/>
          </a:prstGeom>
          <a:noFill/>
        </p:spPr>
        <p:txBody>
          <a:bodyPr wrap="square"/>
          <a:lstStyle/>
          <a:p>
            <a:pPr algn="l">
              <a:lnSpc>
                <a:spcPct val="100000"/>
              </a:lnSpc>
            </a:pPr>
            <a:r>
              <a:rPr sz="750" b="1" i="0">
                <a:solidFill>
                  <a:srgbClr val="000000"/>
                </a:solidFill>
                <a:latin typeface="Poppins"/>
              </a:rPr>
              <a:t>MACRO 3</a:t>
            </a:r>
          </a:p>
        </p:txBody>
      </p:sp>
      <p:sp>
        <p:nvSpPr>
          <p:cNvPr id="11" name="Rectangle 10"/>
          <p:cNvSpPr/>
          <p:nvPr/>
        </p:nvSpPr>
        <p:spPr>
          <a:xfrm>
            <a:off x="1041400" y="10668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2200" y="1104900"/>
            <a:ext cx="2717800" cy="228600"/>
          </a:xfrm>
          <a:prstGeom prst="rect">
            <a:avLst/>
          </a:prstGeom>
          <a:noFill/>
        </p:spPr>
        <p:txBody>
          <a:bodyPr wrap="square"/>
          <a:lstStyle/>
          <a:p>
            <a:pPr algn="l">
              <a:lnSpc>
                <a:spcPct val="100000"/>
              </a:lnSpc>
            </a:pPr>
            <a:r>
              <a:rPr sz="750" b="0" i="0">
                <a:solidFill>
                  <a:srgbClr val="A0A0A0"/>
                </a:solidFill>
                <a:latin typeface="Poppins"/>
              </a:rPr>
              <a:t>ALGORITMO DEL HOGAR</a:t>
            </a:r>
          </a:p>
        </p:txBody>
      </p:sp>
      <p:sp>
        <p:nvSpPr>
          <p:cNvPr id="13" name="TextBox 12"/>
          <p:cNvSpPr txBox="1"/>
          <p:nvPr/>
        </p:nvSpPr>
        <p:spPr>
          <a:xfrm>
            <a:off x="254000" y="1473200"/>
            <a:ext cx="3683000" cy="2044700"/>
          </a:xfrm>
          <a:prstGeom prst="rect">
            <a:avLst/>
          </a:prstGeom>
          <a:noFill/>
        </p:spPr>
        <p:txBody>
          <a:bodyPr wrap="square"/>
          <a:lstStyle/>
          <a:p>
            <a:pPr algn="l">
              <a:lnSpc>
                <a:spcPct val="114000"/>
              </a:lnSpc>
            </a:pPr>
            <a:r>
              <a:rPr sz="2000" b="0" i="0">
                <a:solidFill>
                  <a:srgbClr val="FFFFFF"/>
                </a:solidFill>
                <a:latin typeface="Instrument Serif"/>
              </a:rPr>
              <a:t>LA SUEGRA QUE DECÍA QUÉ COMPRAR PARA LA CASA AHORA ES UNA FAMILY INFLUENCER: +60% DE LATAM LE COPIA LA DESPENSA A QUIEN LA MOSTRÓ EN CÁMARA.</a:t>
            </a:r>
          </a:p>
        </p:txBody>
      </p:sp>
      <p:sp>
        <p:nvSpPr>
          <p:cNvPr id="14" name="TextBox 13"/>
          <p:cNvSpPr txBox="1"/>
          <p:nvPr/>
        </p:nvSpPr>
        <p:spPr>
          <a:xfrm>
            <a:off x="254000" y="36957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3949700"/>
            <a:ext cx="3683000" cy="990600"/>
          </a:xfrm>
          <a:prstGeom prst="rect">
            <a:avLst/>
          </a:prstGeom>
          <a:noFill/>
        </p:spPr>
        <p:txBody>
          <a:bodyPr wrap="square"/>
          <a:lstStyle/>
          <a:p>
            <a:pPr algn="l">
              <a:lnSpc>
                <a:spcPct val="100000"/>
              </a:lnSpc>
            </a:pPr>
            <a:r>
              <a:rPr sz="1000" b="0" i="0">
                <a:solidFill>
                  <a:srgbClr val="FFFFFF"/>
                </a:solidFill>
                <a:latin typeface="Poppins"/>
              </a:rPr>
              <a:t>El consejo de qué sirve para la casa venía de la familia. Ahora viene del family/home influencer. La casa compra lo que la creadora-vecina enseñó: replica su despensa, su decoración, su Amazon storefront como lista de compras. La autoridad de consumo doméstico migró del consejo familiar al grid.</a:t>
            </a:r>
          </a:p>
        </p:txBody>
      </p:sp>
      <p:sp>
        <p:nvSpPr>
          <p:cNvPr id="16" name="TextBox 15"/>
          <p:cNvSpPr txBox="1"/>
          <p:nvPr/>
        </p:nvSpPr>
        <p:spPr>
          <a:xfrm>
            <a:off x="254000" y="51181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5372100"/>
            <a:ext cx="3683000" cy="762000"/>
          </a:xfrm>
          <a:prstGeom prst="rect">
            <a:avLst/>
          </a:prstGeom>
          <a:noFill/>
        </p:spPr>
        <p:txBody>
          <a:bodyPr wrap="square"/>
          <a:lstStyle/>
          <a:p>
            <a:pPr algn="l">
              <a:lnSpc>
                <a:spcPct val="100000"/>
              </a:lnSpc>
            </a:pPr>
            <a:r>
              <a:rPr sz="1600" b="0" i="0">
                <a:solidFill>
                  <a:srgbClr val="FFFFFF"/>
                </a:solidFill>
                <a:latin typeface="Instrument Serif"/>
              </a:rPr>
              <a:t>#homeinfluencer · #amazonstorefront · #momtok · #compracomoella · #hometok</a:t>
            </a:r>
          </a:p>
        </p:txBody>
      </p:sp>
      <p:sp>
        <p:nvSpPr>
          <p:cNvPr id="18" name="TextBox 17"/>
          <p:cNvSpPr txBox="1"/>
          <p:nvPr/>
        </p:nvSpPr>
        <p:spPr>
          <a:xfrm>
            <a:off x="4191000" y="1066800"/>
            <a:ext cx="2159000" cy="584200"/>
          </a:xfrm>
          <a:prstGeom prst="rect">
            <a:avLst/>
          </a:prstGeom>
          <a:noFill/>
        </p:spPr>
        <p:txBody>
          <a:bodyPr wrap="square"/>
          <a:lstStyle/>
          <a:p>
            <a:pPr algn="l">
              <a:lnSpc>
                <a:spcPct val="100000"/>
              </a:lnSpc>
            </a:pPr>
            <a:r>
              <a:rPr sz="4000" b="0" i="0">
                <a:solidFill>
                  <a:srgbClr val="FFFFFF"/>
                </a:solidFill>
                <a:latin typeface="Instrument Serif"/>
              </a:rPr>
              <a:t>+60%</a:t>
            </a:r>
          </a:p>
        </p:txBody>
      </p:sp>
      <p:sp>
        <p:nvSpPr>
          <p:cNvPr id="19" name="TextBox 18"/>
          <p:cNvSpPr txBox="1"/>
          <p:nvPr/>
        </p:nvSpPr>
        <p:spPr>
          <a:xfrm>
            <a:off x="4191000" y="1803400"/>
            <a:ext cx="2159000" cy="317500"/>
          </a:xfrm>
          <a:prstGeom prst="rect">
            <a:avLst/>
          </a:prstGeom>
          <a:noFill/>
        </p:spPr>
        <p:txBody>
          <a:bodyPr wrap="square"/>
          <a:lstStyle/>
          <a:p>
            <a:pPr algn="l">
              <a:lnSpc>
                <a:spcPct val="100000"/>
              </a:lnSpc>
            </a:pPr>
            <a:r>
              <a:rPr sz="1000" b="0" i="0">
                <a:solidFill>
                  <a:srgbClr val="FFFFFF"/>
                </a:solidFill>
                <a:latin typeface="Poppins"/>
              </a:rPr>
              <a:t>De LATAM sigue influencers que recomiendan o venden productos.</a:t>
            </a:r>
          </a:p>
        </p:txBody>
      </p:sp>
      <p:sp>
        <p:nvSpPr>
          <p:cNvPr id="20" name="TextBox 19"/>
          <p:cNvSpPr txBox="1"/>
          <p:nvPr/>
        </p:nvSpPr>
        <p:spPr>
          <a:xfrm>
            <a:off x="4191000" y="2273300"/>
            <a:ext cx="2159000" cy="152400"/>
          </a:xfrm>
          <a:prstGeom prst="rect">
            <a:avLst/>
          </a:prstGeom>
          <a:noFill/>
        </p:spPr>
        <p:txBody>
          <a:bodyPr wrap="square"/>
          <a:lstStyle/>
          <a:p>
            <a:pPr algn="l">
              <a:lnSpc>
                <a:spcPct val="100000"/>
              </a:lnSpc>
            </a:pPr>
            <a:r>
              <a:rPr sz="650" b="0" i="0">
                <a:solidFill>
                  <a:srgbClr val="666666"/>
                </a:solidFill>
                <a:latin typeface="Poppins"/>
              </a:rPr>
              <a:t>LATAM INTERSECT PR · 2025</a:t>
            </a:r>
          </a:p>
        </p:txBody>
      </p:sp>
      <p:sp>
        <p:nvSpPr>
          <p:cNvPr id="21" name="TextBox 20"/>
          <p:cNvSpPr txBox="1"/>
          <p:nvPr/>
        </p:nvSpPr>
        <p:spPr>
          <a:xfrm>
            <a:off x="4191000" y="2705100"/>
            <a:ext cx="2159000" cy="584200"/>
          </a:xfrm>
          <a:prstGeom prst="rect">
            <a:avLst/>
          </a:prstGeom>
          <a:noFill/>
        </p:spPr>
        <p:txBody>
          <a:bodyPr wrap="square"/>
          <a:lstStyle/>
          <a:p>
            <a:pPr algn="l">
              <a:lnSpc>
                <a:spcPct val="100000"/>
              </a:lnSpc>
            </a:pPr>
            <a:r>
              <a:rPr sz="4000" b="0" i="0">
                <a:solidFill>
                  <a:srgbClr val="FFFFFF"/>
                </a:solidFill>
                <a:latin typeface="Instrument Serif"/>
              </a:rPr>
              <a:t>Sweet</a:t>
            </a:r>
          </a:p>
        </p:txBody>
      </p:sp>
      <p:sp>
        <p:nvSpPr>
          <p:cNvPr id="22" name="TextBox 21"/>
          <p:cNvSpPr txBox="1"/>
          <p:nvPr/>
        </p:nvSpPr>
        <p:spPr>
          <a:xfrm>
            <a:off x="4191000" y="3441700"/>
            <a:ext cx="2159000" cy="476250"/>
          </a:xfrm>
          <a:prstGeom prst="rect">
            <a:avLst/>
          </a:prstGeom>
          <a:noFill/>
        </p:spPr>
        <p:txBody>
          <a:bodyPr wrap="square"/>
          <a:lstStyle/>
          <a:p>
            <a:pPr algn="l">
              <a:lnSpc>
                <a:spcPct val="100000"/>
              </a:lnSpc>
            </a:pPr>
            <a:r>
              <a:rPr sz="1000" b="0" i="0">
                <a:solidFill>
                  <a:srgbClr val="FFFFFF"/>
                </a:solidFill>
                <a:latin typeface="Poppins"/>
              </a:rPr>
              <a:t>Micro-influencers (10K-100K) en el sweet spot de purchase intent; CPMs caen &gt;50% YoY.</a:t>
            </a:r>
          </a:p>
        </p:txBody>
      </p:sp>
      <p:sp>
        <p:nvSpPr>
          <p:cNvPr id="23" name="TextBox 22"/>
          <p:cNvSpPr txBox="1"/>
          <p:nvPr/>
        </p:nvSpPr>
        <p:spPr>
          <a:xfrm>
            <a:off x="4191000" y="4070350"/>
            <a:ext cx="2159000" cy="152400"/>
          </a:xfrm>
          <a:prstGeom prst="rect">
            <a:avLst/>
          </a:prstGeom>
          <a:noFill/>
        </p:spPr>
        <p:txBody>
          <a:bodyPr wrap="square"/>
          <a:lstStyle/>
          <a:p>
            <a:pPr algn="l">
              <a:lnSpc>
                <a:spcPct val="100000"/>
              </a:lnSpc>
            </a:pPr>
            <a:r>
              <a:rPr sz="650" b="0" i="0">
                <a:solidFill>
                  <a:srgbClr val="666666"/>
                </a:solidFill>
                <a:latin typeface="Poppins"/>
              </a:rPr>
              <a:t>JOINSTATUS / INFLUENCER MARKETING HUB · 2025</a:t>
            </a:r>
          </a:p>
        </p:txBody>
      </p:sp>
      <p:sp>
        <p:nvSpPr>
          <p:cNvPr id="24" name="TextBox 23"/>
          <p:cNvSpPr txBox="1"/>
          <p:nvPr/>
        </p:nvSpPr>
        <p:spPr>
          <a:xfrm>
            <a:off x="4191000" y="4502150"/>
            <a:ext cx="2159000" cy="584200"/>
          </a:xfrm>
          <a:prstGeom prst="rect">
            <a:avLst/>
          </a:prstGeom>
          <a:noFill/>
        </p:spPr>
        <p:txBody>
          <a:bodyPr wrap="square"/>
          <a:lstStyle/>
          <a:p>
            <a:pPr algn="l">
              <a:lnSpc>
                <a:spcPct val="100000"/>
              </a:lnSpc>
            </a:pPr>
            <a:r>
              <a:rPr sz="4000" b="0" i="0">
                <a:solidFill>
                  <a:srgbClr val="FFFFFF"/>
                </a:solidFill>
                <a:latin typeface="Instrument Serif"/>
              </a:rPr>
              <a:t>Top 1K</a:t>
            </a:r>
          </a:p>
        </p:txBody>
      </p:sp>
      <p:sp>
        <p:nvSpPr>
          <p:cNvPr id="25" name="TextBox 24"/>
          <p:cNvSpPr txBox="1"/>
          <p:nvPr/>
        </p:nvSpPr>
        <p:spPr>
          <a:xfrm>
            <a:off x="4191000" y="5238750"/>
            <a:ext cx="2159000" cy="635000"/>
          </a:xfrm>
          <a:prstGeom prst="rect">
            <a:avLst/>
          </a:prstGeom>
          <a:noFill/>
        </p:spPr>
        <p:txBody>
          <a:bodyPr wrap="square"/>
          <a:lstStyle/>
          <a:p>
            <a:pPr algn="l">
              <a:lnSpc>
                <a:spcPct val="100000"/>
              </a:lnSpc>
            </a:pPr>
            <a:r>
              <a:rPr sz="1000" b="0" i="0">
                <a:solidFill>
                  <a:srgbClr val="FFFFFF"/>
                </a:solidFill>
                <a:latin typeface="Poppins"/>
              </a:rPr>
              <a:t>HypeTrace ya rastrea el top 1,000 de creadores TikTok en RD — influencer marketing mainstream local.</a:t>
            </a:r>
          </a:p>
        </p:txBody>
      </p:sp>
      <p:sp>
        <p:nvSpPr>
          <p:cNvPr id="26" name="TextBox 25"/>
          <p:cNvSpPr txBox="1"/>
          <p:nvPr/>
        </p:nvSpPr>
        <p:spPr>
          <a:xfrm>
            <a:off x="4191000" y="6026150"/>
            <a:ext cx="2159000" cy="152400"/>
          </a:xfrm>
          <a:prstGeom prst="rect">
            <a:avLst/>
          </a:prstGeom>
          <a:noFill/>
        </p:spPr>
        <p:txBody>
          <a:bodyPr wrap="square"/>
          <a:lstStyle/>
          <a:p>
            <a:pPr algn="l">
              <a:lnSpc>
                <a:spcPct val="100000"/>
              </a:lnSpc>
            </a:pPr>
            <a:r>
              <a:rPr sz="650" b="0" i="0">
                <a:solidFill>
                  <a:srgbClr val="666666"/>
                </a:solidFill>
                <a:latin typeface="Poppins"/>
              </a:rPr>
              <a:t>STARNGAGE / HYPETRACE · 2025</a:t>
            </a:r>
          </a:p>
        </p:txBody>
      </p:sp>
      <p:pic>
        <p:nvPicPr>
          <p:cNvPr id="27" name="Picture 26" descr="macro-3-2-tiktok-momtok-amazon-storefront-7511087614015966495.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ounded Rectangle 27"/>
          <p:cNvSpPr/>
          <p:nvPr/>
        </p:nvSpPr>
        <p:spPr>
          <a:xfrm>
            <a:off x="8610600" y="2476500"/>
            <a:ext cx="584200" cy="190500"/>
          </a:xfrm>
          <a:prstGeom prst="round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lnSpc>
                <a:spcPct val="100000"/>
              </a:lnSpc>
            </a:pPr>
            <a:r>
              <a:rPr sz="700" b="1" i="0">
                <a:solidFill>
                  <a:srgbClr val="FFFFFF"/>
                </a:solidFill>
                <a:latin typeface="Poppins"/>
              </a:rPr>
              <a:t>CLICK ME ▸</a:t>
            </a:r>
          </a:p>
        </p:txBody>
      </p:sp>
      <p:sp>
        <p:nvSpPr>
          <p:cNvPr id="29" name="TextBox 28"/>
          <p:cNvSpPr txBox="1"/>
          <p:nvPr/>
        </p:nvSpPr>
        <p:spPr>
          <a:xfrm>
            <a:off x="9347200" y="1066800"/>
            <a:ext cx="2057400" cy="609600"/>
          </a:xfrm>
          <a:prstGeom prst="rect">
            <a:avLst/>
          </a:prstGeom>
          <a:noFill/>
        </p:spPr>
        <p:txBody>
          <a:bodyPr wrap="square"/>
          <a:lstStyle/>
          <a:p>
            <a:pPr algn="l">
              <a:lnSpc>
                <a:spcPct val="100000"/>
              </a:lnSpc>
            </a:pPr>
            <a:r>
              <a:rPr sz="1000" b="0" i="0">
                <a:solidFill>
                  <a:srgbClr val="FFFFFF"/>
                </a:solidFill>
                <a:latin typeface="Poppins"/>
              </a:rPr>
              <a:t>'Linked in my Amazon storefront #momtok #shoppinghaul' — el hogar como vitrina de compra curada.</a:t>
            </a:r>
          </a:p>
        </p:txBody>
      </p:sp>
      <p:sp>
        <p:nvSpPr>
          <p:cNvPr id="30" name="TextBox 29"/>
          <p:cNvSpPr txBox="1"/>
          <p:nvPr/>
        </p:nvSpPr>
        <p:spPr>
          <a:xfrm>
            <a:off x="9347200" y="1803400"/>
            <a:ext cx="2057400" cy="152400"/>
          </a:xfrm>
          <a:prstGeom prst="rect">
            <a:avLst/>
          </a:prstGeom>
          <a:noFill/>
        </p:spPr>
        <p:txBody>
          <a:bodyPr wrap="square"/>
          <a:lstStyle/>
          <a:p>
            <a:pPr algn="l">
              <a:lnSpc>
                <a:spcPct val="100000"/>
              </a:lnSpc>
            </a:pPr>
            <a:r>
              <a:rPr sz="650" b="0" i="0">
                <a:solidFill>
                  <a:srgbClr val="666666"/>
                </a:solidFill>
                <a:latin typeface="Poppins"/>
              </a:rPr>
              <a:t>TIKTOK @__JBARSTY · 2025</a:t>
            </a:r>
          </a:p>
        </p:txBody>
      </p:sp>
      <p:pic>
        <p:nvPicPr>
          <p:cNvPr id="31" name="Picture 30" descr="macro-3-2-hypetrace-top-tiktok-rd.png">
            <a:hlinkClick r:id="rId5"/>
          </p:cNvPr>
          <p:cNvPicPr>
            <a:picLocks noChangeAspect="1"/>
          </p:cNvPicPr>
          <p:nvPr/>
        </p:nvPicPr>
        <p:blipFill>
          <a:blip r:embed="rId4"/>
          <a:stretch>
            <a:fillRect/>
          </a:stretch>
        </p:blipFill>
        <p:spPr>
          <a:xfrm>
            <a:off x="8128000" y="3022600"/>
            <a:ext cx="1117600" cy="1651000"/>
          </a:xfrm>
          <a:prstGeom prst="rect">
            <a:avLst/>
          </a:prstGeom>
        </p:spPr>
      </p:pic>
      <p:sp>
        <p:nvSpPr>
          <p:cNvPr id="32" name="Rounded Rectangle 31"/>
          <p:cNvSpPr/>
          <p:nvPr/>
        </p:nvSpPr>
        <p:spPr>
          <a:xfrm>
            <a:off x="8610600" y="4432300"/>
            <a:ext cx="584200" cy="190500"/>
          </a:xfrm>
          <a:prstGeom prst="round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lnSpc>
                <a:spcPct val="100000"/>
              </a:lnSpc>
            </a:pPr>
            <a:r>
              <a:rPr sz="700" b="1" i="0">
                <a:solidFill>
                  <a:srgbClr val="FFFFFF"/>
                </a:solidFill>
                <a:latin typeface="Poppins"/>
              </a:rPr>
              <a:t>CLICK ME ▸</a:t>
            </a:r>
          </a:p>
        </p:txBody>
      </p:sp>
      <p:sp>
        <p:nvSpPr>
          <p:cNvPr id="33" name="TextBox 32"/>
          <p:cNvSpPr txBox="1"/>
          <p:nvPr/>
        </p:nvSpPr>
        <p:spPr>
          <a:xfrm>
            <a:off x="9347200" y="3022600"/>
            <a:ext cx="2057400" cy="609600"/>
          </a:xfrm>
          <a:prstGeom prst="rect">
            <a:avLst/>
          </a:prstGeom>
          <a:noFill/>
        </p:spPr>
        <p:txBody>
          <a:bodyPr wrap="square"/>
          <a:lstStyle/>
          <a:p>
            <a:pPr algn="l">
              <a:lnSpc>
                <a:spcPct val="100000"/>
              </a:lnSpc>
            </a:pPr>
            <a:r>
              <a:rPr sz="1000" b="0" i="0">
                <a:solidFill>
                  <a:srgbClr val="FFFFFF"/>
                </a:solidFill>
                <a:latin typeface="Poppins"/>
              </a:rPr>
              <a:t>Top 1,000 TikTok RD — la comunidad de influencers locales que dicta el consumo doméstico dominicano.</a:t>
            </a:r>
          </a:p>
        </p:txBody>
      </p:sp>
      <p:sp>
        <p:nvSpPr>
          <p:cNvPr id="34" name="TextBox 33"/>
          <p:cNvSpPr txBox="1"/>
          <p:nvPr/>
        </p:nvSpPr>
        <p:spPr>
          <a:xfrm>
            <a:off x="9347200" y="3759200"/>
            <a:ext cx="2057400" cy="152400"/>
          </a:xfrm>
          <a:prstGeom prst="rect">
            <a:avLst/>
          </a:prstGeom>
          <a:noFill/>
        </p:spPr>
        <p:txBody>
          <a:bodyPr wrap="square"/>
          <a:lstStyle/>
          <a:p>
            <a:pPr algn="l">
              <a:lnSpc>
                <a:spcPct val="100000"/>
              </a:lnSpc>
            </a:pPr>
            <a:r>
              <a:rPr sz="650" b="0" i="0">
                <a:solidFill>
                  <a:srgbClr val="666666"/>
                </a:solidFill>
                <a:latin typeface="Poppins"/>
              </a:rPr>
              <a:t>HYPETRACE · 2025</a:t>
            </a:r>
          </a:p>
        </p:txBody>
      </p:sp>
      <p:pic>
        <p:nvPicPr>
          <p:cNvPr id="35" name="Picture 34" descr="macro-3-2-latamintersect-social-ecommerce.png">
            <a:hlinkClick r:id="rId7"/>
          </p:cNvPr>
          <p:cNvPicPr>
            <a:picLocks noChangeAspect="1"/>
          </p:cNvPicPr>
          <p:nvPr/>
        </p:nvPicPr>
        <p:blipFill>
          <a:blip r:embed="rId6"/>
          <a:stretch>
            <a:fillRect/>
          </a:stretch>
        </p:blipFill>
        <p:spPr>
          <a:xfrm>
            <a:off x="8128000" y="4978400"/>
            <a:ext cx="1117600" cy="1651000"/>
          </a:xfrm>
          <a:prstGeom prst="rect">
            <a:avLst/>
          </a:prstGeom>
        </p:spPr>
      </p:pic>
      <p:sp>
        <p:nvSpPr>
          <p:cNvPr id="36" name="Rounded Rectangle 35"/>
          <p:cNvSpPr/>
          <p:nvPr/>
        </p:nvSpPr>
        <p:spPr>
          <a:xfrm>
            <a:off x="8610600" y="6388100"/>
            <a:ext cx="584200" cy="190500"/>
          </a:xfrm>
          <a:prstGeom prst="round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lnSpc>
                <a:spcPct val="100000"/>
              </a:lnSpc>
            </a:pPr>
            <a:r>
              <a:rPr sz="700" b="1" i="0">
                <a:solidFill>
                  <a:srgbClr val="FFFFFF"/>
                </a:solidFill>
                <a:latin typeface="Poppins"/>
              </a:rPr>
              <a:t>CLICK ME ▸</a:t>
            </a:r>
          </a:p>
        </p:txBody>
      </p:sp>
      <p:sp>
        <p:nvSpPr>
          <p:cNvPr id="37" name="TextBox 36"/>
          <p:cNvSpPr txBox="1"/>
          <p:nvPr/>
        </p:nvSpPr>
        <p:spPr>
          <a:xfrm>
            <a:off x="9347200" y="4978400"/>
            <a:ext cx="2057400" cy="609600"/>
          </a:xfrm>
          <a:prstGeom prst="rect">
            <a:avLst/>
          </a:prstGeom>
          <a:noFill/>
        </p:spPr>
        <p:txBody>
          <a:bodyPr wrap="square"/>
          <a:lstStyle/>
          <a:p>
            <a:pPr algn="l">
              <a:lnSpc>
                <a:spcPct val="100000"/>
              </a:lnSpc>
            </a:pPr>
            <a:r>
              <a:rPr sz="1000" b="0" i="0">
                <a:solidFill>
                  <a:srgbClr val="FFFFFF"/>
                </a:solidFill>
                <a:latin typeface="Poppins"/>
              </a:rPr>
              <a:t>+60% de LATAM sigue influencers que recomiendan o venden — el grid reemplaza al consejo familiar.</a:t>
            </a:r>
          </a:p>
        </p:txBody>
      </p:sp>
      <p:sp>
        <p:nvSpPr>
          <p:cNvPr id="38" name="TextBox 37"/>
          <p:cNvSpPr txBox="1"/>
          <p:nvPr/>
        </p:nvSpPr>
        <p:spPr>
          <a:xfrm>
            <a:off x="9347200" y="5715000"/>
            <a:ext cx="2057400" cy="152400"/>
          </a:xfrm>
          <a:prstGeom prst="rect">
            <a:avLst/>
          </a:prstGeom>
          <a:noFill/>
        </p:spPr>
        <p:txBody>
          <a:bodyPr wrap="square"/>
          <a:lstStyle/>
          <a:p>
            <a:pPr algn="l">
              <a:lnSpc>
                <a:spcPct val="100000"/>
              </a:lnSpc>
            </a:pPr>
            <a:r>
              <a:rPr sz="650" b="0" i="0">
                <a:solidFill>
                  <a:srgbClr val="666666"/>
                </a:solidFill>
                <a:latin typeface="Poppins"/>
              </a:rPr>
              <a:t>LATAM INTERSECT PR · 2025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4" name="TextBox 3"/>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5" name="TextBox 4"/>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6" name="Connector 5"/>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254000" y="10668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04800" y="1104900"/>
            <a:ext cx="660400" cy="228600"/>
          </a:xfrm>
          <a:prstGeom prst="rect">
            <a:avLst/>
          </a:prstGeom>
          <a:noFill/>
        </p:spPr>
        <p:txBody>
          <a:bodyPr wrap="square"/>
          <a:lstStyle/>
          <a:p>
            <a:pPr algn="l">
              <a:lnSpc>
                <a:spcPct val="100000"/>
              </a:lnSpc>
            </a:pPr>
            <a:r>
              <a:rPr sz="750" b="1" i="0">
                <a:solidFill>
                  <a:srgbClr val="000000"/>
                </a:solidFill>
                <a:latin typeface="Poppins"/>
              </a:rPr>
              <a:t>MACRO 3</a:t>
            </a:r>
          </a:p>
        </p:txBody>
      </p:sp>
      <p:sp>
        <p:nvSpPr>
          <p:cNvPr id="11" name="Rectangle 10"/>
          <p:cNvSpPr/>
          <p:nvPr/>
        </p:nvSpPr>
        <p:spPr>
          <a:xfrm>
            <a:off x="1041400" y="10668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2200" y="1104900"/>
            <a:ext cx="2717800" cy="228600"/>
          </a:xfrm>
          <a:prstGeom prst="rect">
            <a:avLst/>
          </a:prstGeom>
          <a:noFill/>
        </p:spPr>
        <p:txBody>
          <a:bodyPr wrap="square"/>
          <a:lstStyle/>
          <a:p>
            <a:pPr algn="l">
              <a:lnSpc>
                <a:spcPct val="100000"/>
              </a:lnSpc>
            </a:pPr>
            <a:r>
              <a:rPr sz="750" b="0" i="0">
                <a:solidFill>
                  <a:srgbClr val="A0A0A0"/>
                </a:solidFill>
                <a:latin typeface="Poppins"/>
              </a:rPr>
              <a:t>ALGORITMO DEL HOGAR</a:t>
            </a:r>
          </a:p>
        </p:txBody>
      </p:sp>
      <p:sp>
        <p:nvSpPr>
          <p:cNvPr id="13" name="TextBox 12"/>
          <p:cNvSpPr txBox="1"/>
          <p:nvPr/>
        </p:nvSpPr>
        <p:spPr>
          <a:xfrm>
            <a:off x="254000" y="1473200"/>
            <a:ext cx="3683000" cy="2044700"/>
          </a:xfrm>
          <a:prstGeom prst="rect">
            <a:avLst/>
          </a:prstGeom>
          <a:noFill/>
        </p:spPr>
        <p:txBody>
          <a:bodyPr wrap="square"/>
          <a:lstStyle/>
          <a:p>
            <a:pPr algn="l">
              <a:lnSpc>
                <a:spcPct val="114000"/>
              </a:lnSpc>
            </a:pPr>
            <a:r>
              <a:rPr sz="2000" b="0" i="0">
                <a:solidFill>
                  <a:srgbClr val="FFFFFF"/>
                </a:solidFill>
                <a:latin typeface="Instrument Serif"/>
              </a:rPr>
              <a:t>HOY ESTATUS, MAÑANA CRINGE: EL ALGORITMO COMPRIME LA VIDA ÚTIL DEL OBJETO, Y EL STANLEY QUE REINÓ EN 2023 QUEDÓ 'OUT' CUANDO LLEGÓ EL OWALA.</a:t>
            </a:r>
          </a:p>
        </p:txBody>
      </p:sp>
      <p:sp>
        <p:nvSpPr>
          <p:cNvPr id="14" name="TextBox 13"/>
          <p:cNvSpPr txBox="1"/>
          <p:nvPr/>
        </p:nvSpPr>
        <p:spPr>
          <a:xfrm>
            <a:off x="254000" y="36957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3949700"/>
            <a:ext cx="3683000" cy="825500"/>
          </a:xfrm>
          <a:prstGeom prst="rect">
            <a:avLst/>
          </a:prstGeom>
          <a:noFill/>
        </p:spPr>
        <p:txBody>
          <a:bodyPr wrap="square"/>
          <a:lstStyle/>
          <a:p>
            <a:pPr algn="l">
              <a:lnSpc>
                <a:spcPct val="100000"/>
              </a:lnSpc>
            </a:pPr>
            <a:r>
              <a:rPr sz="1000" b="0" i="0">
                <a:solidFill>
                  <a:srgbClr val="FFFFFF"/>
                </a:solidFill>
                <a:latin typeface="Poppins"/>
              </a:rPr>
              <a:t>El feed acelera la muerte cultural del producto. Lo que volvió deseable — el Stanley — muere en meses cuando aparece el siguiente — el Owala. El consumidor compra-descarta al ritmo del trend, no del uso. El producto no se gasta — se vuelve viejo culturalmente.</a:t>
            </a:r>
          </a:p>
        </p:txBody>
      </p:sp>
      <p:sp>
        <p:nvSpPr>
          <p:cNvPr id="16" name="TextBox 15"/>
          <p:cNvSpPr txBox="1"/>
          <p:nvPr/>
        </p:nvSpPr>
        <p:spPr>
          <a:xfrm>
            <a:off x="254000" y="49530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5207000"/>
            <a:ext cx="3683000" cy="508000"/>
          </a:xfrm>
          <a:prstGeom prst="rect">
            <a:avLst/>
          </a:prstGeom>
          <a:noFill/>
        </p:spPr>
        <p:txBody>
          <a:bodyPr wrap="square"/>
          <a:lstStyle/>
          <a:p>
            <a:pPr algn="l">
              <a:lnSpc>
                <a:spcPct val="100000"/>
              </a:lnSpc>
            </a:pPr>
            <a:r>
              <a:rPr sz="1600" b="0" i="0">
                <a:solidFill>
                  <a:srgbClr val="FFFFFF"/>
                </a:solidFill>
                <a:latin typeface="Instrument Serif"/>
              </a:rPr>
              <a:t>#outvsin · #cringe · #trendcycle · #microtrend · #hypecycle</a:t>
            </a:r>
          </a:p>
        </p:txBody>
      </p:sp>
      <p:sp>
        <p:nvSpPr>
          <p:cNvPr id="18" name="TextBox 17"/>
          <p:cNvSpPr txBox="1"/>
          <p:nvPr/>
        </p:nvSpPr>
        <p:spPr>
          <a:xfrm>
            <a:off x="4191000" y="1066800"/>
            <a:ext cx="2159000" cy="584200"/>
          </a:xfrm>
          <a:prstGeom prst="rect">
            <a:avLst/>
          </a:prstGeom>
          <a:noFill/>
        </p:spPr>
        <p:txBody>
          <a:bodyPr wrap="square"/>
          <a:lstStyle/>
          <a:p>
            <a:pPr algn="l">
              <a:lnSpc>
                <a:spcPct val="100000"/>
              </a:lnSpc>
            </a:pPr>
            <a:r>
              <a:rPr sz="4000" b="0" i="0">
                <a:solidFill>
                  <a:srgbClr val="FFFFFF"/>
                </a:solidFill>
                <a:latin typeface="Instrument Serif"/>
              </a:rPr>
              <a:t>Stanley</a:t>
            </a:r>
          </a:p>
        </p:txBody>
      </p:sp>
      <p:sp>
        <p:nvSpPr>
          <p:cNvPr id="19" name="TextBox 18"/>
          <p:cNvSpPr txBox="1"/>
          <p:nvPr/>
        </p:nvSpPr>
        <p:spPr>
          <a:xfrm>
            <a:off x="4191000" y="1803400"/>
            <a:ext cx="2159000" cy="476250"/>
          </a:xfrm>
          <a:prstGeom prst="rect">
            <a:avLst/>
          </a:prstGeom>
          <a:noFill/>
        </p:spPr>
        <p:txBody>
          <a:bodyPr wrap="square"/>
          <a:lstStyle/>
          <a:p>
            <a:pPr algn="l">
              <a:lnSpc>
                <a:spcPct val="100000"/>
              </a:lnSpc>
            </a:pPr>
            <a:r>
              <a:rPr sz="1000" b="0" i="0">
                <a:solidFill>
                  <a:srgbClr val="FFFFFF"/>
                </a:solidFill>
                <a:latin typeface="Poppins"/>
              </a:rPr>
              <a:t>Stanley reinó en 2023 por hype y escasez; en 2024 quedó 'out' desplazado por Owala.</a:t>
            </a:r>
          </a:p>
        </p:txBody>
      </p:sp>
      <p:sp>
        <p:nvSpPr>
          <p:cNvPr id="20" name="TextBox 19"/>
          <p:cNvSpPr txBox="1"/>
          <p:nvPr/>
        </p:nvSpPr>
        <p:spPr>
          <a:xfrm>
            <a:off x="4191000" y="2432050"/>
            <a:ext cx="2159000" cy="152400"/>
          </a:xfrm>
          <a:prstGeom prst="rect">
            <a:avLst/>
          </a:prstGeom>
          <a:noFill/>
        </p:spPr>
        <p:txBody>
          <a:bodyPr wrap="square"/>
          <a:lstStyle/>
          <a:p>
            <a:pPr algn="l">
              <a:lnSpc>
                <a:spcPct val="100000"/>
              </a:lnSpc>
            </a:pPr>
            <a:r>
              <a:rPr sz="650" b="0" i="0">
                <a:solidFill>
                  <a:srgbClr val="666666"/>
                </a:solidFill>
                <a:latin typeface="Poppins"/>
              </a:rPr>
              <a:t>ACCIO · 2025</a:t>
            </a:r>
          </a:p>
        </p:txBody>
      </p:sp>
      <p:sp>
        <p:nvSpPr>
          <p:cNvPr id="21" name="TextBox 20"/>
          <p:cNvSpPr txBox="1"/>
          <p:nvPr/>
        </p:nvSpPr>
        <p:spPr>
          <a:xfrm>
            <a:off x="4191000" y="2863850"/>
            <a:ext cx="2159000" cy="584200"/>
          </a:xfrm>
          <a:prstGeom prst="rect">
            <a:avLst/>
          </a:prstGeom>
          <a:noFill/>
        </p:spPr>
        <p:txBody>
          <a:bodyPr wrap="square"/>
          <a:lstStyle/>
          <a:p>
            <a:pPr algn="l">
              <a:lnSpc>
                <a:spcPct val="100000"/>
              </a:lnSpc>
            </a:pPr>
            <a:r>
              <a:rPr sz="4000" b="0" i="0">
                <a:solidFill>
                  <a:srgbClr val="FFFFFF"/>
                </a:solidFill>
                <a:latin typeface="Instrument Serif"/>
              </a:rPr>
              <a:t>Hype →</a:t>
            </a:r>
          </a:p>
        </p:txBody>
      </p:sp>
      <p:sp>
        <p:nvSpPr>
          <p:cNvPr id="22" name="TextBox 21"/>
          <p:cNvSpPr txBox="1"/>
          <p:nvPr/>
        </p:nvSpPr>
        <p:spPr>
          <a:xfrm>
            <a:off x="4191000" y="3600450"/>
            <a:ext cx="2159000" cy="476250"/>
          </a:xfrm>
          <a:prstGeom prst="rect">
            <a:avLst/>
          </a:prstGeom>
          <a:noFill/>
        </p:spPr>
        <p:txBody>
          <a:bodyPr wrap="square"/>
          <a:lstStyle/>
          <a:p>
            <a:pPr algn="l">
              <a:lnSpc>
                <a:spcPct val="100000"/>
              </a:lnSpc>
            </a:pPr>
            <a:r>
              <a:rPr sz="1000" b="0" i="0">
                <a:solidFill>
                  <a:srgbClr val="FFFFFF"/>
                </a:solidFill>
                <a:latin typeface="Poppins"/>
              </a:rPr>
              <a:t>Labubu pasó de hype récord a caída de valor de reventa al desinflarse el trend.</a:t>
            </a:r>
          </a:p>
        </p:txBody>
      </p:sp>
      <p:sp>
        <p:nvSpPr>
          <p:cNvPr id="23" name="TextBox 22"/>
          <p:cNvSpPr txBox="1"/>
          <p:nvPr/>
        </p:nvSpPr>
        <p:spPr>
          <a:xfrm>
            <a:off x="4191000" y="4229100"/>
            <a:ext cx="2159000" cy="152400"/>
          </a:xfrm>
          <a:prstGeom prst="rect">
            <a:avLst/>
          </a:prstGeom>
          <a:noFill/>
        </p:spPr>
        <p:txBody>
          <a:bodyPr wrap="square"/>
          <a:lstStyle/>
          <a:p>
            <a:pPr algn="l">
              <a:lnSpc>
                <a:spcPct val="100000"/>
              </a:lnSpc>
            </a:pPr>
            <a:r>
              <a:rPr sz="650" b="0" i="0">
                <a:solidFill>
                  <a:srgbClr val="666666"/>
                </a:solidFill>
                <a:latin typeface="Poppins"/>
              </a:rPr>
              <a:t>GIRLS UNITED / ESSENCE · 2025</a:t>
            </a:r>
          </a:p>
        </p:txBody>
      </p:sp>
      <p:sp>
        <p:nvSpPr>
          <p:cNvPr id="24" name="TextBox 23"/>
          <p:cNvSpPr txBox="1"/>
          <p:nvPr/>
        </p:nvSpPr>
        <p:spPr>
          <a:xfrm>
            <a:off x="4191000" y="4660900"/>
            <a:ext cx="2159000" cy="584200"/>
          </a:xfrm>
          <a:prstGeom prst="rect">
            <a:avLst/>
          </a:prstGeom>
          <a:noFill/>
        </p:spPr>
        <p:txBody>
          <a:bodyPr wrap="square"/>
          <a:lstStyle/>
          <a:p>
            <a:pPr algn="l">
              <a:lnSpc>
                <a:spcPct val="100000"/>
              </a:lnSpc>
            </a:pPr>
            <a:r>
              <a:rPr sz="4000" b="0" i="0">
                <a:solidFill>
                  <a:srgbClr val="FFFFFF"/>
                </a:solidFill>
                <a:latin typeface="Instrument Serif"/>
              </a:rPr>
              <a:t>15%</a:t>
            </a:r>
          </a:p>
        </p:txBody>
      </p:sp>
      <p:sp>
        <p:nvSpPr>
          <p:cNvPr id="25" name="TextBox 24"/>
          <p:cNvSpPr txBox="1"/>
          <p:nvPr/>
        </p:nvSpPr>
        <p:spPr>
          <a:xfrm>
            <a:off x="4191000" y="5397500"/>
            <a:ext cx="2159000" cy="476250"/>
          </a:xfrm>
          <a:prstGeom prst="rect">
            <a:avLst/>
          </a:prstGeom>
          <a:noFill/>
        </p:spPr>
        <p:txBody>
          <a:bodyPr wrap="square"/>
          <a:lstStyle/>
          <a:p>
            <a:pPr algn="l">
              <a:lnSpc>
                <a:spcPct val="100000"/>
              </a:lnSpc>
            </a:pPr>
            <a:r>
              <a:rPr sz="1000" b="0" i="0">
                <a:solidFill>
                  <a:srgbClr val="FFFFFF"/>
                </a:solidFill>
                <a:latin typeface="Poppins"/>
              </a:rPr>
              <a:t>Compra puramente por tendencia — base estructural de un consumo de vida cultural corta.</a:t>
            </a:r>
          </a:p>
        </p:txBody>
      </p:sp>
      <p:sp>
        <p:nvSpPr>
          <p:cNvPr id="26" name="TextBox 25"/>
          <p:cNvSpPr txBox="1"/>
          <p:nvPr/>
        </p:nvSpPr>
        <p:spPr>
          <a:xfrm>
            <a:off x="4191000" y="6026150"/>
            <a:ext cx="2159000" cy="152400"/>
          </a:xfrm>
          <a:prstGeom prst="rect">
            <a:avLst/>
          </a:prstGeom>
          <a:noFill/>
        </p:spPr>
        <p:txBody>
          <a:bodyPr wrap="square"/>
          <a:lstStyle/>
          <a:p>
            <a:pPr algn="l">
              <a:lnSpc>
                <a:spcPct val="100000"/>
              </a:lnSpc>
            </a:pPr>
            <a:r>
              <a:rPr sz="650" b="0" i="0">
                <a:solidFill>
                  <a:srgbClr val="666666"/>
                </a:solidFill>
                <a:latin typeface="Poppins"/>
              </a:rPr>
              <a:t>SAP EMARSYS · 2025</a:t>
            </a:r>
          </a:p>
        </p:txBody>
      </p:sp>
      <p:pic>
        <p:nvPicPr>
          <p:cNvPr id="27" name="Picture 26" descr="macro-1-1-girlsunited-labubu-nobuy.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ounded Rectangle 27"/>
          <p:cNvSpPr/>
          <p:nvPr/>
        </p:nvSpPr>
        <p:spPr>
          <a:xfrm>
            <a:off x="8610600" y="2476500"/>
            <a:ext cx="584200" cy="190500"/>
          </a:xfrm>
          <a:prstGeom prst="round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lnSpc>
                <a:spcPct val="100000"/>
              </a:lnSpc>
            </a:pPr>
            <a:r>
              <a:rPr sz="700" b="1" i="0">
                <a:solidFill>
                  <a:srgbClr val="FFFFFF"/>
                </a:solidFill>
                <a:latin typeface="Poppins"/>
              </a:rPr>
              <a:t>CLICK ME ▸</a:t>
            </a:r>
          </a:p>
        </p:txBody>
      </p:sp>
      <p:sp>
        <p:nvSpPr>
          <p:cNvPr id="29" name="TextBox 28"/>
          <p:cNvSpPr txBox="1"/>
          <p:nvPr/>
        </p:nvSpPr>
        <p:spPr>
          <a:xfrm>
            <a:off x="9347200" y="1066800"/>
            <a:ext cx="2057400" cy="609600"/>
          </a:xfrm>
          <a:prstGeom prst="rect">
            <a:avLst/>
          </a:prstGeom>
          <a:noFill/>
        </p:spPr>
        <p:txBody>
          <a:bodyPr wrap="square"/>
          <a:lstStyle/>
          <a:p>
            <a:pPr algn="l">
              <a:lnSpc>
                <a:spcPct val="100000"/>
              </a:lnSpc>
            </a:pPr>
            <a:r>
              <a:rPr sz="1000" b="0" i="0">
                <a:solidFill>
                  <a:srgbClr val="FFFFFF"/>
                </a:solidFill>
                <a:latin typeface="Poppins"/>
              </a:rPr>
              <a:t>Labubu: de récord de reventa a valor caído al desinflarse el trend — el algoritmo crea y destruye el deseo.</a:t>
            </a:r>
          </a:p>
        </p:txBody>
      </p:sp>
      <p:sp>
        <p:nvSpPr>
          <p:cNvPr id="30" name="TextBox 29"/>
          <p:cNvSpPr txBox="1"/>
          <p:nvPr/>
        </p:nvSpPr>
        <p:spPr>
          <a:xfrm>
            <a:off x="9347200" y="1803400"/>
            <a:ext cx="2057400" cy="152400"/>
          </a:xfrm>
          <a:prstGeom prst="rect">
            <a:avLst/>
          </a:prstGeom>
          <a:noFill/>
        </p:spPr>
        <p:txBody>
          <a:bodyPr wrap="square"/>
          <a:lstStyle/>
          <a:p>
            <a:pPr algn="l">
              <a:lnSpc>
                <a:spcPct val="100000"/>
              </a:lnSpc>
            </a:pPr>
            <a:r>
              <a:rPr sz="650" b="0" i="0">
                <a:solidFill>
                  <a:srgbClr val="666666"/>
                </a:solidFill>
                <a:latin typeface="Poppins"/>
              </a:rPr>
              <a:t>GIRLS UNITED / ESSENCE · 2025</a:t>
            </a:r>
          </a:p>
        </p:txBody>
      </p:sp>
      <p:pic>
        <p:nvPicPr>
          <p:cNvPr id="31" name="Picture 30" descr="macro-3-3-accio-stanley-owala-trendcycle.png">
            <a:hlinkClick r:id="rId5"/>
          </p:cNvPr>
          <p:cNvPicPr>
            <a:picLocks noChangeAspect="1"/>
          </p:cNvPicPr>
          <p:nvPr/>
        </p:nvPicPr>
        <p:blipFill>
          <a:blip r:embed="rId4"/>
          <a:stretch>
            <a:fillRect/>
          </a:stretch>
        </p:blipFill>
        <p:spPr>
          <a:xfrm>
            <a:off x="8128000" y="3022600"/>
            <a:ext cx="1117600" cy="1651000"/>
          </a:xfrm>
          <a:prstGeom prst="rect">
            <a:avLst/>
          </a:prstGeom>
        </p:spPr>
      </p:pic>
      <p:sp>
        <p:nvSpPr>
          <p:cNvPr id="32" name="Rounded Rectangle 31"/>
          <p:cNvSpPr/>
          <p:nvPr/>
        </p:nvSpPr>
        <p:spPr>
          <a:xfrm>
            <a:off x="8610600" y="4432300"/>
            <a:ext cx="584200" cy="190500"/>
          </a:xfrm>
          <a:prstGeom prst="round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lnSpc>
                <a:spcPct val="100000"/>
              </a:lnSpc>
            </a:pPr>
            <a:r>
              <a:rPr sz="700" b="1" i="0">
                <a:solidFill>
                  <a:srgbClr val="FFFFFF"/>
                </a:solidFill>
                <a:latin typeface="Poppins"/>
              </a:rPr>
              <a:t>CLICK ME ▸</a:t>
            </a:r>
          </a:p>
        </p:txBody>
      </p:sp>
      <p:sp>
        <p:nvSpPr>
          <p:cNvPr id="33" name="TextBox 32"/>
          <p:cNvSpPr txBox="1"/>
          <p:nvPr/>
        </p:nvSpPr>
        <p:spPr>
          <a:xfrm>
            <a:off x="9347200" y="3022600"/>
            <a:ext cx="2057400" cy="609600"/>
          </a:xfrm>
          <a:prstGeom prst="rect">
            <a:avLst/>
          </a:prstGeom>
          <a:noFill/>
        </p:spPr>
        <p:txBody>
          <a:bodyPr wrap="square"/>
          <a:lstStyle/>
          <a:p>
            <a:pPr algn="l">
              <a:lnSpc>
                <a:spcPct val="100000"/>
              </a:lnSpc>
            </a:pPr>
            <a:r>
              <a:rPr sz="1000" b="0" i="0">
                <a:solidFill>
                  <a:srgbClr val="FFFFFF"/>
                </a:solidFill>
                <a:latin typeface="Poppins"/>
              </a:rPr>
              <a:t>El ciclo de hype: Stanley reinó en 2023, Owala lo desplazó en 2024 — el feed comprime la vida útil.</a:t>
            </a:r>
          </a:p>
        </p:txBody>
      </p:sp>
      <p:sp>
        <p:nvSpPr>
          <p:cNvPr id="34" name="TextBox 33"/>
          <p:cNvSpPr txBox="1"/>
          <p:nvPr/>
        </p:nvSpPr>
        <p:spPr>
          <a:xfrm>
            <a:off x="9347200" y="3759200"/>
            <a:ext cx="2057400" cy="152400"/>
          </a:xfrm>
          <a:prstGeom prst="rect">
            <a:avLst/>
          </a:prstGeom>
          <a:noFill/>
        </p:spPr>
        <p:txBody>
          <a:bodyPr wrap="square"/>
          <a:lstStyle/>
          <a:p>
            <a:pPr algn="l">
              <a:lnSpc>
                <a:spcPct val="100000"/>
              </a:lnSpc>
            </a:pPr>
            <a:r>
              <a:rPr sz="650" b="0" i="0">
                <a:solidFill>
                  <a:srgbClr val="666666"/>
                </a:solidFill>
                <a:latin typeface="Poppins"/>
              </a:rPr>
              <a:t>ACCIO · 2025</a:t>
            </a:r>
          </a:p>
        </p:txBody>
      </p:sp>
      <p:pic>
        <p:nvPicPr>
          <p:cNvPr id="35" name="Picture 34" descr="macro-3-3-tiktok-whats-next-2025-report.png">
            <a:hlinkClick r:id="rId7"/>
          </p:cNvPr>
          <p:cNvPicPr>
            <a:picLocks noChangeAspect="1"/>
          </p:cNvPicPr>
          <p:nvPr/>
        </p:nvPicPr>
        <p:blipFill>
          <a:blip r:embed="rId6"/>
          <a:stretch>
            <a:fillRect/>
          </a:stretch>
        </p:blipFill>
        <p:spPr>
          <a:xfrm>
            <a:off x="8128000" y="4978400"/>
            <a:ext cx="1117600" cy="1651000"/>
          </a:xfrm>
          <a:prstGeom prst="rect">
            <a:avLst/>
          </a:prstGeom>
        </p:spPr>
      </p:pic>
      <p:sp>
        <p:nvSpPr>
          <p:cNvPr id="36" name="Rounded Rectangle 35"/>
          <p:cNvSpPr/>
          <p:nvPr/>
        </p:nvSpPr>
        <p:spPr>
          <a:xfrm>
            <a:off x="8610600" y="6388100"/>
            <a:ext cx="584200" cy="190500"/>
          </a:xfrm>
          <a:prstGeom prst="round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lnSpc>
                <a:spcPct val="100000"/>
              </a:lnSpc>
            </a:pPr>
            <a:r>
              <a:rPr sz="700" b="1" i="0">
                <a:solidFill>
                  <a:srgbClr val="FFFFFF"/>
                </a:solidFill>
                <a:latin typeface="Poppins"/>
              </a:rPr>
              <a:t>CLICK ME ▸</a:t>
            </a:r>
          </a:p>
        </p:txBody>
      </p:sp>
      <p:sp>
        <p:nvSpPr>
          <p:cNvPr id="37" name="TextBox 36"/>
          <p:cNvSpPr txBox="1"/>
          <p:nvPr/>
        </p:nvSpPr>
        <p:spPr>
          <a:xfrm>
            <a:off x="9347200" y="4978400"/>
            <a:ext cx="2057400" cy="609600"/>
          </a:xfrm>
          <a:prstGeom prst="rect">
            <a:avLst/>
          </a:prstGeom>
          <a:noFill/>
        </p:spPr>
        <p:txBody>
          <a:bodyPr wrap="square"/>
          <a:lstStyle/>
          <a:p>
            <a:pPr algn="l">
              <a:lnSpc>
                <a:spcPct val="100000"/>
              </a:lnSpc>
            </a:pPr>
            <a:r>
              <a:rPr sz="1000" b="0" i="0">
                <a:solidFill>
                  <a:srgbClr val="FFFFFF"/>
                </a:solidFill>
                <a:latin typeface="Poppins"/>
              </a:rPr>
              <a:t>TikTok What's Next 2025 — el reporte de tendencias que anticipa qué productos fabricará el algoritmo.</a:t>
            </a:r>
          </a:p>
        </p:txBody>
      </p:sp>
      <p:sp>
        <p:nvSpPr>
          <p:cNvPr id="38" name="TextBox 37"/>
          <p:cNvSpPr txBox="1"/>
          <p:nvPr/>
        </p:nvSpPr>
        <p:spPr>
          <a:xfrm>
            <a:off x="9347200" y="5715000"/>
            <a:ext cx="2057400" cy="152400"/>
          </a:xfrm>
          <a:prstGeom prst="rect">
            <a:avLst/>
          </a:prstGeom>
          <a:noFill/>
        </p:spPr>
        <p:txBody>
          <a:bodyPr wrap="square"/>
          <a:lstStyle/>
          <a:p>
            <a:pPr algn="l">
              <a:lnSpc>
                <a:spcPct val="100000"/>
              </a:lnSpc>
            </a:pPr>
            <a:r>
              <a:rPr sz="650" b="0" i="0">
                <a:solidFill>
                  <a:srgbClr val="666666"/>
                </a:solidFill>
                <a:latin typeface="Poppins"/>
              </a:rPr>
              <a:t>TIKTOK NEWSROOM · 2025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4" name="TextBox 3"/>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5" name="TextBox 4"/>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6" name="Connector 5"/>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254000" y="10668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04800" y="1104900"/>
            <a:ext cx="660400" cy="228600"/>
          </a:xfrm>
          <a:prstGeom prst="rect">
            <a:avLst/>
          </a:prstGeom>
          <a:noFill/>
        </p:spPr>
        <p:txBody>
          <a:bodyPr wrap="square"/>
          <a:lstStyle/>
          <a:p>
            <a:pPr algn="l">
              <a:lnSpc>
                <a:spcPct val="100000"/>
              </a:lnSpc>
            </a:pPr>
            <a:r>
              <a:rPr sz="750" b="1" i="0">
                <a:solidFill>
                  <a:srgbClr val="000000"/>
                </a:solidFill>
                <a:latin typeface="Poppins"/>
              </a:rPr>
              <a:t>MACRO 3</a:t>
            </a:r>
          </a:p>
        </p:txBody>
      </p:sp>
      <p:sp>
        <p:nvSpPr>
          <p:cNvPr id="11" name="Rectangle 10"/>
          <p:cNvSpPr/>
          <p:nvPr/>
        </p:nvSpPr>
        <p:spPr>
          <a:xfrm>
            <a:off x="1041400" y="10668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2200" y="1104900"/>
            <a:ext cx="2717800" cy="228600"/>
          </a:xfrm>
          <a:prstGeom prst="rect">
            <a:avLst/>
          </a:prstGeom>
          <a:noFill/>
        </p:spPr>
        <p:txBody>
          <a:bodyPr wrap="square"/>
          <a:lstStyle/>
          <a:p>
            <a:pPr algn="l">
              <a:lnSpc>
                <a:spcPct val="100000"/>
              </a:lnSpc>
            </a:pPr>
            <a:r>
              <a:rPr sz="750" b="0" i="0">
                <a:solidFill>
                  <a:srgbClr val="A0A0A0"/>
                </a:solidFill>
                <a:latin typeface="Poppins"/>
              </a:rPr>
              <a:t>ALGORITMO DEL HOGAR</a:t>
            </a:r>
          </a:p>
        </p:txBody>
      </p:sp>
      <p:sp>
        <p:nvSpPr>
          <p:cNvPr id="13" name="TextBox 12"/>
          <p:cNvSpPr txBox="1"/>
          <p:nvPr/>
        </p:nvSpPr>
        <p:spPr>
          <a:xfrm>
            <a:off x="254000" y="1473200"/>
            <a:ext cx="3683000" cy="2336800"/>
          </a:xfrm>
          <a:prstGeom prst="rect">
            <a:avLst/>
          </a:prstGeom>
          <a:noFill/>
        </p:spPr>
        <p:txBody>
          <a:bodyPr wrap="square"/>
          <a:lstStyle/>
          <a:p>
            <a:pPr algn="l">
              <a:lnSpc>
                <a:spcPct val="114000"/>
              </a:lnSpc>
            </a:pPr>
            <a:r>
              <a:rPr sz="2000" b="0" i="0">
                <a:solidFill>
                  <a:srgbClr val="FFFFFF"/>
                </a:solidFill>
                <a:latin typeface="Instrument Serif"/>
              </a:rPr>
              <a:t>EL PRODUCTO AHORA SE DISEÑA PARA GRABARSE: EL EMPAQUE CON MOMENTO ASMR Y EL UNBOXING VIRAL LLEGAN ANTES QUE LA FUNCIÓN, Y LA GRABABILIDAD ES LA NUEVA FEATURE.</a:t>
            </a:r>
          </a:p>
        </p:txBody>
      </p:sp>
      <p:sp>
        <p:nvSpPr>
          <p:cNvPr id="14" name="TextBox 13"/>
          <p:cNvSpPr txBox="1"/>
          <p:nvPr/>
        </p:nvSpPr>
        <p:spPr>
          <a:xfrm>
            <a:off x="254000" y="39878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4241800"/>
            <a:ext cx="3683000" cy="990600"/>
          </a:xfrm>
          <a:prstGeom prst="rect">
            <a:avLst/>
          </a:prstGeom>
          <a:noFill/>
        </p:spPr>
        <p:txBody>
          <a:bodyPr wrap="square"/>
          <a:lstStyle/>
          <a:p>
            <a:pPr algn="l">
              <a:lnSpc>
                <a:spcPct val="100000"/>
              </a:lnSpc>
            </a:pPr>
            <a:r>
              <a:rPr sz="1000" b="0" i="0">
                <a:solidFill>
                  <a:srgbClr val="FFFFFF"/>
                </a:solidFill>
                <a:latin typeface="Poppins"/>
              </a:rPr>
              <a:t>La marca diseña empaque y producto pensando en cómo se ve en cámara. El unboxing grabable, el ASMR de apertura, el frasco 'estético' preceden a la función. Sol de Janeiro es el caso central — un perfume que rinde como contenido antes que como producto. Lo grabable se volvió una feature de venta.</a:t>
            </a:r>
          </a:p>
        </p:txBody>
      </p:sp>
      <p:sp>
        <p:nvSpPr>
          <p:cNvPr id="16" name="TextBox 15"/>
          <p:cNvSpPr txBox="1"/>
          <p:nvPr/>
        </p:nvSpPr>
        <p:spPr>
          <a:xfrm>
            <a:off x="254000" y="54102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5664200"/>
            <a:ext cx="3683000" cy="762000"/>
          </a:xfrm>
          <a:prstGeom prst="rect">
            <a:avLst/>
          </a:prstGeom>
          <a:noFill/>
        </p:spPr>
        <p:txBody>
          <a:bodyPr wrap="square"/>
          <a:lstStyle/>
          <a:p>
            <a:pPr algn="l">
              <a:lnSpc>
                <a:spcPct val="100000"/>
              </a:lnSpc>
            </a:pPr>
            <a:r>
              <a:rPr sz="1600" b="0" i="0">
                <a:solidFill>
                  <a:srgbClr val="FFFFFF"/>
                </a:solidFill>
                <a:latin typeface="Instrument Serif"/>
              </a:rPr>
              <a:t>#unboxing · #asmrunboxing · #packaging · #aesthetic · #satisfying</a:t>
            </a:r>
          </a:p>
        </p:txBody>
      </p:sp>
      <p:sp>
        <p:nvSpPr>
          <p:cNvPr id="18" name="TextBox 17"/>
          <p:cNvSpPr txBox="1"/>
          <p:nvPr/>
        </p:nvSpPr>
        <p:spPr>
          <a:xfrm>
            <a:off x="4191000" y="1066800"/>
            <a:ext cx="2159000" cy="584200"/>
          </a:xfrm>
          <a:prstGeom prst="rect">
            <a:avLst/>
          </a:prstGeom>
          <a:noFill/>
        </p:spPr>
        <p:txBody>
          <a:bodyPr wrap="square"/>
          <a:lstStyle/>
          <a:p>
            <a:pPr algn="l">
              <a:lnSpc>
                <a:spcPct val="100000"/>
              </a:lnSpc>
            </a:pPr>
            <a:r>
              <a:rPr sz="4000" b="0" i="0">
                <a:solidFill>
                  <a:srgbClr val="FFFFFF"/>
                </a:solidFill>
                <a:latin typeface="Instrument Serif"/>
              </a:rPr>
              <a:t>+US$1B</a:t>
            </a:r>
          </a:p>
        </p:txBody>
      </p:sp>
      <p:sp>
        <p:nvSpPr>
          <p:cNvPr id="19" name="TextBox 18"/>
          <p:cNvSpPr txBox="1"/>
          <p:nvPr/>
        </p:nvSpPr>
        <p:spPr>
          <a:xfrm>
            <a:off x="4191000" y="1803400"/>
            <a:ext cx="2159000" cy="476250"/>
          </a:xfrm>
          <a:prstGeom prst="rect">
            <a:avLst/>
          </a:prstGeom>
          <a:noFill/>
        </p:spPr>
        <p:txBody>
          <a:bodyPr wrap="square"/>
          <a:lstStyle/>
          <a:p>
            <a:pPr algn="l">
              <a:lnSpc>
                <a:spcPct val="100000"/>
              </a:lnSpc>
            </a:pPr>
            <a:r>
              <a:rPr sz="1000" b="0" i="0">
                <a:solidFill>
                  <a:srgbClr val="FFFFFF"/>
                </a:solidFill>
                <a:latin typeface="Poppins"/>
              </a:rPr>
              <a:t>Sol de Janeiro: +850M views TikTok, ventas triplicadas — el frasco diseñado para el feed.</a:t>
            </a:r>
          </a:p>
        </p:txBody>
      </p:sp>
      <p:sp>
        <p:nvSpPr>
          <p:cNvPr id="20" name="TextBox 19"/>
          <p:cNvSpPr txBox="1"/>
          <p:nvPr/>
        </p:nvSpPr>
        <p:spPr>
          <a:xfrm>
            <a:off x="4191000" y="2432050"/>
            <a:ext cx="2159000" cy="152400"/>
          </a:xfrm>
          <a:prstGeom prst="rect">
            <a:avLst/>
          </a:prstGeom>
          <a:noFill/>
        </p:spPr>
        <p:txBody>
          <a:bodyPr wrap="square"/>
          <a:lstStyle/>
          <a:p>
            <a:pPr algn="l">
              <a:lnSpc>
                <a:spcPct val="100000"/>
              </a:lnSpc>
            </a:pPr>
            <a:r>
              <a:rPr sz="650" b="0" i="0">
                <a:solidFill>
                  <a:srgbClr val="666666"/>
                </a:solidFill>
                <a:latin typeface="Poppins"/>
              </a:rPr>
              <a:t>FREE YOURSELF · 2025</a:t>
            </a:r>
          </a:p>
        </p:txBody>
      </p:sp>
      <p:sp>
        <p:nvSpPr>
          <p:cNvPr id="21" name="TextBox 20"/>
          <p:cNvSpPr txBox="1"/>
          <p:nvPr/>
        </p:nvSpPr>
        <p:spPr>
          <a:xfrm>
            <a:off x="4191000" y="2863850"/>
            <a:ext cx="2159000" cy="584200"/>
          </a:xfrm>
          <a:prstGeom prst="rect">
            <a:avLst/>
          </a:prstGeom>
          <a:noFill/>
        </p:spPr>
        <p:txBody>
          <a:bodyPr wrap="square"/>
          <a:lstStyle/>
          <a:p>
            <a:pPr algn="l">
              <a:lnSpc>
                <a:spcPct val="100000"/>
              </a:lnSpc>
            </a:pPr>
            <a:r>
              <a:rPr sz="4000" b="0" i="0">
                <a:solidFill>
                  <a:srgbClr val="FFFFFF"/>
                </a:solidFill>
                <a:latin typeface="Instrument Serif"/>
              </a:rPr>
              <a:t>ASMR</a:t>
            </a:r>
          </a:p>
        </p:txBody>
      </p:sp>
      <p:sp>
        <p:nvSpPr>
          <p:cNvPr id="22" name="TextBox 21"/>
          <p:cNvSpPr txBox="1"/>
          <p:nvPr/>
        </p:nvSpPr>
        <p:spPr>
          <a:xfrm>
            <a:off x="4191000" y="3600450"/>
            <a:ext cx="2159000" cy="476250"/>
          </a:xfrm>
          <a:prstGeom prst="rect">
            <a:avLst/>
          </a:prstGeom>
          <a:noFill/>
        </p:spPr>
        <p:txBody>
          <a:bodyPr wrap="square"/>
          <a:lstStyle/>
          <a:p>
            <a:pPr algn="l">
              <a:lnSpc>
                <a:spcPct val="100000"/>
              </a:lnSpc>
            </a:pPr>
            <a:r>
              <a:rPr sz="1000" b="0" i="0">
                <a:solidFill>
                  <a:srgbClr val="FFFFFF"/>
                </a:solidFill>
                <a:latin typeface="Poppins"/>
              </a:rPr>
              <a:t>#unboxing y #asmr como motores de descubrimiento de producto: el packaging es el contenido.</a:t>
            </a:r>
          </a:p>
        </p:txBody>
      </p:sp>
      <p:sp>
        <p:nvSpPr>
          <p:cNvPr id="23" name="TextBox 22"/>
          <p:cNvSpPr txBox="1"/>
          <p:nvPr/>
        </p:nvSpPr>
        <p:spPr>
          <a:xfrm>
            <a:off x="4191000" y="4229100"/>
            <a:ext cx="2159000" cy="152400"/>
          </a:xfrm>
          <a:prstGeom prst="rect">
            <a:avLst/>
          </a:prstGeom>
          <a:noFill/>
        </p:spPr>
        <p:txBody>
          <a:bodyPr wrap="square"/>
          <a:lstStyle/>
          <a:p>
            <a:pPr algn="l">
              <a:lnSpc>
                <a:spcPct val="100000"/>
              </a:lnSpc>
            </a:pPr>
            <a:r>
              <a:rPr sz="650" b="0" i="0">
                <a:solidFill>
                  <a:srgbClr val="666666"/>
                </a:solidFill>
                <a:latin typeface="Poppins"/>
              </a:rPr>
              <a:t>TIKTOK CREATIVE CENTER · 2025</a:t>
            </a:r>
          </a:p>
        </p:txBody>
      </p:sp>
      <p:sp>
        <p:nvSpPr>
          <p:cNvPr id="24" name="TextBox 23"/>
          <p:cNvSpPr txBox="1"/>
          <p:nvPr/>
        </p:nvSpPr>
        <p:spPr>
          <a:xfrm>
            <a:off x="4191000" y="4660900"/>
            <a:ext cx="2159000" cy="584200"/>
          </a:xfrm>
          <a:prstGeom prst="rect">
            <a:avLst/>
          </a:prstGeom>
          <a:noFill/>
        </p:spPr>
        <p:txBody>
          <a:bodyPr wrap="square"/>
          <a:lstStyle/>
          <a:p>
            <a:pPr algn="l">
              <a:lnSpc>
                <a:spcPct val="100000"/>
              </a:lnSpc>
            </a:pPr>
            <a:r>
              <a:rPr sz="4000" b="0" i="0">
                <a:solidFill>
                  <a:srgbClr val="FFFFFF"/>
                </a:solidFill>
                <a:latin typeface="Instrument Serif"/>
              </a:rPr>
              <a:t>Blind</a:t>
            </a:r>
          </a:p>
        </p:txBody>
      </p:sp>
      <p:sp>
        <p:nvSpPr>
          <p:cNvPr id="25" name="TextBox 24"/>
          <p:cNvSpPr txBox="1"/>
          <p:nvPr/>
        </p:nvSpPr>
        <p:spPr>
          <a:xfrm>
            <a:off x="4191000" y="5397500"/>
            <a:ext cx="2159000" cy="476250"/>
          </a:xfrm>
          <a:prstGeom prst="rect">
            <a:avLst/>
          </a:prstGeom>
          <a:noFill/>
        </p:spPr>
        <p:txBody>
          <a:bodyPr wrap="square"/>
          <a:lstStyle/>
          <a:p>
            <a:pPr algn="l">
              <a:lnSpc>
                <a:spcPct val="100000"/>
              </a:lnSpc>
            </a:pPr>
            <a:r>
              <a:rPr sz="1000" b="0" i="0">
                <a:solidFill>
                  <a:srgbClr val="FFFFFF"/>
                </a:solidFill>
                <a:latin typeface="Poppins"/>
              </a:rPr>
              <a:t>Juguetes coleccionables como Labubu y blind boxes diseñados para el unboxing viral.</a:t>
            </a:r>
          </a:p>
        </p:txBody>
      </p:sp>
      <p:sp>
        <p:nvSpPr>
          <p:cNvPr id="26" name="TextBox 25"/>
          <p:cNvSpPr txBox="1"/>
          <p:nvPr/>
        </p:nvSpPr>
        <p:spPr>
          <a:xfrm>
            <a:off x="4191000" y="6026150"/>
            <a:ext cx="2159000" cy="152400"/>
          </a:xfrm>
          <a:prstGeom prst="rect">
            <a:avLst/>
          </a:prstGeom>
          <a:noFill/>
        </p:spPr>
        <p:txBody>
          <a:bodyPr wrap="square"/>
          <a:lstStyle/>
          <a:p>
            <a:pPr algn="l">
              <a:lnSpc>
                <a:spcPct val="100000"/>
              </a:lnSpc>
            </a:pPr>
            <a:r>
              <a:rPr sz="650" b="0" i="0">
                <a:solidFill>
                  <a:srgbClr val="666666"/>
                </a:solidFill>
                <a:latin typeface="Poppins"/>
              </a:rPr>
              <a:t>ACCIO · 2025</a:t>
            </a:r>
          </a:p>
        </p:txBody>
      </p:sp>
      <p:pic>
        <p:nvPicPr>
          <p:cNvPr id="27" name="Picture 26" descr="macro-3-4-tiktok-thrift-unboxing-7569567092769443094.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ounded Rectangle 27"/>
          <p:cNvSpPr/>
          <p:nvPr/>
        </p:nvSpPr>
        <p:spPr>
          <a:xfrm>
            <a:off x="8610600" y="2476500"/>
            <a:ext cx="584200" cy="190500"/>
          </a:xfrm>
          <a:prstGeom prst="round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lnSpc>
                <a:spcPct val="100000"/>
              </a:lnSpc>
            </a:pPr>
            <a:r>
              <a:rPr sz="700" b="1" i="0">
                <a:solidFill>
                  <a:srgbClr val="FFFFFF"/>
                </a:solidFill>
                <a:latin typeface="Poppins"/>
              </a:rPr>
              <a:t>CLICK ME ▸</a:t>
            </a:r>
          </a:p>
        </p:txBody>
      </p:sp>
      <p:sp>
        <p:nvSpPr>
          <p:cNvPr id="29" name="TextBox 28"/>
          <p:cNvSpPr txBox="1"/>
          <p:nvPr/>
        </p:nvSpPr>
        <p:spPr>
          <a:xfrm>
            <a:off x="9347200" y="1066800"/>
            <a:ext cx="2057400" cy="457200"/>
          </a:xfrm>
          <a:prstGeom prst="rect">
            <a:avLst/>
          </a:prstGeom>
          <a:noFill/>
        </p:spPr>
        <p:txBody>
          <a:bodyPr wrap="square"/>
          <a:lstStyle/>
          <a:p>
            <a:pPr algn="l">
              <a:lnSpc>
                <a:spcPct val="100000"/>
              </a:lnSpc>
            </a:pPr>
            <a:r>
              <a:rPr sz="1000" b="0" i="0">
                <a:solidFill>
                  <a:srgbClr val="FFFFFF"/>
                </a:solidFill>
                <a:latin typeface="Poppins"/>
              </a:rPr>
              <a:t>#thrift2ship — reseller que graba el empaque y envío: el packaging ES el contenido.</a:t>
            </a:r>
          </a:p>
        </p:txBody>
      </p:sp>
      <p:sp>
        <p:nvSpPr>
          <p:cNvPr id="30" name="TextBox 29"/>
          <p:cNvSpPr txBox="1"/>
          <p:nvPr/>
        </p:nvSpPr>
        <p:spPr>
          <a:xfrm>
            <a:off x="9347200" y="1651000"/>
            <a:ext cx="2057400" cy="152400"/>
          </a:xfrm>
          <a:prstGeom prst="rect">
            <a:avLst/>
          </a:prstGeom>
          <a:noFill/>
        </p:spPr>
        <p:txBody>
          <a:bodyPr wrap="square"/>
          <a:lstStyle/>
          <a:p>
            <a:pPr algn="l">
              <a:lnSpc>
                <a:spcPct val="100000"/>
              </a:lnSpc>
            </a:pPr>
            <a:r>
              <a:rPr sz="650" b="0" i="0">
                <a:solidFill>
                  <a:srgbClr val="666666"/>
                </a:solidFill>
                <a:latin typeface="Poppins"/>
              </a:rPr>
              <a:t>TIKTOK @THRIFT2SHIP1 · 2025</a:t>
            </a:r>
          </a:p>
        </p:txBody>
      </p:sp>
      <p:pic>
        <p:nvPicPr>
          <p:cNvPr id="31" name="Picture 30" descr="macro-3-4-freeyourself-soldejaneiro-viral.png">
            <a:hlinkClick r:id="rId5"/>
          </p:cNvPr>
          <p:cNvPicPr>
            <a:picLocks noChangeAspect="1"/>
          </p:cNvPicPr>
          <p:nvPr/>
        </p:nvPicPr>
        <p:blipFill>
          <a:blip r:embed="rId4"/>
          <a:stretch>
            <a:fillRect/>
          </a:stretch>
        </p:blipFill>
        <p:spPr>
          <a:xfrm>
            <a:off x="8128000" y="3022600"/>
            <a:ext cx="1117600" cy="1651000"/>
          </a:xfrm>
          <a:prstGeom prst="rect">
            <a:avLst/>
          </a:prstGeom>
        </p:spPr>
      </p:pic>
      <p:sp>
        <p:nvSpPr>
          <p:cNvPr id="32" name="Rounded Rectangle 31"/>
          <p:cNvSpPr/>
          <p:nvPr/>
        </p:nvSpPr>
        <p:spPr>
          <a:xfrm>
            <a:off x="8610600" y="4432300"/>
            <a:ext cx="584200" cy="190500"/>
          </a:xfrm>
          <a:prstGeom prst="round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lnSpc>
                <a:spcPct val="100000"/>
              </a:lnSpc>
            </a:pPr>
            <a:r>
              <a:rPr sz="700" b="1" i="0">
                <a:solidFill>
                  <a:srgbClr val="FFFFFF"/>
                </a:solidFill>
                <a:latin typeface="Poppins"/>
              </a:rPr>
              <a:t>CLICK ME ▸</a:t>
            </a:r>
          </a:p>
        </p:txBody>
      </p:sp>
      <p:sp>
        <p:nvSpPr>
          <p:cNvPr id="33" name="TextBox 32"/>
          <p:cNvSpPr txBox="1"/>
          <p:nvPr/>
        </p:nvSpPr>
        <p:spPr>
          <a:xfrm>
            <a:off x="9347200" y="3022600"/>
            <a:ext cx="2057400" cy="457200"/>
          </a:xfrm>
          <a:prstGeom prst="rect">
            <a:avLst/>
          </a:prstGeom>
          <a:noFill/>
        </p:spPr>
        <p:txBody>
          <a:bodyPr wrap="square"/>
          <a:lstStyle/>
          <a:p>
            <a:pPr algn="l">
              <a:lnSpc>
                <a:spcPct val="100000"/>
              </a:lnSpc>
            </a:pPr>
            <a:r>
              <a:rPr sz="1000" b="0" i="0">
                <a:solidFill>
                  <a:srgbClr val="FFFFFF"/>
                </a:solidFill>
                <a:latin typeface="Poppins"/>
              </a:rPr>
              <a:t>Sol de Janeiro: el frasco diseñado para el feed — +850M views y ventas x3 a +US$1B.</a:t>
            </a:r>
          </a:p>
        </p:txBody>
      </p:sp>
      <p:sp>
        <p:nvSpPr>
          <p:cNvPr id="34" name="TextBox 33"/>
          <p:cNvSpPr txBox="1"/>
          <p:nvPr/>
        </p:nvSpPr>
        <p:spPr>
          <a:xfrm>
            <a:off x="9347200" y="3606800"/>
            <a:ext cx="2057400" cy="152400"/>
          </a:xfrm>
          <a:prstGeom prst="rect">
            <a:avLst/>
          </a:prstGeom>
          <a:noFill/>
        </p:spPr>
        <p:txBody>
          <a:bodyPr wrap="square"/>
          <a:lstStyle/>
          <a:p>
            <a:pPr algn="l">
              <a:lnSpc>
                <a:spcPct val="100000"/>
              </a:lnSpc>
            </a:pPr>
            <a:r>
              <a:rPr sz="650" b="0" i="0">
                <a:solidFill>
                  <a:srgbClr val="666666"/>
                </a:solidFill>
                <a:latin typeface="Poppins"/>
              </a:rPr>
              <a:t>FREEYOURSELF · 2025</a:t>
            </a:r>
          </a:p>
        </p:txBody>
      </p:sp>
      <p:pic>
        <p:nvPicPr>
          <p:cNvPr id="35" name="Picture 34" descr="macro-3-3-accio-stanley-owala-trendcycle.png">
            <a:hlinkClick r:id="rId7"/>
          </p:cNvPr>
          <p:cNvPicPr>
            <a:picLocks noChangeAspect="1"/>
          </p:cNvPicPr>
          <p:nvPr/>
        </p:nvPicPr>
        <p:blipFill>
          <a:blip r:embed="rId6"/>
          <a:stretch>
            <a:fillRect/>
          </a:stretch>
        </p:blipFill>
        <p:spPr>
          <a:xfrm>
            <a:off x="8128000" y="4978400"/>
            <a:ext cx="1117600" cy="1651000"/>
          </a:xfrm>
          <a:prstGeom prst="rect">
            <a:avLst/>
          </a:prstGeom>
        </p:spPr>
      </p:pic>
      <p:sp>
        <p:nvSpPr>
          <p:cNvPr id="36" name="Rounded Rectangle 35"/>
          <p:cNvSpPr/>
          <p:nvPr/>
        </p:nvSpPr>
        <p:spPr>
          <a:xfrm>
            <a:off x="8610600" y="6388100"/>
            <a:ext cx="584200" cy="190500"/>
          </a:xfrm>
          <a:prstGeom prst="round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lnSpc>
                <a:spcPct val="100000"/>
              </a:lnSpc>
            </a:pPr>
            <a:r>
              <a:rPr sz="700" b="1" i="0">
                <a:solidFill>
                  <a:srgbClr val="FFFFFF"/>
                </a:solidFill>
                <a:latin typeface="Poppins"/>
              </a:rPr>
              <a:t>CLICK ME ▸</a:t>
            </a:r>
          </a:p>
        </p:txBody>
      </p:sp>
      <p:sp>
        <p:nvSpPr>
          <p:cNvPr id="37" name="TextBox 36"/>
          <p:cNvSpPr txBox="1"/>
          <p:nvPr/>
        </p:nvSpPr>
        <p:spPr>
          <a:xfrm>
            <a:off x="9347200" y="4978400"/>
            <a:ext cx="2057400" cy="609600"/>
          </a:xfrm>
          <a:prstGeom prst="rect">
            <a:avLst/>
          </a:prstGeom>
          <a:noFill/>
        </p:spPr>
        <p:txBody>
          <a:bodyPr wrap="square"/>
          <a:lstStyle/>
          <a:p>
            <a:pPr algn="l">
              <a:lnSpc>
                <a:spcPct val="100000"/>
              </a:lnSpc>
            </a:pPr>
            <a:r>
              <a:rPr sz="1000" b="0" i="0">
                <a:solidFill>
                  <a:srgbClr val="FFFFFF"/>
                </a:solidFill>
                <a:latin typeface="Poppins"/>
              </a:rPr>
              <a:t>Labubu blind box — el producto cuyo valor es el momento de apertura: diseñado para ser grabado.</a:t>
            </a:r>
          </a:p>
        </p:txBody>
      </p:sp>
      <p:sp>
        <p:nvSpPr>
          <p:cNvPr id="38" name="TextBox 37"/>
          <p:cNvSpPr txBox="1"/>
          <p:nvPr/>
        </p:nvSpPr>
        <p:spPr>
          <a:xfrm>
            <a:off x="9347200" y="5715000"/>
            <a:ext cx="2057400" cy="152400"/>
          </a:xfrm>
          <a:prstGeom prst="rect">
            <a:avLst/>
          </a:prstGeom>
          <a:noFill/>
        </p:spPr>
        <p:txBody>
          <a:bodyPr wrap="square"/>
          <a:lstStyle/>
          <a:p>
            <a:pPr algn="l">
              <a:lnSpc>
                <a:spcPct val="100000"/>
              </a:lnSpc>
            </a:pPr>
            <a:r>
              <a:rPr sz="650" b="0" i="0">
                <a:solidFill>
                  <a:srgbClr val="666666"/>
                </a:solidFill>
                <a:latin typeface="Poppins"/>
              </a:rPr>
              <a:t>ACCIO · 2025</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4" name="TextBox 3"/>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5" name="TextBox 4"/>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6" name="Connector 5"/>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254000" y="10668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04800" y="1104900"/>
            <a:ext cx="660400" cy="228600"/>
          </a:xfrm>
          <a:prstGeom prst="rect">
            <a:avLst/>
          </a:prstGeom>
          <a:noFill/>
        </p:spPr>
        <p:txBody>
          <a:bodyPr wrap="square"/>
          <a:lstStyle/>
          <a:p>
            <a:pPr algn="l">
              <a:lnSpc>
                <a:spcPct val="100000"/>
              </a:lnSpc>
            </a:pPr>
            <a:r>
              <a:rPr sz="750" b="1" i="0">
                <a:solidFill>
                  <a:srgbClr val="000000"/>
                </a:solidFill>
                <a:latin typeface="Poppins"/>
              </a:rPr>
              <a:t>MACRO 3</a:t>
            </a:r>
          </a:p>
        </p:txBody>
      </p:sp>
      <p:sp>
        <p:nvSpPr>
          <p:cNvPr id="11" name="Rectangle 10"/>
          <p:cNvSpPr/>
          <p:nvPr/>
        </p:nvSpPr>
        <p:spPr>
          <a:xfrm>
            <a:off x="1041400" y="10668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2200" y="1104900"/>
            <a:ext cx="2717800" cy="228600"/>
          </a:xfrm>
          <a:prstGeom prst="rect">
            <a:avLst/>
          </a:prstGeom>
          <a:noFill/>
        </p:spPr>
        <p:txBody>
          <a:bodyPr wrap="square"/>
          <a:lstStyle/>
          <a:p>
            <a:pPr algn="l">
              <a:lnSpc>
                <a:spcPct val="100000"/>
              </a:lnSpc>
            </a:pPr>
            <a:r>
              <a:rPr sz="750" b="0" i="0">
                <a:solidFill>
                  <a:srgbClr val="A0A0A0"/>
                </a:solidFill>
                <a:latin typeface="Poppins"/>
              </a:rPr>
              <a:t>ALGORITMO DEL HOGAR</a:t>
            </a:r>
          </a:p>
        </p:txBody>
      </p:sp>
      <p:sp>
        <p:nvSpPr>
          <p:cNvPr id="13" name="TextBox 12"/>
          <p:cNvSpPr txBox="1"/>
          <p:nvPr/>
        </p:nvSpPr>
        <p:spPr>
          <a:xfrm>
            <a:off x="254000" y="1473200"/>
            <a:ext cx="3683000" cy="2336800"/>
          </a:xfrm>
          <a:prstGeom prst="rect">
            <a:avLst/>
          </a:prstGeom>
          <a:noFill/>
        </p:spPr>
        <p:txBody>
          <a:bodyPr wrap="square"/>
          <a:lstStyle/>
          <a:p>
            <a:pPr algn="l">
              <a:lnSpc>
                <a:spcPct val="114000"/>
              </a:lnSpc>
            </a:pPr>
            <a:r>
              <a:rPr sz="2000" b="0" i="0">
                <a:solidFill>
                  <a:srgbClr val="FFFFFF"/>
                </a:solidFill>
                <a:latin typeface="Instrument Serif"/>
              </a:rPr>
              <a:t>COMPRAR ES CONTENIDO: EL HAUL VOLVIÓ LA COMPRA UN RITUAL DE GRABACIÓN, DONDE SE COMPRA PARA MOSTRAR EL 'QUÉ ME COMPRÉ' Y LA AUDIENCIA MIRA, DESEA Y REPLICA.</a:t>
            </a:r>
          </a:p>
        </p:txBody>
      </p:sp>
      <p:sp>
        <p:nvSpPr>
          <p:cNvPr id="14" name="TextBox 13"/>
          <p:cNvSpPr txBox="1"/>
          <p:nvPr/>
        </p:nvSpPr>
        <p:spPr>
          <a:xfrm>
            <a:off x="254000" y="39878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4241800"/>
            <a:ext cx="3683000" cy="990600"/>
          </a:xfrm>
          <a:prstGeom prst="rect">
            <a:avLst/>
          </a:prstGeom>
          <a:noFill/>
        </p:spPr>
        <p:txBody>
          <a:bodyPr wrap="square"/>
          <a:lstStyle/>
          <a:p>
            <a:pPr algn="l">
              <a:lnSpc>
                <a:spcPct val="100000"/>
              </a:lnSpc>
            </a:pPr>
            <a:r>
              <a:rPr sz="1000" b="0" i="0">
                <a:solidFill>
                  <a:srgbClr val="FFFFFF"/>
                </a:solidFill>
                <a:latin typeface="Poppins"/>
              </a:rPr>
              <a:t>El haul convirtió el acto de comprar en formato de contenido. Se compra para grabar el 'qué me compré', no solo para usar. El 'come shopping with me', el shopping vlog — el gasto se performa en público y se vuelve capital social. La audiencia que mira desea y replica.</a:t>
            </a:r>
          </a:p>
        </p:txBody>
      </p:sp>
      <p:sp>
        <p:nvSpPr>
          <p:cNvPr id="16" name="TextBox 15"/>
          <p:cNvSpPr txBox="1"/>
          <p:nvPr/>
        </p:nvSpPr>
        <p:spPr>
          <a:xfrm>
            <a:off x="254000" y="54102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5664200"/>
            <a:ext cx="3683000" cy="762000"/>
          </a:xfrm>
          <a:prstGeom prst="rect">
            <a:avLst/>
          </a:prstGeom>
          <a:noFill/>
        </p:spPr>
        <p:txBody>
          <a:bodyPr wrap="square"/>
          <a:lstStyle/>
          <a:p>
            <a:pPr algn="l">
              <a:lnSpc>
                <a:spcPct val="100000"/>
              </a:lnSpc>
            </a:pPr>
            <a:r>
              <a:rPr sz="1600" b="0" i="0">
                <a:solidFill>
                  <a:srgbClr val="FFFFFF"/>
                </a:solidFill>
                <a:latin typeface="Instrument Serif"/>
              </a:rPr>
              <a:t>#haul · #comeshoppingwithme · #whatibought · #shoppingvlog · #grwmshopping</a:t>
            </a:r>
          </a:p>
        </p:txBody>
      </p:sp>
      <p:sp>
        <p:nvSpPr>
          <p:cNvPr id="18" name="TextBox 17"/>
          <p:cNvSpPr txBox="1"/>
          <p:nvPr/>
        </p:nvSpPr>
        <p:spPr>
          <a:xfrm>
            <a:off x="4191000" y="1066800"/>
            <a:ext cx="2159000" cy="584200"/>
          </a:xfrm>
          <a:prstGeom prst="rect">
            <a:avLst/>
          </a:prstGeom>
          <a:noFill/>
        </p:spPr>
        <p:txBody>
          <a:bodyPr wrap="square"/>
          <a:lstStyle/>
          <a:p>
            <a:pPr algn="l">
              <a:lnSpc>
                <a:spcPct val="100000"/>
              </a:lnSpc>
            </a:pPr>
            <a:r>
              <a:rPr sz="4000" b="0" i="0">
                <a:solidFill>
                  <a:srgbClr val="FFFFFF"/>
                </a:solidFill>
                <a:latin typeface="Instrument Serif"/>
              </a:rPr>
              <a:t>Gen Z</a:t>
            </a:r>
          </a:p>
        </p:txBody>
      </p:sp>
      <p:sp>
        <p:nvSpPr>
          <p:cNvPr id="19" name="TextBox 18"/>
          <p:cNvSpPr txBox="1"/>
          <p:nvPr/>
        </p:nvSpPr>
        <p:spPr>
          <a:xfrm>
            <a:off x="4191000" y="1803400"/>
            <a:ext cx="2159000" cy="476250"/>
          </a:xfrm>
          <a:prstGeom prst="rect">
            <a:avLst/>
          </a:prstGeom>
          <a:noFill/>
        </p:spPr>
        <p:txBody>
          <a:bodyPr wrap="square"/>
          <a:lstStyle/>
          <a:p>
            <a:pPr algn="l">
              <a:lnSpc>
                <a:spcPct val="100000"/>
              </a:lnSpc>
            </a:pPr>
            <a:r>
              <a:rPr sz="1000" b="0" i="0">
                <a:solidFill>
                  <a:srgbClr val="FFFFFF"/>
                </a:solidFill>
                <a:latin typeface="Poppins"/>
              </a:rPr>
              <a:t>TikTok moldea las compras de Gen Z como práctica cultural: haul, GRWM-shopping.</a:t>
            </a:r>
          </a:p>
        </p:txBody>
      </p:sp>
      <p:sp>
        <p:nvSpPr>
          <p:cNvPr id="20" name="TextBox 19"/>
          <p:cNvSpPr txBox="1"/>
          <p:nvPr/>
        </p:nvSpPr>
        <p:spPr>
          <a:xfrm>
            <a:off x="4191000" y="2432050"/>
            <a:ext cx="2159000" cy="152400"/>
          </a:xfrm>
          <a:prstGeom prst="rect">
            <a:avLst/>
          </a:prstGeom>
          <a:noFill/>
        </p:spPr>
        <p:txBody>
          <a:bodyPr wrap="square"/>
          <a:lstStyle/>
          <a:p>
            <a:pPr algn="l">
              <a:lnSpc>
                <a:spcPct val="100000"/>
              </a:lnSpc>
            </a:pPr>
            <a:r>
              <a:rPr sz="650" b="0" i="0">
                <a:solidFill>
                  <a:srgbClr val="666666"/>
                </a:solidFill>
                <a:latin typeface="Poppins"/>
              </a:rPr>
              <a:t>YR MEDIA · 2025</a:t>
            </a:r>
          </a:p>
        </p:txBody>
      </p:sp>
      <p:sp>
        <p:nvSpPr>
          <p:cNvPr id="21" name="TextBox 20"/>
          <p:cNvSpPr txBox="1"/>
          <p:nvPr/>
        </p:nvSpPr>
        <p:spPr>
          <a:xfrm>
            <a:off x="4191000" y="2863850"/>
            <a:ext cx="2159000" cy="584200"/>
          </a:xfrm>
          <a:prstGeom prst="rect">
            <a:avLst/>
          </a:prstGeom>
          <a:noFill/>
        </p:spPr>
        <p:txBody>
          <a:bodyPr wrap="square"/>
          <a:lstStyle/>
          <a:p>
            <a:pPr algn="l">
              <a:lnSpc>
                <a:spcPct val="100000"/>
              </a:lnSpc>
            </a:pPr>
            <a:r>
              <a:rPr sz="4000" b="0" i="0">
                <a:solidFill>
                  <a:srgbClr val="FFFFFF"/>
                </a:solidFill>
                <a:latin typeface="Instrument Serif"/>
              </a:rPr>
              <a:t>#haul</a:t>
            </a:r>
          </a:p>
        </p:txBody>
      </p:sp>
      <p:sp>
        <p:nvSpPr>
          <p:cNvPr id="22" name="TextBox 21"/>
          <p:cNvSpPr txBox="1"/>
          <p:nvPr/>
        </p:nvSpPr>
        <p:spPr>
          <a:xfrm>
            <a:off x="4191000" y="3600450"/>
            <a:ext cx="2159000" cy="476250"/>
          </a:xfrm>
          <a:prstGeom prst="rect">
            <a:avLst/>
          </a:prstGeom>
          <a:noFill/>
        </p:spPr>
        <p:txBody>
          <a:bodyPr wrap="square"/>
          <a:lstStyle/>
          <a:p>
            <a:pPr algn="l">
              <a:lnSpc>
                <a:spcPct val="100000"/>
              </a:lnSpc>
            </a:pPr>
            <a:r>
              <a:rPr sz="1000" b="0" i="0">
                <a:solidFill>
                  <a:srgbClr val="FFFFFF"/>
                </a:solidFill>
                <a:latin typeface="Poppins"/>
              </a:rPr>
              <a:t>'come shopping with me' como formatos masivos de contenido-compra en TikTok.</a:t>
            </a:r>
          </a:p>
        </p:txBody>
      </p:sp>
      <p:sp>
        <p:nvSpPr>
          <p:cNvPr id="23" name="TextBox 22"/>
          <p:cNvSpPr txBox="1"/>
          <p:nvPr/>
        </p:nvSpPr>
        <p:spPr>
          <a:xfrm>
            <a:off x="4191000" y="4229100"/>
            <a:ext cx="2159000" cy="152400"/>
          </a:xfrm>
          <a:prstGeom prst="rect">
            <a:avLst/>
          </a:prstGeom>
          <a:noFill/>
        </p:spPr>
        <p:txBody>
          <a:bodyPr wrap="square"/>
          <a:lstStyle/>
          <a:p>
            <a:pPr algn="l">
              <a:lnSpc>
                <a:spcPct val="100000"/>
              </a:lnSpc>
            </a:pPr>
            <a:r>
              <a:rPr sz="650" b="0" i="0">
                <a:solidFill>
                  <a:srgbClr val="666666"/>
                </a:solidFill>
                <a:latin typeface="Poppins"/>
              </a:rPr>
              <a:t>TIKTOK CREATIVE CENTER · 2025</a:t>
            </a:r>
          </a:p>
        </p:txBody>
      </p:sp>
      <p:sp>
        <p:nvSpPr>
          <p:cNvPr id="24" name="TextBox 23"/>
          <p:cNvSpPr txBox="1"/>
          <p:nvPr/>
        </p:nvSpPr>
        <p:spPr>
          <a:xfrm>
            <a:off x="4191000" y="4660900"/>
            <a:ext cx="2159000" cy="584200"/>
          </a:xfrm>
          <a:prstGeom prst="rect">
            <a:avLst/>
          </a:prstGeom>
          <a:noFill/>
        </p:spPr>
        <p:txBody>
          <a:bodyPr wrap="square"/>
          <a:lstStyle/>
          <a:p>
            <a:pPr algn="l">
              <a:lnSpc>
                <a:spcPct val="100000"/>
              </a:lnSpc>
            </a:pPr>
            <a:r>
              <a:rPr sz="4000" b="0" i="0">
                <a:solidFill>
                  <a:srgbClr val="FFFFFF"/>
                </a:solidFill>
                <a:latin typeface="Instrument Serif"/>
              </a:rPr>
              <a:t>64%</a:t>
            </a:r>
          </a:p>
        </p:txBody>
      </p:sp>
      <p:sp>
        <p:nvSpPr>
          <p:cNvPr id="25" name="TextBox 24"/>
          <p:cNvSpPr txBox="1"/>
          <p:nvPr/>
        </p:nvSpPr>
        <p:spPr>
          <a:xfrm>
            <a:off x="4191000" y="5397500"/>
            <a:ext cx="2159000" cy="635000"/>
          </a:xfrm>
          <a:prstGeom prst="rect">
            <a:avLst/>
          </a:prstGeom>
          <a:noFill/>
        </p:spPr>
        <p:txBody>
          <a:bodyPr wrap="square"/>
          <a:lstStyle/>
          <a:p>
            <a:pPr algn="l">
              <a:lnSpc>
                <a:spcPct val="100000"/>
              </a:lnSpc>
            </a:pPr>
            <a:r>
              <a:rPr sz="1000" b="0" i="0">
                <a:solidFill>
                  <a:srgbClr val="FFFFFF"/>
                </a:solidFill>
                <a:latin typeface="Poppins"/>
              </a:rPr>
              <a:t>De LATAM asiste a live shopping mensual — comprar es entretenimiento, no solo transacción.</a:t>
            </a:r>
          </a:p>
        </p:txBody>
      </p:sp>
      <p:sp>
        <p:nvSpPr>
          <p:cNvPr id="26" name="TextBox 25"/>
          <p:cNvSpPr txBox="1"/>
          <p:nvPr/>
        </p:nvSpPr>
        <p:spPr>
          <a:xfrm>
            <a:off x="4191000" y="6184900"/>
            <a:ext cx="2159000" cy="152400"/>
          </a:xfrm>
          <a:prstGeom prst="rect">
            <a:avLst/>
          </a:prstGeom>
          <a:noFill/>
        </p:spPr>
        <p:txBody>
          <a:bodyPr wrap="square"/>
          <a:lstStyle/>
          <a:p>
            <a:pPr algn="l">
              <a:lnSpc>
                <a:spcPct val="100000"/>
              </a:lnSpc>
            </a:pPr>
            <a:r>
              <a:rPr sz="650" b="0" i="0">
                <a:solidFill>
                  <a:srgbClr val="666666"/>
                </a:solidFill>
                <a:latin typeface="Poppins"/>
              </a:rPr>
              <a:t>GRAND VIEW / YAVENDIO · 2025</a:t>
            </a:r>
          </a:p>
        </p:txBody>
      </p:sp>
      <p:pic>
        <p:nvPicPr>
          <p:cNvPr id="27" name="Picture 26" descr="macro-3-5-tiktok-haul-7558965114267782422.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ounded Rectangle 27"/>
          <p:cNvSpPr/>
          <p:nvPr/>
        </p:nvSpPr>
        <p:spPr>
          <a:xfrm>
            <a:off x="8610600" y="2476500"/>
            <a:ext cx="584200" cy="190500"/>
          </a:xfrm>
          <a:prstGeom prst="round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lnSpc>
                <a:spcPct val="100000"/>
              </a:lnSpc>
            </a:pPr>
            <a:r>
              <a:rPr sz="700" b="1" i="0">
                <a:solidFill>
                  <a:srgbClr val="FFFFFF"/>
                </a:solidFill>
                <a:latin typeface="Poppins"/>
              </a:rPr>
              <a:t>CLICK ME ▸</a:t>
            </a:r>
          </a:p>
        </p:txBody>
      </p:sp>
      <p:sp>
        <p:nvSpPr>
          <p:cNvPr id="29" name="TextBox 28"/>
          <p:cNvSpPr txBox="1"/>
          <p:nvPr/>
        </p:nvSpPr>
        <p:spPr>
          <a:xfrm>
            <a:off x="9347200" y="1066800"/>
            <a:ext cx="2057400" cy="609600"/>
          </a:xfrm>
          <a:prstGeom prst="rect">
            <a:avLst/>
          </a:prstGeom>
          <a:noFill/>
        </p:spPr>
        <p:txBody>
          <a:bodyPr wrap="square"/>
          <a:lstStyle/>
          <a:p>
            <a:pPr algn="l">
              <a:lnSpc>
                <a:spcPct val="100000"/>
              </a:lnSpc>
            </a:pPr>
            <a:r>
              <a:rPr sz="1000" b="0" i="0">
                <a:solidFill>
                  <a:srgbClr val="FFFFFF"/>
                </a:solidFill>
                <a:latin typeface="Poppins"/>
              </a:rPr>
              <a:t>#vintedhaul #thrifthaul — comprar para grabar: la audiencia mira, desea y replica.</a:t>
            </a:r>
          </a:p>
        </p:txBody>
      </p:sp>
      <p:sp>
        <p:nvSpPr>
          <p:cNvPr id="30" name="TextBox 29"/>
          <p:cNvSpPr txBox="1"/>
          <p:nvPr/>
        </p:nvSpPr>
        <p:spPr>
          <a:xfrm>
            <a:off x="9347200" y="1803400"/>
            <a:ext cx="2057400" cy="152400"/>
          </a:xfrm>
          <a:prstGeom prst="rect">
            <a:avLst/>
          </a:prstGeom>
          <a:noFill/>
        </p:spPr>
        <p:txBody>
          <a:bodyPr wrap="square"/>
          <a:lstStyle/>
          <a:p>
            <a:pPr algn="l">
              <a:lnSpc>
                <a:spcPct val="100000"/>
              </a:lnSpc>
            </a:pPr>
            <a:r>
              <a:rPr sz="650" b="0" i="0">
                <a:solidFill>
                  <a:srgbClr val="666666"/>
                </a:solidFill>
                <a:latin typeface="Poppins"/>
              </a:rPr>
              <a:t>TIKTOK @EVAMEGANOSOVA · 2025</a:t>
            </a:r>
          </a:p>
        </p:txBody>
      </p:sp>
      <p:pic>
        <p:nvPicPr>
          <p:cNvPr id="31" name="Picture 30" descr="macro-3-5-tiktok-haul-7552292928236915989.png">
            <a:hlinkClick r:id="rId5"/>
          </p:cNvPr>
          <p:cNvPicPr>
            <a:picLocks noChangeAspect="1"/>
          </p:cNvPicPr>
          <p:nvPr/>
        </p:nvPicPr>
        <p:blipFill>
          <a:blip r:embed="rId4"/>
          <a:stretch>
            <a:fillRect/>
          </a:stretch>
        </p:blipFill>
        <p:spPr>
          <a:xfrm>
            <a:off x="8128000" y="3022600"/>
            <a:ext cx="1117600" cy="1651000"/>
          </a:xfrm>
          <a:prstGeom prst="rect">
            <a:avLst/>
          </a:prstGeom>
        </p:spPr>
      </p:pic>
      <p:sp>
        <p:nvSpPr>
          <p:cNvPr id="32" name="Rounded Rectangle 31"/>
          <p:cNvSpPr/>
          <p:nvPr/>
        </p:nvSpPr>
        <p:spPr>
          <a:xfrm>
            <a:off x="8610600" y="4432300"/>
            <a:ext cx="584200" cy="190500"/>
          </a:xfrm>
          <a:prstGeom prst="round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lnSpc>
                <a:spcPct val="100000"/>
              </a:lnSpc>
            </a:pPr>
            <a:r>
              <a:rPr sz="700" b="1" i="0">
                <a:solidFill>
                  <a:srgbClr val="FFFFFF"/>
                </a:solidFill>
                <a:latin typeface="Poppins"/>
              </a:rPr>
              <a:t>CLICK ME ▸</a:t>
            </a:r>
          </a:p>
        </p:txBody>
      </p:sp>
      <p:sp>
        <p:nvSpPr>
          <p:cNvPr id="33" name="TextBox 32"/>
          <p:cNvSpPr txBox="1"/>
          <p:nvPr/>
        </p:nvSpPr>
        <p:spPr>
          <a:xfrm>
            <a:off x="9347200" y="3022600"/>
            <a:ext cx="2057400" cy="609600"/>
          </a:xfrm>
          <a:prstGeom prst="rect">
            <a:avLst/>
          </a:prstGeom>
          <a:noFill/>
        </p:spPr>
        <p:txBody>
          <a:bodyPr wrap="square"/>
          <a:lstStyle/>
          <a:p>
            <a:pPr algn="l">
              <a:lnSpc>
                <a:spcPct val="100000"/>
              </a:lnSpc>
            </a:pPr>
            <a:r>
              <a:rPr sz="1000" b="0" i="0">
                <a:solidFill>
                  <a:srgbClr val="FFFFFF"/>
                </a:solidFill>
                <a:latin typeface="Poppins"/>
              </a:rPr>
              <a:t>#thrifthaul — el ritual de comprar como contenido: se documenta el proceso, no solo el botín.</a:t>
            </a:r>
          </a:p>
        </p:txBody>
      </p:sp>
      <p:sp>
        <p:nvSpPr>
          <p:cNvPr id="34" name="TextBox 33"/>
          <p:cNvSpPr txBox="1"/>
          <p:nvPr/>
        </p:nvSpPr>
        <p:spPr>
          <a:xfrm>
            <a:off x="9347200" y="3759200"/>
            <a:ext cx="2057400" cy="152400"/>
          </a:xfrm>
          <a:prstGeom prst="rect">
            <a:avLst/>
          </a:prstGeom>
          <a:noFill/>
        </p:spPr>
        <p:txBody>
          <a:bodyPr wrap="square"/>
          <a:lstStyle/>
          <a:p>
            <a:pPr algn="l">
              <a:lnSpc>
                <a:spcPct val="100000"/>
              </a:lnSpc>
            </a:pPr>
            <a:r>
              <a:rPr sz="650" b="0" i="0">
                <a:solidFill>
                  <a:srgbClr val="666666"/>
                </a:solidFill>
                <a:latin typeface="Poppins"/>
              </a:rPr>
              <a:t>TIKTOK @MR.CHIEFGRIEF9131149 · 2025</a:t>
            </a:r>
          </a:p>
        </p:txBody>
      </p:sp>
      <p:pic>
        <p:nvPicPr>
          <p:cNvPr id="35" name="Picture 34" descr="macro-3-5-tiktok-haul-7556270397939780919.png">
            <a:hlinkClick r:id="rId7"/>
          </p:cNvPr>
          <p:cNvPicPr>
            <a:picLocks noChangeAspect="1"/>
          </p:cNvPicPr>
          <p:nvPr/>
        </p:nvPicPr>
        <p:blipFill>
          <a:blip r:embed="rId6"/>
          <a:stretch>
            <a:fillRect/>
          </a:stretch>
        </p:blipFill>
        <p:spPr>
          <a:xfrm>
            <a:off x="8128000" y="4978400"/>
            <a:ext cx="1117600" cy="1651000"/>
          </a:xfrm>
          <a:prstGeom prst="rect">
            <a:avLst/>
          </a:prstGeom>
        </p:spPr>
      </p:pic>
      <p:sp>
        <p:nvSpPr>
          <p:cNvPr id="36" name="Rounded Rectangle 35"/>
          <p:cNvSpPr/>
          <p:nvPr/>
        </p:nvSpPr>
        <p:spPr>
          <a:xfrm>
            <a:off x="8610600" y="6388100"/>
            <a:ext cx="584200" cy="190500"/>
          </a:xfrm>
          <a:prstGeom prst="round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lnSpc>
                <a:spcPct val="100000"/>
              </a:lnSpc>
            </a:pPr>
            <a:r>
              <a:rPr sz="700" b="1" i="0">
                <a:solidFill>
                  <a:srgbClr val="FFFFFF"/>
                </a:solidFill>
                <a:latin typeface="Poppins"/>
              </a:rPr>
              <a:t>CLICK ME ▸</a:t>
            </a:r>
          </a:p>
        </p:txBody>
      </p:sp>
      <p:sp>
        <p:nvSpPr>
          <p:cNvPr id="37" name="TextBox 36"/>
          <p:cNvSpPr txBox="1"/>
          <p:nvPr/>
        </p:nvSpPr>
        <p:spPr>
          <a:xfrm>
            <a:off x="9347200" y="4978400"/>
            <a:ext cx="2057400" cy="609600"/>
          </a:xfrm>
          <a:prstGeom prst="rect">
            <a:avLst/>
          </a:prstGeom>
          <a:noFill/>
        </p:spPr>
        <p:txBody>
          <a:bodyPr wrap="square"/>
          <a:lstStyle/>
          <a:p>
            <a:pPr algn="l">
              <a:lnSpc>
                <a:spcPct val="100000"/>
              </a:lnSpc>
            </a:pPr>
            <a:r>
              <a:rPr sz="1000" b="0" i="0">
                <a:solidFill>
                  <a:srgbClr val="FFFFFF"/>
                </a:solidFill>
                <a:latin typeface="Poppins"/>
              </a:rPr>
              <a:t>Baby thrift haul — el haul se extiende al consumo familiar: cada compra es potencial contenido.</a:t>
            </a:r>
          </a:p>
        </p:txBody>
      </p:sp>
      <p:sp>
        <p:nvSpPr>
          <p:cNvPr id="38" name="TextBox 37"/>
          <p:cNvSpPr txBox="1"/>
          <p:nvPr/>
        </p:nvSpPr>
        <p:spPr>
          <a:xfrm>
            <a:off x="9347200" y="5715000"/>
            <a:ext cx="2057400" cy="152400"/>
          </a:xfrm>
          <a:prstGeom prst="rect">
            <a:avLst/>
          </a:prstGeom>
          <a:noFill/>
        </p:spPr>
        <p:txBody>
          <a:bodyPr wrap="square"/>
          <a:lstStyle/>
          <a:p>
            <a:pPr algn="l">
              <a:lnSpc>
                <a:spcPct val="100000"/>
              </a:lnSpc>
            </a:pPr>
            <a:r>
              <a:rPr sz="650" b="0" i="0">
                <a:solidFill>
                  <a:srgbClr val="666666"/>
                </a:solidFill>
                <a:latin typeface="Poppins"/>
              </a:rPr>
              <a:t>TIKTOK @ASHLEYKATEBURKE · 2025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