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tiktok.com/tag/skillsnotdegrees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blog.theinterviewguys.com/the-state-of-skills-based-hiring/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accelerec.com/the-4-year-degree-is-dead-why-skills-based-hiring-is-taking-over-in-2025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coursera.org/skills-reports/glob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weforum.org/stories/2025/01/future-of-jobs-report-2025-jobs-of-the-future-and-the-skills-you-need-to-get-them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cbsnews.com/miami/news/microschools-families-flexible-alternative/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education.jhu.edu/edpolicy/policy-research-initiatives/homeschool-hub/homeschool-growth-2024-2025/" TargetMode="External"/><Relationship Id="rId6" Type="http://schemas.openxmlformats.org/officeDocument/2006/relationships/image" Target="../media/image8.png"/><Relationship Id="rId7" Type="http://schemas.openxmlformats.org/officeDocument/2006/relationships/hyperlink" Target="https://www.theschoolhouse.org/post/rising-microschools-educati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www.tiktok.com/tag/gapyear" TargetMode="External"/><Relationship Id="rId4" Type="http://schemas.openxmlformats.org/officeDocument/2006/relationships/image" Target="../media/image10.png"/><Relationship Id="rId5" Type="http://schemas.openxmlformats.org/officeDocument/2006/relationships/hyperlink" Target="https://onecodesoft.com/blogs/degree-vs-skills-big-techs-2025-micro-credential-pivo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www.worldbank.org/en/topic/education/publication/state-of-global-learning-poverty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unausa.org/gga-blog-post-1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www.tiktok.com/tag/studytok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www.globalsociety.earth/post/khan-academy-rolls-out-ai-powered-teaching-tools-as-school-districts-scale-up-adoption" TargetMode="External"/><Relationship Id="rId6" Type="http://schemas.openxmlformats.org/officeDocument/2006/relationships/image" Target="../media/image15.png"/><Relationship Id="rId7" Type="http://schemas.openxmlformats.org/officeDocument/2006/relationships/hyperlink" Target="https://khanmigo.a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www.duolingo.com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strivecloud.io/blog/gamification-examples-boost-user-retention-duolingo" TargetMode="External"/><Relationship Id="rId6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nerdynav.com/chatgpt-cheating-statistics/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edweek.org/technology/new-data-reveal-how-many-students-are-using-ai-to-cheat/2024/04" TargetMode="External"/><Relationship Id="rId6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fortune.com/2025/12/28/2026-microcredential-hiring-trend-coursera-greg-hart/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edsurge.com/news/2024-11-22-how-digital-credentials-can-elevate-existing-programs" TargetMode="External"/><Relationship Id="rId6" Type="http://schemas.openxmlformats.org/officeDocument/2006/relationships/image" Target="../media/image24.png"/><Relationship Id="rId7" Type="http://schemas.openxmlformats.org/officeDocument/2006/relationships/hyperlink" Target="https://grow.google/certificat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www.hmtv.com.do/index.php/noticias/noticias/42251-la-inteligencia-artificial-redefine-el-rol-del-profesor-universitario-en-republica-dominicana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scielo.do/scielo.php?script=sci_arttext&amp;pid=S2636-21632025003900007&amp;lang=pt" TargetMode="External"/><Relationship Id="rId6" Type="http://schemas.openxmlformats.org/officeDocument/2006/relationships/image" Target="../media/image15.png"/><Relationship Id="rId7" Type="http://schemas.openxmlformats.org/officeDocument/2006/relationships/hyperlink" Target="https://khanmigo.ai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www.tiktok.com/tag/studytok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www.youtube.com/results?search_query=study+with+me+2025" TargetMode="External"/><Relationship Id="rId6" Type="http://schemas.openxmlformats.org/officeDocument/2006/relationships/image" Target="../media/image28.png"/><Relationship Id="rId7" Type="http://schemas.openxmlformats.org/officeDocument/2006/relationships/hyperlink" Target="https://www.southeastarrow.com/lifestyle/the-rise-of-studytok-is-it-motivational-or-a-distraction-9240f298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informationmatters.org/2026/03/tiktok-it-dont-google-it-gen-z-gen-alpha-and-the-rise-of-social-video-as-an-everyday-search-tool/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uqualio.com/post/why-generation-z-turns-to-youtube-and-tiktok-for-learning-the-power-of-video-in-educati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correctionstocollegeca.org/tiktok-and-the-future-of-learning-microlearning-engagement-and-the-2026-classroom-revolution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www.nyssba.org/news/2025/08/08/on-board-online-august-11-2025/bringing-microlearning-to-k-12-schools-offers-many-opportunities-challenges/" TargetMode="External"/><Relationship Id="rId6" Type="http://schemas.openxmlformats.org/officeDocument/2006/relationships/image" Target="../media/image33.png"/><Relationship Id="rId7" Type="http://schemas.openxmlformats.org/officeDocument/2006/relationships/hyperlink" Target="https://www.linkedin.com/learning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www.tiktok.com/tag/careertok" TargetMode="External"/><Relationship Id="rId4" Type="http://schemas.openxmlformats.org/officeDocument/2006/relationships/image" Target="../media/image35.png"/><Relationship Id="rId5" Type="http://schemas.openxmlformats.org/officeDocument/2006/relationships/hyperlink" Target="https://www.youtube.com/results?search_query=day+in+my+life+career+tiktok+2025" TargetMode="External"/><Relationship Id="rId6" Type="http://schemas.openxmlformats.org/officeDocument/2006/relationships/image" Target="../media/image36.png"/><Relationship Id="rId7" Type="http://schemas.openxmlformats.org/officeDocument/2006/relationships/hyperlink" Target="https://www.contentgrip.com/tiktok-trends-gen-z-marketing-guide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hyperlink" Target="https://useboomerang.com/article/tiktok-parental-control/" TargetMode="External"/><Relationship Id="rId4" Type="http://schemas.openxmlformats.org/officeDocument/2006/relationships/image" Target="../media/image38.png"/><Relationship Id="rId5" Type="http://schemas.openxmlformats.org/officeDocument/2006/relationships/hyperlink" Target="https://www.youtube.com/results?search_query=ms+rachel+toddler+learning+2025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67047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0847" y="2453640"/>
            <a:ext cx="11430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942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“Un mundo en crisis está reescribiendo qué significa ser adulto y formar familia.”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INVENTOLOGÍA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Instrument Serif"/>
              </a:rPr>
              <a:t>EL DIPLOMA DEJÓ DE SER EL TICKET: 53% DE EMPLEADORES YA CONTRATA POR SKILLS DEMOSTRADOS, Y LA GENERACIÓN QUE ENTRA AL MERCADO LO SABE ANTES DE MATRICULARSE.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 décadas el título universitario fue la prueba de que servías para el trabajo. Eso se aflojó. En 2025, 53% de empleadores dejó de pedir título y empezó a contratar por habilidad demostrada. Pero ojo — el discurso va más rápido que la práctica: 85% dice contratar por skills, y en los números reales apenas 1 de cada 700 contrataciones ocurre sin título. La paradoja es el trend: el ticket viejo perdió su monopolio simbólico aunque todavía pese en la mesa de decisión.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#skillsnotdegrees · #collegedropout · #selftaught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EMPLEABILIDAD · MIEDO · VALIDACIÓN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53%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TESTGORILLA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Empleadores que eliminaron el requisito de título en 2025 — +30% vs año anterior.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1/700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HARVARD / BURNING GLASS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Solo 1 de cada 700 contrataciones reales ocurre sin título — la paradoja del discurso.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THE INTERVIEW GUYS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Dice contratar por skills, pero la práctica real desfasa al discurso corporativo.</a:t>
            </a:r>
          </a:p>
        </p:txBody>
      </p:sp>
      <p:pic>
        <p:nvPicPr>
          <p:cNvPr id="27" name="Picture 26" descr="macro-1-1-tiktok-skillsnotdegr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Página del hashtag #skillsnotdegrees en TikTok — top videos del trend skills vs título.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32" name="Picture 31" descr="macro-1-1-interviewguys-skills-hiring-2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State of Skills-Based Hiring 2025 — gráfico con la paradoja 85% discurso vs 1/700 contrataciones.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THE INTERVIEW GUYS · 2025</a:t>
            </a:r>
          </a:p>
        </p:txBody>
      </p:sp>
      <p:pic>
        <p:nvPicPr>
          <p:cNvPr id="37" name="Picture 36" descr="macro-1-0-accelerec-skills-hir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"The 4-Year Degree Is Dead" — editorial sobre el skills-based hiring como nuevo default.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ACCELEREC ·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INVENTOLOGÍA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Instrument Serif"/>
              </a:rPr>
              <a:t>YA NADIE TERMINÓ DE ESTUDIAR: EL ADULTO LATAM SE RE-SKILLEA CADA 2-3 AÑOS PORQUE 39% DE LAS HABILIDADES LABORALES CAMBIA PARA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te graduabas y cerrabas el capítulo de estudiar. Ese capítulo no cierra ya. 70% de profesionales dice que el upskilling es clave para su seguridad laboral, y 72% de los managers ya está en eso. No buscan otro título — buscan cursos cortos, certificados, skills sueltos que apilan mientras trabajan. El driver es claro: 39% de las habilidades del trabajo van a cambiar para 2030. El WEF lo llama el "Great Skills Reset". Quedarte quieto es quedarte atrás.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#lifelonglearning · #reskilling · #upskilling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VIGENCIA · MIEDO · AUTONOMÍA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EDX SPRING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Dice que el upskilling es clave para su seguridad laboral; 72% de managers ya lo hace.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39%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WEF FUTURE OF JOBS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las habilidades laborales cambiarán para 2030 — el "Great Skills Reset" del WEF.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129%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COURSERA GLOBAL SKILLS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Crecimiento interanual de inscripciones LATAM en ciberseguridad en Coursera.</a:t>
            </a:r>
          </a:p>
        </p:txBody>
      </p:sp>
      <p:pic>
        <p:nvPicPr>
          <p:cNvPr id="27" name="Picture 26" descr="macro-1-2-coursera-global-skills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Coursera Global Skills Report 2025 — badge del upskilling LATAM en números.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COURSERA · 2025</a:t>
            </a:r>
          </a:p>
        </p:txBody>
      </p:sp>
      <p:pic>
        <p:nvPicPr>
          <p:cNvPr id="32" name="Picture 31" descr="macro-1-2-wef-future-of-jo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WEF Future of Jobs 2025 — "Great Skills Reset" y gráfico de habilidades del futuro.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WEF · 2025</a:t>
            </a:r>
          </a:p>
        </p:txBody>
      </p:sp>
      <p:pic>
        <p:nvPicPr>
          <p:cNvPr id="37" name="Picture 36" descr="macro-1-2-coursera-global-skills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3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Coursera como plataforma donde el adulto LATAM re-skilea en semanas, no en años.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COURSERA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INVENTOLOGÍA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Instrument Serif"/>
              </a:rPr>
              <a:t>FAMILIAS GLOBALES SACAN A SUS HIJOS DEL COLEGIO POR ELECCIÓN, NO POR CRISIS: EL AULA DE 30 COMPITE CON MICROSCHOOLS DE 5-15 Y CURRÍCULOS A LA MEDIDA.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homeschool dejó de ser cosa de nicho. Creció 4.9% en 2024-25, casi 3x la tasa pre-pandemia, y 36% de los estados de EEUU reportó máximos históricos. En paralelo aparecen las microschools — hubs de 5 a 15 alumnos, promedio 22, donde la familia diseña el currículo. Entre 1 y 2 millones de estudiantes ya asisten full-time. La motivación no es la fuga de un sistema en llamas. Es el control: la familia quiere armar la educación, no delegarla.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#homeschool · #microschool · #unschooling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CONTROL · PERTENENCIA · RESENTIMIENTO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4.9%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JHU INSTITUTE FOR EDUCATION POLICY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Crecimiento del homeschool en 2024-25 — casi 3x la tasa pre-pandemia.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1-2M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RAND / NATIONAL MICROSCHOOLING CENTER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Estudiantes en EEUU que ya asisten a microschools full-time, promedio 22 alumnos.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36%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JHU INSTITUTE FOR EDUCATION POLICY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los estados de EEUU reportó máximos históricos de homeschool en 2024-25.</a:t>
            </a:r>
          </a:p>
        </p:txBody>
      </p:sp>
      <p:pic>
        <p:nvPicPr>
          <p:cNvPr id="27" name="Picture 26" descr="macro-1-3-cbsmiami-micro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CBS Miami sobre microschools — hub de aprendizaje alternativo en Florida.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CBS MIAMI · 2025</a:t>
            </a:r>
          </a:p>
        </p:txBody>
      </p:sp>
      <p:pic>
        <p:nvPicPr>
          <p:cNvPr id="32" name="Picture 31" descr="macro-1-3-jhu-homeschool-grow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JHU Homeschool Hub 2024-25 — datos de crecimiento 4.9% con mapa de estados.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JHU INSTITUTE FOR EDUCATION POLICY · 2025</a:t>
            </a:r>
          </a:p>
        </p:txBody>
      </p:sp>
      <p:pic>
        <p:nvPicPr>
          <p:cNvPr id="37" name="Picture 36" descr="macro-1-3-theschoolhouse-microschoo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"Why Microschools Are Rising" — visual del grupo pequeño como modelo educativo.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THE SCHOOLHOUSE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INVENTOLOGÍA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EL "SIGUIENTE PASO OBVIO" TRAS EL BACHILLERATO DEJÓ DE SER OBVIO: GAP YEAR, BOOTCAMP Y EMPRENDIMIENTO ADOLESCENTE SUSTITUYEN EL INGRESO INMEDIATO A LA UNIVERSIDAD.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Terminabas el bachillerato y entrabas a la universidad. Punto. Eso ya no es el default. Solo 18% de Gen Z global ve subir la escalera corporativa como algo inteligente — el camino lineal perdió prestigio. Y Big Tech lo validó: Google, IBM y Tesla quitaron el título para muchos roles. Entonces el recién graduado se da un año, hace un bootcamp, o monta un ingreso con skills digitales antes de comprometerse a una carrera cara. No es vagancia. Es calcular el costo antes de firmar.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#gapyear · #alternativestocollege · #nocollege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AUTONOMÍA · EMPLEABILIDAD · MIEDO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18%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FIVERR · OCT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Gen Z global ve subir la escalera corporativa como inteligente — el path lineal perdió.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ONECODESOFT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Big Tech que eliminó el título para muchos roles: Google, IBM y Tesla.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200" b="0" i="0">
                <a:solidFill>
                  <a:srgbClr val="FFFFFF"/>
                </a:solidFill>
                <a:latin typeface="Instrument Serif"/>
              </a:rPr>
              <a:t>#gapyear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Y "alternatives to college" crecen como género propio de contenido en TikTok.</a:t>
            </a:r>
          </a:p>
        </p:txBody>
      </p:sp>
      <p:pic>
        <p:nvPicPr>
          <p:cNvPr id="27" name="Picture 26" descr="macro-1-4-tiktok-gap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#gapyear en TikTok — jóvenes mostrando el path alternativo y el año sabático.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32" name="Picture 31" descr="macro-1-4-onecodesoft-bigtech-skil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"Degree vs. Skills: Big Tech's 2025 Micro-Credential Pivot" — Google, IBM y Tesla lideran.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ONECODESOFT · 2025</a:t>
            </a:r>
          </a:p>
        </p:txBody>
      </p:sp>
      <p:pic>
        <p:nvPicPr>
          <p:cNvPr id="37" name="Picture 36" descr="macro-1-4-onecodesoft-bigtech-skil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5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micro-credential pivot corporativo como validación del path sin diploma.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ONECODESOFT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INVENTOLOGÍA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LA FAMILIA COMPENSA LO QUE LA ESCUELA DEJÓ DE GARANTIZAR: 70% DE NIÑOS EN PAÍSES DE INGRESO MEDIO-BAJO NO LEE BIEN A LOS 10, Y EL MERCADO DE TUTORÍA AI YA VALE US$3.55B.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pandemia dejó un hueco que el sistema formal no recuperó. La pobreza de aprendizaje subió a cerca de 70% en países de ingreso medio-bajo, y LATAM perdió en promedio 225 días de clase presencial. NAEP reportó las mayores caídas en lectura y matemática en 35 años. ¿La respuesta de la familia? Pagar el refuerzo por fuera. El mercado de tutoría AI llegó a US$3.55B en 2025. La casa empezó a suplir lo que el aula dejó de asegurar.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#learningloss · #tutoring · #refuerzoescolar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SUPLIR · CULPA · MIEDO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BANCO MUNDIAL / UNESCO ·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Pobreza de aprendizaje post-pandemia; LATAM perdió 225 días presenciales en promedio.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200" b="0" i="0">
                <a:solidFill>
                  <a:srgbClr val="FFFFFF"/>
                </a:solidFill>
                <a:latin typeface="Instrument Serif"/>
              </a:rPr>
              <a:t>US$3.55B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FUTURE MARKET INSIGHTS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de tutoría AI en 2025 — la casa suple lo que el aula dejó de asegurar.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0" i="0">
                <a:solidFill>
                  <a:srgbClr val="FFFFFF"/>
                </a:solidFill>
                <a:latin typeface="Instrument Serif"/>
              </a:rPr>
              <a:t>35 años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NAEP / UNA-USA · 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Las mayores caídas en lectura y matemática que el NAEP ha reportado en su historia.</a:t>
            </a:r>
          </a:p>
        </p:txBody>
      </p:sp>
      <p:pic>
        <p:nvPicPr>
          <p:cNvPr id="27" name="Picture 26" descr="macro-1-5-worldbank-learning-pover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World Bank Learning Poverty — infografía de pobreza de aprendizaje global post-pandemia.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WORLD BANK · 2024</a:t>
            </a:r>
          </a:p>
        </p:txBody>
      </p:sp>
      <p:pic>
        <p:nvPicPr>
          <p:cNvPr id="32" name="Picture 31" descr="macro-1-5-unausa-naep-sc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UNA-USA / NAEP — las mayores caídas en lectura y matemáticas en 35 años.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UNA-USA / NAEP · 2024</a:t>
            </a:r>
          </a:p>
        </p:txBody>
      </p:sp>
      <p:pic>
        <p:nvPicPr>
          <p:cNvPr id="37" name="Picture 36" descr="macro-1-5-worldbank-learning-pover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3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brecha de aprendizaje también es una brecha de bolsillo — refuerzo pagado vs hueco abierto.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WORLD BANK · 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67047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0847" y="2453640"/>
            <a:ext cx="11430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942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“El dominicano ya entró al mundo prompteado. Solo no lo nombra así.”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HERNÁNDEZ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EL TUTOR 1-A-1 DEJÓ DE SER PRIVILEGIO DE ÉLITE: KHANMIGO PASÓ DE 68K A 1.4M USUARIOS Y LA FAMILIA ACCEDE A TUTORÍA CON IA POR UNA FRACCIÓN DEL COSTO DEL PROFESOR PARTICULAR.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tutoría privada siempre fue cosa de quien podía pagarla. Eso se está moviendo. Khanmigo pasó de 68k usuarios en 2023-24 a 1.4M a mediados de 2025 — y de 40k a 700k estudiantes K-12 en un ciclo. El mercado de tutores AI va de US$3.55B (2025) a US$6.45B (2030). El comportamiento observable: el estudiante resuelve dudas a cualquier hora, con un tutor que no se cansa ni cobra por sesión. El acceso a la tutoría 1-a-1 se está abaratando rápido.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#aitutor · #khanmigo · #studywithai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EQUIDAD · SUPLIR · RESENTIMIENTO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1.4M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KHAN ACADEMY / GLOBALSOCIETY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de Khanmigo a mediados de 2025 — creció desde 68k en 2023-24.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200" b="0" i="0">
                <a:solidFill>
                  <a:srgbClr val="FFFFFF"/>
                </a:solidFill>
                <a:latin typeface="Instrument Serif"/>
              </a:rPr>
              <a:t>US$6.45B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FUTURE MARKET INSIGHTS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mercado de tutores AI para 2030 — desde US$3.55B en 2025.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700K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KHAN ACADEMY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Estudiantes K-12 en Khanmigo en un solo ciclo — desde 40k al inicio.</a:t>
            </a:r>
          </a:p>
        </p:txBody>
      </p:sp>
      <p:pic>
        <p:nvPicPr>
          <p:cNvPr id="27" name="Picture 26" descr="macro-3-0-tiktok-studytok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"AI helped me pass" — testimonios de estudio con IA en StudyTok.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32" name="Picture 31" descr="macro-2-1-globalsociety-khanmigo-ai-too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Khanmigo escala en distritos escolares — estudiante con herramientas AI de Khan Academy.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GLOBAL SOCIETY · 2025</a:t>
            </a:r>
          </a:p>
        </p:txBody>
      </p:sp>
      <p:pic>
        <p:nvPicPr>
          <p:cNvPr id="37" name="Picture 36" descr="macro-2-1-khanmigo-hero-lan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Khanmigo — "always-available teaching assistant", UI del tutor AI 24/7.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KHANMIGO / KHAN ACADEMY ·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HERNÁNDEZ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Instrument Serif"/>
              </a:rPr>
              <a:t>APRENDER SE GAMIFICÓ Y COMPITE CON TIKTOK USANDO LAS MISMAS MECÁNICAS: DUOLINGO SOSTIENE 50.5M USUARIOS DIARIOS CON RACHAS, LIGAS Y LA CULPA DEL BÚHO.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estudio nunca tuvo dopamina. Duolingo se la puso. Superó 50.5M usuarios diarios en Q3 2025 [+36% interanual], y el churn bajó de 47% a 28% gracias a la gamificación. Rachas, ligas, notificaciones — las mismas mecánicas de enganche que usa TikTok, aplicadas a aprender un idioma. Revenue Q3 2025: US$271.7M, +41%, con 11.5M suscriptores pagos. La gente mantiene rachas de cientos de días no por disciplina — por el miedo a romper la racha. El búho Duo ya es un meme propio.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#duolingo · #duostreak · #gamifiedlearning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HÁBITO · CULPA · PERTENENCIA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50.5M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DUOLINGO 8-K SEC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diarios Duolingo Q3 2025 (+36%); churn bajó de 47% a 28%.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+41%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DUOLINGO SEC FILING FY2025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Revenue Q3 2025: US$271.7M; 11.5M suscriptores pagos.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200" b="0" i="0">
                <a:solidFill>
                  <a:srgbClr val="FFFFFF"/>
                </a:solidFill>
                <a:latin typeface="Instrument Serif"/>
              </a:rPr>
              <a:t>#duolingo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búho Duo y la "Duolingo guilt" — género viral con cientos de millones de views.</a:t>
            </a:r>
          </a:p>
        </p:txBody>
      </p:sp>
      <p:pic>
        <p:nvPicPr>
          <p:cNvPr id="27" name="Picture 26" descr="macro-2-2-duolingo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Landing de Duolingo — el búho Duo y la propuesta gamificada de 5 min al día.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DUOLINGO · 2025</a:t>
            </a:r>
          </a:p>
        </p:txBody>
      </p:sp>
      <p:pic>
        <p:nvPicPr>
          <p:cNvPr id="32" name="Picture 31" descr="macro-2-2-duolingo-streaks-gamif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Mecánica de rachas de Duolingo — UI de objetivo diario y contador de racha visible.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DUOLINGO · 2025</a:t>
            </a:r>
          </a:p>
        </p:txBody>
      </p:sp>
      <p:pic>
        <p:nvPicPr>
          <p:cNvPr id="37" name="Picture 36" descr="macro-2-2-strivecloud-duolingo-h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5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de la gamificación de Duolingo — retención de usuarios +36% interanual.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STRIVECLOUD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HERNÁNDEZ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Instrument Serif"/>
              </a:rPr>
              <a:t>LA IA GENERATIVA AUTOMATIZÓ LA TAREA ESCOLAR: 84% DE SECUNDARIA LA USA, 53% PARA ENSAYOS, Y LA PREGUNTA DEJÓ DE SER SI COPIAN — ES SI EL APRENDIZAJE SOBREVIVE.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tarea escolar se automatizó. 84% de los estudiantes de secundaria usa IA generativa para schoolwork, 89% para tareas, 53% para ensayos. El uso en educación superior global saltó de 66% (2024) a 92% (2025). Y el sistema no sabe qué hacer: 44% de los docentes detecta tarea sospechosa de IA cada semana, pero menos del 15% actúa por falta de prueba. El comportamiento visible: el estudiante genera el ensayo con ChatGPT y luego lo "humaniza" para esquivar los detectores.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#chatgptforschool · #aihomework · #studyhack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EFICIENCIA · VACÍO · CULPA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NERDYNAV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Estudiantes de secundaria que usan IA generativa para schoolwork; 89% para tareas.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92%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IA en educación superior global en 2025 — desde 66% en 2024.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44%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EDWEEK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Docentes que detectan tarea sospechosa de IA semanalmente; &lt;15% actúa.</a:t>
            </a:r>
          </a:p>
        </p:txBody>
      </p:sp>
      <p:pic>
        <p:nvPicPr>
          <p:cNvPr id="27" name="Picture 26" descr="macro-2-3-nerdynav-chatgpt-cheating-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Nerdynav: 84% usa IA para tareas, 89% homework, 53% ensayos — infografía de uso.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NERDYNAV · 2025</a:t>
            </a:r>
          </a:p>
        </p:txBody>
      </p:sp>
      <p:pic>
        <p:nvPicPr>
          <p:cNvPr id="32" name="Picture 31" descr="macro-2-3-edweek-ai-c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EdWeek: 44% detecta tarea sospechosa semanalmente, &lt;15% actúa por falta de prueba.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EDUCATION WEEK · 2024</a:t>
            </a:r>
          </a:p>
        </p:txBody>
      </p:sp>
      <p:pic>
        <p:nvPicPr>
          <p:cNvPr id="37" name="Picture 36" descr="macro-2-3-nerdynav-student-usage-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3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Chart de uso de IA por tipo de tarea — essays, homework, research.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NERDYNAV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HERNÁNDEZ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EL DIPLOMA DE PAPEL SE MUDÓ A LA NUBE: 90% DE EMPLEADORES PREFIERE CANDIDATO CON MICROCREDENCIAL, Y LOS BADGES VERIFICABLES SE VOLVIERON MONEDA DE EMPLEABILIDAD.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título tardaba 4 años y vivía en una pared. La microcredencial tarda semanas y vive en LinkedIn. Más del 90% de empleadores prefiere a un candidato con microcredencial en el CV. Coursera lleva 15.4M+ inscripciones en certificados profesionales entry-level. El comportamiento observable: el profesional exhibe el badge de Google o Coursera en su perfil como prueba portátil y verificable de que sabe hacer algo — sin esperar a graduarse de nada.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#microcredentials · #digitalbadges · #googlecertificate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VALIDACIÓN · EMPLEABILIDAD · MIEDO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90%+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COURSERA / FORTUNE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empleadores prefiere candidato con microcredencial en el CV.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0" i="0">
                <a:solidFill>
                  <a:srgbClr val="FFFFFF"/>
                </a:solidFill>
                <a:latin typeface="Instrument Serif"/>
              </a:rPr>
              <a:t>15.4M+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COURSERA GLOBAL SKILLS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Inscripciones en certificados profesionales entry-level de Coursera.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4 sem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EDSURGE · 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Lo que tarda un badge verificable vs 4 años de carrera — portátil en LinkedIn.</a:t>
            </a:r>
          </a:p>
        </p:txBody>
      </p:sp>
      <p:pic>
        <p:nvPicPr>
          <p:cNvPr id="27" name="Picture 26" descr="macro-2-4-fortune-micro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Fortune: "Getting hired in 2026 is all about your microcredentials" — CEO Coursera.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FORTUNE · DEC 2025</a:t>
            </a:r>
          </a:p>
        </p:txBody>
      </p:sp>
      <p:pic>
        <p:nvPicPr>
          <p:cNvPr id="32" name="Picture 31" descr="macro-2-4-edsurge-digital-credenti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EdSurge sobre credenciales digitales verificables — foto conceptual de badges en laptop.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EDSURGE · 2024</a:t>
            </a:r>
          </a:p>
        </p:txBody>
      </p:sp>
      <p:pic>
        <p:nvPicPr>
          <p:cNvPr id="37" name="Picture 36" descr="macro-2-4-coursera-google-ce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Google Career Certificates — badges digitales verificables para roles tech sin título.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GOOGLE / COURSERA ·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HERNÁNDEZ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NO SOLO EL ESTUDIANTE USA IA, EL DOCENTE TAMBIÉN: EN RD 98% DE LA FACULTAD UNIVERSITARIA CONOCE IA Y EL PAÍS LIDERA EL USO DE CHATGPT ENTRE PROFESORES ENCUESTADOS.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en el aula no es solo el alumno copiando. El docente sobrecargado delega lo administrativo — planes de clase, rúbricas, exámenes, retroalimentación — para enfocarse en enseñar. Y aquí RD aparece con fuerza: 98% de los docentes universitarios dominicanos conoce conceptos de IA, y el país lidera el uso de ChatGPT entre la facultad encuestada [INTEC-PUCMM-UASD]. Khanmigo, del lado de las herramientas docentes, se expandió de 45 a más de 380 distritos. El profesor también está prompteado.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#teacherai · #docenteIA · #edtechRD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CAPACIDAD · VIGENCIA · INVISIBILIDAD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98%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HMTV / INTEC-PUCMM-UASD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Docentes universitarios RD que conocen IA — el país lidera uso ChatGPT en facultad.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380+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KHAN ACADEMY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Distritos escolares con Khanmigo — expandido desde 45 con herramientas docentes AI.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#1 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SCIELO DOMINICAN REPUBLIC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Lidera el uso de ChatGPT entre la facultad universitaria encuestada en LATAM.</a:t>
            </a:r>
          </a:p>
        </p:txBody>
      </p:sp>
      <p:pic>
        <p:nvPicPr>
          <p:cNvPr id="27" name="Picture 26" descr="macro-2-5-hmtv-ai-profesor-rd-chr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HMTV: 98% docentes RD conocen IA — país lidera uso ChatGPT en facultad universitaria.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HMTV / INTEC-PUCMM · 2025</a:t>
            </a:r>
          </a:p>
        </p:txBody>
      </p:sp>
      <p:pic>
        <p:nvPicPr>
          <p:cNvPr id="32" name="Picture 31" descr="macro-2-5-scielo-ai-educacion-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Paper SciELO DO "Educación Superior en la Era de la IA" — adopción docente en RD.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SCIELO DOMINICAN REPUBLIC · 2025</a:t>
            </a:r>
          </a:p>
        </p:txBody>
      </p:sp>
      <p:pic>
        <p:nvPicPr>
          <p:cNvPr id="37" name="Picture 36" descr="macro-2-1-khanmigo-hero-lan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Khanmigo expandido a 380+ distritos — herramientas AI para el docente, no solo el alumno.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KHANMIGO / KHAN ACADEMY ·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67047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0847" y="2453640"/>
            <a:ext cx="11430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942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“El feed se sentó en la mesa y nadie le ofreció silla.”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ESTUDIAR SE VOLVIÓ CONTENIDO: "STUDY WITH ME" LIVES Y NOTAS ESTÉTICAS CONVIERTEN EL ESTUDIO SOLITARIO EN ESPECTÁCULO SOCIAL, CON ACCOUNTABILITY DE EXTRAÑOS EN EL FEED.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Estudiar era algo que hacías solo en tu cuarto. Ahora se transmite. Los "study with me" lives y las notas estéticas convirtieron la sesión de estudio en una experiencia social-algorítmica. El educativo es la 2da categoría más vista en TikTok [16.1% de views]. El comportamiento visible: el estudiante prende un live de su sesión, o estudia "junto" a un video de alguien más, y la disciplina ya no viene de adentro — viene de la mirada de extraños en el feed.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#studytok · #studywithme · #studymotivation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PERTENENCIA · SOLEDAD · VALIDACIÓN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16.1%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SMILETUTOR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contenido educativo es la 2da categoría más vista en TikTok.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7.36%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/ SMILETUTOR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Engagement de las cuentas de educación superior en TikTok — top del platform.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200" b="0" i="0">
                <a:solidFill>
                  <a:srgbClr val="FFFFFF"/>
                </a:solidFill>
                <a:latin typeface="Instrument Serif"/>
              </a:rPr>
              <a:t>#studytok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SMILETUTOR / TIKTOK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"Shut up and study" lives crecen como subcultura de estudio en comunidad.</a:t>
            </a:r>
          </a:p>
        </p:txBody>
      </p:sp>
      <p:pic>
        <p:nvPicPr>
          <p:cNvPr id="27" name="Picture 26" descr="macro-3-0-tiktok-studytok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#studytok en TikTok — estudio compartido y notas estéticas como subcultura.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32" name="Picture 31" descr="macro-3-1-youtube-studywith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Resultados YouTube "study with me 2025" — genre del estudio compartido en video.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YOUTUBE · 2025</a:t>
            </a:r>
          </a:p>
        </p:txBody>
      </p:sp>
      <p:pic>
        <p:nvPicPr>
          <p:cNvPr id="37" name="Picture 36" descr="macro-3-1-southeastarrow-studyt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"The Rise of StudyTok: Motivational or Distraction?" — el debate del estudio performativo.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SOUTHEAST ARROW ·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Instrument Serif"/>
              </a:rPr>
              <a:t>EL FEED REEMPLAZÓ AL BUSCADOR COMO PUERTA DEL CONOCIMIENTO: 53% DE GEN Z CONSULTA TIKTOK ANTES QUE GOOGLE, Y QUÉ ES "VERDAD" LO CURAN CREADORES, NO FUENTES.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"Búscalo en Google" se volvió "búscalo en TikTok". 53% de Gen Z consulta TikTok, Reddit o YouTube antes que Google para informarse. El comportamiento observable: el estudiante busca la explicación de un tema escolar directo en el feed, en formato de 60 segundos con cara y voz, en vez de leer un artículo. El criterio de qué es verdad ya no lo decide la fuente — lo decide el creador que te cae bien.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#learnontiktok · #tiktoktaughtme · #edutok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INMEDIATEZ · PERTENENCIA · VACÍO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53%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RESOLVE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Gen Z busca en TikTok/Reddit/YouTube antes que Google para informarse.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0" i="0">
                <a:solidFill>
                  <a:srgbClr val="FFFFFF"/>
                </a:solidFill>
                <a:latin typeface="Instrument Serif"/>
              </a:rPr>
              <a:t>60 seg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INFORMATION MATTERS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unidad de conocimiento que reemplazó al artículo — formato que ganó contra Google.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Gen 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INFORMATION MATTERS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Y Gen Alpha usan el video social como herramienta de búsqueda cotidiana.</a:t>
            </a:r>
          </a:p>
        </p:txBody>
      </p:sp>
      <p:pic>
        <p:nvPicPr>
          <p:cNvPr id="27" name="Picture 26" descr="macro-3-2-informationmatters-genz-tiktok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"TikTok It, Don't Google It" — 53% de Gen Z busca en social antes que Google.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INFORMATION MATTERS / RESOLVE · 2026</a:t>
            </a:r>
          </a:p>
        </p:txBody>
      </p:sp>
      <p:pic>
        <p:nvPicPr>
          <p:cNvPr id="32" name="Picture 31" descr="macro-3-2-uqualio-genz-video-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Gen Z y el video como herramienta educativa — jóvenes con celular aprendiendo.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UQUALIO · 2025</a:t>
            </a:r>
          </a:p>
        </p:txBody>
      </p:sp>
      <p:pic>
        <p:nvPicPr>
          <p:cNvPr id="37" name="Picture 36" descr="macro-3-2-informationmatters-genz-tiktok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3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del conocimiento se desplazó del que sabe al que comunica bien.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INFORMATION MATTERS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EL CONOCIMIENTO SE FRAGMENTÓ AL FORMATO DEL FEED: EL MICROLEARNING EN PÍLDORAS DE 60 SEGUNDOS REEMPLAZA LA CLASE DE 50 MINUTOS, Y LA ESCUELA K-12 YA ESTÁ ADOPTÁNDOLO.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clase de 50 minutos perdió contra el tramo de atención que el feed entrenó. El microlearning — conceptos en clips cortos — empezó a reemplazar la lectura larga y la clase entera. Lo curioso es que dejó de ser solo cosa de redes: las escuelas K-12 ya están adoptando el formato corto que el algoritmo impuso primero. Una revisión 2025 encontró que el microlearning asistido por TikTok mejora retención y engagement. El estudiante aprende en píldoras porque su atención fue calibrada por el feed.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#microlearning · #learnin60seconds · #aprenderrapido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ATENCIÓN · INMEDIATEZ · VACÍO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0" i="0">
                <a:solidFill>
                  <a:srgbClr val="FFFFFF"/>
                </a:solidFill>
                <a:latin typeface="Instrument Serif"/>
              </a:rPr>
              <a:t>50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NYSSBA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clase de 50 min pierde vs el clip de 60 seg — la atención fue calibrada por el feed.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5400" b="0" i="0">
                <a:solidFill>
                  <a:srgbClr val="FFFFFF"/>
                </a:solidFill>
                <a:latin typeface="Instrument Serif"/>
              </a:rPr>
              <a:t>K-12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NYSSBA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Ya está adoptando el formato corto que el algoritmo impuso primero.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Instrument Serif"/>
              </a:rPr>
              <a:t>↑ retención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CTO COLLEGE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Revisión 2025: microlearning asistido por TikTok mejora retención y engagement.</a:t>
            </a:r>
          </a:p>
        </p:txBody>
      </p:sp>
      <p:pic>
        <p:nvPicPr>
          <p:cNvPr id="27" name="Picture 26" descr="macro-3-3-cto-micro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"TikTok and the Future of Learning" — microlearning mejora retención en el aula 2026.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CTO COLLEGE · 2026</a:t>
            </a:r>
          </a:p>
        </p:txBody>
      </p:sp>
      <p:pic>
        <p:nvPicPr>
          <p:cNvPr id="32" name="Picture 31" descr="macro-3-3-nyssba-microlearning-k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NYSSBA: microlearning entra a K-12 — escuelas adoptando el formato del algoritmo.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NYSSBA · 2025</a:t>
            </a:r>
          </a:p>
        </p:txBody>
      </p:sp>
      <p:pic>
        <p:nvPicPr>
          <p:cNvPr id="37" name="Picture 36" descr="macro-3-3-linkedin-learning-u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LinkedIn Learning — cursos bite-sized, el formato corto para el profesional en movimiento.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LINKEDIN LEARNING ·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LA ORIENTACIÓN VOCACIONAL MIGRÓ AL FEED: CREADORES MUESTRAN "UN DÍA EN MI TRABAJO" Y SALARIOS REALES, Y ESO MOLDEA QUÉ CARRERA ELIGE UN ADOLESCENTE MÁS QUE CUALQUIER ORIENTADOR.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orientador escolar tenía un test y un folleto. El feed tiene "un día en mi vida como [profesión]" y salary reveals. El comportamiento observable: el adolescente descarta o elige una carrera basándose en lo que ve a un creador hacer y ganar, no en lo que le dice un consejero. 53% de Gen Z investiga en plataformas sociales antes de tomar decisiones, incluida la carrera. La vida real de una profesión — sin filtro institucional — pesa más que el brochure.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#careertok · #dayinmylife · #salarytransparency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PROYECCIÓN · MIEDO · AUTONOMÍA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200" b="0" i="0">
                <a:solidFill>
                  <a:srgbClr val="FFFFFF"/>
                </a:solidFill>
                <a:latin typeface="Instrument Serif"/>
              </a:rPr>
              <a:t>#careertok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"Day in my life as [profesión]" — formato masivo que influye la decisión vocacional.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200" b="0" i="0">
                <a:solidFill>
                  <a:srgbClr val="FFFFFF"/>
                </a:solidFill>
                <a:latin typeface="Instrument Serif"/>
              </a:rPr>
              <a:t>53%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RESOLVE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Gen Z investiga en plataformas sociales antes de decisiones, incluida la carrera.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0" i="0">
                <a:solidFill>
                  <a:srgbClr val="FFFFFF"/>
                </a:solidFill>
                <a:latin typeface="Instrument Serif"/>
              </a:rPr>
              <a:t>salary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CONTENTGRIP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Salary transparency content en TikTok moldea expectativas antes del primer trabajo.</a:t>
            </a:r>
          </a:p>
        </p:txBody>
      </p:sp>
      <p:pic>
        <p:nvPicPr>
          <p:cNvPr id="27" name="Picture 26" descr="macro-3-4-tiktok-career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Página #careertok en TikTok — grid de "day in my life" y salary reveals vocacionales.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32" name="Picture 31" descr="macro-3-4-youtube-careert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YouTube "day in my life career" — thumbnails del formato que reemplaza al orientador.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YOUTUBE · 2025</a:t>
            </a:r>
          </a:p>
        </p:txBody>
      </p:sp>
      <p:pic>
        <p:nvPicPr>
          <p:cNvPr id="37" name="Picture 36" descr="macro-3-4-contentgrip-tiktok-gen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7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ContentGrip: career/salary transparency content en el trend report Gen Z 2026.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CONTENTGRIP ·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777240" cy="201168"/>
          </a:xfrm>
          <a:prstGeom prst="rect">
            <a:avLst/>
          </a:prstGeom>
          <a:solidFill>
            <a:srgbClr val="E8E8E8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20040"/>
            <a:ext cx="2011680" cy="201168"/>
          </a:xfrm>
          <a:prstGeom prst="rect">
            <a:avLst/>
          </a:prstGeom>
          <a:noFill/>
          <a:ln w="317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6778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749808"/>
            <a:ext cx="36981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1014984"/>
            <a:ext cx="11460175" cy="0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55338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36356" y="1152144"/>
            <a:ext cx="0" cy="5431536"/>
          </a:xfrm>
          <a:prstGeom prst="line">
            <a:avLst/>
          </a:prstGeom>
          <a:ln w="9525">
            <a:solidFill>
              <a:srgbClr val="FFFFFF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65760" y="1152144"/>
            <a:ext cx="360669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200" b="0" i="0">
                <a:solidFill>
                  <a:srgbClr val="FFFFFF"/>
                </a:solidFill>
                <a:latin typeface="Instrument Serif"/>
              </a:rPr>
              <a:t>EL FEED MATERNO DICTA CÓMO SE EDUCA AL NIÑO: MOMTOK RECOMIENDA APPS, CURRÍCULOS Y "GUILT-FREE SCREEN TIME", Y DESPLAZÓ A LA MAESTRA COMO AUTORIDAD PEDAGÓGICA DEL HOGAR.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552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360669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maestra solía ser la autoridad sobre cómo aprende el niño. Ahora compite con otra madre en el feed. MomTok recomienda apps educativas, métodos de crianza-aprendizaje y "guilt-free screen time", y la madre elige según lo que se vuelve viral. Apps como Kiddopia, SplashLearn y Khan Academy Kids se mueven por esa recomendación. Canales como Ms. Rachel se convirtieron en autoridad de aprendizaje temprano vía el feed. El comportamiento visible: la madre confía en otra madre del feed más que en el sistema.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5546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38344"/>
            <a:ext cx="360669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300" b="0" i="0">
                <a:solidFill>
                  <a:srgbClr val="FFFFFF"/>
                </a:solidFill>
                <a:latin typeface="Instrument Serif"/>
              </a:rPr>
              <a:t>#momtok · #toddlerlearning · #guiltfreescreentime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24144"/>
            <a:ext cx="369813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07024"/>
            <a:ext cx="36066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400" b="0" i="0">
                <a:solidFill>
                  <a:srgbClr val="FFFFFF"/>
                </a:solidFill>
                <a:latin typeface="Instrument Serif"/>
              </a:rPr>
              <a:t>VALIDACIÓN · CULPA · SOLEDAD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6778" y="11521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0" i="0">
                <a:solidFill>
                  <a:srgbClr val="FFFFFF"/>
                </a:solidFill>
                <a:latin typeface="Instrument Serif"/>
              </a:rPr>
              <a:t>#momtok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6778" y="229514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DISCOVER ·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409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Apps como Kiddopia, SplashLearn y Khan Academy Kids viralizadas por MomTok.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6778" y="2962656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200" b="0" i="0">
                <a:solidFill>
                  <a:srgbClr val="FFFFFF"/>
                </a:solidFill>
                <a:latin typeface="Instrument Serif"/>
              </a:rPr>
              <a:t>Ms. Rachel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6778" y="4105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TIKTOK / YOUTUBE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409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 convirtió en autoridad de aprendizaje temprano vía recomendación del feed materno.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6778" y="4773168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Instrument Serif"/>
              </a:rPr>
              <a:t>Family Pairing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6778" y="591616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BOOMERANG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409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reforzó el control parental de screen-time en 2025-26 ante la demanda maternal.</a:t>
            </a:r>
          </a:p>
        </p:txBody>
      </p:sp>
      <p:pic>
        <p:nvPicPr>
          <p:cNvPr id="27" name="Picture 26" descr="macro-3-5-boomerang-tiktok-pa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1152144"/>
            <a:ext cx="1892300" cy="2794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537496" y="1075944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Rectangle 28">
            <a:hlinkClick r:id="rId3"/>
          </p:cNvPr>
          <p:cNvSpPr/>
          <p:nvPr/>
        </p:nvSpPr>
        <p:spPr>
          <a:xfrm>
            <a:off x="8127796" y="1152144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3248" y="1289304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Family Pairing — la madre digital eligiendo qué ve su hijo en el feed.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3248" y="1752092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BOOMERANG · 2025</a:t>
            </a:r>
          </a:p>
        </p:txBody>
      </p:sp>
      <p:pic>
        <p:nvPicPr>
          <p:cNvPr id="32" name="Picture 31" descr="macro-3-5-youtube-msrach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962656"/>
            <a:ext cx="1892300" cy="279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9537496" y="2886456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4" name="Rectangle 33">
            <a:hlinkClick r:id="rId5"/>
          </p:cNvPr>
          <p:cNvSpPr/>
          <p:nvPr/>
        </p:nvSpPr>
        <p:spPr>
          <a:xfrm>
            <a:off x="8127796" y="2962656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93248" y="3099816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Ms. Rachel en YouTube — la creadora que se volvió autoridad pedagógica vía feed.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3248" y="3562604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YOUTUBE / MS. RACHEL · 2025</a:t>
            </a:r>
          </a:p>
        </p:txBody>
      </p:sp>
      <p:pic>
        <p:nvPicPr>
          <p:cNvPr id="37" name="Picture 36" descr="macro-3-5-boomerang-tiktok-pa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796" y="4773168"/>
            <a:ext cx="1892300" cy="2794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9537496" y="4696968"/>
            <a:ext cx="584200" cy="1778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9" name="Rectangle 38">
            <a:hlinkClick r:id="rId3"/>
          </p:cNvPr>
          <p:cNvSpPr/>
          <p:nvPr/>
        </p:nvSpPr>
        <p:spPr>
          <a:xfrm>
            <a:off x="8127796" y="4773168"/>
            <a:ext cx="1892300" cy="279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248" y="4910328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pedagógica del hogar migró de la maestra a la creadora del feed.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248" y="5373116"/>
            <a:ext cx="2159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666666"/>
                </a:solidFill>
                <a:latin typeface="Poppins"/>
              </a:rPr>
              <a:t>BOOMERANG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