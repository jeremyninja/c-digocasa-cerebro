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hyperlink" Target="https://www.tiktok.com/tag/skillsnotdegrees" TargetMode="External"/><Relationship Id="rId4" Type="http://schemas.openxmlformats.org/officeDocument/2006/relationships/image" Target="../media/image2.png"/><Relationship Id="rId5" Type="http://schemas.openxmlformats.org/officeDocument/2006/relationships/hyperlink" Target="https://blog.theinterviewguys.com/the-state-of-skills-based-hiring/" TargetMode="External"/><Relationship Id="rId6" Type="http://schemas.openxmlformats.org/officeDocument/2006/relationships/image" Target="../media/image3.png"/><Relationship Id="rId7" Type="http://schemas.openxmlformats.org/officeDocument/2006/relationships/hyperlink" Target="https://accelerec.com/the-4-year-degree-is-dead-why-skills-based-hiring-is-taking-over-in-2025/"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www.weforum.org/stories/2025/01/future-of-jobs-report-2025-jobs-of-the-future-and-the-skills-you-need-to-get-them/" TargetMode="External"/><Relationship Id="rId4" Type="http://schemas.openxmlformats.org/officeDocument/2006/relationships/image" Target="../media/image5.png"/><Relationship Id="rId5" Type="http://schemas.openxmlformats.org/officeDocument/2006/relationships/hyperlink" Target="https://www.coursera.org/skills-reports/global"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hyperlink" Target="https://education.jhu.edu/edpolicy/policy-research-initiatives/homeschool-hub/homeschool-growth-2024-2025/" TargetMode="External"/><Relationship Id="rId4" Type="http://schemas.openxmlformats.org/officeDocument/2006/relationships/image" Target="../media/image7.png"/><Relationship Id="rId5" Type="http://schemas.openxmlformats.org/officeDocument/2006/relationships/hyperlink" Target="https://www.cbsnews.com/miami/news/microschools-families-flexible-alternative/" TargetMode="External"/><Relationship Id="rId6" Type="http://schemas.openxmlformats.org/officeDocument/2006/relationships/image" Target="../media/image8.png"/><Relationship Id="rId7" Type="http://schemas.openxmlformats.org/officeDocument/2006/relationships/hyperlink" Target="https://www.theschoolhouse.org/post/rising-microschools-education"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hyperlink" Target="https://www.tiktok.com/tag/gapyear" TargetMode="External"/><Relationship Id="rId4" Type="http://schemas.openxmlformats.org/officeDocument/2006/relationships/image" Target="../media/image10.png"/><Relationship Id="rId5" Type="http://schemas.openxmlformats.org/officeDocument/2006/relationships/hyperlink" Target="https://onecodesoft.com/blogs/degree-vs-skills-big-techs-2025-micro-credential-pivot"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hyperlink" Target="https://www.worldbank.org/en/topic/education/publication/state-of-global-learning-poverty" TargetMode="External"/><Relationship Id="rId4" Type="http://schemas.openxmlformats.org/officeDocument/2006/relationships/image" Target="../media/image12.png"/><Relationship Id="rId5" Type="http://schemas.openxmlformats.org/officeDocument/2006/relationships/hyperlink" Target="https://unausa.org/gga-blog-post-1/" TargetMode="Externa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hyperlink" Target="https://khanmigo.ai/" TargetMode="External"/><Relationship Id="rId4" Type="http://schemas.openxmlformats.org/officeDocument/2006/relationships/image" Target="../media/image14.png"/><Relationship Id="rId5" Type="http://schemas.openxmlformats.org/officeDocument/2006/relationships/hyperlink" Target="https://www.globalsociety.earth/post/khan-academy-rolls-out-ai-powered-teaching-tools-as-school-districts-scale-up-adoption" TargetMode="External"/><Relationship Id="rId6" Type="http://schemas.openxmlformats.org/officeDocument/2006/relationships/image" Target="../media/image15.png"/><Relationship Id="rId7" Type="http://schemas.openxmlformats.org/officeDocument/2006/relationships/hyperlink" Target="https://www.futuremarketinsights.com/reports/ai-tutoring-services-market"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hyperlink" Target="https://www.duolingo.com/" TargetMode="External"/><Relationship Id="rId4" Type="http://schemas.openxmlformats.org/officeDocument/2006/relationships/image" Target="../media/image17.png"/><Relationship Id="rId5" Type="http://schemas.openxmlformats.org/officeDocument/2006/relationships/hyperlink" Target="https://www.strivecloud.io/blog/gamification-examples-boost-user-retention-duolingo" TargetMode="External"/><Relationship Id="rId6" Type="http://schemas.openxmlformats.org/officeDocument/2006/relationships/image" Target="../media/image1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hyperlink" Target="https://nerdynav.com/chatgpt-cheating-statistics/" TargetMode="External"/><Relationship Id="rId4" Type="http://schemas.openxmlformats.org/officeDocument/2006/relationships/image" Target="../media/image20.png"/><Relationship Id="rId5" Type="http://schemas.openxmlformats.org/officeDocument/2006/relationships/image" Target="../media/image21.png"/><Relationship Id="rId6" Type="http://schemas.openxmlformats.org/officeDocument/2006/relationships/hyperlink" Target="https://www.edweek.org/technology/new-data-reveal-how-many-students-are-using-ai-to-cheat/2024/04"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hyperlink" Target="https://fortune.com/2025/12/28/2026-microcredential-hiring-trend-coursera-greg-hart/" TargetMode="External"/><Relationship Id="rId4" Type="http://schemas.openxmlformats.org/officeDocument/2006/relationships/image" Target="../media/image23.png"/><Relationship Id="rId5" Type="http://schemas.openxmlformats.org/officeDocument/2006/relationships/hyperlink" Target="https://grow.google/certificates/" TargetMode="External"/><Relationship Id="rId6" Type="http://schemas.openxmlformats.org/officeDocument/2006/relationships/image" Target="../media/image24.png"/><Relationship Id="rId7" Type="http://schemas.openxmlformats.org/officeDocument/2006/relationships/hyperlink" Target="https://www.edsurge.com/news/2024-11-22-how-digital-credentials-can-elevate-existing-programs" TargetMode="Externa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hyperlink" Target="https://www.hmtv.com.do/index.php/noticias/noticias/42251-la-inteligencia-artificial-redefine-el-rol-del-profesor-universitario-en-republica-dominicana" TargetMode="External"/><Relationship Id="rId4" Type="http://schemas.openxmlformats.org/officeDocument/2006/relationships/image" Target="../media/image26.png"/><Relationship Id="rId5" Type="http://schemas.openxmlformats.org/officeDocument/2006/relationships/hyperlink" Target="https://scielo.do/scielo.php?script=sci_arttext&amp;pid=S2636-21632025003900007&amp;lang=pt" TargetMode="External"/><Relationship Id="rId6" Type="http://schemas.openxmlformats.org/officeDocument/2006/relationships/image" Target="../media/image27.png"/><Relationship Id="rId7" Type="http://schemas.openxmlformats.org/officeDocument/2006/relationships/hyperlink" Target="https://www.demandsage.com/ai-in-education-statistics/"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hyperlink" Target="https://www.tiktok.com/tag/studytok" TargetMode="External"/><Relationship Id="rId4" Type="http://schemas.openxmlformats.org/officeDocument/2006/relationships/image" Target="../media/image29.png"/><Relationship Id="rId5" Type="http://schemas.openxmlformats.org/officeDocument/2006/relationships/hyperlink" Target="https://www.youtube.com/results?search_query=study+with+me+2025" TargetMode="External"/><Relationship Id="rId6" Type="http://schemas.openxmlformats.org/officeDocument/2006/relationships/image" Target="../media/image30.png"/><Relationship Id="rId7" Type="http://schemas.openxmlformats.org/officeDocument/2006/relationships/hyperlink" Target="https://www.southeastarrow.com/lifestyle/the-rise-of-studytok-is-it-motivational-or-a-distraction-9240f298"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png"/><Relationship Id="rId3" Type="http://schemas.openxmlformats.org/officeDocument/2006/relationships/hyperlink" Target="https://informationmatters.org/2026/03/tiktok-it-dont-google-it-gen-z-gen-alpha-and-the-rise-of-social-video-as-an-everyday-search-tool/" TargetMode="External"/><Relationship Id="rId4" Type="http://schemas.openxmlformats.org/officeDocument/2006/relationships/image" Target="../media/image32.png"/><Relationship Id="rId5" Type="http://schemas.openxmlformats.org/officeDocument/2006/relationships/hyperlink" Target="https://uqualio.com/post/why-generation-z-turns-to-youtube-and-tiktok-for-learning-the-power-of-video-in-education" TargetMode="External"/><Relationship Id="rId6" Type="http://schemas.openxmlformats.org/officeDocument/2006/relationships/image" Target="../media/image33.png"/><Relationship Id="rId7" Type="http://schemas.openxmlformats.org/officeDocument/2006/relationships/hyperlink" Target="https://smiletutor.sg/studytok-a-look-into-educational-tiktok-trends-their-impact-on-learning-and-how-students-can-use-them-effectively/" TargetMode="Externa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 Id="rId3" Type="http://schemas.openxmlformats.org/officeDocument/2006/relationships/hyperlink" Target="https://correctionstocollegeca.org/tiktok-and-the-future-of-learning-microlearning-engagement-and-the-2026-classroom-revolution/" TargetMode="External"/><Relationship Id="rId4" Type="http://schemas.openxmlformats.org/officeDocument/2006/relationships/image" Target="../media/image35.png"/><Relationship Id="rId5" Type="http://schemas.openxmlformats.org/officeDocument/2006/relationships/hyperlink" Target="https://www.nyssba.org/news/2025/08/08/on-board-online-august-11-2025/bringing-microlearning-to-k-12-schools-offers-many-opportunities-challenges/" TargetMode="External"/><Relationship Id="rId6" Type="http://schemas.openxmlformats.org/officeDocument/2006/relationships/image" Target="../media/image36.png"/><Relationship Id="rId7" Type="http://schemas.openxmlformats.org/officeDocument/2006/relationships/hyperlink" Target="https://www.linkedin.com/learning/"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7.png"/><Relationship Id="rId3" Type="http://schemas.openxmlformats.org/officeDocument/2006/relationships/hyperlink" Target="https://www.tiktok.com/tag/careertok" TargetMode="External"/><Relationship Id="rId4" Type="http://schemas.openxmlformats.org/officeDocument/2006/relationships/image" Target="../media/image38.png"/><Relationship Id="rId5" Type="http://schemas.openxmlformats.org/officeDocument/2006/relationships/hyperlink" Target="https://www.contentgrip.com/tiktok-trends-gen-z-marketing-guide/" TargetMode="External"/><Relationship Id="rId6" Type="http://schemas.openxmlformats.org/officeDocument/2006/relationships/image" Target="../media/image39.png"/><Relationship Id="rId7" Type="http://schemas.openxmlformats.org/officeDocument/2006/relationships/hyperlink" Target="https://www.youtube.com/results?search_query=day+in+my+life+career+tiktok+2025" TargetMode="Externa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0.png"/><Relationship Id="rId3" Type="http://schemas.openxmlformats.org/officeDocument/2006/relationships/hyperlink" Target="https://useboomerang.com/article/tiktok-parental-control/" TargetMode="External"/><Relationship Id="rId4" Type="http://schemas.openxmlformats.org/officeDocument/2006/relationships/image" Target="../media/image41.png"/><Relationship Id="rId5" Type="http://schemas.openxmlformats.org/officeDocument/2006/relationships/hyperlink" Target="https://www.youtube.com/results?search_query=ms+rachel+toddler+learning+2025" TargetMode="External"/><Relationship Id="rId6" Type="http://schemas.openxmlformats.org/officeDocument/2006/relationships/image" Target="../media/image42.png"/><Relationship Id="rId7" Type="http://schemas.openxmlformats.org/officeDocument/2006/relationships/hyperlink" Target="https://www.accio.com/business/tiktok-educational-content-trend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1</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INVENTOLOGÍA DE LA ADULTEZ</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"Un mundo en crisis está reescribiendo qué significa ser adulto y formar familia."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DIPLOMA DEJÓ DE SER EL TICKET: 53% DE EMPLEADORES YA CONTRATA POR SKILLS DEMOSTRADOS.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En 2025, 53% de empleadores dejó de pedir título y contrató por habilidad demostrada. La paradoja: 85% dice contratar por skills, pero en los números reales apenas 1 de cada 700 contrataciones ocurre sin título. El ticket viejo perdió su monopolio simbólico.</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#skillsnotdegrees · #collegedropout · #selftaught · #careerchange · #notitulonecesario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empleadores eliminó el requisito de título en 2025, +30% vs 2024.</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TESTGORILLA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85%</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Dice contratar por skills — pero solo 1 de cada 700 contrataciones reales es sin título.</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HARVARD / BURNING GLASS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1/700</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Contrataciones sin título en la realidad, vs el discurso skills-first dominante.</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27" name="Picture 26" descr="macro-1-1-tiktok-skillsnotdegree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#skillsnotdegrees en TikTok — grid del trend skills vs título.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1-1-interviewguys-skills-hiring-2025.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State of Skills-Based Hiring 2025 — la paradoja 85% discurso vs 1/700 contrataciones sin título.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THE INTERVIEW GUYS · 2025</a:t>
            </a:r>
          </a:p>
        </p:txBody>
      </p:sp>
      <p:pic>
        <p:nvPicPr>
          <p:cNvPr id="37" name="Picture 36" descr="macro-1-0-accelerec-skills-hiring.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Hero artículo 'The 4-Year Degree Is Dead' — skills-based hiring como default 2025.</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ACCELEREC · 2025</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YA NADIE TERMINÓ DE ESTUDIAR: EL ADULTO LATAM SE RE-SKILLEA CADA 2-3 AÑOS PORQUE 39% DE LAS HABILIDADES CAMBIA PARA 2030.</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70% de profesionales dice que el upskilling es clave para su seguridad laboral, y 72% de los managers ya está en eso. El driver: 39% de las habilidades del trabajo van a cambiar para 2030. Quedarte quieto es quedarte atrás.</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#lifelonglearning · #reskilling · #upskilling · #aprenderparasiempre · #careergrowth</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profesionales dice que el upskilling es clave para su seguridad laboral.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EDX SPRING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39%</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las habilidades laborales cambiarán para 2030 — el 'Great Skills Reset'.</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129%</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Crecimiento interanual de inscripciones LATAM en ciberseguridad en Coursera.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pic>
        <p:nvPicPr>
          <p:cNvPr id="27" name="Picture 26" descr="macro-1-2-wef-future-of-job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WEF Future of Jobs 2025 — titular 'Great Skills Reset', 39% de skills cambian para 2030.</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WEF FUTURE OF JOBS · 2025</a:t>
            </a:r>
          </a:p>
        </p:txBody>
      </p:sp>
      <p:pic>
        <p:nvPicPr>
          <p:cNvPr id="32" name="Picture 31" descr="macro-1-2-coursera-global-skills-repo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Coursera Global Skills Report 2025 — badge digital para profesionales en upskilling.</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FAMILIAS GLOBALES SACAN A SUS HIJOS DEL COLEGIO POR ELECCIÓN: EL AULA DE 30 COMPITE CON MICROSCHOOLS DE 5-15 Y CURRÍCULOS A LA MEDIDA.</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homeschool creció 4.9% en 2024-25, casi 3x la tasa pre-pandemia, y 36% de estados de EEUU reportó máximos históricos. Aparecen microschools — hubs de 5 a 15 alumnos donde la familia diseña el currículo. Entre 1 y 2 millones de estudiantes ya asisten full-time.</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#homeschool · #microschool · #unschooling · #homeschoollife · #educacionalternativa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4.9%</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Crecimiento del homeschool en 2024-25, casi 3x la tasa pre-pandemia.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estados de EEUU reportó máximos históricos en homeschooling.</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1-2M</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Estudiantes en EEUU ya asisten a microschools full-time, promedio 22 alumnos.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RAND / NATIONAL MICROSCHOOLING CENTER · 2025</a:t>
            </a:r>
          </a:p>
        </p:txBody>
      </p:sp>
      <p:pic>
        <p:nvPicPr>
          <p:cNvPr id="27" name="Picture 26" descr="macro-1-3-jhu-homeschool-growt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JHU Homeschool Hub 2024-2025 — datos de crecimiento 4.9% con mapa de estados y máximos históricos.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JHU INSTITUTE FOR EDUCATION POLICY · 2025</a:t>
            </a:r>
          </a:p>
        </p:txBody>
      </p:sp>
      <p:pic>
        <p:nvPicPr>
          <p:cNvPr id="32" name="Picture 31" descr="macro-1-3-cbsmiami-microsch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CBS Miami sobre microschools — hub de aprendizaje alternativo en Florida, familias eligiendo.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CBS MIAMI · 2025</a:t>
            </a:r>
          </a:p>
        </p:txBody>
      </p:sp>
      <p:pic>
        <p:nvPicPr>
          <p:cNvPr id="37" name="Picture 36" descr="macro-1-3-theschoolhouse-microschoo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'Why Microschools Are Rising' — grupo pequeño de estudiantes en entorno alternativo.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THE SCHOOLHOUSE · 2025</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SIGUIENTE PASO OBVIO TRAS EL BACHILLERATO DEJÓ DE SER OBVIO: GAP YEAR, BOOTCAMP Y EMPRENDIMIENTO ADOLESCENTE SUSTITUYEN EL INGRESO INMEDIATO.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Solo 18% de Gen Z global ve subir la escalera corporativa como algo inteligente. Y Big Tech lo validó: Google, IBM y Tesla quitaron el título para muchos roles. El recién graduado se da un año, hace un bootcamp, o monta un ingreso con skills digitales antes de comprometerse.</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#gapyear · #alternativestocollege · #teenentrepreneur · #nocollege · #emprendimientojoven</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global ve subir la escalera corporativa como algo inteligente.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FIVERR · OCT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Big Tech — Google, IBM y Tesla — eliminaron el título universitario para muchos roles.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#gapyear y 'alternatives to college' crecen como género propio de contenido en TikTok.</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pic>
        <p:nvPicPr>
          <p:cNvPr id="27" name="Picture 26" descr="macro-1-4-tiktok-gapyear.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#gapyear en TikTok — grid de jóvenes mostrando su path alternativo.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1-4-onecodesoft-bigtech-skil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'Degree vs. Skills: Big Tech's 2025 Micro-Credential Pivot' — Google, IBM, Tesla sin título.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ONECODESOFT · 2025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1</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INVENTOLOGÍA DE LA ADULTEZ</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FAMILIA COMPENSA LO QUE LA ESCUELA DEJÓ DE GARANTIZAR: 70% DE NIÑOS NO LEE BIEN A LOS 10 Y EL MERCADO DE TUTORÍA AI YA VALE US$3.55B.</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La pandemia dejó un hueco que el sistema formal no recuperó. La pobreza de aprendizaje subió a ~70% en países de ingreso medio-bajo. NAEP reportó las mayores caídas en lectura y matemática en 35 años. ¿La respuesta de la familia? Pagar el refuerzo por fuera.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#learningloss · #tutoring · #refuerzoescolar · #educationcrisis · #apoyoescolar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~70%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Pobreza de aprendizaje post-pandemia en países de ingreso medio-bajo; LATAM perdió 225 días de clase.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BANCO MUNDIAL / UNESCO · 2024</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35 años</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NAEP reportó las mayores caídas en lectura y matemática de toda su historia evaluativa.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NAEP / UNA-USA · 2024</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US$3.55B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de tutoría AI en 2025, proyectado a US$6.45B en 2030.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1-5-worldbank-learning-poverty.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World Bank Learning Poverty report — infografía sobre pobreza de aprendizaje global post-pandemia.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WORLD BANK · 2024</a:t>
            </a:r>
          </a:p>
        </p:txBody>
      </p:sp>
      <p:pic>
        <p:nvPicPr>
          <p:cNvPr id="32" name="Picture 31" descr="macro-1-5-unausa-naep-score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UNA-USA sobre las mayores caídas NAEP en lectura y matemática en 35 años.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UNA-USA / NAEP · 2024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2</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LOS HERNÁNDEZ ARE PROMPTED</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dominicano ya entró al mundo prompteado. Solo no lo nombra así."</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TUTOR 1-A-1 DEJÓ DE SER PRIVILEGIO DE ÉLITE: KHANMIGO PASÓ DE 68K A 1.4M USUARIOS EN UN AÑO.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Khanmigo pasó de 68k usuarios en 2023-24 a 1.4M a mediados de 2025 — y de 40k a 700k estudiantes K-12 en un ciclo. El mercado de tutores AI va de US$3.55B (2025) a US$6.45B (2030). El estudiante resuelve dudas a cualquier hora con un tutor que no se cansa ni cobra por sesión.</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#aitutor · #khanmigo · #studywithai · #tutoriaIA · #aprenderconIA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1.4M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de Khanmigo en mediados 2025, creciendo desde 68k en 2023-24.</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KHAN ACADEMY / GLOBALSOCIETY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700K</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Estudiantes K-12 usando Khanmigo — de 40k a 700k en un ciclo escolar.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US$3.55B</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Mercado de tutores AI en 2025 proyectado a US$6.45B en 2030.</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pic>
        <p:nvPicPr>
          <p:cNvPr id="27" name="Picture 26" descr="macro-2-1-khanmigo-her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Landing de Khanmigo — 'always-available teaching assistant' con interfaz del tutor AI.</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KHANMIGO / KHAN ACADEMY · 2025</a:t>
            </a:r>
          </a:p>
        </p:txBody>
      </p:sp>
      <p:pic>
        <p:nvPicPr>
          <p:cNvPr id="32" name="Picture 31" descr="macro-2-1-globalsociety-khanmigo-ai-tools.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Khanmigo escala en distritos escolares — estudiante con herramientas AI de Khan Academy.</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GLOBAL SOCIETY · 2025</a:t>
            </a:r>
          </a:p>
        </p:txBody>
      </p:sp>
      <p:pic>
        <p:nvPicPr>
          <p:cNvPr id="37" name="Picture 36" descr="macro-2-1-futuremarketinsights-ai-tutor.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AI Tutoring Services Market — US$3.55B (2025) proyectado a US$6.45B (2030).</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FUTURE MARKET INSIGHTS · 2025</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APRENDER SE GAMIFICÓ Y COMPITE CON TIKTOK USANDO LAS MISMAS MECÁNICAS: DUOLINGO SOSTIENE 50.5M USUARIOS DIARIOS CON RACHAS, LIGAS Y CULPA DEL BÚHO.</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Duolingo superó 50.5M usuarios diarios en Q3 2025, +36% interanual. El churn bajó de 47% a 28% gracias a la gamificación. Revenue del trimestre: US$271.7M, +41%. La gente mantiene rachas no por disciplina — por el miedo a romperla.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#duolingo · #duostreak · #languagelearning · #gamifiedlearning · #aprenderjugando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50.5M</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Usuarios diarios de Duolingo en Q3 2025, +36% interanual.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DUOLINGO 8-K SEC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28%</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Churn de Duolingo — bajó de 47% a 28% gracias a la gamificación de rachas.</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STRIVECLOUD / DUOLINGO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+41%</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Revenue Q3 2025 de Duolingo: US$271.7M con 11.5M suscriptores pagos.</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DUOLINGO SEC FILING FY2025</a:t>
            </a:r>
          </a:p>
        </p:txBody>
      </p:sp>
      <p:pic>
        <p:nvPicPr>
          <p:cNvPr id="27" name="Picture 26" descr="macro-2-2-duolingo-land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Landing de Duolingo — búho Duo y propuesta gamificada de aprendizaje diario en 5 minutos.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2" name="Picture 31" descr="macro-2-2-duolingo-streaks-gamification.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Mecánica de rachas (streaks) de Duolingo — UI de objetivo diario y contador de racha.</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DUOLINGO · 2025</a:t>
            </a:r>
          </a:p>
        </p:txBody>
      </p:sp>
      <p:pic>
        <p:nvPicPr>
          <p:cNvPr id="37" name="Picture 36" descr="macro-2-2-strivecloud-duolingo-hero.png">
            <a:hlinkClick r:id="rId5"/>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Análisis de gamificación de Duolingo — retención de usuarios +36% interanual.</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STRIVECLOUD · 2025</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IA GENERATIVA AUTOMATIZÓ LA TAREA ESCOLAR: 84% DE SECUNDARIA LA USA, Y LA PREGUNTA DEJÓ DE SER SI COPIAN.</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84% de los estudiantes de secundaria usa IA generativa para schoolwork; 53% para ensayos. El uso en educación superior global saltó de 66% (2024) a 92% (2025). 44% de docentes detecta tarea sospechosa de IA cada semana, pero menos del 15% actúa.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#chatgptforschool · #aihomework · #studyhack · #aidetector · #tareaconIA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84%</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estudiantes de secundaria usa IA generativa para schoolwork; 89% para tareas.</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92%</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estudiantes de educación superior usa IA en 2025, subiendo desde 66% en 2024.</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44%</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De docentes detecta tarea sospechosa de IA semanalmente, pero &lt;15% actúa.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EDWEEK · 2025</a:t>
            </a:r>
          </a:p>
        </p:txBody>
      </p:sp>
      <p:pic>
        <p:nvPicPr>
          <p:cNvPr id="27" name="Picture 26" descr="macro-2-3-nerdynav-chatgpt-cheating-infographic.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Infografía Nerdynav — 84% de secundaria usa IA para tareas, 89% para homework.</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2" name="Picture 31" descr="macro-2-3-nerdynav-student-usage-chart.png">
            <a:hlinkClick r:id="rId3"/>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Chart de uso de IA por tipo de tarea — ensayos, homework, investigación.</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NERDYNAV · 2025</a:t>
            </a:r>
          </a:p>
        </p:txBody>
      </p:sp>
      <p:pic>
        <p:nvPicPr>
          <p:cNvPr id="37" name="Picture 36" descr="macro-2-3-edweek-ai-cheating.png">
            <a:hlinkClick r:id="rId6"/>
          </p:cNvPr>
          <p:cNvPicPr>
            <a:picLocks noChangeAspect="1"/>
          </p:cNvPicPr>
          <p:nvPr/>
        </p:nvPicPr>
        <p:blipFill>
          <a:blip r:embed="rId5"/>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EdWeek — 44% de docentes detecta tarea IA semanalmente, &lt;15% actúa por falta de prueba.</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EDUCATION WEEK · 2024</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DIPLOMA DE PAPEL SE MUDÓ A LA NUBE: 90% DE EMPLEADORES PREFIERE CANDIDATO CON MICROCREDENCIAL Y LOS BADGES VERIFICABLES SON MONEDA DE EMPLEABILIDAD.</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Más del 90% de empleadores prefiere candidato con microcredencial en el CV. Coursera lleva 15.4M+ inscripciones en certificados profesionales entry-level. El profesional exhibe el badge de Google o Coursera como prueba portátil y verificable.</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#microcredentials · #digitalbadges · #googlecertificate · #coursera · #credencialesdigitales</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+90%</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empleadores prefiere candidato con microcredencial en el CV.</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COURSERA / FORTUNE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15.4M+</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Inscripciones en certificados profesionales entry-level de Coursera.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COURSERA GLOBAL SKILLS REPORT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'Getting hired in 2026 is all about your microcredentials' — CEO Coursera a Gen Z.</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FORTUNE · DIC 2025</a:t>
            </a:r>
          </a:p>
        </p:txBody>
      </p:sp>
      <p:pic>
        <p:nvPicPr>
          <p:cNvPr id="27" name="Picture 26" descr="macro-2-4-fortune-microcredentials.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Fortune: 'Getting hired in 2026 is all about your microcredentials' — CEO Coursera.</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FORTUNE · DEC 2025</a:t>
            </a:r>
          </a:p>
        </p:txBody>
      </p:sp>
      <p:pic>
        <p:nvPicPr>
          <p:cNvPr id="32" name="Picture 31" descr="macro-2-4-coursera-google-cert.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Google Career Certificates — badges digitales verificables para roles tech sin título universitario.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GOOGLE / COURSERA · 2025</a:t>
            </a:r>
          </a:p>
        </p:txBody>
      </p:sp>
      <p:pic>
        <p:nvPicPr>
          <p:cNvPr id="37" name="Picture 36" descr="macro-2-4-edsurge-digital-credential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EdSurge — credenciales digitales verificables que elevan el perfil sin esperar graduación.</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EDSURGE · 2024</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2</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LOS HERNÁNDEZ ARE PROMPTED</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NO SOLO EL ESTUDIANTE USA IA, EL DOCENTE TAMBIÉN: EN RD 98% DE LA FACULTAD UNIVERSITARIA CONOCE IA Y EL PAÍS LIDERA EL USO DE CHATGPT ENTRE PROFESORES.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docente sobrecargado delega lo administrativo — planes de clase, rúbricas, exámenes — para enfocarse en enseñar. RD aparece con fuerza: 98% de docentes universitarios conoce IA, lidera uso de ChatGPT. Khanmigo se expandió de 45 a más de 380 distritos.</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#teacherai · #aiforteachers · #docenteIA · #smartclassroom · #edtechRD</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98%</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docentes universitarios RD conoce conceptos de IA; el país lidera uso de ChatGPT en facultad.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HMTV / INTEC-PUCMM-UASD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380+</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Distritos escolares con Khanmigo, expandido desde 45 con herramientas docentes AI.</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KHAN ACADEMY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Paper dominicano 'Educación Superior en la Era de la IA: Entre la Innovación y la Ética'.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27" name="Picture 26" descr="macro-2-5-hmtv-ai-profesor-rd-chrome.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HMTV — 98% docentes universitarios RD conocen IA, país lidera uso de ChatGPT en facultad.</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HMTV / INTEC-PUCMM · 2025</a:t>
            </a:r>
          </a:p>
        </p:txBody>
      </p:sp>
      <p:pic>
        <p:nvPicPr>
          <p:cNvPr id="32" name="Picture 31" descr="macro-2-5-scielo-ai-educacion-rd.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Paper SciELO DO — 'Educación Superior en la Era de la IA', adopción docente en RD.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SCIELO DOMINICAN REPUBLIC · 2025</a:t>
            </a:r>
          </a:p>
        </p:txBody>
      </p:sp>
      <p:pic>
        <p:nvPicPr>
          <p:cNvPr id="37" name="Picture 36" descr="macro-2-0-demandsage-ai-education-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AI in Education Statistics 2026 — mercado US$5.88B → US$32.27B; 92% uso en ed. superior.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DEMANDSAGE · 2026</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0" y="2286000"/>
            <a:ext cx="12192000" cy="254000"/>
          </a:xfrm>
          <a:prstGeom prst="rect">
            <a:avLst/>
          </a:prstGeom>
          <a:noFill/>
        </p:spPr>
        <p:txBody>
          <a:bodyPr wrap="square"/>
          <a:lstStyle/>
          <a:p>
            <a:pPr algn="ctr">
              <a:lnSpc>
                <a:spcPct val="100000"/>
              </a:lnSpc>
            </a:pPr>
            <a:r>
              <a:rPr sz="1400" b="1" i="0">
                <a:solidFill>
                  <a:srgbClr val="A0A0A0"/>
                </a:solidFill>
                <a:latin typeface="Poppins"/>
              </a:rPr>
              <a:t>MACRO 3</a:t>
            </a:r>
          </a:p>
        </p:txBody>
      </p:sp>
      <p:sp>
        <p:nvSpPr>
          <p:cNvPr id="4" name="TextBox 3"/>
          <p:cNvSpPr txBox="1"/>
          <p:nvPr/>
        </p:nvSpPr>
        <p:spPr>
          <a:xfrm>
            <a:off x="254000" y="2844800"/>
            <a:ext cx="11684000" cy="1651000"/>
          </a:xfrm>
          <a:prstGeom prst="rect">
            <a:avLst/>
          </a:prstGeom>
          <a:noFill/>
        </p:spPr>
        <p:txBody>
          <a:bodyPr wrap="square"/>
          <a:lstStyle/>
          <a:p>
            <a:pPr algn="ctr">
              <a:lnSpc>
                <a:spcPct val="95000"/>
              </a:lnSpc>
            </a:pPr>
            <a:r>
              <a:rPr sz="10000" b="0" i="0">
                <a:solidFill>
                  <a:srgbClr val="FFFFFF"/>
                </a:solidFill>
                <a:latin typeface="Instrument Serif"/>
              </a:rPr>
              <a:t>ALGORITMO DEL HOGAR</a:t>
            </a:r>
          </a:p>
        </p:txBody>
      </p:sp>
      <p:sp>
        <p:nvSpPr>
          <p:cNvPr id="5" name="TextBox 4"/>
          <p:cNvSpPr txBox="1"/>
          <p:nvPr/>
        </p:nvSpPr>
        <p:spPr>
          <a:xfrm>
            <a:off x="254000" y="4495800"/>
            <a:ext cx="11684000" cy="457200"/>
          </a:xfrm>
          <a:prstGeom prst="rect">
            <a:avLst/>
          </a:prstGeom>
          <a:noFill/>
        </p:spPr>
        <p:txBody>
          <a:bodyPr wrap="square"/>
          <a:lstStyle/>
          <a:p>
            <a:pPr algn="ctr">
              <a:lnSpc>
                <a:spcPct val="100000"/>
              </a:lnSpc>
            </a:pPr>
            <a:r>
              <a:rPr sz="2400" b="0" i="1">
                <a:solidFill>
                  <a:srgbClr val="A0A0A0"/>
                </a:solidFill>
                <a:latin typeface="Instrument Serif"/>
              </a:rPr>
              <a:t>"El feed se sentó en la mesa y nadie le ofreció silla."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ESTUDIAR SE VOLVIÓ CONTENIDO: STUDY WITH ME LIVES Y NOTAS ESTÉTICAS CONVIERTEN EL ESTUDIO SOLITARIO EN ESPECTÁCULO SOCIAL.</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Los 'study with me' lives y las notas estéticas convirtieron la sesión de estudio en una experiencia social-algorítmica. El educativo es la 2da categoría más vista en TikTok (16.1% de views). La disciplina ya no viene de adentro — viene de la mirada de extraños en el feed.</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#studytok · #studywithme · #studygram · #studymotivation · #estudiarconmigo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16.1%</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Del total de views de TikTok corresponde a contenido educativo — 2da categoría más vista.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7.36%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De engagement de las cuentas de educación superior en TikTok — sobre el promedio de plataforma.</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Revisión sistemática: métodos asistidos por TikTok elevan motivación, participación y desempeño.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27" name="Picture 26" descr="macro-3-0-tiktok-studytok-ta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Página del hashtag #studytok en TikTok — grid de top videos de estudio compartido y notas estéticas.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3-1-youtube-studywithme.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Resultados YouTube 'study with me 2025' — grid de thumbnails del género de estudio compartido.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pic>
        <p:nvPicPr>
          <p:cNvPr id="37" name="Picture 36" descr="macro-3-1-southeastarrow-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'The Rise of StudyTok: Motivational or a Distraction?' — debate sobre el estudio performativo.</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SOUTHEAST ARROW · 2025</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FEED REEMPLAZÓ AL BUSCADOR COMO PUERTA DEL CONOCIMIENTO: 53% DE GEN Z CONSULTA TIKTOK ANTES QUE GOOGLE.</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53% de Gen Z consulta TikTok, Reddit o YouTube antes que Google. El estudiante busca la explicación de un tema escolar directo en el feed, en formato de 60 segundos con cara y voz. El criterio de qué es verdad ya no lo decide la fuente — lo decide el creador que te cae bien.</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#learnontiktok · #tiktoktaughtme · #edutok · #tiktokitdontgoogleit · #aprendintiktok</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busca en TikTok, Reddit o YouTube antes que Google para informarse.</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Gen Z</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Y Gen Alpha usan el video social como herramienta de búsqueda cotidiana, no Google.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INFORMATION MATTERS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2025</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'Why Gen Z turns to YouTube and TikTok for learning' — el video como autoridad epistémica.</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27" name="Picture 26" descr="macro-3-2-informationmatters-genz-tiktok-search.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It, Don't Google It' — Gen Z con celular, 53% busca en TikTok antes que Google.</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INFORMATION MATTERS / RESOLVE · 2026</a:t>
            </a:r>
          </a:p>
        </p:txBody>
      </p:sp>
      <p:pic>
        <p:nvPicPr>
          <p:cNvPr id="32" name="Picture 31" descr="macro-3-2-uqualio-genz-video-learning.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Uqualio — Gen Z y el video como herramienta educativa; el feed como primera fuente.</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UQUALIO · 2025</a:t>
            </a:r>
          </a:p>
        </p:txBody>
      </p:sp>
      <p:pic>
        <p:nvPicPr>
          <p:cNvPr id="37" name="Picture 36" descr="macro-3-0-smiletutor-study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SmileTutor sobre StudyTok — contenido educativo 16.1% de views totales de TikTok.</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SMILETUTOR · 2025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CONOCIMIENTO SE FRAGMENTÓ AL FORMATO DEL FEED: EL MICROLEARNING EN PÍLDORAS DE 60 SEGUNDOS REEMPLAZA LA CLASE DE 50 MINUTOS.</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microlearning — conceptos en clips cortos — empezó a reemplazar la lectura larga y la clase entera. Las escuelas K-12 ya están adoptando el formato corto que el algoritmo impuso primero. Una revisión 2025 encontró que el microlearning asistido por TikTok mejora retención y engagement.</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#microlearning · #learnin60seconds · #edutok · #explained · #aprenderrapido</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K-12</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Las escuelas adoptan el microlearning — el formato corto del algoritmo entra al aula formal.</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NY STATE SCHOOL BOARDS ASSOC.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Revisión 2025: microlearning asistido por TikTok mejora retención y engagement escolar.</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60s</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Los formatos 'explained in 60 seconds' dominan EduTok y presionan al aula formal.</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27" name="Picture 26" descr="macro-3-3-cto-microlearning.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Microlearning y TikTok en el aula 2026 — formato corto mejora retención y engagement.</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CTO COLLEGE · 2026</a:t>
            </a:r>
          </a:p>
        </p:txBody>
      </p:sp>
      <p:pic>
        <p:nvPicPr>
          <p:cNvPr id="32" name="Picture 31" descr="macro-3-3-nyssba-microlearning-k12.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NYSSBA — microlearning entra a K-12: instituciones adoptan el formato corto del algoritmo.</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NYSSBA · 2025</a:t>
            </a:r>
          </a:p>
        </p:txBody>
      </p:sp>
      <p:pic>
        <p:nvPicPr>
          <p:cNvPr id="37" name="Picture 36" descr="macro-3-3-linkedin-learning-ui.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LinkedIn Learning — cursos bite-sized y microlearning para profesionales.</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LINKEDIN LEARNING · 2025</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LA ORIENTACIÓN VOCACIONAL MIGRÓ AL FEED: CREADORES MUESTRAN UN DÍA EN MI TRABAJO Y SALARIOS REALES, Y ESO MOLDEA QUÉ CARRERA ELIGE UN ADOLESCENTE.</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El orientador escolar tenía un test y un folleto. El feed tiene 'un día en mi vida como [profesión]' y salary reveals. 53% de Gen Z investiga en plataformas sociales antes de tomar decisiones, incluida la carrera. La vida real de una profesión pesa más que el brochure.</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#careertok · #dayinmylife · #salarytransparency · #careeradvice · #queestudiar</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53%</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De Gen Z investiga en plataformas sociales antes de decisiones, incluida la carrera.</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RESOLVE · 2026</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#careertok y 'day in my life as a [profesión]' son formatos masivos de decisión vocacional.</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salary</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Salary transparency content — salary reveals en el feed moldean expectativas de ingreso.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27" name="Picture 26" descr="macro-3-4-tiktok-careertok.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Hashtag #careertok en TikTok — grid de 'day in my life' y salary reveals que orientan vocaciones.</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TIKTOK · 2025</a:t>
            </a:r>
          </a:p>
        </p:txBody>
      </p:sp>
      <p:pic>
        <p:nvPicPr>
          <p:cNvPr id="32" name="Picture 31" descr="macro-3-4-contentgrip-tiktok-genz.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ContentGrip TikTok Trends Gen Z 2026 — career/salary transparency moldea decisiones vocacionales.</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CONTENTGRIP · 2026</a:t>
            </a:r>
          </a:p>
        </p:txBody>
      </p:sp>
      <p:pic>
        <p:nvPicPr>
          <p:cNvPr id="37" name="Picture 36" descr="macro-3-4-youtube-careertok.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YouTube 'day in my life career' — thumbnails del formato vocacional que reemplaza al orientador.</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YOUTUBE · 2025</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0D0D0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254000" y="127000"/>
            <a:ext cx="736600" cy="279400"/>
          </a:xfrm>
          <a:prstGeom prst="rect">
            <a:avLst/>
          </a:prstGeom>
          <a:solidFill>
            <a:srgbClr val="E8E8E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4800" y="165100"/>
            <a:ext cx="660400" cy="228600"/>
          </a:xfrm>
          <a:prstGeom prst="rect">
            <a:avLst/>
          </a:prstGeom>
          <a:noFill/>
        </p:spPr>
        <p:txBody>
          <a:bodyPr wrap="square"/>
          <a:lstStyle/>
          <a:p>
            <a:pPr algn="l">
              <a:lnSpc>
                <a:spcPct val="100000"/>
              </a:lnSpc>
            </a:pPr>
            <a:r>
              <a:rPr sz="750" b="1" i="0">
                <a:solidFill>
                  <a:srgbClr val="000000"/>
                </a:solidFill>
                <a:latin typeface="Poppins"/>
              </a:rPr>
              <a:t>MACRO 3</a:t>
            </a:r>
          </a:p>
        </p:txBody>
      </p:sp>
      <p:sp>
        <p:nvSpPr>
          <p:cNvPr id="5" name="Rectangle 4"/>
          <p:cNvSpPr/>
          <p:nvPr/>
        </p:nvSpPr>
        <p:spPr>
          <a:xfrm>
            <a:off x="1041400" y="127000"/>
            <a:ext cx="2794000" cy="279400"/>
          </a:xfrm>
          <a:prstGeom prst="rect">
            <a:avLst/>
          </a:prstGeom>
          <a:noFill/>
          <a:ln w="9525">
            <a:solidFill>
              <a:srgbClr val="6666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92200" y="165100"/>
            <a:ext cx="2717800" cy="228600"/>
          </a:xfrm>
          <a:prstGeom prst="rect">
            <a:avLst/>
          </a:prstGeom>
          <a:noFill/>
        </p:spPr>
        <p:txBody>
          <a:bodyPr wrap="square"/>
          <a:lstStyle/>
          <a:p>
            <a:pPr algn="l">
              <a:lnSpc>
                <a:spcPct val="100000"/>
              </a:lnSpc>
            </a:pPr>
            <a:r>
              <a:rPr sz="750" b="0" i="0">
                <a:solidFill>
                  <a:srgbClr val="A0A0A0"/>
                </a:solidFill>
                <a:latin typeface="Poppins"/>
              </a:rPr>
              <a:t>ALGORITMO DEL HOGAR</a:t>
            </a:r>
          </a:p>
        </p:txBody>
      </p:sp>
      <p:sp>
        <p:nvSpPr>
          <p:cNvPr id="7" name="TextBox 6"/>
          <p:cNvSpPr txBox="1"/>
          <p:nvPr/>
        </p:nvSpPr>
        <p:spPr>
          <a:xfrm>
            <a:off x="254000" y="635000"/>
            <a:ext cx="2540000" cy="177800"/>
          </a:xfrm>
          <a:prstGeom prst="rect">
            <a:avLst/>
          </a:prstGeom>
          <a:noFill/>
        </p:spPr>
        <p:txBody>
          <a:bodyPr wrap="square"/>
          <a:lstStyle/>
          <a:p>
            <a:pPr algn="l">
              <a:lnSpc>
                <a:spcPct val="100000"/>
              </a:lnSpc>
            </a:pPr>
            <a:r>
              <a:rPr sz="800" b="1" i="0">
                <a:solidFill>
                  <a:srgbClr val="A0A0A0"/>
                </a:solidFill>
                <a:latin typeface="Poppins"/>
              </a:rPr>
              <a:t>DEFINICIÓN</a:t>
            </a:r>
          </a:p>
        </p:txBody>
      </p:sp>
      <p:sp>
        <p:nvSpPr>
          <p:cNvPr id="8" name="TextBox 7"/>
          <p:cNvSpPr txBox="1"/>
          <p:nvPr/>
        </p:nvSpPr>
        <p:spPr>
          <a:xfrm>
            <a:off x="4191000" y="635000"/>
            <a:ext cx="2540000" cy="177800"/>
          </a:xfrm>
          <a:prstGeom prst="rect">
            <a:avLst/>
          </a:prstGeom>
          <a:noFill/>
        </p:spPr>
        <p:txBody>
          <a:bodyPr wrap="square"/>
          <a:lstStyle/>
          <a:p>
            <a:pPr algn="l">
              <a:lnSpc>
                <a:spcPct val="100000"/>
              </a:lnSpc>
            </a:pPr>
            <a:r>
              <a:rPr sz="800" b="1" i="0">
                <a:solidFill>
                  <a:srgbClr val="A0A0A0"/>
                </a:solidFill>
                <a:latin typeface="Poppins"/>
              </a:rPr>
              <a:t>TRIGGERS</a:t>
            </a:r>
          </a:p>
        </p:txBody>
      </p:sp>
      <p:sp>
        <p:nvSpPr>
          <p:cNvPr id="9" name="TextBox 8"/>
          <p:cNvSpPr txBox="1"/>
          <p:nvPr/>
        </p:nvSpPr>
        <p:spPr>
          <a:xfrm>
            <a:off x="8128000" y="635000"/>
            <a:ext cx="2540000" cy="177800"/>
          </a:xfrm>
          <a:prstGeom prst="rect">
            <a:avLst/>
          </a:prstGeom>
          <a:noFill/>
        </p:spPr>
        <p:txBody>
          <a:bodyPr wrap="square"/>
          <a:lstStyle/>
          <a:p>
            <a:pPr algn="l">
              <a:lnSpc>
                <a:spcPct val="100000"/>
              </a:lnSpc>
            </a:pPr>
            <a:r>
              <a:rPr sz="800" b="1" i="0">
                <a:solidFill>
                  <a:srgbClr val="A0A0A0"/>
                </a:solidFill>
                <a:latin typeface="Poppins"/>
              </a:rPr>
              <a:t>SEÑALES</a:t>
            </a:r>
          </a:p>
        </p:txBody>
      </p:sp>
      <p:cxnSp>
        <p:nvCxnSpPr>
          <p:cNvPr id="10" name="Connector 9"/>
          <p:cNvCxnSpPr/>
          <p:nvPr/>
        </p:nvCxnSpPr>
        <p:spPr>
          <a:xfrm>
            <a:off x="4114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8051800" y="635000"/>
            <a:ext cx="12700" cy="60960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254000" y="863600"/>
            <a:ext cx="11684000" cy="12700"/>
          </a:xfrm>
          <a:prstGeom prst="line">
            <a:avLst/>
          </a:prstGeom>
          <a:ln w="12700">
            <a:solidFill>
              <a:srgbClr val="FFFFFF">
                <a:alpha val="15000"/>
              </a:srgbClr>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54000" y="1066800"/>
            <a:ext cx="3683000" cy="609600"/>
          </a:xfrm>
          <a:prstGeom prst="rect">
            <a:avLst/>
          </a:prstGeom>
          <a:noFill/>
        </p:spPr>
        <p:txBody>
          <a:bodyPr wrap="square"/>
          <a:lstStyle/>
          <a:p>
            <a:pPr algn="l">
              <a:lnSpc>
                <a:spcPct val="110000"/>
              </a:lnSpc>
            </a:pPr>
            <a:r>
              <a:rPr sz="2000" b="0" i="0">
                <a:solidFill>
                  <a:srgbClr val="FFFFFF"/>
                </a:solidFill>
                <a:latin typeface="Instrument Serif"/>
              </a:rPr>
              <a:t>EL FEED MATERNO DICTA CÓMO SE EDUCA AL NIÑO: MOMTOK RECOMIENDA APPS Y CURRÍCULOS, DESPLAZANDO A LA MAESTRA COMO AUTORIDAD PEDAGÓGICA DEL HOGAR.</a:t>
            </a:r>
          </a:p>
        </p:txBody>
      </p:sp>
      <p:sp>
        <p:nvSpPr>
          <p:cNvPr id="14" name="TextBox 13"/>
          <p:cNvSpPr txBox="1"/>
          <p:nvPr/>
        </p:nvSpPr>
        <p:spPr>
          <a:xfrm>
            <a:off x="254000" y="1930400"/>
            <a:ext cx="3683000" cy="177800"/>
          </a:xfrm>
          <a:prstGeom prst="rect">
            <a:avLst/>
          </a:prstGeom>
          <a:noFill/>
        </p:spPr>
        <p:txBody>
          <a:bodyPr wrap="square"/>
          <a:lstStyle/>
          <a:p>
            <a:pPr algn="l">
              <a:lnSpc>
                <a:spcPct val="100000"/>
              </a:lnSpc>
            </a:pPr>
            <a:r>
              <a:rPr sz="800" b="1" i="0">
                <a:solidFill>
                  <a:srgbClr val="A0A0A0"/>
                </a:solidFill>
                <a:latin typeface="Poppins"/>
              </a:rPr>
              <a:t>EL FENÓMENO</a:t>
            </a:r>
          </a:p>
        </p:txBody>
      </p:sp>
      <p:sp>
        <p:nvSpPr>
          <p:cNvPr id="15" name="TextBox 14"/>
          <p:cNvSpPr txBox="1"/>
          <p:nvPr/>
        </p:nvSpPr>
        <p:spPr>
          <a:xfrm>
            <a:off x="254000" y="2184400"/>
            <a:ext cx="3683000" cy="1066800"/>
          </a:xfrm>
          <a:prstGeom prst="rect">
            <a:avLst/>
          </a:prstGeom>
          <a:noFill/>
        </p:spPr>
        <p:txBody>
          <a:bodyPr wrap="square"/>
          <a:lstStyle/>
          <a:p>
            <a:pPr algn="l">
              <a:lnSpc>
                <a:spcPct val="100000"/>
              </a:lnSpc>
            </a:pPr>
            <a:r>
              <a:rPr sz="1000" b="0" i="0">
                <a:solidFill>
                  <a:srgbClr val="FFFFFF"/>
                </a:solidFill>
                <a:latin typeface="Poppins"/>
              </a:rPr>
              <a:t>MomTok recomienda apps educativas, métodos de crianza-aprendizaje y 'guilt-free screen time', y la madre elige según lo que se vuelve viral. Canales como Ms. Rachel se convirtieron en autoridad de aprendizaje temprano vía el feed. La madre confía en otra madre del feed más que en el sistema.</a:t>
            </a:r>
          </a:p>
        </p:txBody>
      </p:sp>
      <p:sp>
        <p:nvSpPr>
          <p:cNvPr id="16" name="TextBox 15"/>
          <p:cNvSpPr txBox="1"/>
          <p:nvPr/>
        </p:nvSpPr>
        <p:spPr>
          <a:xfrm>
            <a:off x="254000" y="3479800"/>
            <a:ext cx="3683000" cy="177800"/>
          </a:xfrm>
          <a:prstGeom prst="rect">
            <a:avLst/>
          </a:prstGeom>
          <a:noFill/>
        </p:spPr>
        <p:txBody>
          <a:bodyPr wrap="square"/>
          <a:lstStyle/>
          <a:p>
            <a:pPr algn="l">
              <a:lnSpc>
                <a:spcPct val="100000"/>
              </a:lnSpc>
            </a:pPr>
            <a:r>
              <a:rPr sz="800" b="1" i="0">
                <a:solidFill>
                  <a:srgbClr val="A0A0A0"/>
                </a:solidFill>
                <a:latin typeface="Poppins"/>
              </a:rPr>
              <a:t>HASHTAGS</a:t>
            </a:r>
          </a:p>
        </p:txBody>
      </p:sp>
      <p:sp>
        <p:nvSpPr>
          <p:cNvPr id="17" name="TextBox 16"/>
          <p:cNvSpPr txBox="1"/>
          <p:nvPr/>
        </p:nvSpPr>
        <p:spPr>
          <a:xfrm>
            <a:off x="254000" y="3733800"/>
            <a:ext cx="3683000" cy="660400"/>
          </a:xfrm>
          <a:prstGeom prst="rect">
            <a:avLst/>
          </a:prstGeom>
          <a:noFill/>
        </p:spPr>
        <p:txBody>
          <a:bodyPr wrap="square"/>
          <a:lstStyle/>
          <a:p>
            <a:pPr algn="l">
              <a:lnSpc>
                <a:spcPct val="100000"/>
              </a:lnSpc>
            </a:pPr>
            <a:r>
              <a:rPr sz="1600" b="0" i="0">
                <a:solidFill>
                  <a:srgbClr val="FFFFFF"/>
                </a:solidFill>
                <a:latin typeface="Instrument Serif"/>
              </a:rPr>
              <a:t>#momtok · #toddlerlearning · #guiltfreescreentime · #learningapps · #crianzaconpantalla</a:t>
            </a:r>
          </a:p>
        </p:txBody>
      </p:sp>
      <p:sp>
        <p:nvSpPr>
          <p:cNvPr id="18" name="TextBox 17"/>
          <p:cNvSpPr txBox="1"/>
          <p:nvPr/>
        </p:nvSpPr>
        <p:spPr>
          <a:xfrm>
            <a:off x="4191000" y="1066800"/>
            <a:ext cx="2159000" cy="711200"/>
          </a:xfrm>
          <a:prstGeom prst="rect">
            <a:avLst/>
          </a:prstGeom>
          <a:noFill/>
        </p:spPr>
        <p:txBody>
          <a:bodyPr wrap="square"/>
          <a:lstStyle/>
          <a:p>
            <a:pPr algn="l">
              <a:lnSpc>
                <a:spcPct val="100000"/>
              </a:lnSpc>
            </a:pPr>
            <a:r>
              <a:rPr sz="5600" b="0" i="0">
                <a:solidFill>
                  <a:srgbClr val="FFFFFF"/>
                </a:solidFill>
                <a:latin typeface="Instrument Serif"/>
              </a:rPr>
              <a:t>MomTok</a:t>
            </a:r>
          </a:p>
        </p:txBody>
      </p:sp>
      <p:sp>
        <p:nvSpPr>
          <p:cNvPr id="19" name="TextBox 18"/>
          <p:cNvSpPr txBox="1"/>
          <p:nvPr/>
        </p:nvSpPr>
        <p:spPr>
          <a:xfrm>
            <a:off x="4191000" y="2006600"/>
            <a:ext cx="2159000" cy="444500"/>
          </a:xfrm>
          <a:prstGeom prst="rect">
            <a:avLst/>
          </a:prstGeom>
          <a:noFill/>
        </p:spPr>
        <p:txBody>
          <a:bodyPr wrap="square"/>
          <a:lstStyle/>
          <a:p>
            <a:pPr algn="l">
              <a:lnSpc>
                <a:spcPct val="100000"/>
              </a:lnSpc>
            </a:pPr>
            <a:r>
              <a:rPr sz="1000" b="0" i="0">
                <a:solidFill>
                  <a:srgbClr val="FFFFFF"/>
                </a:solidFill>
                <a:latin typeface="Poppins"/>
              </a:rPr>
              <a:t>Apps como Kiddopia, SplashLearn y Khan Academy Kids viralizadas por MomTok en el feed.</a:t>
            </a:r>
          </a:p>
        </p:txBody>
      </p:sp>
      <p:sp>
        <p:nvSpPr>
          <p:cNvPr id="20" name="TextBox 19"/>
          <p:cNvSpPr txBox="1"/>
          <p:nvPr/>
        </p:nvSpPr>
        <p:spPr>
          <a:xfrm>
            <a:off x="4191000" y="2527300"/>
            <a:ext cx="2159000" cy="152400"/>
          </a:xfrm>
          <a:prstGeom prst="rect">
            <a:avLst/>
          </a:prstGeom>
          <a:noFill/>
        </p:spPr>
        <p:txBody>
          <a:bodyPr wrap="square"/>
          <a:lstStyle/>
          <a:p>
            <a:pPr algn="l">
              <a:lnSpc>
                <a:spcPct val="100000"/>
              </a:lnSpc>
            </a:pPr>
            <a:r>
              <a:rPr sz="650" b="0" i="0">
                <a:solidFill>
                  <a:srgbClr val="666666"/>
                </a:solidFill>
                <a:latin typeface="Poppins"/>
              </a:rPr>
              <a:t>TIKTOK DISCOVER · 2025</a:t>
            </a:r>
          </a:p>
        </p:txBody>
      </p:sp>
      <p:sp>
        <p:nvSpPr>
          <p:cNvPr id="21" name="TextBox 20"/>
          <p:cNvSpPr txBox="1"/>
          <p:nvPr/>
        </p:nvSpPr>
        <p:spPr>
          <a:xfrm>
            <a:off x="4191000" y="3035300"/>
            <a:ext cx="2159000" cy="711200"/>
          </a:xfrm>
          <a:prstGeom prst="rect">
            <a:avLst/>
          </a:prstGeom>
          <a:noFill/>
        </p:spPr>
        <p:txBody>
          <a:bodyPr wrap="square"/>
          <a:lstStyle/>
          <a:p>
            <a:pPr algn="l">
              <a:lnSpc>
                <a:spcPct val="100000"/>
              </a:lnSpc>
            </a:pPr>
            <a:r>
              <a:rPr sz="5600" b="0" i="0">
                <a:solidFill>
                  <a:srgbClr val="FFFFFF"/>
                </a:solidFill>
                <a:latin typeface="Instrument Serif"/>
              </a:rPr>
              <a:t>2025-26</a:t>
            </a:r>
          </a:p>
        </p:txBody>
      </p:sp>
      <p:sp>
        <p:nvSpPr>
          <p:cNvPr id="22" name="TextBox 21"/>
          <p:cNvSpPr txBox="1"/>
          <p:nvPr/>
        </p:nvSpPr>
        <p:spPr>
          <a:xfrm>
            <a:off x="4191000" y="3975100"/>
            <a:ext cx="2159000" cy="444500"/>
          </a:xfrm>
          <a:prstGeom prst="rect">
            <a:avLst/>
          </a:prstGeom>
          <a:noFill/>
        </p:spPr>
        <p:txBody>
          <a:bodyPr wrap="square"/>
          <a:lstStyle/>
          <a:p>
            <a:pPr algn="l">
              <a:lnSpc>
                <a:spcPct val="100000"/>
              </a:lnSpc>
            </a:pPr>
            <a:r>
              <a:rPr sz="1000" b="0" i="0">
                <a:solidFill>
                  <a:srgbClr val="FFFFFF"/>
                </a:solidFill>
                <a:latin typeface="Poppins"/>
              </a:rPr>
              <a:t>TikTok reforzó Family Pairing en 2025-26 para el control parental de screen-time.</a:t>
            </a:r>
          </a:p>
        </p:txBody>
      </p:sp>
      <p:sp>
        <p:nvSpPr>
          <p:cNvPr id="23" name="TextBox 22"/>
          <p:cNvSpPr txBox="1"/>
          <p:nvPr/>
        </p:nvSpPr>
        <p:spPr>
          <a:xfrm>
            <a:off x="4191000" y="4495800"/>
            <a:ext cx="21590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sp>
        <p:nvSpPr>
          <p:cNvPr id="24" name="TextBox 23"/>
          <p:cNvSpPr txBox="1"/>
          <p:nvPr/>
        </p:nvSpPr>
        <p:spPr>
          <a:xfrm>
            <a:off x="4191000" y="5003800"/>
            <a:ext cx="2159000" cy="711200"/>
          </a:xfrm>
          <a:prstGeom prst="rect">
            <a:avLst/>
          </a:prstGeom>
          <a:noFill/>
        </p:spPr>
        <p:txBody>
          <a:bodyPr wrap="square"/>
          <a:lstStyle/>
          <a:p>
            <a:pPr algn="l">
              <a:lnSpc>
                <a:spcPct val="100000"/>
              </a:lnSpc>
            </a:pPr>
            <a:r>
              <a:rPr sz="5600" b="0" i="0">
                <a:solidFill>
                  <a:srgbClr val="FFFFFF"/>
                </a:solidFill>
                <a:latin typeface="Instrument Serif"/>
              </a:rPr>
              <a:t>Ms. Rachel</a:t>
            </a:r>
          </a:p>
        </p:txBody>
      </p:sp>
      <p:sp>
        <p:nvSpPr>
          <p:cNvPr id="25" name="TextBox 24"/>
          <p:cNvSpPr txBox="1"/>
          <p:nvPr/>
        </p:nvSpPr>
        <p:spPr>
          <a:xfrm>
            <a:off x="4191000" y="5943600"/>
            <a:ext cx="2159000" cy="444500"/>
          </a:xfrm>
          <a:prstGeom prst="rect">
            <a:avLst/>
          </a:prstGeom>
          <a:noFill/>
        </p:spPr>
        <p:txBody>
          <a:bodyPr wrap="square"/>
          <a:lstStyle/>
          <a:p>
            <a:pPr algn="l">
              <a:lnSpc>
                <a:spcPct val="100000"/>
              </a:lnSpc>
            </a:pPr>
            <a:r>
              <a:rPr sz="1000" b="0" i="0">
                <a:solidFill>
                  <a:srgbClr val="FFFFFF"/>
                </a:solidFill>
                <a:latin typeface="Poppins"/>
              </a:rPr>
              <a:t>Canal que se volvió autoridad de aprendizaje temprano vía recomendación del feed materno.</a:t>
            </a:r>
          </a:p>
        </p:txBody>
      </p:sp>
      <p:sp>
        <p:nvSpPr>
          <p:cNvPr id="26" name="TextBox 25"/>
          <p:cNvSpPr txBox="1"/>
          <p:nvPr/>
        </p:nvSpPr>
        <p:spPr>
          <a:xfrm>
            <a:off x="4191000" y="6464300"/>
            <a:ext cx="2159000" cy="152400"/>
          </a:xfrm>
          <a:prstGeom prst="rect">
            <a:avLst/>
          </a:prstGeom>
          <a:noFill/>
        </p:spPr>
        <p:txBody>
          <a:bodyPr wrap="square"/>
          <a:lstStyle/>
          <a:p>
            <a:pPr algn="l">
              <a:lnSpc>
                <a:spcPct val="100000"/>
              </a:lnSpc>
            </a:pPr>
            <a:r>
              <a:rPr sz="650" b="0" i="0">
                <a:solidFill>
                  <a:srgbClr val="666666"/>
                </a:solidFill>
                <a:latin typeface="Poppins"/>
              </a:rPr>
              <a:t>TIKTOK / YOUTUBE · 2025</a:t>
            </a:r>
          </a:p>
        </p:txBody>
      </p:sp>
      <p:pic>
        <p:nvPicPr>
          <p:cNvPr id="27" name="Picture 26" descr="macro-3-5-boomerang-tiktok-parental.png">
            <a:hlinkClick r:id="rId3"/>
          </p:cNvPr>
          <p:cNvPicPr>
            <a:picLocks noChangeAspect="1"/>
          </p:cNvPicPr>
          <p:nvPr/>
        </p:nvPicPr>
        <p:blipFill>
          <a:blip r:embed="rId2"/>
          <a:stretch>
            <a:fillRect/>
          </a:stretch>
        </p:blipFill>
        <p:spPr>
          <a:xfrm>
            <a:off x="8128000" y="1066800"/>
            <a:ext cx="1117600" cy="1651000"/>
          </a:xfrm>
          <a:prstGeom prst="rect">
            <a:avLst/>
          </a:prstGeom>
        </p:spPr>
      </p:pic>
      <p:sp>
        <p:nvSpPr>
          <p:cNvPr id="28" name="Rectangle 27"/>
          <p:cNvSpPr/>
          <p:nvPr/>
        </p:nvSpPr>
        <p:spPr>
          <a:xfrm>
            <a:off x="8737600" y="10922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763000" y="11049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0" name="TextBox 29"/>
          <p:cNvSpPr txBox="1"/>
          <p:nvPr/>
        </p:nvSpPr>
        <p:spPr>
          <a:xfrm>
            <a:off x="9347200" y="1066800"/>
            <a:ext cx="2057400" cy="444500"/>
          </a:xfrm>
          <a:prstGeom prst="rect">
            <a:avLst/>
          </a:prstGeom>
          <a:noFill/>
        </p:spPr>
        <p:txBody>
          <a:bodyPr wrap="square"/>
          <a:lstStyle/>
          <a:p>
            <a:pPr algn="l">
              <a:lnSpc>
                <a:spcPct val="100000"/>
              </a:lnSpc>
            </a:pPr>
            <a:r>
              <a:rPr sz="1000" b="0" i="0">
                <a:solidFill>
                  <a:srgbClr val="FFFFFF"/>
                </a:solidFill>
                <a:latin typeface="Poppins"/>
              </a:rPr>
              <a:t>TikTok Family Pairing y controles parentales — la madre digital eligiendo qué ve su hijo.</a:t>
            </a:r>
          </a:p>
        </p:txBody>
      </p:sp>
      <p:sp>
        <p:nvSpPr>
          <p:cNvPr id="31" name="TextBox 30"/>
          <p:cNvSpPr txBox="1"/>
          <p:nvPr/>
        </p:nvSpPr>
        <p:spPr>
          <a:xfrm>
            <a:off x="9347200" y="1587500"/>
            <a:ext cx="2057400" cy="152400"/>
          </a:xfrm>
          <a:prstGeom prst="rect">
            <a:avLst/>
          </a:prstGeom>
          <a:noFill/>
        </p:spPr>
        <p:txBody>
          <a:bodyPr wrap="square"/>
          <a:lstStyle/>
          <a:p>
            <a:pPr algn="l">
              <a:lnSpc>
                <a:spcPct val="100000"/>
              </a:lnSpc>
            </a:pPr>
            <a:r>
              <a:rPr sz="650" b="0" i="0">
                <a:solidFill>
                  <a:srgbClr val="666666"/>
                </a:solidFill>
                <a:latin typeface="Poppins"/>
              </a:rPr>
              <a:t>BOOMERANG · 2025</a:t>
            </a:r>
          </a:p>
        </p:txBody>
      </p:sp>
      <p:pic>
        <p:nvPicPr>
          <p:cNvPr id="32" name="Picture 31" descr="macro-3-5-youtube-msrachel.png">
            <a:hlinkClick r:id="rId5"/>
          </p:cNvPr>
          <p:cNvPicPr>
            <a:picLocks noChangeAspect="1"/>
          </p:cNvPicPr>
          <p:nvPr/>
        </p:nvPicPr>
        <p:blipFill>
          <a:blip r:embed="rId4"/>
          <a:stretch>
            <a:fillRect/>
          </a:stretch>
        </p:blipFill>
        <p:spPr>
          <a:xfrm>
            <a:off x="8128000" y="3022600"/>
            <a:ext cx="1117600" cy="1651000"/>
          </a:xfrm>
          <a:prstGeom prst="rect">
            <a:avLst/>
          </a:prstGeom>
        </p:spPr>
      </p:pic>
      <p:sp>
        <p:nvSpPr>
          <p:cNvPr id="33" name="Rectangle 32"/>
          <p:cNvSpPr/>
          <p:nvPr/>
        </p:nvSpPr>
        <p:spPr>
          <a:xfrm>
            <a:off x="8737600" y="30480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763000" y="30607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35" name="TextBox 34"/>
          <p:cNvSpPr txBox="1"/>
          <p:nvPr/>
        </p:nvSpPr>
        <p:spPr>
          <a:xfrm>
            <a:off x="9347200" y="3022600"/>
            <a:ext cx="2057400" cy="444500"/>
          </a:xfrm>
          <a:prstGeom prst="rect">
            <a:avLst/>
          </a:prstGeom>
          <a:noFill/>
        </p:spPr>
        <p:txBody>
          <a:bodyPr wrap="square"/>
          <a:lstStyle/>
          <a:p>
            <a:pPr algn="l">
              <a:lnSpc>
                <a:spcPct val="100000"/>
              </a:lnSpc>
            </a:pPr>
            <a:r>
              <a:rPr sz="1000" b="0" i="0">
                <a:solidFill>
                  <a:srgbClr val="FFFFFF"/>
                </a:solidFill>
                <a:latin typeface="Poppins"/>
              </a:rPr>
              <a:t>Ms. Rachel en YouTube — thumbnails de la creadora que se volvió autoridad pedagógica vía feed.</a:t>
            </a:r>
          </a:p>
        </p:txBody>
      </p:sp>
      <p:sp>
        <p:nvSpPr>
          <p:cNvPr id="36" name="TextBox 35"/>
          <p:cNvSpPr txBox="1"/>
          <p:nvPr/>
        </p:nvSpPr>
        <p:spPr>
          <a:xfrm>
            <a:off x="9347200" y="3543300"/>
            <a:ext cx="2057400" cy="152400"/>
          </a:xfrm>
          <a:prstGeom prst="rect">
            <a:avLst/>
          </a:prstGeom>
          <a:noFill/>
        </p:spPr>
        <p:txBody>
          <a:bodyPr wrap="square"/>
          <a:lstStyle/>
          <a:p>
            <a:pPr algn="l">
              <a:lnSpc>
                <a:spcPct val="100000"/>
              </a:lnSpc>
            </a:pPr>
            <a:r>
              <a:rPr sz="650" b="0" i="0">
                <a:solidFill>
                  <a:srgbClr val="666666"/>
                </a:solidFill>
                <a:latin typeface="Poppins"/>
              </a:rPr>
              <a:t>YOUTUBE / MS. RACHEL · 2025</a:t>
            </a:r>
          </a:p>
        </p:txBody>
      </p:sp>
      <p:pic>
        <p:nvPicPr>
          <p:cNvPr id="37" name="Picture 36" descr="macro-3-0-accio-edutok-stats.png">
            <a:hlinkClick r:id="rId7"/>
          </p:cNvPr>
          <p:cNvPicPr>
            <a:picLocks noChangeAspect="1"/>
          </p:cNvPicPr>
          <p:nvPr/>
        </p:nvPicPr>
        <p:blipFill>
          <a:blip r:embed="rId6"/>
          <a:stretch>
            <a:fillRect/>
          </a:stretch>
        </p:blipFill>
        <p:spPr>
          <a:xfrm>
            <a:off x="8128000" y="4978400"/>
            <a:ext cx="1117600" cy="1651000"/>
          </a:xfrm>
          <a:prstGeom prst="rect">
            <a:avLst/>
          </a:prstGeom>
        </p:spPr>
      </p:pic>
      <p:sp>
        <p:nvSpPr>
          <p:cNvPr id="38" name="Rectangle 37"/>
          <p:cNvSpPr/>
          <p:nvPr/>
        </p:nvSpPr>
        <p:spPr>
          <a:xfrm>
            <a:off x="8737600" y="5003800"/>
            <a:ext cx="482600" cy="139700"/>
          </a:xfrm>
          <a:prstGeom prst="rect">
            <a:avLst/>
          </a:prstGeom>
          <a:solidFill>
            <a:srgbClr val="FF2D2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763000" y="5016500"/>
            <a:ext cx="431800" cy="114300"/>
          </a:xfrm>
          <a:prstGeom prst="rect">
            <a:avLst/>
          </a:prstGeom>
          <a:noFill/>
        </p:spPr>
        <p:txBody>
          <a:bodyPr wrap="square"/>
          <a:lstStyle/>
          <a:p>
            <a:pPr algn="ctr">
              <a:lnSpc>
                <a:spcPct val="100000"/>
              </a:lnSpc>
            </a:pPr>
            <a:r>
              <a:rPr sz="550" b="1" i="0">
                <a:solidFill>
                  <a:srgbClr val="FFFFFF"/>
                </a:solidFill>
                <a:latin typeface="Poppins"/>
              </a:rPr>
              <a:t>CLICK ME</a:t>
            </a:r>
          </a:p>
        </p:txBody>
      </p:sp>
      <p:sp>
        <p:nvSpPr>
          <p:cNvPr id="40" name="TextBox 39"/>
          <p:cNvSpPr txBox="1"/>
          <p:nvPr/>
        </p:nvSpPr>
        <p:spPr>
          <a:xfrm>
            <a:off x="9347200" y="4978400"/>
            <a:ext cx="2057400" cy="444500"/>
          </a:xfrm>
          <a:prstGeom prst="rect">
            <a:avLst/>
          </a:prstGeom>
          <a:noFill/>
        </p:spPr>
        <p:txBody>
          <a:bodyPr wrap="square"/>
          <a:lstStyle/>
          <a:p>
            <a:pPr algn="l">
              <a:lnSpc>
                <a:spcPct val="100000"/>
              </a:lnSpc>
            </a:pPr>
            <a:r>
              <a:rPr sz="1000" b="0" i="0">
                <a:solidFill>
                  <a:srgbClr val="FFFFFF"/>
                </a:solidFill>
                <a:latin typeface="Poppins"/>
              </a:rPr>
              <a:t>Accio — estadísticas de contenido educativo en TikTok 2025, métricas de EduTok.</a:t>
            </a:r>
          </a:p>
        </p:txBody>
      </p:sp>
      <p:sp>
        <p:nvSpPr>
          <p:cNvPr id="41" name="TextBox 40"/>
          <p:cNvSpPr txBox="1"/>
          <p:nvPr/>
        </p:nvSpPr>
        <p:spPr>
          <a:xfrm>
            <a:off x="9347200" y="5499100"/>
            <a:ext cx="2057400" cy="152400"/>
          </a:xfrm>
          <a:prstGeom prst="rect">
            <a:avLst/>
          </a:prstGeom>
          <a:noFill/>
        </p:spPr>
        <p:txBody>
          <a:bodyPr wrap="square"/>
          <a:lstStyle/>
          <a:p>
            <a:pPr algn="l">
              <a:lnSpc>
                <a:spcPct val="100000"/>
              </a:lnSpc>
            </a:pPr>
            <a:r>
              <a:rPr sz="650" b="0" i="0">
                <a:solidFill>
                  <a:srgbClr val="666666"/>
                </a:solidFill>
                <a:latin typeface="Poppins"/>
              </a:rPr>
              <a:t>ACCIO · 2025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