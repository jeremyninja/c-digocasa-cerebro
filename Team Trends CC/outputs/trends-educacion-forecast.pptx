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tag/skillsnotdegrees" TargetMode="External"/><Relationship Id="rId4" Type="http://schemas.openxmlformats.org/officeDocument/2006/relationships/image" Target="../media/image2.png"/><Relationship Id="rId5" Type="http://schemas.openxmlformats.org/officeDocument/2006/relationships/hyperlink" Target="https://blog.theinterviewguys.com/the-state-of-skills-based-hiring/" TargetMode="External"/><Relationship Id="rId6" Type="http://schemas.openxmlformats.org/officeDocument/2006/relationships/image" Target="../media/image3.png"/><Relationship Id="rId7" Type="http://schemas.openxmlformats.org/officeDocument/2006/relationships/hyperlink" Target="https://accelerec.com/the-4-year-degree-is-dead-why-skills-based-hiring-is-taking-over-in-202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www.weforum.org/stories/2025/01/future-of-jobs-report-2025-jobs-of-the-future-and-the-skills-you-need-to-get-them/" TargetMode="External"/><Relationship Id="rId4" Type="http://schemas.openxmlformats.org/officeDocument/2006/relationships/image" Target="../media/image5.png"/><Relationship Id="rId5" Type="http://schemas.openxmlformats.org/officeDocument/2006/relationships/hyperlink" Target="https://www.coursera.org/skills-reports/globa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education.jhu.edu/edpolicy/policy-research-initiatives/homeschool-hub/homeschool-growth-2024-2025/" TargetMode="External"/><Relationship Id="rId4" Type="http://schemas.openxmlformats.org/officeDocument/2006/relationships/image" Target="../media/image7.png"/><Relationship Id="rId5" Type="http://schemas.openxmlformats.org/officeDocument/2006/relationships/hyperlink" Target="https://www.cbsnews.com/miami/news/microschools-families-flexible-alternative/" TargetMode="External"/><Relationship Id="rId6" Type="http://schemas.openxmlformats.org/officeDocument/2006/relationships/image" Target="../media/image8.png"/><Relationship Id="rId7" Type="http://schemas.openxmlformats.org/officeDocument/2006/relationships/hyperlink" Target="https://www.theschoolhouse.org/post/rising-microschools-edu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www.tiktok.com/tag/gapyear" TargetMode="External"/><Relationship Id="rId4" Type="http://schemas.openxmlformats.org/officeDocument/2006/relationships/image" Target="../media/image10.png"/><Relationship Id="rId5" Type="http://schemas.openxmlformats.org/officeDocument/2006/relationships/hyperlink" Target="https://onecodesoft.com/blogs/degree-vs-skills-big-techs-2025-micro-credential-pivo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www.worldbank.org/en/topic/education/publication/state-of-global-learning-poverty" TargetMode="External"/><Relationship Id="rId4" Type="http://schemas.openxmlformats.org/officeDocument/2006/relationships/image" Target="../media/image12.png"/><Relationship Id="rId5" Type="http://schemas.openxmlformats.org/officeDocument/2006/relationships/hyperlink" Target="https://unausa.org/gga-blog-post-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khanmigo.ai/" TargetMode="External"/><Relationship Id="rId4" Type="http://schemas.openxmlformats.org/officeDocument/2006/relationships/image" Target="../media/image14.png"/><Relationship Id="rId5" Type="http://schemas.openxmlformats.org/officeDocument/2006/relationships/hyperlink" Target="https://www.globalsociety.earth/post/khan-academy-rolls-out-ai-powered-teaching-tools-as-school-districts-scale-up-adoption" TargetMode="External"/><Relationship Id="rId6" Type="http://schemas.openxmlformats.org/officeDocument/2006/relationships/image" Target="../media/image15.png"/><Relationship Id="rId7" Type="http://schemas.openxmlformats.org/officeDocument/2006/relationships/hyperlink" Target="https://www.futuremarketinsights.com/reports/ai-tutoring-services-mark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www.duolingo.com/" TargetMode="External"/><Relationship Id="rId4" Type="http://schemas.openxmlformats.org/officeDocument/2006/relationships/image" Target="../media/image17.png"/><Relationship Id="rId5" Type="http://schemas.openxmlformats.org/officeDocument/2006/relationships/hyperlink" Target="https://www.strivecloud.io/blog/gamification-examples-boost-user-retention-duolingo" TargetMode="External"/><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nerdynav.com/chatgpt-cheating-statistics/" TargetMode="External"/><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hyperlink" Target="https://www.edweek.org/technology/new-data-reveal-how-many-students-are-using-ai-to-cheat/2024/0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fortune.com/2025/12/28/2026-microcredential-hiring-trend-coursera-greg-hart/" TargetMode="External"/><Relationship Id="rId4" Type="http://schemas.openxmlformats.org/officeDocument/2006/relationships/image" Target="../media/image23.png"/><Relationship Id="rId5" Type="http://schemas.openxmlformats.org/officeDocument/2006/relationships/hyperlink" Target="https://grow.google/certificates/" TargetMode="External"/><Relationship Id="rId6" Type="http://schemas.openxmlformats.org/officeDocument/2006/relationships/image" Target="../media/image24.png"/><Relationship Id="rId7" Type="http://schemas.openxmlformats.org/officeDocument/2006/relationships/hyperlink" Target="https://www.edsurge.com/news/2024-11-22-how-digital-credentials-can-elevate-existing-program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hyperlink" Target="https://www.hmtv.com.do/index.php/noticias/noticias/42251-la-inteligencia-artificial-redefine-el-rol-del-profesor-universitario-en-republica-dominicana" TargetMode="External"/><Relationship Id="rId4" Type="http://schemas.openxmlformats.org/officeDocument/2006/relationships/image" Target="../media/image26.png"/><Relationship Id="rId5" Type="http://schemas.openxmlformats.org/officeDocument/2006/relationships/hyperlink" Target="https://scielo.do/scielo.php?script=sci_arttext&amp;pid=S2636-21632025003900007&amp;lang=pt" TargetMode="External"/><Relationship Id="rId6" Type="http://schemas.openxmlformats.org/officeDocument/2006/relationships/image" Target="../media/image27.png"/><Relationship Id="rId7" Type="http://schemas.openxmlformats.org/officeDocument/2006/relationships/hyperlink" Target="https://www.demandsage.com/ai-in-education-statistic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www.tiktok.com/tag/studytok" TargetMode="External"/><Relationship Id="rId4" Type="http://schemas.openxmlformats.org/officeDocument/2006/relationships/image" Target="../media/image29.png"/><Relationship Id="rId5" Type="http://schemas.openxmlformats.org/officeDocument/2006/relationships/hyperlink" Target="https://www.youtube.com/results?search_query=study+with+me+2025" TargetMode="External"/><Relationship Id="rId6" Type="http://schemas.openxmlformats.org/officeDocument/2006/relationships/image" Target="../media/image30.png"/><Relationship Id="rId7" Type="http://schemas.openxmlformats.org/officeDocument/2006/relationships/hyperlink" Target="https://www.southeastarrow.com/lifestyle/the-rise-of-studytok-is-it-motivational-or-a-distraction-9240f29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hyperlink" Target="https://informationmatters.org/2026/03/tiktok-it-dont-google-it-gen-z-gen-alpha-and-the-rise-of-social-video-as-an-everyday-search-tool/" TargetMode="External"/><Relationship Id="rId4" Type="http://schemas.openxmlformats.org/officeDocument/2006/relationships/image" Target="../media/image32.png"/><Relationship Id="rId5" Type="http://schemas.openxmlformats.org/officeDocument/2006/relationships/hyperlink" Target="https://uqualio.com/post/why-generation-z-turns-to-youtube-and-tiktok-for-learning-the-power-of-video-in-education" TargetMode="External"/><Relationship Id="rId6" Type="http://schemas.openxmlformats.org/officeDocument/2006/relationships/image" Target="../media/image33.png"/><Relationship Id="rId7" Type="http://schemas.openxmlformats.org/officeDocument/2006/relationships/hyperlink" Target="https://smiletutor.sg/studytok-a-look-into-educational-tiktok-trends-their-impact-on-learning-and-how-students-can-use-them-effectivel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hyperlink" Target="https://correctionstocollegeca.org/tiktok-and-the-future-of-learning-microlearning-engagement-and-the-2026-classroom-revolution/" TargetMode="External"/><Relationship Id="rId4" Type="http://schemas.openxmlformats.org/officeDocument/2006/relationships/image" Target="../media/image35.png"/><Relationship Id="rId5" Type="http://schemas.openxmlformats.org/officeDocument/2006/relationships/hyperlink" Target="https://www.nyssba.org/news/2025/08/08/on-board-online-august-11-2025/bringing-microlearning-to-k-12-schools-offers-many-opportunities-challenges/" TargetMode="External"/><Relationship Id="rId6" Type="http://schemas.openxmlformats.org/officeDocument/2006/relationships/image" Target="../media/image36.png"/><Relationship Id="rId7" Type="http://schemas.openxmlformats.org/officeDocument/2006/relationships/hyperlink" Target="https://www.linkedin.com/learn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hyperlink" Target="https://www.tiktok.com/tag/careertok" TargetMode="External"/><Relationship Id="rId4" Type="http://schemas.openxmlformats.org/officeDocument/2006/relationships/image" Target="../media/image38.png"/><Relationship Id="rId5" Type="http://schemas.openxmlformats.org/officeDocument/2006/relationships/hyperlink" Target="https://www.contentgrip.com/tiktok-trends-gen-z-marketing-guide/" TargetMode="External"/><Relationship Id="rId6" Type="http://schemas.openxmlformats.org/officeDocument/2006/relationships/image" Target="../media/image39.png"/><Relationship Id="rId7" Type="http://schemas.openxmlformats.org/officeDocument/2006/relationships/hyperlink" Target="https://www.youtube.com/results?search_query=day+in+my+life+career+tiktok+2025"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hyperlink" Target="https://useboomerang.com/article/tiktok-parental-control/" TargetMode="External"/><Relationship Id="rId4" Type="http://schemas.openxmlformats.org/officeDocument/2006/relationships/image" Target="../media/image41.png"/><Relationship Id="rId5" Type="http://schemas.openxmlformats.org/officeDocument/2006/relationships/hyperlink" Target="https://www.youtube.com/results?search_query=ms+rachel+toddler+learning+2025" TargetMode="External"/><Relationship Id="rId6" Type="http://schemas.openxmlformats.org/officeDocument/2006/relationships/image" Target="../media/image42.png"/><Relationship Id="rId7" Type="http://schemas.openxmlformats.org/officeDocument/2006/relationships/hyperlink" Target="https://www.accio.com/business/tiktok-educational-content-trend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1</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INVENTOLOGÍA DE LA ADULTEZ</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"Un mundo en crisis está reescribiendo qué significa ser adulto y formar familia."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1460499"/>
          </a:xfrm>
          <a:prstGeom prst="rect">
            <a:avLst/>
          </a:prstGeom>
          <a:noFill/>
        </p:spPr>
        <p:txBody>
          <a:bodyPr wrap="square"/>
          <a:lstStyle/>
          <a:p>
            <a:pPr algn="l">
              <a:lnSpc>
                <a:spcPct val="114000"/>
              </a:lnSpc>
            </a:pPr>
            <a:r>
              <a:rPr sz="2000" b="0" i="0">
                <a:solidFill>
                  <a:srgbClr val="FFFFFF"/>
                </a:solidFill>
                <a:latin typeface="Instrument Serif"/>
              </a:rPr>
              <a:t>EL DIPLOMA DEJÓ DE SER EL TICKET: 53% DE EMPLEADORES YA CONTRATA POR SKILLS DEMOSTRADOS.</a:t>
            </a:r>
          </a:p>
        </p:txBody>
      </p:sp>
      <p:sp>
        <p:nvSpPr>
          <p:cNvPr id="14" name="TextBox 13"/>
          <p:cNvSpPr txBox="1"/>
          <p:nvPr/>
        </p:nvSpPr>
        <p:spPr>
          <a:xfrm>
            <a:off x="254000" y="3111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365500"/>
            <a:ext cx="3683000" cy="825500"/>
          </a:xfrm>
          <a:prstGeom prst="rect">
            <a:avLst/>
          </a:prstGeom>
          <a:noFill/>
        </p:spPr>
        <p:txBody>
          <a:bodyPr wrap="square"/>
          <a:lstStyle/>
          <a:p>
            <a:pPr algn="l">
              <a:lnSpc>
                <a:spcPct val="100000"/>
              </a:lnSpc>
            </a:pPr>
            <a:r>
              <a:rPr sz="1000" b="0" i="0">
                <a:solidFill>
                  <a:srgbClr val="FFFFFF"/>
                </a:solidFill>
                <a:latin typeface="Poppins"/>
              </a:rPr>
              <a:t>En 2025, 53% de empleadores dejó de pedir título y contrató por habilidad demostrada. La paradoja: 85% dice contratar por skills, pero en los números reales apenas 1 de cada 700 contrataciones ocurre sin título. El ticket viejo perdió su monopolio simbólico.</a:t>
            </a:r>
          </a:p>
        </p:txBody>
      </p:sp>
      <p:sp>
        <p:nvSpPr>
          <p:cNvPr id="16" name="TextBox 15"/>
          <p:cNvSpPr txBox="1"/>
          <p:nvPr/>
        </p:nvSpPr>
        <p:spPr>
          <a:xfrm>
            <a:off x="254000" y="4368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622800"/>
            <a:ext cx="3683000" cy="762000"/>
          </a:xfrm>
          <a:prstGeom prst="rect">
            <a:avLst/>
          </a:prstGeom>
          <a:noFill/>
        </p:spPr>
        <p:txBody>
          <a:bodyPr wrap="square"/>
          <a:lstStyle/>
          <a:p>
            <a:pPr algn="l">
              <a:lnSpc>
                <a:spcPct val="100000"/>
              </a:lnSpc>
            </a:pPr>
            <a:r>
              <a:rPr sz="1600" b="0" i="0">
                <a:solidFill>
                  <a:srgbClr val="FFFFFF"/>
                </a:solidFill>
                <a:latin typeface="Instrument Serif"/>
              </a:rPr>
              <a:t>#skillsnotdegrees · #collegedropout · #selftaught · #careerchange · #notitulonecesario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53%</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empleadores eliminó el requisito de título en 2025, +30% vs 2024.</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TESTGORILLA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85%</a:t>
            </a:r>
          </a:p>
        </p:txBody>
      </p:sp>
      <p:sp>
        <p:nvSpPr>
          <p:cNvPr id="22" name="TextBox 21"/>
          <p:cNvSpPr txBox="1"/>
          <p:nvPr/>
        </p:nvSpPr>
        <p:spPr>
          <a:xfrm>
            <a:off x="4191000" y="3600450"/>
            <a:ext cx="2159000" cy="635000"/>
          </a:xfrm>
          <a:prstGeom prst="rect">
            <a:avLst/>
          </a:prstGeom>
          <a:noFill/>
        </p:spPr>
        <p:txBody>
          <a:bodyPr wrap="square"/>
          <a:lstStyle/>
          <a:p>
            <a:pPr algn="l">
              <a:lnSpc>
                <a:spcPct val="100000"/>
              </a:lnSpc>
            </a:pPr>
            <a:r>
              <a:rPr sz="1000" b="0" i="0">
                <a:solidFill>
                  <a:srgbClr val="FFFFFF"/>
                </a:solidFill>
                <a:latin typeface="Poppins"/>
              </a:rPr>
              <a:t>Dice contratar por skills — pero solo 1 de cada 700 contrataciones reales es sin título.</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HARVARD / BURNING GLASS · 2025</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1/700</a:t>
            </a:r>
          </a:p>
        </p:txBody>
      </p:sp>
      <p:sp>
        <p:nvSpPr>
          <p:cNvPr id="25" name="TextBox 24"/>
          <p:cNvSpPr txBox="1"/>
          <p:nvPr/>
        </p:nvSpPr>
        <p:spPr>
          <a:xfrm>
            <a:off x="4191000" y="5556250"/>
            <a:ext cx="2159000" cy="476250"/>
          </a:xfrm>
          <a:prstGeom prst="rect">
            <a:avLst/>
          </a:prstGeom>
          <a:noFill/>
        </p:spPr>
        <p:txBody>
          <a:bodyPr wrap="square"/>
          <a:lstStyle/>
          <a:p>
            <a:pPr algn="l">
              <a:lnSpc>
                <a:spcPct val="100000"/>
              </a:lnSpc>
            </a:pPr>
            <a:r>
              <a:rPr sz="1000" b="0" i="0">
                <a:solidFill>
                  <a:srgbClr val="FFFFFF"/>
                </a:solidFill>
                <a:latin typeface="Poppins"/>
              </a:rPr>
              <a:t>Contrataciones sin título en la realidad, vs el discurso skills-first dominante.</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THE INTERVIEW GUYS · 2025</a:t>
            </a:r>
          </a:p>
        </p:txBody>
      </p:sp>
      <p:pic>
        <p:nvPicPr>
          <p:cNvPr id="27" name="Picture 26" descr="macro-1-1-tiktok-skillsnotdegrees.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del hashtag #skillsnotdegrees en TikTok — grid del trend skills vs título.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2025</a:t>
            </a:r>
          </a:p>
        </p:txBody>
      </p:sp>
      <p:pic>
        <p:nvPicPr>
          <p:cNvPr id="32" name="Picture 31" descr="macro-1-1-interviewguys-skills-hiring-2025.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State of Skills-Based Hiring 2025 — la paradoja 85% discurso vs 1/700 contrataciones sin título.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THE INTERVIEW GUYS · 2025</a:t>
            </a:r>
          </a:p>
        </p:txBody>
      </p:sp>
      <p:pic>
        <p:nvPicPr>
          <p:cNvPr id="37" name="Picture 36" descr="macro-1-0-accelerec-skills-hiring.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Hero artículo 'The 4-Year Degree Is Dead' — skills-based hiring como default 2025.</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ACCELEREC ·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YA NADIE TERMINÓ DE ESTUDIAR: EL ADULTO LATAM SE RE-SKILLEA CADA 2-3 AÑOS PORQUE 39% DE LAS HABILIDADES CAMBIA PARA 2030.</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825500"/>
          </a:xfrm>
          <a:prstGeom prst="rect">
            <a:avLst/>
          </a:prstGeom>
          <a:noFill/>
        </p:spPr>
        <p:txBody>
          <a:bodyPr wrap="square"/>
          <a:lstStyle/>
          <a:p>
            <a:pPr algn="l">
              <a:lnSpc>
                <a:spcPct val="100000"/>
              </a:lnSpc>
            </a:pPr>
            <a:r>
              <a:rPr sz="1000" b="0" i="0">
                <a:solidFill>
                  <a:srgbClr val="FFFFFF"/>
                </a:solidFill>
                <a:latin typeface="Poppins"/>
              </a:rPr>
              <a:t>70% de profesionales dice que el upskilling es clave para su seguridad laboral, y 72% de los managers ya está en eso. El driver: 39% de las habilidades del trabajo van a cambiar para 2030. Quedarte quieto es quedarte atrás.</a:t>
            </a:r>
          </a:p>
        </p:txBody>
      </p:sp>
      <p:sp>
        <p:nvSpPr>
          <p:cNvPr id="16" name="TextBox 15"/>
          <p:cNvSpPr txBox="1"/>
          <p:nvPr/>
        </p:nvSpPr>
        <p:spPr>
          <a:xfrm>
            <a:off x="254000" y="4660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914900"/>
            <a:ext cx="3683000" cy="762000"/>
          </a:xfrm>
          <a:prstGeom prst="rect">
            <a:avLst/>
          </a:prstGeom>
          <a:noFill/>
        </p:spPr>
        <p:txBody>
          <a:bodyPr wrap="square"/>
          <a:lstStyle/>
          <a:p>
            <a:pPr algn="l">
              <a:lnSpc>
                <a:spcPct val="100000"/>
              </a:lnSpc>
            </a:pPr>
            <a:r>
              <a:rPr sz="1600" b="0" i="0">
                <a:solidFill>
                  <a:srgbClr val="FFFFFF"/>
                </a:solidFill>
                <a:latin typeface="Instrument Serif"/>
              </a:rPr>
              <a:t>#lifelonglearning · #reskilling · #upskilling · #aprenderparasiempre · #careergrowth</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70%</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profesionales dice que el upskilling es clave para su seguridad laboral.</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EDX SPRING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39%</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De las habilidades laborales cambiarán para 2030 — el 'Great Skills Reset'.</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WEF FUTURE OF JOBS ·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129%</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Crecimiento interanual de inscripciones LATAM en ciberseguridad en Coursera.</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COURSERA GLOBAL SKILLS REPORT · 2025</a:t>
            </a:r>
          </a:p>
        </p:txBody>
      </p:sp>
      <p:pic>
        <p:nvPicPr>
          <p:cNvPr id="27" name="Picture 26" descr="macro-1-2-wef-future-of-jobs.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WEF Future of Jobs 2025 — titular 'Great Skills Reset', 39% de skills cambian para 2030.</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WEF FUTURE OF JOBS · 2025</a:t>
            </a:r>
          </a:p>
        </p:txBody>
      </p:sp>
      <p:pic>
        <p:nvPicPr>
          <p:cNvPr id="32" name="Picture 31" descr="macro-1-2-coursera-global-skills-report.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Coursera Global Skills Report 2025 — badge digital para profesionales en upskilling.</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COURSERA GLOBAL SKILLS REPORT ·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2044700"/>
          </a:xfrm>
          <a:prstGeom prst="rect">
            <a:avLst/>
          </a:prstGeom>
          <a:noFill/>
        </p:spPr>
        <p:txBody>
          <a:bodyPr wrap="square"/>
          <a:lstStyle/>
          <a:p>
            <a:pPr algn="l">
              <a:lnSpc>
                <a:spcPct val="114000"/>
              </a:lnSpc>
            </a:pPr>
            <a:r>
              <a:rPr sz="2000" b="0" i="0">
                <a:solidFill>
                  <a:srgbClr val="FFFFFF"/>
                </a:solidFill>
                <a:latin typeface="Instrument Serif"/>
              </a:rPr>
              <a:t>FAMILIAS GLOBALES SACAN A SUS HIJOS DEL COLEGIO POR ELECCIÓN: EL AULA DE 30 COMPITE CON MICROSCHOOLS DE 5-15 Y CURRÍCULOS A LA MEDIDA.</a:t>
            </a:r>
          </a:p>
        </p:txBody>
      </p:sp>
      <p:sp>
        <p:nvSpPr>
          <p:cNvPr id="14" name="TextBox 13"/>
          <p:cNvSpPr txBox="1"/>
          <p:nvPr/>
        </p:nvSpPr>
        <p:spPr>
          <a:xfrm>
            <a:off x="254000" y="3695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49700"/>
            <a:ext cx="3683000" cy="825500"/>
          </a:xfrm>
          <a:prstGeom prst="rect">
            <a:avLst/>
          </a:prstGeom>
          <a:noFill/>
        </p:spPr>
        <p:txBody>
          <a:bodyPr wrap="square"/>
          <a:lstStyle/>
          <a:p>
            <a:pPr algn="l">
              <a:lnSpc>
                <a:spcPct val="100000"/>
              </a:lnSpc>
            </a:pPr>
            <a:r>
              <a:rPr sz="1000" b="0" i="0">
                <a:solidFill>
                  <a:srgbClr val="FFFFFF"/>
                </a:solidFill>
                <a:latin typeface="Poppins"/>
              </a:rPr>
              <a:t>El homeschool creció 4.9% en 2024-25, casi 3x la tasa pre-pandemia, y 36% de estados de EEUU reportó máximos históricos. Aparecen microschools — hubs de 5 a 15 alumnos donde la familia diseña el currículo. Entre 1 y 2 millones de estudiantes ya asisten full-time.</a:t>
            </a:r>
          </a:p>
        </p:txBody>
      </p:sp>
      <p:sp>
        <p:nvSpPr>
          <p:cNvPr id="16" name="TextBox 15"/>
          <p:cNvSpPr txBox="1"/>
          <p:nvPr/>
        </p:nvSpPr>
        <p:spPr>
          <a:xfrm>
            <a:off x="254000" y="49530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207000"/>
            <a:ext cx="3683000" cy="762000"/>
          </a:xfrm>
          <a:prstGeom prst="rect">
            <a:avLst/>
          </a:prstGeom>
          <a:noFill/>
        </p:spPr>
        <p:txBody>
          <a:bodyPr wrap="square"/>
          <a:lstStyle/>
          <a:p>
            <a:pPr algn="l">
              <a:lnSpc>
                <a:spcPct val="100000"/>
              </a:lnSpc>
            </a:pPr>
            <a:r>
              <a:rPr sz="1600" b="0" i="0">
                <a:solidFill>
                  <a:srgbClr val="FFFFFF"/>
                </a:solidFill>
                <a:latin typeface="Instrument Serif"/>
              </a:rPr>
              <a:t>#homeschool · #microschool · #unschooling · #homeschoollife · #educacionalternativa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4.9%</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Crecimiento del homeschool en 2024-25, casi 3x la tasa pre-pandemia.</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JHU INSTITUTE FOR EDUCATION POLICY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36%</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De estados de EEUU reportó máximos históricos en homeschooling.</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JHU INSTITUTE FOR EDUCATION POLICY ·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1-2M</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Estudiantes en EEUU ya asisten a microschools full-time, promedio 22 alumnos.</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RAND / NATIONAL MICROSCHOOLING CENTER · 2025</a:t>
            </a:r>
          </a:p>
        </p:txBody>
      </p:sp>
      <p:pic>
        <p:nvPicPr>
          <p:cNvPr id="27" name="Picture 26" descr="macro-1-3-jhu-homeschool-growth.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JHU Homeschool Hub 2024-2025 — datos de crecimiento 4.9% con mapa de estados y máximos históricos.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JHU INSTITUTE FOR EDUCATION POLICY · 2025</a:t>
            </a:r>
          </a:p>
        </p:txBody>
      </p:sp>
      <p:pic>
        <p:nvPicPr>
          <p:cNvPr id="32" name="Picture 31" descr="macro-1-3-cbsmiami-microschool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CBS Miami sobre microschools — hub de aprendizaje alternativo en Florida, familias eligiendo.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CBS MIAMI · 2025</a:t>
            </a:r>
          </a:p>
        </p:txBody>
      </p:sp>
      <p:pic>
        <p:nvPicPr>
          <p:cNvPr id="37" name="Picture 36" descr="macro-1-3-theschoolhouse-microschool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'Why Microschools Are Rising' — grupo pequeño de estudiantes en entorno alternativo.</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THE SCHOOLHOUSE ·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2336800"/>
          </a:xfrm>
          <a:prstGeom prst="rect">
            <a:avLst/>
          </a:prstGeom>
          <a:noFill/>
        </p:spPr>
        <p:txBody>
          <a:bodyPr wrap="square"/>
          <a:lstStyle/>
          <a:p>
            <a:pPr algn="l">
              <a:lnSpc>
                <a:spcPct val="114000"/>
              </a:lnSpc>
            </a:pPr>
            <a:r>
              <a:rPr sz="2000" b="0" i="0">
                <a:solidFill>
                  <a:srgbClr val="FFFFFF"/>
                </a:solidFill>
                <a:latin typeface="Instrument Serif"/>
              </a:rPr>
              <a:t>EL SIGUIENTE PASO OBVIO TRAS EL BACHILLERATO DEJÓ DE SER OBVIO: GAP YEAR, BOOTCAMP Y EMPRENDIMIENTO ADOLESCENTE SUSTITUYEN EL INGRESO INMEDIATO.</a:t>
            </a:r>
          </a:p>
        </p:txBody>
      </p:sp>
      <p:sp>
        <p:nvSpPr>
          <p:cNvPr id="14" name="TextBox 13"/>
          <p:cNvSpPr txBox="1"/>
          <p:nvPr/>
        </p:nvSpPr>
        <p:spPr>
          <a:xfrm>
            <a:off x="254000" y="39878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4241800"/>
            <a:ext cx="3683000" cy="990600"/>
          </a:xfrm>
          <a:prstGeom prst="rect">
            <a:avLst/>
          </a:prstGeom>
          <a:noFill/>
        </p:spPr>
        <p:txBody>
          <a:bodyPr wrap="square"/>
          <a:lstStyle/>
          <a:p>
            <a:pPr algn="l">
              <a:lnSpc>
                <a:spcPct val="100000"/>
              </a:lnSpc>
            </a:pPr>
            <a:r>
              <a:rPr sz="1000" b="0" i="0">
                <a:solidFill>
                  <a:srgbClr val="FFFFFF"/>
                </a:solidFill>
                <a:latin typeface="Poppins"/>
              </a:rPr>
              <a:t>Solo 18% de Gen Z global ve subir la escalera corporativa como algo inteligente. Y Big Tech lo validó: Google, IBM y Tesla quitaron el título para muchos roles. El recién graduado se da un año, hace un bootcamp, o monta un ingreso con skills digitales antes de comprometerse.</a:t>
            </a:r>
          </a:p>
        </p:txBody>
      </p:sp>
      <p:sp>
        <p:nvSpPr>
          <p:cNvPr id="16" name="TextBox 15"/>
          <p:cNvSpPr txBox="1"/>
          <p:nvPr/>
        </p:nvSpPr>
        <p:spPr>
          <a:xfrm>
            <a:off x="254000" y="54102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664200"/>
            <a:ext cx="3683000" cy="762000"/>
          </a:xfrm>
          <a:prstGeom prst="rect">
            <a:avLst/>
          </a:prstGeom>
          <a:noFill/>
        </p:spPr>
        <p:txBody>
          <a:bodyPr wrap="square"/>
          <a:lstStyle/>
          <a:p>
            <a:pPr algn="l">
              <a:lnSpc>
                <a:spcPct val="100000"/>
              </a:lnSpc>
            </a:pPr>
            <a:r>
              <a:rPr sz="1600" b="0" i="0">
                <a:solidFill>
                  <a:srgbClr val="FFFFFF"/>
                </a:solidFill>
                <a:latin typeface="Instrument Serif"/>
              </a:rPr>
              <a:t>#gapyear · #alternativestocollege · #teenentrepreneur · #nocollege · #emprendimientojoven</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18%</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Gen Z global ve subir la escalera corporativa como algo inteligente.</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FIVERR · OCT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3</a:t>
            </a:r>
          </a:p>
        </p:txBody>
      </p:sp>
      <p:sp>
        <p:nvSpPr>
          <p:cNvPr id="22" name="TextBox 21"/>
          <p:cNvSpPr txBox="1"/>
          <p:nvPr/>
        </p:nvSpPr>
        <p:spPr>
          <a:xfrm>
            <a:off x="4191000" y="3600450"/>
            <a:ext cx="2159000" cy="635000"/>
          </a:xfrm>
          <a:prstGeom prst="rect">
            <a:avLst/>
          </a:prstGeom>
          <a:noFill/>
        </p:spPr>
        <p:txBody>
          <a:bodyPr wrap="square"/>
          <a:lstStyle/>
          <a:p>
            <a:pPr algn="l">
              <a:lnSpc>
                <a:spcPct val="100000"/>
              </a:lnSpc>
            </a:pPr>
            <a:r>
              <a:rPr sz="1000" b="0" i="0">
                <a:solidFill>
                  <a:srgbClr val="FFFFFF"/>
                </a:solidFill>
                <a:latin typeface="Poppins"/>
              </a:rPr>
              <a:t>Big Tech — Google, IBM y Tesla — eliminaron el título universitario para muchos roles.</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ONECODESOFT · 2025</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2025</a:t>
            </a:r>
          </a:p>
        </p:txBody>
      </p:sp>
      <p:sp>
        <p:nvSpPr>
          <p:cNvPr id="25" name="TextBox 24"/>
          <p:cNvSpPr txBox="1"/>
          <p:nvPr/>
        </p:nvSpPr>
        <p:spPr>
          <a:xfrm>
            <a:off x="4191000" y="5556250"/>
            <a:ext cx="2159000" cy="476250"/>
          </a:xfrm>
          <a:prstGeom prst="rect">
            <a:avLst/>
          </a:prstGeom>
          <a:noFill/>
        </p:spPr>
        <p:txBody>
          <a:bodyPr wrap="square"/>
          <a:lstStyle/>
          <a:p>
            <a:pPr algn="l">
              <a:lnSpc>
                <a:spcPct val="100000"/>
              </a:lnSpc>
            </a:pPr>
            <a:r>
              <a:rPr sz="1000" b="0" i="0">
                <a:solidFill>
                  <a:srgbClr val="FFFFFF"/>
                </a:solidFill>
                <a:latin typeface="Poppins"/>
              </a:rPr>
              <a:t>#gapyear y 'alternatives to college' crecen como género propio de contenido en TikTok.</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TIKTOK DISCOVER · 2025</a:t>
            </a:r>
          </a:p>
        </p:txBody>
      </p:sp>
      <p:pic>
        <p:nvPicPr>
          <p:cNvPr id="27" name="Picture 26" descr="macro-1-4-tiktok-gapyear.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del hashtag #gapyear en TikTok — grid de jóvenes mostrando su path alternativo.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2025</a:t>
            </a:r>
          </a:p>
        </p:txBody>
      </p:sp>
      <p:pic>
        <p:nvPicPr>
          <p:cNvPr id="32" name="Picture 31" descr="macro-1-4-onecodesoft-bigtech-skill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'Degree vs. Skills: Big Tech's 2025 Micro-Credential Pivot' — Google, IBM, Tesla sin título.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ONECODESOFT ·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13" name="TextBox 12"/>
          <p:cNvSpPr txBox="1"/>
          <p:nvPr/>
        </p:nvSpPr>
        <p:spPr>
          <a:xfrm>
            <a:off x="254000" y="1473200"/>
            <a:ext cx="3683000" cy="2044700"/>
          </a:xfrm>
          <a:prstGeom prst="rect">
            <a:avLst/>
          </a:prstGeom>
          <a:noFill/>
        </p:spPr>
        <p:txBody>
          <a:bodyPr wrap="square"/>
          <a:lstStyle/>
          <a:p>
            <a:pPr algn="l">
              <a:lnSpc>
                <a:spcPct val="114000"/>
              </a:lnSpc>
            </a:pPr>
            <a:r>
              <a:rPr sz="2000" b="0" i="0">
                <a:solidFill>
                  <a:srgbClr val="FFFFFF"/>
                </a:solidFill>
                <a:latin typeface="Instrument Serif"/>
              </a:rPr>
              <a:t>LA FAMILIA COMPENSA LO QUE LA ESCUELA DEJÓ DE GARANTIZAR: 70% DE NIÑOS NO LEE BIEN A LOS 10 Y EL MERCADO DE TUTORÍA AI YA VALE US$3.55B.</a:t>
            </a:r>
          </a:p>
        </p:txBody>
      </p:sp>
      <p:sp>
        <p:nvSpPr>
          <p:cNvPr id="14" name="TextBox 13"/>
          <p:cNvSpPr txBox="1"/>
          <p:nvPr/>
        </p:nvSpPr>
        <p:spPr>
          <a:xfrm>
            <a:off x="254000" y="3695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49700"/>
            <a:ext cx="3683000" cy="825500"/>
          </a:xfrm>
          <a:prstGeom prst="rect">
            <a:avLst/>
          </a:prstGeom>
          <a:noFill/>
        </p:spPr>
        <p:txBody>
          <a:bodyPr wrap="square"/>
          <a:lstStyle/>
          <a:p>
            <a:pPr algn="l">
              <a:lnSpc>
                <a:spcPct val="100000"/>
              </a:lnSpc>
            </a:pPr>
            <a:r>
              <a:rPr sz="1000" b="0" i="0">
                <a:solidFill>
                  <a:srgbClr val="FFFFFF"/>
                </a:solidFill>
                <a:latin typeface="Poppins"/>
              </a:rPr>
              <a:t>La pandemia dejó un hueco que el sistema formal no recuperó. La pobreza de aprendizaje subió a ~70% en países de ingreso medio-bajo. NAEP reportó las mayores caídas en lectura y matemática en 35 años. ¿La respuesta de la familia? Pagar el refuerzo por fuera.</a:t>
            </a:r>
          </a:p>
        </p:txBody>
      </p:sp>
      <p:sp>
        <p:nvSpPr>
          <p:cNvPr id="16" name="TextBox 15"/>
          <p:cNvSpPr txBox="1"/>
          <p:nvPr/>
        </p:nvSpPr>
        <p:spPr>
          <a:xfrm>
            <a:off x="254000" y="49530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207000"/>
            <a:ext cx="3683000" cy="762000"/>
          </a:xfrm>
          <a:prstGeom prst="rect">
            <a:avLst/>
          </a:prstGeom>
          <a:noFill/>
        </p:spPr>
        <p:txBody>
          <a:bodyPr wrap="square"/>
          <a:lstStyle/>
          <a:p>
            <a:pPr algn="l">
              <a:lnSpc>
                <a:spcPct val="100000"/>
              </a:lnSpc>
            </a:pPr>
            <a:r>
              <a:rPr sz="1600" b="0" i="0">
                <a:solidFill>
                  <a:srgbClr val="FFFFFF"/>
                </a:solidFill>
                <a:latin typeface="Instrument Serif"/>
              </a:rPr>
              <a:t>#learningloss · #tutoring · #refuerzoescolar · #educationcrisis · #apoyoescolar</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~70%</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Pobreza de aprendizaje post-pandemia en países de ingreso medio-bajo; LATAM perdió 225 días de clase.</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BANCO MUNDIAL / UNESCO · 2024</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35 años</a:t>
            </a:r>
          </a:p>
        </p:txBody>
      </p:sp>
      <p:sp>
        <p:nvSpPr>
          <p:cNvPr id="22" name="TextBox 21"/>
          <p:cNvSpPr txBox="1"/>
          <p:nvPr/>
        </p:nvSpPr>
        <p:spPr>
          <a:xfrm>
            <a:off x="4191000" y="3759200"/>
            <a:ext cx="2159000" cy="476250"/>
          </a:xfrm>
          <a:prstGeom prst="rect">
            <a:avLst/>
          </a:prstGeom>
          <a:noFill/>
        </p:spPr>
        <p:txBody>
          <a:bodyPr wrap="square"/>
          <a:lstStyle/>
          <a:p>
            <a:pPr algn="l">
              <a:lnSpc>
                <a:spcPct val="100000"/>
              </a:lnSpc>
            </a:pPr>
            <a:r>
              <a:rPr sz="1000" b="0" i="0">
                <a:solidFill>
                  <a:srgbClr val="FFFFFF"/>
                </a:solidFill>
                <a:latin typeface="Poppins"/>
              </a:rPr>
              <a:t>NAEP reportó las mayores caídas en lectura y matemática de toda su historia evaluativa.</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NAEP / UNA-USA · 2024</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US$3.55B</a:t>
            </a:r>
          </a:p>
        </p:txBody>
      </p:sp>
      <p:sp>
        <p:nvSpPr>
          <p:cNvPr id="25" name="TextBox 24"/>
          <p:cNvSpPr txBox="1"/>
          <p:nvPr/>
        </p:nvSpPr>
        <p:spPr>
          <a:xfrm>
            <a:off x="4191000" y="5556250"/>
            <a:ext cx="2159000" cy="317500"/>
          </a:xfrm>
          <a:prstGeom prst="rect">
            <a:avLst/>
          </a:prstGeom>
          <a:noFill/>
        </p:spPr>
        <p:txBody>
          <a:bodyPr wrap="square"/>
          <a:lstStyle/>
          <a:p>
            <a:pPr algn="l">
              <a:lnSpc>
                <a:spcPct val="100000"/>
              </a:lnSpc>
            </a:pPr>
            <a:r>
              <a:rPr sz="1000" b="0" i="0">
                <a:solidFill>
                  <a:srgbClr val="FFFFFF"/>
                </a:solidFill>
                <a:latin typeface="Poppins"/>
              </a:rPr>
              <a:t>Mercado de tutoría AI en 2025, proyectado a US$6.45B en 2030.</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FUTURE MARKET INSIGHTS · 2025</a:t>
            </a:r>
          </a:p>
        </p:txBody>
      </p:sp>
      <p:pic>
        <p:nvPicPr>
          <p:cNvPr id="27" name="Picture 26" descr="macro-1-5-worldbank-learning-poverty.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World Bank Learning Poverty report — infografía sobre pobreza de aprendizaje global post-pandemia.</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WORLD BANK · 2024</a:t>
            </a:r>
          </a:p>
        </p:txBody>
      </p:sp>
      <p:pic>
        <p:nvPicPr>
          <p:cNvPr id="32" name="Picture 31" descr="macro-1-5-unausa-naep-score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UNA-USA sobre las mayores caídas NAEP en lectura y matemática en 35 años.</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UNA-USA / NAEP ·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2</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LOS HERNÁNDEZ ARE PROMPTED</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dominicano ya entró al mundo prompteado. Solo no lo nombra así."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1460499"/>
          </a:xfrm>
          <a:prstGeom prst="rect">
            <a:avLst/>
          </a:prstGeom>
          <a:noFill/>
        </p:spPr>
        <p:txBody>
          <a:bodyPr wrap="square"/>
          <a:lstStyle/>
          <a:p>
            <a:pPr algn="l">
              <a:lnSpc>
                <a:spcPct val="114000"/>
              </a:lnSpc>
            </a:pPr>
            <a:r>
              <a:rPr sz="2000" b="0" i="0">
                <a:solidFill>
                  <a:srgbClr val="FFFFFF"/>
                </a:solidFill>
                <a:latin typeface="Instrument Serif"/>
              </a:rPr>
              <a:t>EL TUTOR 1-A-1 DEJÓ DE SER PRIVILEGIO DE ÉLITE: KHANMIGO PASÓ DE 68K A 1.4M USUARIOS EN UN AÑO.</a:t>
            </a:r>
          </a:p>
        </p:txBody>
      </p:sp>
      <p:sp>
        <p:nvSpPr>
          <p:cNvPr id="14" name="TextBox 13"/>
          <p:cNvSpPr txBox="1"/>
          <p:nvPr/>
        </p:nvSpPr>
        <p:spPr>
          <a:xfrm>
            <a:off x="254000" y="3111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365500"/>
            <a:ext cx="3683000" cy="990600"/>
          </a:xfrm>
          <a:prstGeom prst="rect">
            <a:avLst/>
          </a:prstGeom>
          <a:noFill/>
        </p:spPr>
        <p:txBody>
          <a:bodyPr wrap="square"/>
          <a:lstStyle/>
          <a:p>
            <a:pPr algn="l">
              <a:lnSpc>
                <a:spcPct val="100000"/>
              </a:lnSpc>
            </a:pPr>
            <a:r>
              <a:rPr sz="1000" b="0" i="0">
                <a:solidFill>
                  <a:srgbClr val="FFFFFF"/>
                </a:solidFill>
                <a:latin typeface="Poppins"/>
              </a:rPr>
              <a:t>Khanmigo pasó de 68k usuarios en 2023-24 a 1.4M a mediados de 2025 — y de 40k a 700k estudiantes K-12 en un ciclo. El mercado de tutores AI va de US$3.55B (2025) a US$6.45B (2030). El estudiante resuelve dudas a cualquier hora con un tutor que no se cansa ni cobra por sesión.</a:t>
            </a:r>
          </a:p>
        </p:txBody>
      </p:sp>
      <p:sp>
        <p:nvSpPr>
          <p:cNvPr id="16" name="TextBox 15"/>
          <p:cNvSpPr txBox="1"/>
          <p:nvPr/>
        </p:nvSpPr>
        <p:spPr>
          <a:xfrm>
            <a:off x="254000" y="4533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787900"/>
            <a:ext cx="3683000" cy="508000"/>
          </a:xfrm>
          <a:prstGeom prst="rect">
            <a:avLst/>
          </a:prstGeom>
          <a:noFill/>
        </p:spPr>
        <p:txBody>
          <a:bodyPr wrap="square"/>
          <a:lstStyle/>
          <a:p>
            <a:pPr algn="l">
              <a:lnSpc>
                <a:spcPct val="100000"/>
              </a:lnSpc>
            </a:pPr>
            <a:r>
              <a:rPr sz="1600" b="0" i="0">
                <a:solidFill>
                  <a:srgbClr val="FFFFFF"/>
                </a:solidFill>
                <a:latin typeface="Instrument Serif"/>
              </a:rPr>
              <a:t>#aitutor · #khanmigo · #studywithai · #tutoriaIA · #aprenderconIA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1.4M</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Usuarios de Khanmigo en mediados 2025, creciendo desde 68k en 2023-24.</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KHAN ACADEMY / GLOBALSOCIETY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700K</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Estudiantes K-12 usando Khanmigo — de 40k a 700k en un ciclo escolar.</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KHAN ACADEMY ·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US$3.55B</a:t>
            </a:r>
          </a:p>
        </p:txBody>
      </p:sp>
      <p:sp>
        <p:nvSpPr>
          <p:cNvPr id="25" name="TextBox 24"/>
          <p:cNvSpPr txBox="1"/>
          <p:nvPr/>
        </p:nvSpPr>
        <p:spPr>
          <a:xfrm>
            <a:off x="4191000" y="5397500"/>
            <a:ext cx="2159000" cy="317500"/>
          </a:xfrm>
          <a:prstGeom prst="rect">
            <a:avLst/>
          </a:prstGeom>
          <a:noFill/>
        </p:spPr>
        <p:txBody>
          <a:bodyPr wrap="square"/>
          <a:lstStyle/>
          <a:p>
            <a:pPr algn="l">
              <a:lnSpc>
                <a:spcPct val="100000"/>
              </a:lnSpc>
            </a:pPr>
            <a:r>
              <a:rPr sz="1000" b="0" i="0">
                <a:solidFill>
                  <a:srgbClr val="FFFFFF"/>
                </a:solidFill>
                <a:latin typeface="Poppins"/>
              </a:rPr>
              <a:t>Mercado de tutores AI en 2025 proyectado a US$6.45B en 2030.</a:t>
            </a:r>
          </a:p>
        </p:txBody>
      </p:sp>
      <p:sp>
        <p:nvSpPr>
          <p:cNvPr id="26" name="TextBox 25"/>
          <p:cNvSpPr txBox="1"/>
          <p:nvPr/>
        </p:nvSpPr>
        <p:spPr>
          <a:xfrm>
            <a:off x="4191000" y="5867400"/>
            <a:ext cx="2159000" cy="152400"/>
          </a:xfrm>
          <a:prstGeom prst="rect">
            <a:avLst/>
          </a:prstGeom>
          <a:noFill/>
        </p:spPr>
        <p:txBody>
          <a:bodyPr wrap="square"/>
          <a:lstStyle/>
          <a:p>
            <a:pPr algn="l">
              <a:lnSpc>
                <a:spcPct val="100000"/>
              </a:lnSpc>
            </a:pPr>
            <a:r>
              <a:rPr sz="650" b="0" i="0">
                <a:solidFill>
                  <a:srgbClr val="666666"/>
                </a:solidFill>
                <a:latin typeface="Poppins"/>
              </a:rPr>
              <a:t>FUTURE MARKET INSIGHTS · 2025</a:t>
            </a:r>
          </a:p>
        </p:txBody>
      </p:sp>
      <p:pic>
        <p:nvPicPr>
          <p:cNvPr id="27" name="Picture 26" descr="macro-2-1-khanmigo-hero-landin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Landing de Khanmigo — 'always-available teaching assistant' con interfaz del tutor AI.</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KHANMIGO / KHAN ACADEMY · 2025</a:t>
            </a:r>
          </a:p>
        </p:txBody>
      </p:sp>
      <p:pic>
        <p:nvPicPr>
          <p:cNvPr id="32" name="Picture 31" descr="macro-2-1-globalsociety-khanmigo-ai-tool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Khanmigo escala en distritos escolares — estudiante con herramientas AI de Khan Academy.</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GLOBAL SOCIETY · 2025</a:t>
            </a:r>
          </a:p>
        </p:txBody>
      </p:sp>
      <p:pic>
        <p:nvPicPr>
          <p:cNvPr id="37" name="Picture 36" descr="macro-2-1-futuremarketinsights-ai-tutor.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AI Tutoring Services Market — US$3.55B (2025) proyectado a US$6.45B (2030).</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FUTURE MARKET INSIGHTS ·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2336800"/>
          </a:xfrm>
          <a:prstGeom prst="rect">
            <a:avLst/>
          </a:prstGeom>
          <a:noFill/>
        </p:spPr>
        <p:txBody>
          <a:bodyPr wrap="square"/>
          <a:lstStyle/>
          <a:p>
            <a:pPr algn="l">
              <a:lnSpc>
                <a:spcPct val="114000"/>
              </a:lnSpc>
            </a:pPr>
            <a:r>
              <a:rPr sz="2000" b="0" i="0">
                <a:solidFill>
                  <a:srgbClr val="FFFFFF"/>
                </a:solidFill>
                <a:latin typeface="Instrument Serif"/>
              </a:rPr>
              <a:t>APRENDER SE GAMIFICÓ Y COMPITE CON TIKTOK USANDO LAS MISMAS MECÁNICAS: DUOLINGO SOSTIENE 50.5M USUARIOS DIARIOS CON RACHAS, LIGAS Y CULPA DEL BÚHO.</a:t>
            </a:r>
          </a:p>
        </p:txBody>
      </p:sp>
      <p:sp>
        <p:nvSpPr>
          <p:cNvPr id="14" name="TextBox 13"/>
          <p:cNvSpPr txBox="1"/>
          <p:nvPr/>
        </p:nvSpPr>
        <p:spPr>
          <a:xfrm>
            <a:off x="254000" y="39878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4241800"/>
            <a:ext cx="3683000" cy="825500"/>
          </a:xfrm>
          <a:prstGeom prst="rect">
            <a:avLst/>
          </a:prstGeom>
          <a:noFill/>
        </p:spPr>
        <p:txBody>
          <a:bodyPr wrap="square"/>
          <a:lstStyle/>
          <a:p>
            <a:pPr algn="l">
              <a:lnSpc>
                <a:spcPct val="100000"/>
              </a:lnSpc>
            </a:pPr>
            <a:r>
              <a:rPr sz="1000" b="0" i="0">
                <a:solidFill>
                  <a:srgbClr val="FFFFFF"/>
                </a:solidFill>
                <a:latin typeface="Poppins"/>
              </a:rPr>
              <a:t>Duolingo superó 50.5M usuarios diarios en Q3 2025, +36% interanual. El churn bajó de 47% a 28% gracias a la gamificación. Revenue del trimestre: US$271.7M, +41%. La gente mantiene rachas no por disciplina — por el miedo a romperla.</a:t>
            </a:r>
          </a:p>
        </p:txBody>
      </p:sp>
      <p:sp>
        <p:nvSpPr>
          <p:cNvPr id="16" name="TextBox 15"/>
          <p:cNvSpPr txBox="1"/>
          <p:nvPr/>
        </p:nvSpPr>
        <p:spPr>
          <a:xfrm>
            <a:off x="254000" y="52451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499100"/>
            <a:ext cx="3683000" cy="1016000"/>
          </a:xfrm>
          <a:prstGeom prst="rect">
            <a:avLst/>
          </a:prstGeom>
          <a:noFill/>
        </p:spPr>
        <p:txBody>
          <a:bodyPr wrap="square"/>
          <a:lstStyle/>
          <a:p>
            <a:pPr algn="l">
              <a:lnSpc>
                <a:spcPct val="100000"/>
              </a:lnSpc>
            </a:pPr>
            <a:r>
              <a:rPr sz="1600" b="0" i="0">
                <a:solidFill>
                  <a:srgbClr val="FFFFFF"/>
                </a:solidFill>
                <a:latin typeface="Instrument Serif"/>
              </a:rPr>
              <a:t>#duolingo · #duostreak · #languagelearning · #gamifiedlearning · #aprenderjugando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50.5M</a:t>
            </a:r>
          </a:p>
        </p:txBody>
      </p:sp>
      <p:sp>
        <p:nvSpPr>
          <p:cNvPr id="19" name="TextBox 18"/>
          <p:cNvSpPr txBox="1"/>
          <p:nvPr/>
        </p:nvSpPr>
        <p:spPr>
          <a:xfrm>
            <a:off x="4191000" y="1803400"/>
            <a:ext cx="2159000" cy="317500"/>
          </a:xfrm>
          <a:prstGeom prst="rect">
            <a:avLst/>
          </a:prstGeom>
          <a:noFill/>
        </p:spPr>
        <p:txBody>
          <a:bodyPr wrap="square"/>
          <a:lstStyle/>
          <a:p>
            <a:pPr algn="l">
              <a:lnSpc>
                <a:spcPct val="100000"/>
              </a:lnSpc>
            </a:pPr>
            <a:r>
              <a:rPr sz="1000" b="0" i="0">
                <a:solidFill>
                  <a:srgbClr val="FFFFFF"/>
                </a:solidFill>
                <a:latin typeface="Poppins"/>
              </a:rPr>
              <a:t>Usuarios diarios de Duolingo en Q3 2025, +36% interanual.</a:t>
            </a:r>
          </a:p>
        </p:txBody>
      </p:sp>
      <p:sp>
        <p:nvSpPr>
          <p:cNvPr id="20" name="TextBox 19"/>
          <p:cNvSpPr txBox="1"/>
          <p:nvPr/>
        </p:nvSpPr>
        <p:spPr>
          <a:xfrm>
            <a:off x="4191000" y="2273300"/>
            <a:ext cx="2159000" cy="152400"/>
          </a:xfrm>
          <a:prstGeom prst="rect">
            <a:avLst/>
          </a:prstGeom>
          <a:noFill/>
        </p:spPr>
        <p:txBody>
          <a:bodyPr wrap="square"/>
          <a:lstStyle/>
          <a:p>
            <a:pPr algn="l">
              <a:lnSpc>
                <a:spcPct val="100000"/>
              </a:lnSpc>
            </a:pPr>
            <a:r>
              <a:rPr sz="650" b="0" i="0">
                <a:solidFill>
                  <a:srgbClr val="666666"/>
                </a:solidFill>
                <a:latin typeface="Poppins"/>
              </a:rPr>
              <a:t>DUOLINGO 8-K SEC · 2025</a:t>
            </a:r>
          </a:p>
        </p:txBody>
      </p:sp>
      <p:sp>
        <p:nvSpPr>
          <p:cNvPr id="21" name="TextBox 20"/>
          <p:cNvSpPr txBox="1"/>
          <p:nvPr/>
        </p:nvSpPr>
        <p:spPr>
          <a:xfrm>
            <a:off x="4191000" y="2705100"/>
            <a:ext cx="2159000" cy="584200"/>
          </a:xfrm>
          <a:prstGeom prst="rect">
            <a:avLst/>
          </a:prstGeom>
          <a:noFill/>
        </p:spPr>
        <p:txBody>
          <a:bodyPr wrap="square"/>
          <a:lstStyle/>
          <a:p>
            <a:pPr algn="l">
              <a:lnSpc>
                <a:spcPct val="100000"/>
              </a:lnSpc>
            </a:pPr>
            <a:r>
              <a:rPr sz="4000" b="0" i="0">
                <a:solidFill>
                  <a:srgbClr val="FFFFFF"/>
                </a:solidFill>
                <a:latin typeface="Instrument Serif"/>
              </a:rPr>
              <a:t>28%</a:t>
            </a:r>
          </a:p>
        </p:txBody>
      </p:sp>
      <p:sp>
        <p:nvSpPr>
          <p:cNvPr id="22" name="TextBox 21"/>
          <p:cNvSpPr txBox="1"/>
          <p:nvPr/>
        </p:nvSpPr>
        <p:spPr>
          <a:xfrm>
            <a:off x="4191000" y="3441700"/>
            <a:ext cx="2159000" cy="476250"/>
          </a:xfrm>
          <a:prstGeom prst="rect">
            <a:avLst/>
          </a:prstGeom>
          <a:noFill/>
        </p:spPr>
        <p:txBody>
          <a:bodyPr wrap="square"/>
          <a:lstStyle/>
          <a:p>
            <a:pPr algn="l">
              <a:lnSpc>
                <a:spcPct val="100000"/>
              </a:lnSpc>
            </a:pPr>
            <a:r>
              <a:rPr sz="1000" b="0" i="0">
                <a:solidFill>
                  <a:srgbClr val="FFFFFF"/>
                </a:solidFill>
                <a:latin typeface="Poppins"/>
              </a:rPr>
              <a:t>Churn de Duolingo — bajó de 47% a 28% gracias a la gamificación de rachas.</a:t>
            </a:r>
          </a:p>
        </p:txBody>
      </p:sp>
      <p:sp>
        <p:nvSpPr>
          <p:cNvPr id="23" name="TextBox 22"/>
          <p:cNvSpPr txBox="1"/>
          <p:nvPr/>
        </p:nvSpPr>
        <p:spPr>
          <a:xfrm>
            <a:off x="4191000" y="4070350"/>
            <a:ext cx="2159000" cy="152400"/>
          </a:xfrm>
          <a:prstGeom prst="rect">
            <a:avLst/>
          </a:prstGeom>
          <a:noFill/>
        </p:spPr>
        <p:txBody>
          <a:bodyPr wrap="square"/>
          <a:lstStyle/>
          <a:p>
            <a:pPr algn="l">
              <a:lnSpc>
                <a:spcPct val="100000"/>
              </a:lnSpc>
            </a:pPr>
            <a:r>
              <a:rPr sz="650" b="0" i="0">
                <a:solidFill>
                  <a:srgbClr val="666666"/>
                </a:solidFill>
                <a:latin typeface="Poppins"/>
              </a:rPr>
              <a:t>STRIVECLOUD / DUOLINGO · 2025</a:t>
            </a:r>
          </a:p>
        </p:txBody>
      </p:sp>
      <p:sp>
        <p:nvSpPr>
          <p:cNvPr id="24" name="TextBox 23"/>
          <p:cNvSpPr txBox="1"/>
          <p:nvPr/>
        </p:nvSpPr>
        <p:spPr>
          <a:xfrm>
            <a:off x="4191000" y="4502150"/>
            <a:ext cx="2159000" cy="584200"/>
          </a:xfrm>
          <a:prstGeom prst="rect">
            <a:avLst/>
          </a:prstGeom>
          <a:noFill/>
        </p:spPr>
        <p:txBody>
          <a:bodyPr wrap="square"/>
          <a:lstStyle/>
          <a:p>
            <a:pPr algn="l">
              <a:lnSpc>
                <a:spcPct val="100000"/>
              </a:lnSpc>
            </a:pPr>
            <a:r>
              <a:rPr sz="4000" b="0" i="0">
                <a:solidFill>
                  <a:srgbClr val="FFFFFF"/>
                </a:solidFill>
                <a:latin typeface="Instrument Serif"/>
              </a:rPr>
              <a:t>+41%</a:t>
            </a:r>
          </a:p>
        </p:txBody>
      </p:sp>
      <p:sp>
        <p:nvSpPr>
          <p:cNvPr id="25" name="TextBox 24"/>
          <p:cNvSpPr txBox="1"/>
          <p:nvPr/>
        </p:nvSpPr>
        <p:spPr>
          <a:xfrm>
            <a:off x="4191000" y="5238750"/>
            <a:ext cx="2159000" cy="476250"/>
          </a:xfrm>
          <a:prstGeom prst="rect">
            <a:avLst/>
          </a:prstGeom>
          <a:noFill/>
        </p:spPr>
        <p:txBody>
          <a:bodyPr wrap="square"/>
          <a:lstStyle/>
          <a:p>
            <a:pPr algn="l">
              <a:lnSpc>
                <a:spcPct val="100000"/>
              </a:lnSpc>
            </a:pPr>
            <a:r>
              <a:rPr sz="1000" b="0" i="0">
                <a:solidFill>
                  <a:srgbClr val="FFFFFF"/>
                </a:solidFill>
                <a:latin typeface="Poppins"/>
              </a:rPr>
              <a:t>Revenue Q3 2025 de Duolingo: US$271.7M con 11.5M suscriptores pagos.</a:t>
            </a:r>
          </a:p>
        </p:txBody>
      </p:sp>
      <p:sp>
        <p:nvSpPr>
          <p:cNvPr id="26" name="TextBox 25"/>
          <p:cNvSpPr txBox="1"/>
          <p:nvPr/>
        </p:nvSpPr>
        <p:spPr>
          <a:xfrm>
            <a:off x="4191000" y="5867400"/>
            <a:ext cx="2159000" cy="152400"/>
          </a:xfrm>
          <a:prstGeom prst="rect">
            <a:avLst/>
          </a:prstGeom>
          <a:noFill/>
        </p:spPr>
        <p:txBody>
          <a:bodyPr wrap="square"/>
          <a:lstStyle/>
          <a:p>
            <a:pPr algn="l">
              <a:lnSpc>
                <a:spcPct val="100000"/>
              </a:lnSpc>
            </a:pPr>
            <a:r>
              <a:rPr sz="650" b="0" i="0">
                <a:solidFill>
                  <a:srgbClr val="666666"/>
                </a:solidFill>
                <a:latin typeface="Poppins"/>
              </a:rPr>
              <a:t>DUOLINGO SEC FILING FY2025</a:t>
            </a:r>
          </a:p>
        </p:txBody>
      </p:sp>
      <p:pic>
        <p:nvPicPr>
          <p:cNvPr id="27" name="Picture 26" descr="macro-2-2-duolingo-landin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Landing de Duolingo — búho Duo y propuesta gamificada de aprendizaje diario en 5 minutos.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DUOLINGO · 2025</a:t>
            </a:r>
          </a:p>
        </p:txBody>
      </p:sp>
      <p:pic>
        <p:nvPicPr>
          <p:cNvPr id="32" name="Picture 31" descr="macro-2-2-duolingo-streaks-gamification.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Mecánica de rachas (streaks) de Duolingo — UI de objetivo diario y contador de racha.</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DUOLINGO · 2025</a:t>
            </a:r>
          </a:p>
        </p:txBody>
      </p:sp>
      <p:pic>
        <p:nvPicPr>
          <p:cNvPr id="37" name="Picture 36" descr="macro-2-2-strivecloud-duolingo-hero.png">
            <a:hlinkClick r:id="rId5"/>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Análisis de gamificación de Duolingo — retención de usuarios +36% interanual.</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STRIVECLOUD ·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LA IA GENERATIVA AUTOMATIZÓ LA TAREA ESCOLAR: 84% DE SECUNDARIA LA USA, Y LA PREGUNTA DEJÓ DE SER SI COPIAN.</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825500"/>
          </a:xfrm>
          <a:prstGeom prst="rect">
            <a:avLst/>
          </a:prstGeom>
          <a:noFill/>
        </p:spPr>
        <p:txBody>
          <a:bodyPr wrap="square"/>
          <a:lstStyle/>
          <a:p>
            <a:pPr algn="l">
              <a:lnSpc>
                <a:spcPct val="100000"/>
              </a:lnSpc>
            </a:pPr>
            <a:r>
              <a:rPr sz="1000" b="0" i="0">
                <a:solidFill>
                  <a:srgbClr val="FFFFFF"/>
                </a:solidFill>
                <a:latin typeface="Poppins"/>
              </a:rPr>
              <a:t>84% de los estudiantes de secundaria usa IA generativa para schoolwork; 53% para ensayos. El uso en educación superior global saltó de 66% (2024) a 92% (2025). 44% de docentes detecta tarea sospechosa de IA cada semana, pero menos del 15% actúa.</a:t>
            </a:r>
          </a:p>
        </p:txBody>
      </p:sp>
      <p:sp>
        <p:nvSpPr>
          <p:cNvPr id="16" name="TextBox 15"/>
          <p:cNvSpPr txBox="1"/>
          <p:nvPr/>
        </p:nvSpPr>
        <p:spPr>
          <a:xfrm>
            <a:off x="254000" y="4660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914900"/>
            <a:ext cx="3683000" cy="762000"/>
          </a:xfrm>
          <a:prstGeom prst="rect">
            <a:avLst/>
          </a:prstGeom>
          <a:noFill/>
        </p:spPr>
        <p:txBody>
          <a:bodyPr wrap="square"/>
          <a:lstStyle/>
          <a:p>
            <a:pPr algn="l">
              <a:lnSpc>
                <a:spcPct val="100000"/>
              </a:lnSpc>
            </a:pPr>
            <a:r>
              <a:rPr sz="1600" b="0" i="0">
                <a:solidFill>
                  <a:srgbClr val="FFFFFF"/>
                </a:solidFill>
                <a:latin typeface="Instrument Serif"/>
              </a:rPr>
              <a:t>#chatgptforschool · #aihomework · #studyhack · #aidetector · #tareaconIA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84%</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estudiantes de secundaria usa IA generativa para schoolwork; 89% para tareas.</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NERDYNAV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92%</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De estudiantes de educación superior usa IA en 2025, subiendo desde 66% en 2024.</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DEMANDSAGE · 2026</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44%</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De docentes detecta tarea sospechosa de IA semanalmente, pero &lt;15% actúa.</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EDWEEK · 2025</a:t>
            </a:r>
          </a:p>
        </p:txBody>
      </p:sp>
      <p:pic>
        <p:nvPicPr>
          <p:cNvPr id="27" name="Picture 26" descr="macro-2-3-nerdynav-chatgpt-cheating-infographic.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Infografía Nerdynav — 84% de secundaria usa IA para tareas, 89% para homework.</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NERDYNAV · 2025</a:t>
            </a:r>
          </a:p>
        </p:txBody>
      </p:sp>
      <p:pic>
        <p:nvPicPr>
          <p:cNvPr id="32" name="Picture 31" descr="macro-2-3-nerdynav-student-usage-chart.png">
            <a:hlinkClick r:id="rId3"/>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Chart de uso de IA por tipo de tarea — ensayos, homework, investigación.</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NERDYNAV · 2025</a:t>
            </a:r>
          </a:p>
        </p:txBody>
      </p:sp>
      <p:pic>
        <p:nvPicPr>
          <p:cNvPr id="37" name="Picture 36" descr="macro-2-3-edweek-ai-cheating.png">
            <a:hlinkClick r:id="rId6"/>
          </p:cNvPr>
          <p:cNvPicPr>
            <a:picLocks noChangeAspect="1"/>
          </p:cNvPicPr>
          <p:nvPr/>
        </p:nvPicPr>
        <p:blipFill>
          <a:blip r:embed="rId5"/>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EdWeek — 44% de docentes detecta tarea IA semanalmente, &lt;15% actúa por falta de prueba.</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EDUCATION WEEK ·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2336800"/>
          </a:xfrm>
          <a:prstGeom prst="rect">
            <a:avLst/>
          </a:prstGeom>
          <a:noFill/>
        </p:spPr>
        <p:txBody>
          <a:bodyPr wrap="square"/>
          <a:lstStyle/>
          <a:p>
            <a:pPr algn="l">
              <a:lnSpc>
                <a:spcPct val="114000"/>
              </a:lnSpc>
            </a:pPr>
            <a:r>
              <a:rPr sz="2000" b="0" i="0">
                <a:solidFill>
                  <a:srgbClr val="FFFFFF"/>
                </a:solidFill>
                <a:latin typeface="Instrument Serif"/>
              </a:rPr>
              <a:t>EL DIPLOMA DE PAPEL SE MUDÓ A LA NUBE: 90% DE EMPLEADORES PREFIERE CANDIDATO CON MICROCREDENCIAL Y LOS BADGES VERIFICABLES SON MONEDA DE EMPLEABILIDAD.</a:t>
            </a:r>
          </a:p>
        </p:txBody>
      </p:sp>
      <p:sp>
        <p:nvSpPr>
          <p:cNvPr id="14" name="TextBox 13"/>
          <p:cNvSpPr txBox="1"/>
          <p:nvPr/>
        </p:nvSpPr>
        <p:spPr>
          <a:xfrm>
            <a:off x="254000" y="39878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4241800"/>
            <a:ext cx="3683000" cy="825500"/>
          </a:xfrm>
          <a:prstGeom prst="rect">
            <a:avLst/>
          </a:prstGeom>
          <a:noFill/>
        </p:spPr>
        <p:txBody>
          <a:bodyPr wrap="square"/>
          <a:lstStyle/>
          <a:p>
            <a:pPr algn="l">
              <a:lnSpc>
                <a:spcPct val="100000"/>
              </a:lnSpc>
            </a:pPr>
            <a:r>
              <a:rPr sz="1000" b="0" i="0">
                <a:solidFill>
                  <a:srgbClr val="FFFFFF"/>
                </a:solidFill>
                <a:latin typeface="Poppins"/>
              </a:rPr>
              <a:t>Más del 90% de empleadores prefiere candidato con microcredencial en el CV. Coursera lleva 15.4M+ inscripciones en certificados profesionales entry-level. El profesional exhibe el badge de Google o Coursera como prueba portátil y verificable.</a:t>
            </a:r>
          </a:p>
        </p:txBody>
      </p:sp>
      <p:sp>
        <p:nvSpPr>
          <p:cNvPr id="16" name="TextBox 15"/>
          <p:cNvSpPr txBox="1"/>
          <p:nvPr/>
        </p:nvSpPr>
        <p:spPr>
          <a:xfrm>
            <a:off x="254000" y="52451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499100"/>
            <a:ext cx="3683000" cy="762000"/>
          </a:xfrm>
          <a:prstGeom prst="rect">
            <a:avLst/>
          </a:prstGeom>
          <a:noFill/>
        </p:spPr>
        <p:txBody>
          <a:bodyPr wrap="square"/>
          <a:lstStyle/>
          <a:p>
            <a:pPr algn="l">
              <a:lnSpc>
                <a:spcPct val="100000"/>
              </a:lnSpc>
            </a:pPr>
            <a:r>
              <a:rPr sz="1600" b="0" i="0">
                <a:solidFill>
                  <a:srgbClr val="FFFFFF"/>
                </a:solidFill>
                <a:latin typeface="Instrument Serif"/>
              </a:rPr>
              <a:t>#microcredentials · #digitalbadges · #googlecertificate · #coursera · #credencialesdigitales</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+90%</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empleadores prefiere candidato con microcredencial en el CV.</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COURSERA / FORTUNE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15.4M+</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Inscripciones en certificados profesionales entry-level de Coursera.</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COURSERA GLOBAL SKILLS REPORT ·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2026</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'Getting hired in 2026 is all about your microcredentials' — CEO Coursera a Gen Z.</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FORTUNE · DIC 2025</a:t>
            </a:r>
          </a:p>
        </p:txBody>
      </p:sp>
      <p:pic>
        <p:nvPicPr>
          <p:cNvPr id="27" name="Picture 26" descr="macro-2-4-fortune-microcredentials.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Fortune: 'Getting hired in 2026 is all about your microcredentials' — CEO Coursera.</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FORTUNE · DEC 2025</a:t>
            </a:r>
          </a:p>
        </p:txBody>
      </p:sp>
      <p:pic>
        <p:nvPicPr>
          <p:cNvPr id="32" name="Picture 31" descr="macro-2-4-coursera-google-cert.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Google Career Certificates — badges digitales verificables para roles tech sin título universitario.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GOOGLE / COURSERA · 2025</a:t>
            </a:r>
          </a:p>
        </p:txBody>
      </p:sp>
      <p:pic>
        <p:nvPicPr>
          <p:cNvPr id="37" name="Picture 36" descr="macro-2-4-edsurge-digital-credential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EdSurge — credenciales digitales verificables que elevan el perfil sin esperar graduación.</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EDSURGE ·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13" name="TextBox 12"/>
          <p:cNvSpPr txBox="1"/>
          <p:nvPr/>
        </p:nvSpPr>
        <p:spPr>
          <a:xfrm>
            <a:off x="254000" y="1473200"/>
            <a:ext cx="3683000" cy="2336800"/>
          </a:xfrm>
          <a:prstGeom prst="rect">
            <a:avLst/>
          </a:prstGeom>
          <a:noFill/>
        </p:spPr>
        <p:txBody>
          <a:bodyPr wrap="square"/>
          <a:lstStyle/>
          <a:p>
            <a:pPr algn="l">
              <a:lnSpc>
                <a:spcPct val="114000"/>
              </a:lnSpc>
            </a:pPr>
            <a:r>
              <a:rPr sz="2000" b="0" i="0">
                <a:solidFill>
                  <a:srgbClr val="FFFFFF"/>
                </a:solidFill>
                <a:latin typeface="Instrument Serif"/>
              </a:rPr>
              <a:t>NO SOLO EL ESTUDIANTE USA IA, EL DOCENTE TAMBIÉN: EN RD 98% DE LA FACULTAD UNIVERSITARIA CONOCE IA Y EL PAÍS LIDERA EL USO DE CHATGPT ENTRE PROFESORES.</a:t>
            </a:r>
          </a:p>
        </p:txBody>
      </p:sp>
      <p:sp>
        <p:nvSpPr>
          <p:cNvPr id="14" name="TextBox 13"/>
          <p:cNvSpPr txBox="1"/>
          <p:nvPr/>
        </p:nvSpPr>
        <p:spPr>
          <a:xfrm>
            <a:off x="254000" y="39878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4241800"/>
            <a:ext cx="3683000" cy="825500"/>
          </a:xfrm>
          <a:prstGeom prst="rect">
            <a:avLst/>
          </a:prstGeom>
          <a:noFill/>
        </p:spPr>
        <p:txBody>
          <a:bodyPr wrap="square"/>
          <a:lstStyle/>
          <a:p>
            <a:pPr algn="l">
              <a:lnSpc>
                <a:spcPct val="100000"/>
              </a:lnSpc>
            </a:pPr>
            <a:r>
              <a:rPr sz="1000" b="0" i="0">
                <a:solidFill>
                  <a:srgbClr val="FFFFFF"/>
                </a:solidFill>
                <a:latin typeface="Poppins"/>
              </a:rPr>
              <a:t>El docente sobrecargado delega lo administrativo — planes de clase, rúbricas, exámenes — para enfocarse en enseñar. RD aparece con fuerza: 98% de docentes universitarios conoce IA, lidera uso de ChatGPT. Khanmigo se expandió de 45 a más de 380 distritos.</a:t>
            </a:r>
          </a:p>
        </p:txBody>
      </p:sp>
      <p:sp>
        <p:nvSpPr>
          <p:cNvPr id="16" name="TextBox 15"/>
          <p:cNvSpPr txBox="1"/>
          <p:nvPr/>
        </p:nvSpPr>
        <p:spPr>
          <a:xfrm>
            <a:off x="254000" y="52451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499100"/>
            <a:ext cx="3683000" cy="762000"/>
          </a:xfrm>
          <a:prstGeom prst="rect">
            <a:avLst/>
          </a:prstGeom>
          <a:noFill/>
        </p:spPr>
        <p:txBody>
          <a:bodyPr wrap="square"/>
          <a:lstStyle/>
          <a:p>
            <a:pPr algn="l">
              <a:lnSpc>
                <a:spcPct val="100000"/>
              </a:lnSpc>
            </a:pPr>
            <a:r>
              <a:rPr sz="1600" b="0" i="0">
                <a:solidFill>
                  <a:srgbClr val="FFFFFF"/>
                </a:solidFill>
                <a:latin typeface="Instrument Serif"/>
              </a:rPr>
              <a:t>#teacherai · #aiforteachers · #docenteIA · #smartclassroom · #edtechRD</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98%</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De docentes universitarios RD conoce conceptos de IA; el país lidera uso de ChatGPT en facultad.</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HMTV / INTEC-PUCMM-UASD · 2025</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380+</a:t>
            </a:r>
          </a:p>
        </p:txBody>
      </p:sp>
      <p:sp>
        <p:nvSpPr>
          <p:cNvPr id="22" name="TextBox 21"/>
          <p:cNvSpPr txBox="1"/>
          <p:nvPr/>
        </p:nvSpPr>
        <p:spPr>
          <a:xfrm>
            <a:off x="4191000" y="3759200"/>
            <a:ext cx="2159000" cy="476250"/>
          </a:xfrm>
          <a:prstGeom prst="rect">
            <a:avLst/>
          </a:prstGeom>
          <a:noFill/>
        </p:spPr>
        <p:txBody>
          <a:bodyPr wrap="square"/>
          <a:lstStyle/>
          <a:p>
            <a:pPr algn="l">
              <a:lnSpc>
                <a:spcPct val="100000"/>
              </a:lnSpc>
            </a:pPr>
            <a:r>
              <a:rPr sz="1000" b="0" i="0">
                <a:solidFill>
                  <a:srgbClr val="FFFFFF"/>
                </a:solidFill>
                <a:latin typeface="Poppins"/>
              </a:rPr>
              <a:t>Distritos escolares con Khanmigo, expandido desde 45 con herramientas docentes AI.</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KHAN ACADEMY · 2025</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2025</a:t>
            </a:r>
          </a:p>
        </p:txBody>
      </p:sp>
      <p:sp>
        <p:nvSpPr>
          <p:cNvPr id="25" name="TextBox 24"/>
          <p:cNvSpPr txBox="1"/>
          <p:nvPr/>
        </p:nvSpPr>
        <p:spPr>
          <a:xfrm>
            <a:off x="4191000" y="5556250"/>
            <a:ext cx="2159000" cy="635000"/>
          </a:xfrm>
          <a:prstGeom prst="rect">
            <a:avLst/>
          </a:prstGeom>
          <a:noFill/>
        </p:spPr>
        <p:txBody>
          <a:bodyPr wrap="square"/>
          <a:lstStyle/>
          <a:p>
            <a:pPr algn="l">
              <a:lnSpc>
                <a:spcPct val="100000"/>
              </a:lnSpc>
            </a:pPr>
            <a:r>
              <a:rPr sz="1000" b="0" i="0">
                <a:solidFill>
                  <a:srgbClr val="FFFFFF"/>
                </a:solidFill>
                <a:latin typeface="Poppins"/>
              </a:rPr>
              <a:t>Paper dominicano 'Educación Superior en la Era de la IA: Entre la Innovación y la Ética'.</a:t>
            </a:r>
          </a:p>
        </p:txBody>
      </p:sp>
      <p:sp>
        <p:nvSpPr>
          <p:cNvPr id="26" name="TextBox 25"/>
          <p:cNvSpPr txBox="1"/>
          <p:nvPr/>
        </p:nvSpPr>
        <p:spPr>
          <a:xfrm>
            <a:off x="4191000" y="6343650"/>
            <a:ext cx="2159000" cy="152400"/>
          </a:xfrm>
          <a:prstGeom prst="rect">
            <a:avLst/>
          </a:prstGeom>
          <a:noFill/>
        </p:spPr>
        <p:txBody>
          <a:bodyPr wrap="square"/>
          <a:lstStyle/>
          <a:p>
            <a:pPr algn="l">
              <a:lnSpc>
                <a:spcPct val="100000"/>
              </a:lnSpc>
            </a:pPr>
            <a:r>
              <a:rPr sz="650" b="0" i="0">
                <a:solidFill>
                  <a:srgbClr val="666666"/>
                </a:solidFill>
                <a:latin typeface="Poppins"/>
              </a:rPr>
              <a:t>SCIELO DOMINICAN REPUBLIC · 2025</a:t>
            </a:r>
          </a:p>
        </p:txBody>
      </p:sp>
      <p:pic>
        <p:nvPicPr>
          <p:cNvPr id="27" name="Picture 26" descr="macro-2-5-hmtv-ai-profesor-rd-chrome.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HMTV — 98% docentes universitarios RD conocen IA, país lidera uso de ChatGPT en facultad.</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HMTV / INTEC-PUCMM · 2025</a:t>
            </a:r>
          </a:p>
        </p:txBody>
      </p:sp>
      <p:pic>
        <p:nvPicPr>
          <p:cNvPr id="32" name="Picture 31" descr="macro-2-5-scielo-ai-educacion-rd.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Paper SciELO DO — 'Educación Superior en la Era de la IA', adopción docente en RD.</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SCIELO DOMINICAN REPUBLIC · 2025</a:t>
            </a:r>
          </a:p>
        </p:txBody>
      </p:sp>
      <p:pic>
        <p:nvPicPr>
          <p:cNvPr id="37" name="Picture 36" descr="macro-2-0-demandsage-ai-education-stat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AI in Education Statistics 2026 — mercado US$5.88B → US$32.27B; 92% uso en ed. superior.</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DEMANDSAGE ·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3</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ALGORITMO DEL HOGAR</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feed se sentó en la mesa y nadie le ofreció silla."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ESTUDIAR SE VOLVIÓ CONTENIDO: STUDY WITH ME LIVES Y NOTAS ESTÉTICAS CONVIERTEN EL ESTUDIO SOLITARIO EN ESPECTÁCULO SOCIAL.</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990600"/>
          </a:xfrm>
          <a:prstGeom prst="rect">
            <a:avLst/>
          </a:prstGeom>
          <a:noFill/>
        </p:spPr>
        <p:txBody>
          <a:bodyPr wrap="square"/>
          <a:lstStyle/>
          <a:p>
            <a:pPr algn="l">
              <a:lnSpc>
                <a:spcPct val="100000"/>
              </a:lnSpc>
            </a:pPr>
            <a:r>
              <a:rPr sz="1000" b="0" i="0">
                <a:solidFill>
                  <a:srgbClr val="FFFFFF"/>
                </a:solidFill>
                <a:latin typeface="Poppins"/>
              </a:rPr>
              <a:t>Los 'study with me' lives y las notas estéticas convirtieron la sesión de estudio en una experiencia social-algorítmica. El educativo es la 2da categoría más vista en TikTok (16.1% de views). La disciplina ya no viene de adentro — viene de la mirada de extraños en el feed.</a:t>
            </a:r>
          </a:p>
        </p:txBody>
      </p:sp>
      <p:sp>
        <p:nvSpPr>
          <p:cNvPr id="16" name="TextBox 15"/>
          <p:cNvSpPr txBox="1"/>
          <p:nvPr/>
        </p:nvSpPr>
        <p:spPr>
          <a:xfrm>
            <a:off x="254000" y="48260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080000"/>
            <a:ext cx="3683000" cy="762000"/>
          </a:xfrm>
          <a:prstGeom prst="rect">
            <a:avLst/>
          </a:prstGeom>
          <a:noFill/>
        </p:spPr>
        <p:txBody>
          <a:bodyPr wrap="square"/>
          <a:lstStyle/>
          <a:p>
            <a:pPr algn="l">
              <a:lnSpc>
                <a:spcPct val="100000"/>
              </a:lnSpc>
            </a:pPr>
            <a:r>
              <a:rPr sz="1600" b="0" i="0">
                <a:solidFill>
                  <a:srgbClr val="FFFFFF"/>
                </a:solidFill>
                <a:latin typeface="Instrument Serif"/>
              </a:rPr>
              <a:t>#studytok · #studywithme · #studygram · #studymotivation · #estudiarconmigo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16.1%</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Del total de views de TikTok corresponde a contenido educativo — 2da categoría más vista.</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SMILETUTOR · 2025</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7.36%</a:t>
            </a:r>
          </a:p>
        </p:txBody>
      </p:sp>
      <p:sp>
        <p:nvSpPr>
          <p:cNvPr id="22" name="TextBox 21"/>
          <p:cNvSpPr txBox="1"/>
          <p:nvPr/>
        </p:nvSpPr>
        <p:spPr>
          <a:xfrm>
            <a:off x="4191000" y="3759200"/>
            <a:ext cx="2159000" cy="635000"/>
          </a:xfrm>
          <a:prstGeom prst="rect">
            <a:avLst/>
          </a:prstGeom>
          <a:noFill/>
        </p:spPr>
        <p:txBody>
          <a:bodyPr wrap="square"/>
          <a:lstStyle/>
          <a:p>
            <a:pPr algn="l">
              <a:lnSpc>
                <a:spcPct val="100000"/>
              </a:lnSpc>
            </a:pPr>
            <a:r>
              <a:rPr sz="1000" b="0" i="0">
                <a:solidFill>
                  <a:srgbClr val="FFFFFF"/>
                </a:solidFill>
                <a:latin typeface="Poppins"/>
              </a:rPr>
              <a:t>De engagement de las cuentas de educación superior en TikTok — sobre el promedio de plataforma.</a:t>
            </a:r>
          </a:p>
        </p:txBody>
      </p:sp>
      <p:sp>
        <p:nvSpPr>
          <p:cNvPr id="23" name="TextBox 22"/>
          <p:cNvSpPr txBox="1"/>
          <p:nvPr/>
        </p:nvSpPr>
        <p:spPr>
          <a:xfrm>
            <a:off x="4191000" y="4546600"/>
            <a:ext cx="2159000" cy="152400"/>
          </a:xfrm>
          <a:prstGeom prst="rect">
            <a:avLst/>
          </a:prstGeom>
          <a:noFill/>
        </p:spPr>
        <p:txBody>
          <a:bodyPr wrap="square"/>
          <a:lstStyle/>
          <a:p>
            <a:pPr algn="l">
              <a:lnSpc>
                <a:spcPct val="100000"/>
              </a:lnSpc>
            </a:pPr>
            <a:r>
              <a:rPr sz="650" b="0" i="0">
                <a:solidFill>
                  <a:srgbClr val="666666"/>
                </a:solidFill>
                <a:latin typeface="Poppins"/>
              </a:rPr>
              <a:t>SMILETUTOR · 2025</a:t>
            </a:r>
          </a:p>
        </p:txBody>
      </p:sp>
      <p:sp>
        <p:nvSpPr>
          <p:cNvPr id="24" name="TextBox 23"/>
          <p:cNvSpPr txBox="1"/>
          <p:nvPr/>
        </p:nvSpPr>
        <p:spPr>
          <a:xfrm>
            <a:off x="4191000" y="4978400"/>
            <a:ext cx="2159000" cy="584200"/>
          </a:xfrm>
          <a:prstGeom prst="rect">
            <a:avLst/>
          </a:prstGeom>
          <a:noFill/>
        </p:spPr>
        <p:txBody>
          <a:bodyPr wrap="square"/>
          <a:lstStyle/>
          <a:p>
            <a:pPr algn="l">
              <a:lnSpc>
                <a:spcPct val="100000"/>
              </a:lnSpc>
            </a:pPr>
            <a:r>
              <a:rPr sz="4000" b="0" i="0">
                <a:solidFill>
                  <a:srgbClr val="FFFFFF"/>
                </a:solidFill>
                <a:latin typeface="Instrument Serif"/>
              </a:rPr>
              <a:t>2025</a:t>
            </a:r>
          </a:p>
        </p:txBody>
      </p:sp>
      <p:sp>
        <p:nvSpPr>
          <p:cNvPr id="25" name="TextBox 24"/>
          <p:cNvSpPr txBox="1"/>
          <p:nvPr/>
        </p:nvSpPr>
        <p:spPr>
          <a:xfrm>
            <a:off x="4191000" y="5715000"/>
            <a:ext cx="2159000" cy="635000"/>
          </a:xfrm>
          <a:prstGeom prst="rect">
            <a:avLst/>
          </a:prstGeom>
          <a:noFill/>
        </p:spPr>
        <p:txBody>
          <a:bodyPr wrap="square"/>
          <a:lstStyle/>
          <a:p>
            <a:pPr algn="l">
              <a:lnSpc>
                <a:spcPct val="100000"/>
              </a:lnSpc>
            </a:pPr>
            <a:r>
              <a:rPr sz="1000" b="0" i="0">
                <a:solidFill>
                  <a:srgbClr val="FFFFFF"/>
                </a:solidFill>
                <a:latin typeface="Poppins"/>
              </a:rPr>
              <a:t>Revisión sistemática: métodos asistidos por TikTok elevan motivación, participación y desempeño.</a:t>
            </a:r>
          </a:p>
        </p:txBody>
      </p:sp>
      <p:sp>
        <p:nvSpPr>
          <p:cNvPr id="26" name="TextBox 25"/>
          <p:cNvSpPr txBox="1"/>
          <p:nvPr/>
        </p:nvSpPr>
        <p:spPr>
          <a:xfrm>
            <a:off x="4191000" y="6502400"/>
            <a:ext cx="2159000" cy="152400"/>
          </a:xfrm>
          <a:prstGeom prst="rect">
            <a:avLst/>
          </a:prstGeom>
          <a:noFill/>
        </p:spPr>
        <p:txBody>
          <a:bodyPr wrap="square"/>
          <a:lstStyle/>
          <a:p>
            <a:pPr algn="l">
              <a:lnSpc>
                <a:spcPct val="100000"/>
              </a:lnSpc>
            </a:pPr>
            <a:r>
              <a:rPr sz="650" b="0" i="0">
                <a:solidFill>
                  <a:srgbClr val="666666"/>
                </a:solidFill>
                <a:latin typeface="Poppins"/>
              </a:rPr>
              <a:t>CTO COLLEGE · 2026</a:t>
            </a:r>
          </a:p>
        </p:txBody>
      </p:sp>
      <p:pic>
        <p:nvPicPr>
          <p:cNvPr id="27" name="Picture 26" descr="macro-3-0-tiktok-studytok-ta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Página del hashtag #studytok en TikTok — grid de top videos de estudio compartido y notas estéticas.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2025</a:t>
            </a:r>
          </a:p>
        </p:txBody>
      </p:sp>
      <p:pic>
        <p:nvPicPr>
          <p:cNvPr id="32" name="Picture 31" descr="macro-3-1-youtube-studywithme.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Resultados YouTube 'study with me 2025' — grid de thumbnails del género de estudio compartido.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YOUTUBE · 2025</a:t>
            </a:r>
          </a:p>
        </p:txBody>
      </p:sp>
      <p:pic>
        <p:nvPicPr>
          <p:cNvPr id="37" name="Picture 36" descr="macro-3-1-southeastarrow-studytok.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'The Rise of StudyTok: Motivational or a Distraction?' — debate sobre el estudio performativo.</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SOUTHEAST ARROW ·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1752600"/>
          </a:xfrm>
          <a:prstGeom prst="rect">
            <a:avLst/>
          </a:prstGeom>
          <a:noFill/>
        </p:spPr>
        <p:txBody>
          <a:bodyPr wrap="square"/>
          <a:lstStyle/>
          <a:p>
            <a:pPr algn="l">
              <a:lnSpc>
                <a:spcPct val="114000"/>
              </a:lnSpc>
            </a:pPr>
            <a:r>
              <a:rPr sz="2000" b="0" i="0">
                <a:solidFill>
                  <a:srgbClr val="FFFFFF"/>
                </a:solidFill>
                <a:latin typeface="Instrument Serif"/>
              </a:rPr>
              <a:t>EL FEED REEMPLAZÓ AL BUSCADOR COMO PUERTA DEL CONOCIMIENTO: 53% DE GEN Z CONSULTA TIKTOK ANTES QUE GOOGLE.</a:t>
            </a:r>
          </a:p>
        </p:txBody>
      </p:sp>
      <p:sp>
        <p:nvSpPr>
          <p:cNvPr id="14" name="TextBox 13"/>
          <p:cNvSpPr txBox="1"/>
          <p:nvPr/>
        </p:nvSpPr>
        <p:spPr>
          <a:xfrm>
            <a:off x="254000" y="3403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57600"/>
            <a:ext cx="3683000" cy="990600"/>
          </a:xfrm>
          <a:prstGeom prst="rect">
            <a:avLst/>
          </a:prstGeom>
          <a:noFill/>
        </p:spPr>
        <p:txBody>
          <a:bodyPr wrap="square"/>
          <a:lstStyle/>
          <a:p>
            <a:pPr algn="l">
              <a:lnSpc>
                <a:spcPct val="100000"/>
              </a:lnSpc>
            </a:pPr>
            <a:r>
              <a:rPr sz="1000" b="0" i="0">
                <a:solidFill>
                  <a:srgbClr val="FFFFFF"/>
                </a:solidFill>
                <a:latin typeface="Poppins"/>
              </a:rPr>
              <a:t>53% de Gen Z consulta TikTok, Reddit o YouTube antes que Google. El estudiante busca la explicación de un tema escolar directo en el feed, en formato de 60 segundos con cara y voz. El criterio de qué es verdad ya no lo decide la fuente — lo decide el creador que te cae bien.</a:t>
            </a:r>
          </a:p>
        </p:txBody>
      </p:sp>
      <p:sp>
        <p:nvSpPr>
          <p:cNvPr id="16" name="TextBox 15"/>
          <p:cNvSpPr txBox="1"/>
          <p:nvPr/>
        </p:nvSpPr>
        <p:spPr>
          <a:xfrm>
            <a:off x="254000" y="48260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080000"/>
            <a:ext cx="3683000" cy="762000"/>
          </a:xfrm>
          <a:prstGeom prst="rect">
            <a:avLst/>
          </a:prstGeom>
          <a:noFill/>
        </p:spPr>
        <p:txBody>
          <a:bodyPr wrap="square"/>
          <a:lstStyle/>
          <a:p>
            <a:pPr algn="l">
              <a:lnSpc>
                <a:spcPct val="100000"/>
              </a:lnSpc>
            </a:pPr>
            <a:r>
              <a:rPr sz="1600" b="0" i="0">
                <a:solidFill>
                  <a:srgbClr val="FFFFFF"/>
                </a:solidFill>
                <a:latin typeface="Instrument Serif"/>
              </a:rPr>
              <a:t>#learnontiktok · #tiktoktaughtme · #edutok · #tiktokitdontgoogleit · #aprendintiktok</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53%</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De Gen Z busca en TikTok, Reddit o YouTube antes que Google para informarse.</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RESOLVE · 2026</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Gen Z</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Y Gen Alpha usan el video social como herramienta de búsqueda cotidiana, no Google.</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INFORMATION MATTERS · 2026</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2025</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'Why Gen Z turns to YouTube and TikTok for learning' — el video como autoridad epistémica.</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UQUALIO · 2025</a:t>
            </a:r>
          </a:p>
        </p:txBody>
      </p:sp>
      <p:pic>
        <p:nvPicPr>
          <p:cNvPr id="27" name="Picture 26" descr="macro-3-2-informationmatters-genz-tiktok-search.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'TikTok It, Don't Google It' — Gen Z con celular, 53% busca en TikTok antes que Google.</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INFORMATION MATTERS / RESOLVE · 2026</a:t>
            </a:r>
          </a:p>
        </p:txBody>
      </p:sp>
      <p:pic>
        <p:nvPicPr>
          <p:cNvPr id="32" name="Picture 31" descr="macro-3-2-uqualio-genz-video-learning.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Uqualio — Gen Z y el video como herramienta educativa; el feed como primera fuente.</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UQUALIO · 2025</a:t>
            </a:r>
          </a:p>
        </p:txBody>
      </p:sp>
      <p:pic>
        <p:nvPicPr>
          <p:cNvPr id="37" name="Picture 36" descr="macro-3-0-smiletutor-studytok.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SmileTutor sobre StudyTok — contenido educativo 16.1% de views totales de TikTok.</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SMILETUTOR · 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2044700"/>
          </a:xfrm>
          <a:prstGeom prst="rect">
            <a:avLst/>
          </a:prstGeom>
          <a:noFill/>
        </p:spPr>
        <p:txBody>
          <a:bodyPr wrap="square"/>
          <a:lstStyle/>
          <a:p>
            <a:pPr algn="l">
              <a:lnSpc>
                <a:spcPct val="114000"/>
              </a:lnSpc>
            </a:pPr>
            <a:r>
              <a:rPr sz="2000" b="0" i="0">
                <a:solidFill>
                  <a:srgbClr val="FFFFFF"/>
                </a:solidFill>
                <a:latin typeface="Instrument Serif"/>
              </a:rPr>
              <a:t>EL CONOCIMIENTO SE FRAGMENTÓ AL FORMATO DEL FEED: EL MICROLEARNING EN PÍLDORAS DE 60 SEGUNDOS REEMPLAZA LA CLASE DE 50 MINUTOS.</a:t>
            </a:r>
          </a:p>
        </p:txBody>
      </p:sp>
      <p:sp>
        <p:nvSpPr>
          <p:cNvPr id="14" name="TextBox 13"/>
          <p:cNvSpPr txBox="1"/>
          <p:nvPr/>
        </p:nvSpPr>
        <p:spPr>
          <a:xfrm>
            <a:off x="254000" y="3695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49700"/>
            <a:ext cx="3683000" cy="990600"/>
          </a:xfrm>
          <a:prstGeom prst="rect">
            <a:avLst/>
          </a:prstGeom>
          <a:noFill/>
        </p:spPr>
        <p:txBody>
          <a:bodyPr wrap="square"/>
          <a:lstStyle/>
          <a:p>
            <a:pPr algn="l">
              <a:lnSpc>
                <a:spcPct val="100000"/>
              </a:lnSpc>
            </a:pPr>
            <a:r>
              <a:rPr sz="1000" b="0" i="0">
                <a:solidFill>
                  <a:srgbClr val="FFFFFF"/>
                </a:solidFill>
                <a:latin typeface="Poppins"/>
              </a:rPr>
              <a:t>El microlearning — conceptos en clips cortos — empezó a reemplazar la lectura larga y la clase entera. Las escuelas K-12 ya están adoptando el formato corto que el algoritmo impuso primero. Una revisión 2025 encontró que el microlearning asistido por TikTok mejora retención y engagement.</a:t>
            </a:r>
          </a:p>
        </p:txBody>
      </p:sp>
      <p:sp>
        <p:nvSpPr>
          <p:cNvPr id="16" name="TextBox 15"/>
          <p:cNvSpPr txBox="1"/>
          <p:nvPr/>
        </p:nvSpPr>
        <p:spPr>
          <a:xfrm>
            <a:off x="254000" y="51181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72100"/>
            <a:ext cx="3683000" cy="762000"/>
          </a:xfrm>
          <a:prstGeom prst="rect">
            <a:avLst/>
          </a:prstGeom>
          <a:noFill/>
        </p:spPr>
        <p:txBody>
          <a:bodyPr wrap="square"/>
          <a:lstStyle/>
          <a:p>
            <a:pPr algn="l">
              <a:lnSpc>
                <a:spcPct val="100000"/>
              </a:lnSpc>
            </a:pPr>
            <a:r>
              <a:rPr sz="1600" b="0" i="0">
                <a:solidFill>
                  <a:srgbClr val="FFFFFF"/>
                </a:solidFill>
                <a:latin typeface="Instrument Serif"/>
              </a:rPr>
              <a:t>#microlearning · #learnin60seconds · #edutok · #explained · #aprenderrapido</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K-12</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Las escuelas adoptan el microlearning — el formato corto del algoritmo entra al aula formal.</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NY STATE SCHOOL BOARDS ASSOC. · 2025</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a:t>
            </a:r>
          </a:p>
        </p:txBody>
      </p:sp>
      <p:sp>
        <p:nvSpPr>
          <p:cNvPr id="22" name="TextBox 21"/>
          <p:cNvSpPr txBox="1"/>
          <p:nvPr/>
        </p:nvSpPr>
        <p:spPr>
          <a:xfrm>
            <a:off x="4191000" y="3759200"/>
            <a:ext cx="2159000" cy="476250"/>
          </a:xfrm>
          <a:prstGeom prst="rect">
            <a:avLst/>
          </a:prstGeom>
          <a:noFill/>
        </p:spPr>
        <p:txBody>
          <a:bodyPr wrap="square"/>
          <a:lstStyle/>
          <a:p>
            <a:pPr algn="l">
              <a:lnSpc>
                <a:spcPct val="100000"/>
              </a:lnSpc>
            </a:pPr>
            <a:r>
              <a:rPr sz="1000" b="0" i="0">
                <a:solidFill>
                  <a:srgbClr val="FFFFFF"/>
                </a:solidFill>
                <a:latin typeface="Poppins"/>
              </a:rPr>
              <a:t>Revisión 2025: microlearning asistido por TikTok mejora retención y engagement escolar.</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CTO COLLEGE · 2026</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60s</a:t>
            </a:r>
          </a:p>
        </p:txBody>
      </p:sp>
      <p:sp>
        <p:nvSpPr>
          <p:cNvPr id="25" name="TextBox 24"/>
          <p:cNvSpPr txBox="1"/>
          <p:nvPr/>
        </p:nvSpPr>
        <p:spPr>
          <a:xfrm>
            <a:off x="4191000" y="5556250"/>
            <a:ext cx="2159000" cy="476250"/>
          </a:xfrm>
          <a:prstGeom prst="rect">
            <a:avLst/>
          </a:prstGeom>
          <a:noFill/>
        </p:spPr>
        <p:txBody>
          <a:bodyPr wrap="square"/>
          <a:lstStyle/>
          <a:p>
            <a:pPr algn="l">
              <a:lnSpc>
                <a:spcPct val="100000"/>
              </a:lnSpc>
            </a:pPr>
            <a:r>
              <a:rPr sz="1000" b="0" i="0">
                <a:solidFill>
                  <a:srgbClr val="FFFFFF"/>
                </a:solidFill>
                <a:latin typeface="Poppins"/>
              </a:rPr>
              <a:t>Los formatos 'explained in 60 seconds' dominan EduTok y presionan al aula formal.</a:t>
            </a:r>
          </a:p>
        </p:txBody>
      </p:sp>
      <p:sp>
        <p:nvSpPr>
          <p:cNvPr id="26" name="TextBox 25"/>
          <p:cNvSpPr txBox="1"/>
          <p:nvPr/>
        </p:nvSpPr>
        <p:spPr>
          <a:xfrm>
            <a:off x="4191000" y="6184900"/>
            <a:ext cx="2159000" cy="152400"/>
          </a:xfrm>
          <a:prstGeom prst="rect">
            <a:avLst/>
          </a:prstGeom>
          <a:noFill/>
        </p:spPr>
        <p:txBody>
          <a:bodyPr wrap="square"/>
          <a:lstStyle/>
          <a:p>
            <a:pPr algn="l">
              <a:lnSpc>
                <a:spcPct val="100000"/>
              </a:lnSpc>
            </a:pPr>
            <a:r>
              <a:rPr sz="650" b="0" i="0">
                <a:solidFill>
                  <a:srgbClr val="666666"/>
                </a:solidFill>
                <a:latin typeface="Poppins"/>
              </a:rPr>
              <a:t>TIKTOK · 2025</a:t>
            </a:r>
          </a:p>
        </p:txBody>
      </p:sp>
      <p:pic>
        <p:nvPicPr>
          <p:cNvPr id="27" name="Picture 26" descr="macro-3-3-cto-microlearning.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Microlearning y TikTok en el aula 2026 — formato corto mejora retención y engagement.</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CTO COLLEGE · 2026</a:t>
            </a:r>
          </a:p>
        </p:txBody>
      </p:sp>
      <p:pic>
        <p:nvPicPr>
          <p:cNvPr id="32" name="Picture 31" descr="macro-3-3-nyssba-microlearning-k12.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NYSSBA — microlearning entra a K-12: instituciones adoptan el formato corto del algoritmo.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NYSSBA · 2025</a:t>
            </a:r>
          </a:p>
        </p:txBody>
      </p:sp>
      <p:pic>
        <p:nvPicPr>
          <p:cNvPr id="37" name="Picture 36" descr="macro-3-3-linkedin-learning-ui.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LinkedIn Learning — cursos bite-sized y microlearning para profesionales.</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LINKEDIN LEARNING · 2025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2336800"/>
          </a:xfrm>
          <a:prstGeom prst="rect">
            <a:avLst/>
          </a:prstGeom>
          <a:noFill/>
        </p:spPr>
        <p:txBody>
          <a:bodyPr wrap="square"/>
          <a:lstStyle/>
          <a:p>
            <a:pPr algn="l">
              <a:lnSpc>
                <a:spcPct val="114000"/>
              </a:lnSpc>
            </a:pPr>
            <a:r>
              <a:rPr sz="2000" b="0" i="0">
                <a:solidFill>
                  <a:srgbClr val="FFFFFF"/>
                </a:solidFill>
                <a:latin typeface="Instrument Serif"/>
              </a:rPr>
              <a:t>LA ORIENTACIÓN VOCACIONAL MIGRÓ AL FEED: CREADORES MUESTRAN UN DÍA EN MI TRABAJO Y SALARIOS REALES, Y ESO MOLDEA QUÉ CARRERA ELIGE UN ADOLESCENTE.</a:t>
            </a:r>
          </a:p>
        </p:txBody>
      </p:sp>
      <p:sp>
        <p:nvSpPr>
          <p:cNvPr id="14" name="TextBox 13"/>
          <p:cNvSpPr txBox="1"/>
          <p:nvPr/>
        </p:nvSpPr>
        <p:spPr>
          <a:xfrm>
            <a:off x="254000" y="39878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4241800"/>
            <a:ext cx="3683000" cy="990600"/>
          </a:xfrm>
          <a:prstGeom prst="rect">
            <a:avLst/>
          </a:prstGeom>
          <a:noFill/>
        </p:spPr>
        <p:txBody>
          <a:bodyPr wrap="square"/>
          <a:lstStyle/>
          <a:p>
            <a:pPr algn="l">
              <a:lnSpc>
                <a:spcPct val="100000"/>
              </a:lnSpc>
            </a:pPr>
            <a:r>
              <a:rPr sz="1000" b="0" i="0">
                <a:solidFill>
                  <a:srgbClr val="FFFFFF"/>
                </a:solidFill>
                <a:latin typeface="Poppins"/>
              </a:rPr>
              <a:t>El orientador escolar tenía un test y un folleto. El feed tiene 'un día en mi vida como [profesión]' y salary reveals. 53% de Gen Z investiga en plataformas sociales antes de tomar decisiones, incluida la carrera. La vida real de una profesión pesa más que el brochure.</a:t>
            </a:r>
          </a:p>
        </p:txBody>
      </p:sp>
      <p:sp>
        <p:nvSpPr>
          <p:cNvPr id="16" name="TextBox 15"/>
          <p:cNvSpPr txBox="1"/>
          <p:nvPr/>
        </p:nvSpPr>
        <p:spPr>
          <a:xfrm>
            <a:off x="254000" y="54102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664200"/>
            <a:ext cx="3683000" cy="762000"/>
          </a:xfrm>
          <a:prstGeom prst="rect">
            <a:avLst/>
          </a:prstGeom>
          <a:noFill/>
        </p:spPr>
        <p:txBody>
          <a:bodyPr wrap="square"/>
          <a:lstStyle/>
          <a:p>
            <a:pPr algn="l">
              <a:lnSpc>
                <a:spcPct val="100000"/>
              </a:lnSpc>
            </a:pPr>
            <a:r>
              <a:rPr sz="1600" b="0" i="0">
                <a:solidFill>
                  <a:srgbClr val="FFFFFF"/>
                </a:solidFill>
                <a:latin typeface="Instrument Serif"/>
              </a:rPr>
              <a:t>#careertok · #dayinmylife · #salarytransparency · #careeradvice · #queestudiar</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53%</a:t>
            </a:r>
          </a:p>
        </p:txBody>
      </p:sp>
      <p:sp>
        <p:nvSpPr>
          <p:cNvPr id="19" name="TextBox 18"/>
          <p:cNvSpPr txBox="1"/>
          <p:nvPr/>
        </p:nvSpPr>
        <p:spPr>
          <a:xfrm>
            <a:off x="4191000" y="1803400"/>
            <a:ext cx="2159000" cy="635000"/>
          </a:xfrm>
          <a:prstGeom prst="rect">
            <a:avLst/>
          </a:prstGeom>
          <a:noFill/>
        </p:spPr>
        <p:txBody>
          <a:bodyPr wrap="square"/>
          <a:lstStyle/>
          <a:p>
            <a:pPr algn="l">
              <a:lnSpc>
                <a:spcPct val="100000"/>
              </a:lnSpc>
            </a:pPr>
            <a:r>
              <a:rPr sz="1000" b="0" i="0">
                <a:solidFill>
                  <a:srgbClr val="FFFFFF"/>
                </a:solidFill>
                <a:latin typeface="Poppins"/>
              </a:rPr>
              <a:t>De Gen Z investiga en plataformas sociales antes de decisiones, incluida la carrera.</a:t>
            </a:r>
          </a:p>
        </p:txBody>
      </p:sp>
      <p:sp>
        <p:nvSpPr>
          <p:cNvPr id="20" name="TextBox 19"/>
          <p:cNvSpPr txBox="1"/>
          <p:nvPr/>
        </p:nvSpPr>
        <p:spPr>
          <a:xfrm>
            <a:off x="4191000" y="2590800"/>
            <a:ext cx="2159000" cy="152400"/>
          </a:xfrm>
          <a:prstGeom prst="rect">
            <a:avLst/>
          </a:prstGeom>
          <a:noFill/>
        </p:spPr>
        <p:txBody>
          <a:bodyPr wrap="square"/>
          <a:lstStyle/>
          <a:p>
            <a:pPr algn="l">
              <a:lnSpc>
                <a:spcPct val="100000"/>
              </a:lnSpc>
            </a:pPr>
            <a:r>
              <a:rPr sz="650" b="0" i="0">
                <a:solidFill>
                  <a:srgbClr val="666666"/>
                </a:solidFill>
                <a:latin typeface="Poppins"/>
              </a:rPr>
              <a:t>RESOLVE · 2026</a:t>
            </a:r>
          </a:p>
        </p:txBody>
      </p:sp>
      <p:sp>
        <p:nvSpPr>
          <p:cNvPr id="21" name="TextBox 20"/>
          <p:cNvSpPr txBox="1"/>
          <p:nvPr/>
        </p:nvSpPr>
        <p:spPr>
          <a:xfrm>
            <a:off x="4191000" y="3022600"/>
            <a:ext cx="2159000" cy="584200"/>
          </a:xfrm>
          <a:prstGeom prst="rect">
            <a:avLst/>
          </a:prstGeom>
          <a:noFill/>
        </p:spPr>
        <p:txBody>
          <a:bodyPr wrap="square"/>
          <a:lstStyle/>
          <a:p>
            <a:pPr algn="l">
              <a:lnSpc>
                <a:spcPct val="100000"/>
              </a:lnSpc>
            </a:pPr>
            <a:r>
              <a:rPr sz="4000" b="0" i="0">
                <a:solidFill>
                  <a:srgbClr val="FFFFFF"/>
                </a:solidFill>
                <a:latin typeface="Instrument Serif"/>
              </a:rPr>
              <a:t>2026</a:t>
            </a:r>
          </a:p>
        </p:txBody>
      </p:sp>
      <p:sp>
        <p:nvSpPr>
          <p:cNvPr id="22" name="TextBox 21"/>
          <p:cNvSpPr txBox="1"/>
          <p:nvPr/>
        </p:nvSpPr>
        <p:spPr>
          <a:xfrm>
            <a:off x="4191000" y="3759200"/>
            <a:ext cx="2159000" cy="476250"/>
          </a:xfrm>
          <a:prstGeom prst="rect">
            <a:avLst/>
          </a:prstGeom>
          <a:noFill/>
        </p:spPr>
        <p:txBody>
          <a:bodyPr wrap="square"/>
          <a:lstStyle/>
          <a:p>
            <a:pPr algn="l">
              <a:lnSpc>
                <a:spcPct val="100000"/>
              </a:lnSpc>
            </a:pPr>
            <a:r>
              <a:rPr sz="1000" b="0" i="0">
                <a:solidFill>
                  <a:srgbClr val="FFFFFF"/>
                </a:solidFill>
                <a:latin typeface="Poppins"/>
              </a:rPr>
              <a:t>#careertok y 'day in my life as a [profesión]' son formatos masivos de decisión vocacional.</a:t>
            </a:r>
          </a:p>
        </p:txBody>
      </p:sp>
      <p:sp>
        <p:nvSpPr>
          <p:cNvPr id="23" name="TextBox 22"/>
          <p:cNvSpPr txBox="1"/>
          <p:nvPr/>
        </p:nvSpPr>
        <p:spPr>
          <a:xfrm>
            <a:off x="4191000" y="4387850"/>
            <a:ext cx="2159000" cy="152400"/>
          </a:xfrm>
          <a:prstGeom prst="rect">
            <a:avLst/>
          </a:prstGeom>
          <a:noFill/>
        </p:spPr>
        <p:txBody>
          <a:bodyPr wrap="square"/>
          <a:lstStyle/>
          <a:p>
            <a:pPr algn="l">
              <a:lnSpc>
                <a:spcPct val="100000"/>
              </a:lnSpc>
            </a:pPr>
            <a:r>
              <a:rPr sz="650" b="0" i="0">
                <a:solidFill>
                  <a:srgbClr val="666666"/>
                </a:solidFill>
                <a:latin typeface="Poppins"/>
              </a:rPr>
              <a:t>TIKTOK DISCOVER · 2025</a:t>
            </a:r>
          </a:p>
        </p:txBody>
      </p:sp>
      <p:sp>
        <p:nvSpPr>
          <p:cNvPr id="24" name="TextBox 23"/>
          <p:cNvSpPr txBox="1"/>
          <p:nvPr/>
        </p:nvSpPr>
        <p:spPr>
          <a:xfrm>
            <a:off x="4191000" y="4819650"/>
            <a:ext cx="2159000" cy="584200"/>
          </a:xfrm>
          <a:prstGeom prst="rect">
            <a:avLst/>
          </a:prstGeom>
          <a:noFill/>
        </p:spPr>
        <p:txBody>
          <a:bodyPr wrap="square"/>
          <a:lstStyle/>
          <a:p>
            <a:pPr algn="l">
              <a:lnSpc>
                <a:spcPct val="100000"/>
              </a:lnSpc>
            </a:pPr>
            <a:r>
              <a:rPr sz="4000" b="0" i="0">
                <a:solidFill>
                  <a:srgbClr val="FFFFFF"/>
                </a:solidFill>
                <a:latin typeface="Instrument Serif"/>
              </a:rPr>
              <a:t>salary</a:t>
            </a:r>
          </a:p>
        </p:txBody>
      </p:sp>
      <p:sp>
        <p:nvSpPr>
          <p:cNvPr id="25" name="TextBox 24"/>
          <p:cNvSpPr txBox="1"/>
          <p:nvPr/>
        </p:nvSpPr>
        <p:spPr>
          <a:xfrm>
            <a:off x="4191000" y="5556250"/>
            <a:ext cx="2159000" cy="635000"/>
          </a:xfrm>
          <a:prstGeom prst="rect">
            <a:avLst/>
          </a:prstGeom>
          <a:noFill/>
        </p:spPr>
        <p:txBody>
          <a:bodyPr wrap="square"/>
          <a:lstStyle/>
          <a:p>
            <a:pPr algn="l">
              <a:lnSpc>
                <a:spcPct val="100000"/>
              </a:lnSpc>
            </a:pPr>
            <a:r>
              <a:rPr sz="1000" b="0" i="0">
                <a:solidFill>
                  <a:srgbClr val="FFFFFF"/>
                </a:solidFill>
                <a:latin typeface="Poppins"/>
              </a:rPr>
              <a:t>Salary transparency content — salary reveals en el feed moldean expectativas de ingreso.</a:t>
            </a:r>
          </a:p>
        </p:txBody>
      </p:sp>
      <p:sp>
        <p:nvSpPr>
          <p:cNvPr id="26" name="TextBox 25"/>
          <p:cNvSpPr txBox="1"/>
          <p:nvPr/>
        </p:nvSpPr>
        <p:spPr>
          <a:xfrm>
            <a:off x="4191000" y="6343650"/>
            <a:ext cx="2159000" cy="152400"/>
          </a:xfrm>
          <a:prstGeom prst="rect">
            <a:avLst/>
          </a:prstGeom>
          <a:noFill/>
        </p:spPr>
        <p:txBody>
          <a:bodyPr wrap="square"/>
          <a:lstStyle/>
          <a:p>
            <a:pPr algn="l">
              <a:lnSpc>
                <a:spcPct val="100000"/>
              </a:lnSpc>
            </a:pPr>
            <a:r>
              <a:rPr sz="650" b="0" i="0">
                <a:solidFill>
                  <a:srgbClr val="666666"/>
                </a:solidFill>
                <a:latin typeface="Poppins"/>
              </a:rPr>
              <a:t>CONTENTGRIP · 2026</a:t>
            </a:r>
          </a:p>
        </p:txBody>
      </p:sp>
      <p:pic>
        <p:nvPicPr>
          <p:cNvPr id="27" name="Picture 26" descr="macro-3-4-tiktok-careertok.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Hashtag #careertok en TikTok — grid de 'day in my life' y salary reveals que orientan vocaciones.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 2025</a:t>
            </a:r>
          </a:p>
        </p:txBody>
      </p:sp>
      <p:pic>
        <p:nvPicPr>
          <p:cNvPr id="32" name="Picture 31" descr="macro-3-4-contentgrip-tiktok-genz.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ContentGrip TikTok Trends Gen Z 2026 — career/salary transparency moldea decisiones vocacionales.</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CONTENTGRIP · 2026</a:t>
            </a:r>
          </a:p>
        </p:txBody>
      </p:sp>
      <p:pic>
        <p:nvPicPr>
          <p:cNvPr id="37" name="Picture 36" descr="macro-3-4-youtube-careertok.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YouTube 'day in my life career' — thumbnails del formato vocacional que reemplaza al orientador.</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YOUTUBE ·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4" name="TextBox 3"/>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5" name="TextBox 4"/>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6" name="Connector 5"/>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4000" y="10668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 y="11049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11" name="Rectangle 10"/>
          <p:cNvSpPr/>
          <p:nvPr/>
        </p:nvSpPr>
        <p:spPr>
          <a:xfrm>
            <a:off x="1041400" y="10668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2200" y="11049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13" name="TextBox 12"/>
          <p:cNvSpPr txBox="1"/>
          <p:nvPr/>
        </p:nvSpPr>
        <p:spPr>
          <a:xfrm>
            <a:off x="254000" y="1473200"/>
            <a:ext cx="3683000" cy="2044700"/>
          </a:xfrm>
          <a:prstGeom prst="rect">
            <a:avLst/>
          </a:prstGeom>
          <a:noFill/>
        </p:spPr>
        <p:txBody>
          <a:bodyPr wrap="square"/>
          <a:lstStyle/>
          <a:p>
            <a:pPr algn="l">
              <a:lnSpc>
                <a:spcPct val="114000"/>
              </a:lnSpc>
            </a:pPr>
            <a:r>
              <a:rPr sz="2000" b="0" i="0">
                <a:solidFill>
                  <a:srgbClr val="FFFFFF"/>
                </a:solidFill>
                <a:latin typeface="Instrument Serif"/>
              </a:rPr>
              <a:t>EL FEED MATERNO DICTA CÓMO SE EDUCA AL NIÑO: MOMTOK RECOMIENDA APPS Y CURRÍCULOS, DESPLAZANDO A LA MAESTRA COMO AUTORIDAD PEDAGÓGICA DEL HOGAR.</a:t>
            </a:r>
          </a:p>
        </p:txBody>
      </p:sp>
      <p:sp>
        <p:nvSpPr>
          <p:cNvPr id="14" name="TextBox 13"/>
          <p:cNvSpPr txBox="1"/>
          <p:nvPr/>
        </p:nvSpPr>
        <p:spPr>
          <a:xfrm>
            <a:off x="254000" y="3695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49700"/>
            <a:ext cx="3683000" cy="990600"/>
          </a:xfrm>
          <a:prstGeom prst="rect">
            <a:avLst/>
          </a:prstGeom>
          <a:noFill/>
        </p:spPr>
        <p:txBody>
          <a:bodyPr wrap="square"/>
          <a:lstStyle/>
          <a:p>
            <a:pPr algn="l">
              <a:lnSpc>
                <a:spcPct val="100000"/>
              </a:lnSpc>
            </a:pPr>
            <a:r>
              <a:rPr sz="1000" b="0" i="0">
                <a:solidFill>
                  <a:srgbClr val="FFFFFF"/>
                </a:solidFill>
                <a:latin typeface="Poppins"/>
              </a:rPr>
              <a:t>MomTok recomienda apps educativas, métodos de crianza-aprendizaje y 'guilt-free screen time', y la madre elige según lo que se vuelve viral. Canales como Ms. Rachel se convirtieron en autoridad de aprendizaje temprano vía el feed. La madre confía en otra madre del feed más que en el sistema.</a:t>
            </a:r>
          </a:p>
        </p:txBody>
      </p:sp>
      <p:sp>
        <p:nvSpPr>
          <p:cNvPr id="16" name="TextBox 15"/>
          <p:cNvSpPr txBox="1"/>
          <p:nvPr/>
        </p:nvSpPr>
        <p:spPr>
          <a:xfrm>
            <a:off x="254000" y="51181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72100"/>
            <a:ext cx="3683000" cy="762000"/>
          </a:xfrm>
          <a:prstGeom prst="rect">
            <a:avLst/>
          </a:prstGeom>
          <a:noFill/>
        </p:spPr>
        <p:txBody>
          <a:bodyPr wrap="square"/>
          <a:lstStyle/>
          <a:p>
            <a:pPr algn="l">
              <a:lnSpc>
                <a:spcPct val="100000"/>
              </a:lnSpc>
            </a:pPr>
            <a:r>
              <a:rPr sz="1600" b="0" i="0">
                <a:solidFill>
                  <a:srgbClr val="FFFFFF"/>
                </a:solidFill>
                <a:latin typeface="Instrument Serif"/>
              </a:rPr>
              <a:t>#momtok · #toddlerlearning · #guiltfreescreentime · #learningapps · #crianzaconpantalla</a:t>
            </a:r>
          </a:p>
        </p:txBody>
      </p:sp>
      <p:sp>
        <p:nvSpPr>
          <p:cNvPr id="18" name="TextBox 17"/>
          <p:cNvSpPr txBox="1"/>
          <p:nvPr/>
        </p:nvSpPr>
        <p:spPr>
          <a:xfrm>
            <a:off x="4191000" y="1066800"/>
            <a:ext cx="2159000" cy="584200"/>
          </a:xfrm>
          <a:prstGeom prst="rect">
            <a:avLst/>
          </a:prstGeom>
          <a:noFill/>
        </p:spPr>
        <p:txBody>
          <a:bodyPr wrap="square"/>
          <a:lstStyle/>
          <a:p>
            <a:pPr algn="l">
              <a:lnSpc>
                <a:spcPct val="100000"/>
              </a:lnSpc>
            </a:pPr>
            <a:r>
              <a:rPr sz="4000" b="0" i="0">
                <a:solidFill>
                  <a:srgbClr val="FFFFFF"/>
                </a:solidFill>
                <a:latin typeface="Instrument Serif"/>
              </a:rPr>
              <a:t>MomTok</a:t>
            </a:r>
          </a:p>
        </p:txBody>
      </p:sp>
      <p:sp>
        <p:nvSpPr>
          <p:cNvPr id="19" name="TextBox 18"/>
          <p:cNvSpPr txBox="1"/>
          <p:nvPr/>
        </p:nvSpPr>
        <p:spPr>
          <a:xfrm>
            <a:off x="4191000" y="1803400"/>
            <a:ext cx="2159000" cy="476250"/>
          </a:xfrm>
          <a:prstGeom prst="rect">
            <a:avLst/>
          </a:prstGeom>
          <a:noFill/>
        </p:spPr>
        <p:txBody>
          <a:bodyPr wrap="square"/>
          <a:lstStyle/>
          <a:p>
            <a:pPr algn="l">
              <a:lnSpc>
                <a:spcPct val="100000"/>
              </a:lnSpc>
            </a:pPr>
            <a:r>
              <a:rPr sz="1000" b="0" i="0">
                <a:solidFill>
                  <a:srgbClr val="FFFFFF"/>
                </a:solidFill>
                <a:latin typeface="Poppins"/>
              </a:rPr>
              <a:t>Apps como Kiddopia, SplashLearn y Khan Academy Kids viralizadas por MomTok en el feed.</a:t>
            </a:r>
          </a:p>
        </p:txBody>
      </p:sp>
      <p:sp>
        <p:nvSpPr>
          <p:cNvPr id="20" name="TextBox 19"/>
          <p:cNvSpPr txBox="1"/>
          <p:nvPr/>
        </p:nvSpPr>
        <p:spPr>
          <a:xfrm>
            <a:off x="4191000" y="2432050"/>
            <a:ext cx="2159000" cy="152400"/>
          </a:xfrm>
          <a:prstGeom prst="rect">
            <a:avLst/>
          </a:prstGeom>
          <a:noFill/>
        </p:spPr>
        <p:txBody>
          <a:bodyPr wrap="square"/>
          <a:lstStyle/>
          <a:p>
            <a:pPr algn="l">
              <a:lnSpc>
                <a:spcPct val="100000"/>
              </a:lnSpc>
            </a:pPr>
            <a:r>
              <a:rPr sz="650" b="0" i="0">
                <a:solidFill>
                  <a:srgbClr val="666666"/>
                </a:solidFill>
                <a:latin typeface="Poppins"/>
              </a:rPr>
              <a:t>TIKTOK DISCOVER · 2025</a:t>
            </a:r>
          </a:p>
        </p:txBody>
      </p:sp>
      <p:sp>
        <p:nvSpPr>
          <p:cNvPr id="21" name="TextBox 20"/>
          <p:cNvSpPr txBox="1"/>
          <p:nvPr/>
        </p:nvSpPr>
        <p:spPr>
          <a:xfrm>
            <a:off x="4191000" y="2863850"/>
            <a:ext cx="2159000" cy="584200"/>
          </a:xfrm>
          <a:prstGeom prst="rect">
            <a:avLst/>
          </a:prstGeom>
          <a:noFill/>
        </p:spPr>
        <p:txBody>
          <a:bodyPr wrap="square"/>
          <a:lstStyle/>
          <a:p>
            <a:pPr algn="l">
              <a:lnSpc>
                <a:spcPct val="100000"/>
              </a:lnSpc>
            </a:pPr>
            <a:r>
              <a:rPr sz="4000" b="0" i="0">
                <a:solidFill>
                  <a:srgbClr val="FFFFFF"/>
                </a:solidFill>
                <a:latin typeface="Instrument Serif"/>
              </a:rPr>
              <a:t>2025-26</a:t>
            </a:r>
          </a:p>
        </p:txBody>
      </p:sp>
      <p:sp>
        <p:nvSpPr>
          <p:cNvPr id="22" name="TextBox 21"/>
          <p:cNvSpPr txBox="1"/>
          <p:nvPr/>
        </p:nvSpPr>
        <p:spPr>
          <a:xfrm>
            <a:off x="4191000" y="3600450"/>
            <a:ext cx="2159000" cy="476250"/>
          </a:xfrm>
          <a:prstGeom prst="rect">
            <a:avLst/>
          </a:prstGeom>
          <a:noFill/>
        </p:spPr>
        <p:txBody>
          <a:bodyPr wrap="square"/>
          <a:lstStyle/>
          <a:p>
            <a:pPr algn="l">
              <a:lnSpc>
                <a:spcPct val="100000"/>
              </a:lnSpc>
            </a:pPr>
            <a:r>
              <a:rPr sz="1000" b="0" i="0">
                <a:solidFill>
                  <a:srgbClr val="FFFFFF"/>
                </a:solidFill>
                <a:latin typeface="Poppins"/>
              </a:rPr>
              <a:t>TikTok reforzó Family Pairing en 2025-26 para el control parental de screen-time.</a:t>
            </a:r>
          </a:p>
        </p:txBody>
      </p:sp>
      <p:sp>
        <p:nvSpPr>
          <p:cNvPr id="23" name="TextBox 22"/>
          <p:cNvSpPr txBox="1"/>
          <p:nvPr/>
        </p:nvSpPr>
        <p:spPr>
          <a:xfrm>
            <a:off x="4191000" y="4229100"/>
            <a:ext cx="2159000" cy="152400"/>
          </a:xfrm>
          <a:prstGeom prst="rect">
            <a:avLst/>
          </a:prstGeom>
          <a:noFill/>
        </p:spPr>
        <p:txBody>
          <a:bodyPr wrap="square"/>
          <a:lstStyle/>
          <a:p>
            <a:pPr algn="l">
              <a:lnSpc>
                <a:spcPct val="100000"/>
              </a:lnSpc>
            </a:pPr>
            <a:r>
              <a:rPr sz="650" b="0" i="0">
                <a:solidFill>
                  <a:srgbClr val="666666"/>
                </a:solidFill>
                <a:latin typeface="Poppins"/>
              </a:rPr>
              <a:t>BOOMERANG · 2025</a:t>
            </a:r>
          </a:p>
        </p:txBody>
      </p:sp>
      <p:sp>
        <p:nvSpPr>
          <p:cNvPr id="24" name="TextBox 23"/>
          <p:cNvSpPr txBox="1"/>
          <p:nvPr/>
        </p:nvSpPr>
        <p:spPr>
          <a:xfrm>
            <a:off x="4191000" y="4660900"/>
            <a:ext cx="2159000" cy="584200"/>
          </a:xfrm>
          <a:prstGeom prst="rect">
            <a:avLst/>
          </a:prstGeom>
          <a:noFill/>
        </p:spPr>
        <p:txBody>
          <a:bodyPr wrap="square"/>
          <a:lstStyle/>
          <a:p>
            <a:pPr algn="l">
              <a:lnSpc>
                <a:spcPct val="100000"/>
              </a:lnSpc>
            </a:pPr>
            <a:r>
              <a:rPr sz="4000" b="0" i="0">
                <a:solidFill>
                  <a:srgbClr val="FFFFFF"/>
                </a:solidFill>
                <a:latin typeface="Instrument Serif"/>
              </a:rPr>
              <a:t>Ms. Rachel</a:t>
            </a:r>
          </a:p>
        </p:txBody>
      </p:sp>
      <p:sp>
        <p:nvSpPr>
          <p:cNvPr id="25" name="TextBox 24"/>
          <p:cNvSpPr txBox="1"/>
          <p:nvPr/>
        </p:nvSpPr>
        <p:spPr>
          <a:xfrm>
            <a:off x="4191000" y="5397500"/>
            <a:ext cx="2159000" cy="476250"/>
          </a:xfrm>
          <a:prstGeom prst="rect">
            <a:avLst/>
          </a:prstGeom>
          <a:noFill/>
        </p:spPr>
        <p:txBody>
          <a:bodyPr wrap="square"/>
          <a:lstStyle/>
          <a:p>
            <a:pPr algn="l">
              <a:lnSpc>
                <a:spcPct val="100000"/>
              </a:lnSpc>
            </a:pPr>
            <a:r>
              <a:rPr sz="1000" b="0" i="0">
                <a:solidFill>
                  <a:srgbClr val="FFFFFF"/>
                </a:solidFill>
                <a:latin typeface="Poppins"/>
              </a:rPr>
              <a:t>Canal que se volvió autoridad de aprendizaje temprano vía recomendación del feed materno.</a:t>
            </a:r>
          </a:p>
        </p:txBody>
      </p:sp>
      <p:sp>
        <p:nvSpPr>
          <p:cNvPr id="26" name="TextBox 25"/>
          <p:cNvSpPr txBox="1"/>
          <p:nvPr/>
        </p:nvSpPr>
        <p:spPr>
          <a:xfrm>
            <a:off x="4191000" y="6026150"/>
            <a:ext cx="2159000" cy="152400"/>
          </a:xfrm>
          <a:prstGeom prst="rect">
            <a:avLst/>
          </a:prstGeom>
          <a:noFill/>
        </p:spPr>
        <p:txBody>
          <a:bodyPr wrap="square"/>
          <a:lstStyle/>
          <a:p>
            <a:pPr algn="l">
              <a:lnSpc>
                <a:spcPct val="100000"/>
              </a:lnSpc>
            </a:pPr>
            <a:r>
              <a:rPr sz="650" b="0" i="0">
                <a:solidFill>
                  <a:srgbClr val="666666"/>
                </a:solidFill>
                <a:latin typeface="Poppins"/>
              </a:rPr>
              <a:t>TIKTOK / YOUTUBE · 2025</a:t>
            </a:r>
          </a:p>
        </p:txBody>
      </p:sp>
      <p:pic>
        <p:nvPicPr>
          <p:cNvPr id="27" name="Picture 26" descr="macro-3-5-boomerang-tiktok-parental.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TikTok Family Pairing y controles parentales — la madre digital eligiendo qué ve su hijo.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BOOMERANG · 2025</a:t>
            </a:r>
          </a:p>
        </p:txBody>
      </p:sp>
      <p:pic>
        <p:nvPicPr>
          <p:cNvPr id="32" name="Picture 31" descr="macro-3-5-youtube-msrachel.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Ms. Rachel en YouTube — thumbnails de la creadora que se volvió autoridad pedagógica vía feed.</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YOUTUBE / MS. RACHEL · 2025</a:t>
            </a:r>
          </a:p>
        </p:txBody>
      </p:sp>
      <p:pic>
        <p:nvPicPr>
          <p:cNvPr id="37" name="Picture 36" descr="macro-3-0-accio-edutok-stat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Accio — estadísticas de contenido educativo en TikTok 2025, métricas de EduTok.</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ACCIO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