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tiktok.com/@sheisapaigeturner/video/7439002806339734830" TargetMode="External"/><Relationship Id="rId4" Type="http://schemas.openxmlformats.org/officeDocument/2006/relationships/image" Target="../media/image2.jpg"/><Relationship Id="rId5" Type="http://schemas.openxmlformats.org/officeDocument/2006/relationships/hyperlink" Target="https://www.pewresearch.org/social-trends/2023/04/13/in-a-growing-share-of-u-s-marriages-husbands-and-wives-earn-about-the-same/" TargetMode="External"/><Relationship Id="rId6" Type="http://schemas.openxmlformats.org/officeDocument/2006/relationships/image" Target="../media/image3.png"/><Relationship Id="rId7" Type="http://schemas.openxmlformats.org/officeDocument/2006/relationships/hyperlink" Target="https://www.mckinsey.com/featured-insights/diversity-and-inclusion/women-in-the-workplac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hyperlink" Target="https://www.ilo.org/publications/care-work-and-care-jobs-future-decent-work" TargetMode="External"/><Relationship Id="rId4" Type="http://schemas.openxmlformats.org/officeDocument/2006/relationships/image" Target="../media/image1.png"/><Relationship Id="rId5" Type="http://schemas.openxmlformats.org/officeDocument/2006/relationships/hyperlink" Target="https://www.tiktok.com/@sheisapaigeturner/video/7439002806339734830" TargetMode="External"/><Relationship Id="rId6" Type="http://schemas.openxmlformats.org/officeDocument/2006/relationships/image" Target="../media/image2.jpg"/><Relationship Id="rId7" Type="http://schemas.openxmlformats.org/officeDocument/2006/relationships/hyperlink" Target="https://www.pewresearch.org/social-trends/2023/04/13/in-a-growing-share-of-u-s-marriages-husbands-and-wives-earn-about-the-sam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tiktok.com/@sheisapaigeturner/video/7439002806339734830" TargetMode="External"/><Relationship Id="rId4" Type="http://schemas.openxmlformats.org/officeDocument/2006/relationships/image" Target="../media/image5.png"/><Relationship Id="rId5" Type="http://schemas.openxmlformats.org/officeDocument/2006/relationships/hyperlink" Target="https://www.aplaceformom.com/caregiver-resources/articles/what-is-the-sandwich-generation" TargetMode="External"/><Relationship Id="rId6" Type="http://schemas.openxmlformats.org/officeDocument/2006/relationships/image" Target="../media/image6.png"/><Relationship Id="rId7" Type="http://schemas.openxmlformats.org/officeDocument/2006/relationships/hyperlink" Target="https://www.ourfamilywizard.co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hyperlink" Target="https://www.aplaceformom.com/caregiver-resources/articles/what-is-the-sandwich-generation" TargetMode="External"/><Relationship Id="rId4" Type="http://schemas.openxmlformats.org/officeDocument/2006/relationships/image" Target="../media/image7.png"/><Relationship Id="rId5" Type="http://schemas.openxmlformats.org/officeDocument/2006/relationships/hyperlink" Target="https://www.aarp.org/caregiving/basics/caregiving-in-us-survey-2025/" TargetMode="External"/><Relationship Id="rId6" Type="http://schemas.openxmlformats.org/officeDocument/2006/relationships/image" Target="../media/image6.png"/><Relationship Id="rId7" Type="http://schemas.openxmlformats.org/officeDocument/2006/relationships/hyperlink" Target="https://www.ourfamilywizard.co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hyperlink" Target="https://listindiario.com/la-republica/ciudad/20250601/2024-registraron-44-349-matrimonios-26-210-divorcios_859974.html" TargetMode="External"/><Relationship Id="rId4" Type="http://schemas.openxmlformats.org/officeDocument/2006/relationships/image" Target="../media/image9.png"/><Relationship Id="rId5" Type="http://schemas.openxmlformats.org/officeDocument/2006/relationships/hyperlink" Target="https://www.diariolibre.com/actualidad/nacional/2026/05/16/matrimonios-en-republica-dominicana-caen-87--en-2025/3536088" TargetMode="External"/><Relationship Id="rId6" Type="http://schemas.openxmlformats.org/officeDocument/2006/relationships/image" Target="../media/image10.png"/><Relationship Id="rId7" Type="http://schemas.openxmlformats.org/officeDocument/2006/relationships/hyperlink" Target="https://eldia.com.do/mujeres-se-casan-mas-jovenes-que-los-hombres-en-rd/"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hyperlink" Target="https://www.cnbc.com/2024/10/03/oura-ring-4-price-release-date.html" TargetMode="External"/><Relationship Id="rId4" Type="http://schemas.openxmlformats.org/officeDocument/2006/relationships/image" Target="../media/image12.png"/><Relationship Id="rId5" Type="http://schemas.openxmlformats.org/officeDocument/2006/relationships/hyperlink" Target="https://ouraring.com/blog/oura-ring-4/" TargetMode="External"/><Relationship Id="rId6" Type="http://schemas.openxmlformats.org/officeDocument/2006/relationships/image" Target="../media/image13.png"/><Relationship Id="rId7" Type="http://schemas.openxmlformats.org/officeDocument/2006/relationships/hyperlink" Target="https://www.tiktok.com/@irobot/video/7453137561335156011"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hyperlink" Target="https://www.tiktok.com/@irobot/video/7453137561335156011" TargetMode="External"/><Relationship Id="rId4" Type="http://schemas.openxmlformats.org/officeDocument/2006/relationships/image" Target="../media/image14.png"/><Relationship Id="rId5" Type="http://schemas.openxmlformats.org/officeDocument/2006/relationships/hyperlink" Target="https://www.tiktok.com/@sevda.ela/video/7503619211948756226" TargetMode="External"/><Relationship Id="rId6" Type="http://schemas.openxmlformats.org/officeDocument/2006/relationships/image" Target="../media/image15.png"/><Relationship Id="rId7" Type="http://schemas.openxmlformats.org/officeDocument/2006/relationships/hyperlink" Target="https://www.tiktok.com/@irobot/video/7159562439242173742"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hyperlink" Target="https://www.bloomberg.com/news/articles/2024-05-08/nubank-surpasses-100-million-clients-across-latin-america" TargetMode="External"/><Relationship Id="rId4" Type="http://schemas.openxmlformats.org/officeDocument/2006/relationships/image" Target="../media/image17.png"/><Relationship Id="rId5" Type="http://schemas.openxmlformats.org/officeDocument/2006/relationships/hyperlink" Target="https://www.splitwise.com/" TargetMode="External"/><Relationship Id="rId6" Type="http://schemas.openxmlformats.org/officeDocument/2006/relationships/image" Target="../media/image18.png"/><Relationship Id="rId7" Type="http://schemas.openxmlformats.org/officeDocument/2006/relationships/hyperlink" Target="https://www.americaeconomia.com/en/business-industries/nubank-surpasses-100-million-customers-latin-america"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hyperlink" Target="https://fortune.com/2024/10/09/startup-maven-founder-says-womens-health-still-undervalued/" TargetMode="External"/><Relationship Id="rId4" Type="http://schemas.openxmlformats.org/officeDocument/2006/relationships/image" Target="../media/image20.png"/><Relationship Id="rId5" Type="http://schemas.openxmlformats.org/officeDocument/2006/relationships/hyperlink" Target="https://www.cnbc.com/2024/10/08/womens-health-startup-maven-clinic-raises-at-1point7-billion-valuation.html" TargetMode="External"/><Relationship Id="rId6" Type="http://schemas.openxmlformats.org/officeDocument/2006/relationships/image" Target="../media/image21.png"/><Relationship Id="rId7" Type="http://schemas.openxmlformats.org/officeDocument/2006/relationships/hyperlink" Target="https://www.maven.com/"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hyperlink" Target="https://www.cnbc.com/2024/02/01/amazon-announces-ai-shopping-assistant-called-rufus.html" TargetMode="External"/><Relationship Id="rId4" Type="http://schemas.openxmlformats.org/officeDocument/2006/relationships/image" Target="../media/image23.png"/><Relationship Id="rId5" Type="http://schemas.openxmlformats.org/officeDocument/2006/relationships/hyperlink" Target="https://www.technologyreview.com/2025/01/23/1110484/openai-launches-operator-an-agent-that-can-use-a-computer-for-you/" TargetMode="External"/><Relationship Id="rId6" Type="http://schemas.openxmlformats.org/officeDocument/2006/relationships/image" Target="../media/image24.png"/><Relationship Id="rId7" Type="http://schemas.openxmlformats.org/officeDocument/2006/relationships/hyperlink" Target="https://techcrunch.com/2025/01/23/openai-launches-operator-an-ai-agent-that-performs-tasks-autonomously/"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hyperlink" Target="https://www.rollingstone.com/culture/culture-features/ballerina-farm-trad-wife-hannah-neeleman-1235072506/" TargetMode="External"/><Relationship Id="rId4" Type="http://schemas.openxmlformats.org/officeDocument/2006/relationships/image" Target="../media/image26.png"/><Relationship Id="rId5" Type="http://schemas.openxmlformats.org/officeDocument/2006/relationships/hyperlink" Target="https://www.deseret.com/utah/2024/07/30/ballerina-farms-trad-wife-hannah-neeleman-utah-controversy/" TargetMode="External"/><Relationship Id="rId6" Type="http://schemas.openxmlformats.org/officeDocument/2006/relationships/image" Target="../media/image27.png"/><Relationship Id="rId7" Type="http://schemas.openxmlformats.org/officeDocument/2006/relationships/hyperlink" Target="https://newsroom.tiktok.com/tiktok-whats-next-2024-trend-report"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hyperlink" Target="https://www.nbcnews.com/pop-culture/pop-culture-news/adolescence-netflix-manosphere-toxic-masculinity-rcna196967" TargetMode="External"/><Relationship Id="rId4" Type="http://schemas.openxmlformats.org/officeDocument/2006/relationships/image" Target="../media/image27.png"/><Relationship Id="rId5" Type="http://schemas.openxmlformats.org/officeDocument/2006/relationships/hyperlink" Target="https://newsroom.tiktok.com/tiktok-whats-next-2024-trend-report"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hyperlink" Target="https://theweek.com/culture-life/stay-at-home-girlfriends-why-gen-z-are-rejecting-girlboss-culture" TargetMode="External"/><Relationship Id="rId4" Type="http://schemas.openxmlformats.org/officeDocument/2006/relationships/image" Target="../media/image25.png"/><Relationship Id="rId5" Type="http://schemas.openxmlformats.org/officeDocument/2006/relationships/hyperlink" Target="https://www.rollingstone.com/culture/culture-features/ballerina-farm-trad-wife-hannah-neeleman-1235072506/" TargetMode="External"/><Relationship Id="rId6" Type="http://schemas.openxmlformats.org/officeDocument/2006/relationships/image" Target="../media/image27.png"/><Relationship Id="rId7" Type="http://schemas.openxmlformats.org/officeDocument/2006/relationships/hyperlink" Target="https://newsroom.tiktok.com/tiktok-whats-next-2024-trend-report"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hyperlink" Target="https://abcnews.go.com/Lifestyle/video/tiktok-dad-shares-parenting-stories-1-million-followers-114317885" TargetMode="External"/><Relationship Id="rId4" Type="http://schemas.openxmlformats.org/officeDocument/2006/relationships/image" Target="../media/image27.png"/><Relationship Id="rId5" Type="http://schemas.openxmlformats.org/officeDocument/2006/relationships/hyperlink" Target="https://newsroom.tiktok.com/tiktok-whats-next-2024-trend-report" TargetMode="External"/><Relationship Id="rId6" Type="http://schemas.openxmlformats.org/officeDocument/2006/relationships/image" Target="../media/image25.png"/><Relationship Id="rId7" Type="http://schemas.openxmlformats.org/officeDocument/2006/relationships/hyperlink" Target="https://www.rollingstone.com/culture/culture-features/ballerina-farm-trad-wife-hannah-neeleman-1235072506/"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hyperlink" Target="https://www.instagram.com/biglittlefeelings/" TargetMode="External"/><Relationship Id="rId4" Type="http://schemas.openxmlformats.org/officeDocument/2006/relationships/image" Target="../media/image32.png"/><Relationship Id="rId5" Type="http://schemas.openxmlformats.org/officeDocument/2006/relationships/hyperlink" Target="https://biglittlefeelings.com/" TargetMode="External"/><Relationship Id="rId6" Type="http://schemas.openxmlformats.org/officeDocument/2006/relationships/image" Target="../media/image27.png"/><Relationship Id="rId7" Type="http://schemas.openxmlformats.org/officeDocument/2006/relationships/hyperlink" Target="https://newsroom.tiktok.com/tiktok-whats-next-2024-trend-report"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67047" y="1783080"/>
            <a:ext cx="3657600" cy="365760"/>
          </a:xfrm>
          <a:prstGeom prst="rect">
            <a:avLst/>
          </a:prstGeom>
          <a:noFill/>
        </p:spPr>
        <p:txBody>
          <a:bodyPr wrap="square" lIns="0" rIns="0" tIns="0" bIns="0" anchor="t">
            <a:spAutoFit/>
          </a:bodyPr>
          <a:lstStyle/>
          <a:p>
            <a:pPr algn="ctr">
              <a:lnSpc>
                <a:spcPct val="100000"/>
              </a:lnSpc>
            </a:pPr>
            <a:r>
              <a:rPr sz="1400" b="1" i="0">
                <a:solidFill>
                  <a:srgbClr val="A0A0A0"/>
                </a:solidFill>
                <a:latin typeface="Poppins"/>
              </a:rPr>
              <a:t>MACRO 1</a:t>
            </a:r>
          </a:p>
        </p:txBody>
      </p:sp>
      <p:sp>
        <p:nvSpPr>
          <p:cNvPr id="4" name="TextBox 3"/>
          <p:cNvSpPr txBox="1"/>
          <p:nvPr/>
        </p:nvSpPr>
        <p:spPr>
          <a:xfrm>
            <a:off x="380847" y="2453640"/>
            <a:ext cx="11430000" cy="2286000"/>
          </a:xfrm>
          <a:prstGeom prst="rect">
            <a:avLst/>
          </a:prstGeom>
          <a:noFill/>
        </p:spPr>
        <p:txBody>
          <a:bodyPr wrap="square" lIns="0" rIns="0" tIns="0" bIns="0" anchor="t">
            <a:spAutoFit/>
          </a:bodyPr>
          <a:lstStyle/>
          <a:p>
            <a:pPr algn="ctr">
              <a:lnSpc>
                <a:spcPct val="95000"/>
              </a:lnSpc>
            </a:pPr>
            <a:r>
              <a:rPr sz="10000" b="0" i="0">
                <a:solidFill>
                  <a:srgbClr val="FFFFFF"/>
                </a:solidFill>
                <a:latin typeface="Instrument Serif"/>
              </a:rPr>
              <a:t>INVENTOLOGÍA DE LA ADULTEZ</a:t>
            </a:r>
          </a:p>
        </p:txBody>
      </p:sp>
      <p:sp>
        <p:nvSpPr>
          <p:cNvPr id="5" name="TextBox 4"/>
          <p:cNvSpPr txBox="1"/>
          <p:nvPr/>
        </p:nvSpPr>
        <p:spPr>
          <a:xfrm>
            <a:off x="1066647" y="4942840"/>
            <a:ext cx="10058400" cy="548640"/>
          </a:xfrm>
          <a:prstGeom prst="rect">
            <a:avLst/>
          </a:prstGeom>
          <a:noFill/>
        </p:spPr>
        <p:txBody>
          <a:bodyPr wrap="square" lIns="0" rIns="0" tIns="0" bIns="0" anchor="t">
            <a:spAutoFit/>
          </a:bodyPr>
          <a:lstStyle/>
          <a:p>
            <a:pPr algn="ctr">
              <a:lnSpc>
                <a:spcPct val="100000"/>
              </a:lnSpc>
            </a:pPr>
            <a:r>
              <a:rPr sz="2400" b="0" i="1">
                <a:solidFill>
                  <a:srgbClr val="A0A0A0"/>
                </a:solidFill>
                <a:latin typeface="Instrument Serif"/>
              </a:rPr>
              <a:t>“Un mundo en crisis está reescribiendo qué significa ser adulto y formar familia.”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20040"/>
            <a:ext cx="777240" cy="201168"/>
          </a:xfrm>
          <a:prstGeom prst="rect">
            <a:avLst/>
          </a:prstGeom>
          <a:solidFill>
            <a:srgbClr val="E8E8E8"/>
          </a:solidFill>
          <a:ln w="3175">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800" b="1" i="0">
                <a:solidFill>
                  <a:srgbClr val="000000"/>
                </a:solidFill>
                <a:latin typeface="Poppins"/>
              </a:rPr>
              <a:t>MACRO 1</a:t>
            </a:r>
          </a:p>
        </p:txBody>
      </p:sp>
      <p:sp>
        <p:nvSpPr>
          <p:cNvPr id="4" name="Rectangle 3"/>
          <p:cNvSpPr/>
          <p:nvPr/>
        </p:nvSpPr>
        <p:spPr>
          <a:xfrm>
            <a:off x="1143000" y="320040"/>
            <a:ext cx="2011680" cy="201168"/>
          </a:xfrm>
          <a:prstGeom prst="rect">
            <a:avLst/>
          </a:prstGeom>
          <a:noFill/>
          <a:ln w="3175">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800" b="0" i="0">
                <a:solidFill>
                  <a:srgbClr val="A0A0A0"/>
                </a:solidFill>
                <a:latin typeface="Poppins"/>
              </a:rPr>
              <a:t>INVENTOLOGÍA</a:t>
            </a:r>
          </a:p>
        </p:txBody>
      </p:sp>
      <p:sp>
        <p:nvSpPr>
          <p:cNvPr id="5" name="TextBox 4"/>
          <p:cNvSpPr txBox="1"/>
          <p:nvPr/>
        </p:nvSpPr>
        <p:spPr>
          <a:xfrm>
            <a:off x="365760"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DEFINICIÓN</a:t>
            </a:r>
          </a:p>
        </p:txBody>
      </p:sp>
      <p:sp>
        <p:nvSpPr>
          <p:cNvPr id="6" name="TextBox 5"/>
          <p:cNvSpPr txBox="1"/>
          <p:nvPr/>
        </p:nvSpPr>
        <p:spPr>
          <a:xfrm>
            <a:off x="4246778"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TRIGGERS</a:t>
            </a:r>
          </a:p>
        </p:txBody>
      </p:sp>
      <p:sp>
        <p:nvSpPr>
          <p:cNvPr id="7" name="TextBox 6"/>
          <p:cNvSpPr txBox="1"/>
          <p:nvPr/>
        </p:nvSpPr>
        <p:spPr>
          <a:xfrm>
            <a:off x="8127796"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SEÑALES</a:t>
            </a:r>
          </a:p>
        </p:txBody>
      </p:sp>
      <p:cxnSp>
        <p:nvCxnSpPr>
          <p:cNvPr id="8" name="Connector 7"/>
          <p:cNvCxnSpPr/>
          <p:nvPr/>
        </p:nvCxnSpPr>
        <p:spPr>
          <a:xfrm>
            <a:off x="365760" y="1014984"/>
            <a:ext cx="11460175" cy="0"/>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155338" y="1152144"/>
            <a:ext cx="0" cy="5431536"/>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036356" y="1152144"/>
            <a:ext cx="0" cy="5431536"/>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65760" y="1152144"/>
            <a:ext cx="3606698" cy="2011680"/>
          </a:xfrm>
          <a:prstGeom prst="rect">
            <a:avLst/>
          </a:prstGeom>
          <a:noFill/>
        </p:spPr>
        <p:txBody>
          <a:bodyPr wrap="square" lIns="0" rIns="0" tIns="0" bIns="0">
            <a:spAutoFit/>
          </a:bodyPr>
          <a:lstStyle/>
          <a:p>
            <a:pPr>
              <a:lnSpc>
                <a:spcPct val="95000"/>
              </a:lnSpc>
            </a:pPr>
            <a:r>
              <a:rPr sz="1900" b="0" i="0">
                <a:solidFill>
                  <a:srgbClr val="FFFFFF"/>
                </a:solidFill>
                <a:latin typeface="Instrument Serif"/>
              </a:rPr>
              <a:t>MUJERES DEL MUNDO DECLARAN CREER EN EQUIDAD DE PAREJA PERO EJECUTAN SOLAS LA CARGA MENTAL DEL HOGAR — EL DISCURSO YA CERRÓ, LA COCINA NO.</a:t>
            </a:r>
          </a:p>
        </p:txBody>
      </p:sp>
      <p:sp>
        <p:nvSpPr>
          <p:cNvPr id="12" name="TextBox 11"/>
          <p:cNvSpPr txBox="1"/>
          <p:nvPr/>
        </p:nvSpPr>
        <p:spPr>
          <a:xfrm>
            <a:off x="365760" y="325526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EL FENÓMENO</a:t>
            </a:r>
          </a:p>
        </p:txBody>
      </p:sp>
      <p:sp>
        <p:nvSpPr>
          <p:cNvPr id="13" name="TextBox 12"/>
          <p:cNvSpPr txBox="1"/>
          <p:nvPr/>
        </p:nvSpPr>
        <p:spPr>
          <a:xfrm>
            <a:off x="365760" y="3438144"/>
            <a:ext cx="3606698" cy="1371600"/>
          </a:xfrm>
          <a:prstGeom prst="rect">
            <a:avLst/>
          </a:prstGeom>
          <a:noFill/>
        </p:spPr>
        <p:txBody>
          <a:bodyPr wrap="square" lIns="0" rIns="0" tIns="0" bIns="0">
            <a:spAutoFit/>
          </a:bodyPr>
          <a:lstStyle/>
          <a:p>
            <a:pPr>
              <a:lnSpc>
                <a:spcPct val="100000"/>
              </a:lnSpc>
            </a:pPr>
            <a:r>
              <a:rPr sz="1000" b="0" i="0">
                <a:solidFill>
                  <a:srgbClr val="FFFFFF"/>
                </a:solidFill>
                <a:latin typeface="Poppins"/>
              </a:rPr>
              <a:t>La declaración cambió hace una década: parejas heterosexuales jóvenes dicen creer en equidad, y en 29% de matrimonios USA ya ambos ganan parecido. Pero las horas no se movieron — la mujer sigue haciendo dos horas más de trabajo doméstico por día en países OECD. El peso pesado no es la tarea: es el inventario mental de quién agendó al pediatra, quién compra el detergente, quién recuerda el cumpleaños del suegro.</a:t>
            </a:r>
          </a:p>
        </p:txBody>
      </p:sp>
      <p:sp>
        <p:nvSpPr>
          <p:cNvPr id="14" name="TextBox 13"/>
          <p:cNvSpPr txBox="1"/>
          <p:nvPr/>
        </p:nvSpPr>
        <p:spPr>
          <a:xfrm>
            <a:off x="365760" y="485546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HASHTAGS</a:t>
            </a:r>
          </a:p>
        </p:txBody>
      </p:sp>
      <p:sp>
        <p:nvSpPr>
          <p:cNvPr id="15" name="TextBox 14"/>
          <p:cNvSpPr txBox="1"/>
          <p:nvPr/>
        </p:nvSpPr>
        <p:spPr>
          <a:xfrm>
            <a:off x="365760" y="5038344"/>
            <a:ext cx="3606698" cy="640080"/>
          </a:xfrm>
          <a:prstGeom prst="rect">
            <a:avLst/>
          </a:prstGeom>
          <a:noFill/>
        </p:spPr>
        <p:txBody>
          <a:bodyPr wrap="square" lIns="0" rIns="0" tIns="0" bIns="0">
            <a:spAutoFit/>
          </a:bodyPr>
          <a:lstStyle/>
          <a:p>
            <a:pPr>
              <a:lnSpc>
                <a:spcPct val="110000"/>
              </a:lnSpc>
            </a:pPr>
            <a:r>
              <a:rPr sz="2300" b="0" i="0">
                <a:solidFill>
                  <a:srgbClr val="FFFFFF"/>
                </a:solidFill>
                <a:latin typeface="Instrument Serif"/>
              </a:rPr>
              <a:t>#mentalload  #cargamental  #invisiblelabor  #weaponizedincompetence</a:t>
            </a:r>
          </a:p>
        </p:txBody>
      </p:sp>
      <p:sp>
        <p:nvSpPr>
          <p:cNvPr id="16" name="TextBox 15"/>
          <p:cNvSpPr txBox="1"/>
          <p:nvPr/>
        </p:nvSpPr>
        <p:spPr>
          <a:xfrm>
            <a:off x="365760" y="572414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3 NEEDS</a:t>
            </a:r>
          </a:p>
        </p:txBody>
      </p:sp>
      <p:sp>
        <p:nvSpPr>
          <p:cNvPr id="17" name="TextBox 16"/>
          <p:cNvSpPr txBox="1"/>
          <p:nvPr/>
        </p:nvSpPr>
        <p:spPr>
          <a:xfrm>
            <a:off x="365760" y="5907024"/>
            <a:ext cx="3606698" cy="457200"/>
          </a:xfrm>
          <a:prstGeom prst="rect">
            <a:avLst/>
          </a:prstGeom>
          <a:noFill/>
        </p:spPr>
        <p:txBody>
          <a:bodyPr wrap="square" lIns="0" rIns="0" tIns="0" bIns="0">
            <a:spAutoFit/>
          </a:bodyPr>
          <a:lstStyle/>
          <a:p>
            <a:pPr>
              <a:lnSpc>
                <a:spcPct val="105000"/>
              </a:lnSpc>
            </a:pPr>
            <a:r>
              <a:rPr sz="1400" b="0" i="0">
                <a:solidFill>
                  <a:srgbClr val="FFFFFF"/>
                </a:solidFill>
                <a:latin typeface="Instrument Serif"/>
              </a:rPr>
              <a:t>RECONOCIMIENTO · AGOTAMIENTO · JUSTICIA</a:t>
            </a:r>
          </a:p>
        </p:txBody>
      </p:sp>
      <p:sp>
        <p:nvSpPr>
          <p:cNvPr id="18" name="TextBox 17"/>
          <p:cNvSpPr txBox="1"/>
          <p:nvPr/>
        </p:nvSpPr>
        <p:spPr>
          <a:xfrm>
            <a:off x="4246778" y="1152144"/>
            <a:ext cx="1371600" cy="1097280"/>
          </a:xfrm>
          <a:prstGeom prst="rect">
            <a:avLst/>
          </a:prstGeom>
          <a:noFill/>
        </p:spPr>
        <p:txBody>
          <a:bodyPr wrap="square" lIns="0" rIns="0" tIns="0" bIns="0">
            <a:spAutoFit/>
          </a:bodyPr>
          <a:lstStyle/>
          <a:p>
            <a:pPr>
              <a:lnSpc>
                <a:spcPct val="100000"/>
              </a:lnSpc>
            </a:pPr>
            <a:r>
              <a:rPr sz="7200" b="0" i="0">
                <a:solidFill>
                  <a:srgbClr val="FFFFFF"/>
                </a:solidFill>
                <a:latin typeface="Instrument Serif"/>
              </a:rPr>
              <a:t>29%</a:t>
            </a:r>
          </a:p>
        </p:txBody>
      </p:sp>
      <p:sp>
        <p:nvSpPr>
          <p:cNvPr id="19" name="TextBox 18"/>
          <p:cNvSpPr txBox="1"/>
          <p:nvPr/>
        </p:nvSpPr>
        <p:spPr>
          <a:xfrm>
            <a:off x="4246778" y="2295144"/>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PEW RESEARCH · 2024</a:t>
            </a:r>
          </a:p>
        </p:txBody>
      </p:sp>
      <p:sp>
        <p:nvSpPr>
          <p:cNvPr id="20" name="TextBox 19"/>
          <p:cNvSpPr txBox="1"/>
          <p:nvPr/>
        </p:nvSpPr>
        <p:spPr>
          <a:xfrm>
            <a:off x="5664098" y="1289304"/>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Matrimonios USA con ingresos iguales — pero mujer sigue haciendo más housework y cuidado.</a:t>
            </a:r>
          </a:p>
        </p:txBody>
      </p:sp>
      <p:sp>
        <p:nvSpPr>
          <p:cNvPr id="21" name="TextBox 20"/>
          <p:cNvSpPr txBox="1"/>
          <p:nvPr/>
        </p:nvSpPr>
        <p:spPr>
          <a:xfrm>
            <a:off x="4246778" y="2962656"/>
            <a:ext cx="1371600" cy="1097280"/>
          </a:xfrm>
          <a:prstGeom prst="rect">
            <a:avLst/>
          </a:prstGeom>
          <a:noFill/>
        </p:spPr>
        <p:txBody>
          <a:bodyPr wrap="square" lIns="0" rIns="0" tIns="0" bIns="0">
            <a:spAutoFit/>
          </a:bodyPr>
          <a:lstStyle/>
          <a:p>
            <a:pPr>
              <a:lnSpc>
                <a:spcPct val="100000"/>
              </a:lnSpc>
            </a:pPr>
            <a:r>
              <a:rPr sz="7200" b="0" i="0">
                <a:solidFill>
                  <a:srgbClr val="FFFFFF"/>
                </a:solidFill>
                <a:latin typeface="Instrument Serif"/>
              </a:rPr>
              <a:t>+2h</a:t>
            </a:r>
          </a:p>
        </p:txBody>
      </p:sp>
      <p:sp>
        <p:nvSpPr>
          <p:cNvPr id="22" name="TextBox 21"/>
          <p:cNvSpPr txBox="1"/>
          <p:nvPr/>
        </p:nvSpPr>
        <p:spPr>
          <a:xfrm>
            <a:off x="4246778" y="4105656"/>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OECD TIME USE · 2024</a:t>
            </a:r>
          </a:p>
        </p:txBody>
      </p:sp>
      <p:sp>
        <p:nvSpPr>
          <p:cNvPr id="23" name="TextBox 22"/>
          <p:cNvSpPr txBox="1"/>
          <p:nvPr/>
        </p:nvSpPr>
        <p:spPr>
          <a:xfrm>
            <a:off x="5664098" y="3099816"/>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Más de trabajo doméstico no pagado por día hace la mujer OECD vs el hombre.</a:t>
            </a:r>
          </a:p>
        </p:txBody>
      </p:sp>
      <p:sp>
        <p:nvSpPr>
          <p:cNvPr id="24" name="TextBox 23"/>
          <p:cNvSpPr txBox="1"/>
          <p:nvPr/>
        </p:nvSpPr>
        <p:spPr>
          <a:xfrm>
            <a:off x="4246778" y="4773168"/>
            <a:ext cx="1371600" cy="1097280"/>
          </a:xfrm>
          <a:prstGeom prst="rect">
            <a:avLst/>
          </a:prstGeom>
          <a:noFill/>
        </p:spPr>
        <p:txBody>
          <a:bodyPr wrap="square" lIns="0" rIns="0" tIns="0" bIns="0">
            <a:spAutoFit/>
          </a:bodyPr>
          <a:lstStyle/>
          <a:p>
            <a:pPr>
              <a:lnSpc>
                <a:spcPct val="100000"/>
              </a:lnSpc>
            </a:pPr>
            <a:r>
              <a:rPr sz="7200" b="0" i="0">
                <a:solidFill>
                  <a:srgbClr val="FFFFFF"/>
                </a:solidFill>
                <a:latin typeface="Instrument Serif"/>
              </a:rPr>
              <a:t>11M</a:t>
            </a:r>
          </a:p>
        </p:txBody>
      </p:sp>
      <p:sp>
        <p:nvSpPr>
          <p:cNvPr id="25" name="TextBox 24"/>
          <p:cNvSpPr txBox="1"/>
          <p:nvPr/>
        </p:nvSpPr>
        <p:spPr>
          <a:xfrm>
            <a:off x="4246778" y="5916168"/>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TIKTOK @SHEISAPAIGETURNER · 2024</a:t>
            </a:r>
          </a:p>
        </p:txBody>
      </p:sp>
      <p:sp>
        <p:nvSpPr>
          <p:cNvPr id="26" name="TextBox 25"/>
          <p:cNvSpPr txBox="1"/>
          <p:nvPr/>
        </p:nvSpPr>
        <p:spPr>
          <a:xfrm>
            <a:off x="5664098" y="4910328"/>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Views del video viral de Paige Connell sobre carga mental en TikTok 2024.</a:t>
            </a:r>
          </a:p>
        </p:txBody>
      </p:sp>
      <p:pic>
        <p:nvPicPr>
          <p:cNvPr id="27" name="Picture 26" descr="macro-1-1-tt-paigeturner-mentalload.png"/>
          <p:cNvPicPr>
            <a:picLocks noChangeAspect="1"/>
          </p:cNvPicPr>
          <p:nvPr/>
        </p:nvPicPr>
        <p:blipFill>
          <a:blip r:embed="rId2"/>
          <a:stretch>
            <a:fillRect/>
          </a:stretch>
        </p:blipFill>
        <p:spPr>
          <a:xfrm>
            <a:off x="8127796" y="1152144"/>
            <a:ext cx="1397000" cy="1905000"/>
          </a:xfrm>
          <a:prstGeom prst="rect">
            <a:avLst/>
          </a:prstGeom>
        </p:spPr>
      </p:pic>
      <p:sp>
        <p:nvSpPr>
          <p:cNvPr id="28" name="Rounded Rectangle 27"/>
          <p:cNvSpPr/>
          <p:nvPr/>
        </p:nvSpPr>
        <p:spPr>
          <a:xfrm>
            <a:off x="9042196" y="1075944"/>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29" name="Rectangle 28">
            <a:hlinkClick r:id="rId3"/>
          </p:cNvPr>
          <p:cNvSpPr/>
          <p:nvPr/>
        </p:nvSpPr>
        <p:spPr>
          <a:xfrm>
            <a:off x="8127796" y="1152144"/>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97948" y="1289304"/>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Paige Connell: "Even a good guy can be part of the problem" — 11M views.</a:t>
            </a:r>
          </a:p>
        </p:txBody>
      </p:sp>
      <p:sp>
        <p:nvSpPr>
          <p:cNvPr id="31" name="TextBox 30"/>
          <p:cNvSpPr txBox="1"/>
          <p:nvPr/>
        </p:nvSpPr>
        <p:spPr>
          <a:xfrm>
            <a:off x="9597948" y="1752092"/>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TIKTOK · 2024</a:t>
            </a:r>
          </a:p>
        </p:txBody>
      </p:sp>
      <p:pic>
        <p:nvPicPr>
          <p:cNvPr id="32" name="Picture 31" descr="macro-1-1-pew-egalitarian-marriages.png"/>
          <p:cNvPicPr>
            <a:picLocks noChangeAspect="1"/>
          </p:cNvPicPr>
          <p:nvPr/>
        </p:nvPicPr>
        <p:blipFill>
          <a:blip r:embed="rId4"/>
          <a:stretch>
            <a:fillRect/>
          </a:stretch>
        </p:blipFill>
        <p:spPr>
          <a:xfrm>
            <a:off x="8127796" y="2962656"/>
            <a:ext cx="1397000" cy="1905000"/>
          </a:xfrm>
          <a:prstGeom prst="rect">
            <a:avLst/>
          </a:prstGeom>
        </p:spPr>
      </p:pic>
      <p:sp>
        <p:nvSpPr>
          <p:cNvPr id="33" name="Rounded Rectangle 32"/>
          <p:cNvSpPr/>
          <p:nvPr/>
        </p:nvSpPr>
        <p:spPr>
          <a:xfrm>
            <a:off x="9042196" y="2886456"/>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34" name="Rectangle 33">
            <a:hlinkClick r:id="rId5"/>
          </p:cNvPr>
          <p:cNvSpPr/>
          <p:nvPr/>
        </p:nvSpPr>
        <p:spPr>
          <a:xfrm>
            <a:off x="8127796" y="2962656"/>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597948" y="3099816"/>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29% de matrimonios USA ya ganan igual — mujer hace 2.5h más housework/semana.</a:t>
            </a:r>
          </a:p>
        </p:txBody>
      </p:sp>
      <p:sp>
        <p:nvSpPr>
          <p:cNvPr id="36" name="TextBox 35"/>
          <p:cNvSpPr txBox="1"/>
          <p:nvPr/>
        </p:nvSpPr>
        <p:spPr>
          <a:xfrm>
            <a:off x="9597948" y="3562604"/>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PEW RESEARCH · 2024</a:t>
            </a:r>
          </a:p>
        </p:txBody>
      </p:sp>
      <p:pic>
        <p:nvPicPr>
          <p:cNvPr id="37" name="Picture 36" descr="macro-1-1-mckinsey-witw-2024.png"/>
          <p:cNvPicPr>
            <a:picLocks noChangeAspect="1"/>
          </p:cNvPicPr>
          <p:nvPr/>
        </p:nvPicPr>
        <p:blipFill>
          <a:blip r:embed="rId6"/>
          <a:stretch>
            <a:fillRect/>
          </a:stretch>
        </p:blipFill>
        <p:spPr>
          <a:xfrm>
            <a:off x="8127796" y="4773168"/>
            <a:ext cx="1397000" cy="1905000"/>
          </a:xfrm>
          <a:prstGeom prst="rect">
            <a:avLst/>
          </a:prstGeom>
        </p:spPr>
      </p:pic>
      <p:sp>
        <p:nvSpPr>
          <p:cNvPr id="38" name="Rounded Rectangle 37"/>
          <p:cNvSpPr/>
          <p:nvPr/>
        </p:nvSpPr>
        <p:spPr>
          <a:xfrm>
            <a:off x="9042196" y="4696968"/>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39" name="Rectangle 38">
            <a:hlinkClick r:id="rId7"/>
          </p:cNvPr>
          <p:cNvSpPr/>
          <p:nvPr/>
        </p:nvSpPr>
        <p:spPr>
          <a:xfrm>
            <a:off x="8127796" y="4773168"/>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597948" y="4910328"/>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Doble turno sigue siendo razón principal de burnout femenino senior.</a:t>
            </a:r>
          </a:p>
        </p:txBody>
      </p:sp>
      <p:sp>
        <p:nvSpPr>
          <p:cNvPr id="41" name="TextBox 40"/>
          <p:cNvSpPr txBox="1"/>
          <p:nvPr/>
        </p:nvSpPr>
        <p:spPr>
          <a:xfrm>
            <a:off x="9597948" y="5373116"/>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MCKINSEY &amp; LEANIN · 2024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20040"/>
            <a:ext cx="777240" cy="201168"/>
          </a:xfrm>
          <a:prstGeom prst="rect">
            <a:avLst/>
          </a:prstGeom>
          <a:solidFill>
            <a:srgbClr val="E8E8E8"/>
          </a:solidFill>
          <a:ln w="3175">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800" b="1" i="0">
                <a:solidFill>
                  <a:srgbClr val="000000"/>
                </a:solidFill>
                <a:latin typeface="Poppins"/>
              </a:rPr>
              <a:t>MACRO 1</a:t>
            </a:r>
          </a:p>
        </p:txBody>
      </p:sp>
      <p:sp>
        <p:nvSpPr>
          <p:cNvPr id="4" name="Rectangle 3"/>
          <p:cNvSpPr/>
          <p:nvPr/>
        </p:nvSpPr>
        <p:spPr>
          <a:xfrm>
            <a:off x="1143000" y="320040"/>
            <a:ext cx="2011680" cy="201168"/>
          </a:xfrm>
          <a:prstGeom prst="rect">
            <a:avLst/>
          </a:prstGeom>
          <a:noFill/>
          <a:ln w="3175">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800" b="0" i="0">
                <a:solidFill>
                  <a:srgbClr val="A0A0A0"/>
                </a:solidFill>
                <a:latin typeface="Poppins"/>
              </a:rPr>
              <a:t>INVENTOLOGÍA</a:t>
            </a:r>
          </a:p>
        </p:txBody>
      </p:sp>
      <p:sp>
        <p:nvSpPr>
          <p:cNvPr id="5" name="TextBox 4"/>
          <p:cNvSpPr txBox="1"/>
          <p:nvPr/>
        </p:nvSpPr>
        <p:spPr>
          <a:xfrm>
            <a:off x="365760"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DEFINICIÓN</a:t>
            </a:r>
          </a:p>
        </p:txBody>
      </p:sp>
      <p:sp>
        <p:nvSpPr>
          <p:cNvPr id="6" name="TextBox 5"/>
          <p:cNvSpPr txBox="1"/>
          <p:nvPr/>
        </p:nvSpPr>
        <p:spPr>
          <a:xfrm>
            <a:off x="4246778"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TRIGGERS</a:t>
            </a:r>
          </a:p>
        </p:txBody>
      </p:sp>
      <p:sp>
        <p:nvSpPr>
          <p:cNvPr id="7" name="TextBox 6"/>
          <p:cNvSpPr txBox="1"/>
          <p:nvPr/>
        </p:nvSpPr>
        <p:spPr>
          <a:xfrm>
            <a:off x="8127796"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SEÑALES</a:t>
            </a:r>
          </a:p>
        </p:txBody>
      </p:sp>
      <p:cxnSp>
        <p:nvCxnSpPr>
          <p:cNvPr id="8" name="Connector 7"/>
          <p:cNvCxnSpPr/>
          <p:nvPr/>
        </p:nvCxnSpPr>
        <p:spPr>
          <a:xfrm>
            <a:off x="365760" y="1014984"/>
            <a:ext cx="11460175" cy="0"/>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155338" y="1152144"/>
            <a:ext cx="0" cy="5431536"/>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036356" y="1152144"/>
            <a:ext cx="0" cy="5431536"/>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65760" y="1152144"/>
            <a:ext cx="3606698" cy="2011680"/>
          </a:xfrm>
          <a:prstGeom prst="rect">
            <a:avLst/>
          </a:prstGeom>
          <a:noFill/>
        </p:spPr>
        <p:txBody>
          <a:bodyPr wrap="square" lIns="0" rIns="0" tIns="0" bIns="0">
            <a:spAutoFit/>
          </a:bodyPr>
          <a:lstStyle/>
          <a:p>
            <a:pPr>
              <a:lnSpc>
                <a:spcPct val="95000"/>
              </a:lnSpc>
            </a:pPr>
            <a:r>
              <a:rPr sz="2200" b="0" i="0">
                <a:solidFill>
                  <a:srgbClr val="FFFFFF"/>
                </a:solidFill>
                <a:latin typeface="Instrument Serif"/>
              </a:rPr>
              <a:t>PLANCHAR ES LA ÚLTIMA TAREA DOMÉSTICA SIN HOMBRE DEL PLANETA — LA ASPIRADORA SE DEMOCRATIZÓ, LA PLANCHA NO.</a:t>
            </a:r>
          </a:p>
        </p:txBody>
      </p:sp>
      <p:sp>
        <p:nvSpPr>
          <p:cNvPr id="12" name="TextBox 11"/>
          <p:cNvSpPr txBox="1"/>
          <p:nvPr/>
        </p:nvSpPr>
        <p:spPr>
          <a:xfrm>
            <a:off x="365760" y="325526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EL FENÓMENO</a:t>
            </a:r>
          </a:p>
        </p:txBody>
      </p:sp>
      <p:sp>
        <p:nvSpPr>
          <p:cNvPr id="13" name="TextBox 12"/>
          <p:cNvSpPr txBox="1"/>
          <p:nvPr/>
        </p:nvSpPr>
        <p:spPr>
          <a:xfrm>
            <a:off x="365760" y="3438144"/>
            <a:ext cx="3606698" cy="1371600"/>
          </a:xfrm>
          <a:prstGeom prst="rect">
            <a:avLst/>
          </a:prstGeom>
          <a:noFill/>
        </p:spPr>
        <p:txBody>
          <a:bodyPr wrap="square" lIns="0" rIns="0" tIns="0" bIns="0">
            <a:spAutoFit/>
          </a:bodyPr>
          <a:lstStyle/>
          <a:p>
            <a:pPr>
              <a:lnSpc>
                <a:spcPct val="100000"/>
              </a:lnSpc>
            </a:pPr>
            <a:r>
              <a:rPr sz="1000" b="0" i="0">
                <a:solidFill>
                  <a:srgbClr val="FFFFFF"/>
                </a:solidFill>
                <a:latin typeface="Poppins"/>
              </a:rPr>
              <a:t>La aspiradora se democratizó cuando llegó el Roomba; la cocina entró al feed masculino vía dadcore y BBQtok; la limpieza profunda tiene a hombres en CleanTok. Planchar no. ILO confirma que el mantenimiento textil — lavar, planchar, doblar — es la categoría más feminizada del trabajo doméstico no remunerado del planeta. En TikTok, el ironing ASMR se volvió subgénero entero y casi todas las creadoras son mujeres.</a:t>
            </a:r>
          </a:p>
        </p:txBody>
      </p:sp>
      <p:sp>
        <p:nvSpPr>
          <p:cNvPr id="14" name="TextBox 13"/>
          <p:cNvSpPr txBox="1"/>
          <p:nvPr/>
        </p:nvSpPr>
        <p:spPr>
          <a:xfrm>
            <a:off x="365760" y="485546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HASHTAGS</a:t>
            </a:r>
          </a:p>
        </p:txBody>
      </p:sp>
      <p:sp>
        <p:nvSpPr>
          <p:cNvPr id="15" name="TextBox 14"/>
          <p:cNvSpPr txBox="1"/>
          <p:nvPr/>
        </p:nvSpPr>
        <p:spPr>
          <a:xfrm>
            <a:off x="365760" y="5038344"/>
            <a:ext cx="3606698" cy="640080"/>
          </a:xfrm>
          <a:prstGeom prst="rect">
            <a:avLst/>
          </a:prstGeom>
          <a:noFill/>
        </p:spPr>
        <p:txBody>
          <a:bodyPr wrap="square" lIns="0" rIns="0" tIns="0" bIns="0">
            <a:spAutoFit/>
          </a:bodyPr>
          <a:lstStyle/>
          <a:p>
            <a:pPr>
              <a:lnSpc>
                <a:spcPct val="110000"/>
              </a:lnSpc>
            </a:pPr>
            <a:r>
              <a:rPr sz="2300" b="0" i="0">
                <a:solidFill>
                  <a:srgbClr val="FFFFFF"/>
                </a:solidFill>
                <a:latin typeface="Instrument Serif"/>
              </a:rPr>
              <a:t>#ironingtok  #planchar  #asmrironing  #domesticgap</a:t>
            </a:r>
          </a:p>
        </p:txBody>
      </p:sp>
      <p:sp>
        <p:nvSpPr>
          <p:cNvPr id="16" name="TextBox 15"/>
          <p:cNvSpPr txBox="1"/>
          <p:nvPr/>
        </p:nvSpPr>
        <p:spPr>
          <a:xfrm>
            <a:off x="365760" y="572414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3 NEEDS</a:t>
            </a:r>
          </a:p>
        </p:txBody>
      </p:sp>
      <p:sp>
        <p:nvSpPr>
          <p:cNvPr id="17" name="TextBox 16"/>
          <p:cNvSpPr txBox="1"/>
          <p:nvPr/>
        </p:nvSpPr>
        <p:spPr>
          <a:xfrm>
            <a:off x="365760" y="5907024"/>
            <a:ext cx="3606698" cy="457200"/>
          </a:xfrm>
          <a:prstGeom prst="rect">
            <a:avLst/>
          </a:prstGeom>
          <a:noFill/>
        </p:spPr>
        <p:txBody>
          <a:bodyPr wrap="square" lIns="0" rIns="0" tIns="0" bIns="0">
            <a:spAutoFit/>
          </a:bodyPr>
          <a:lstStyle/>
          <a:p>
            <a:pPr>
              <a:lnSpc>
                <a:spcPct val="105000"/>
              </a:lnSpc>
            </a:pPr>
            <a:r>
              <a:rPr sz="1400" b="0" i="0">
                <a:solidFill>
                  <a:srgbClr val="FFFFFF"/>
                </a:solidFill>
                <a:latin typeface="Instrument Serif"/>
              </a:rPr>
              <a:t>VISIBILIDAD · RESENTIMIENTO · RECIPROCIDAD</a:t>
            </a:r>
          </a:p>
        </p:txBody>
      </p:sp>
      <p:sp>
        <p:nvSpPr>
          <p:cNvPr id="18" name="TextBox 17"/>
          <p:cNvSpPr txBox="1"/>
          <p:nvPr/>
        </p:nvSpPr>
        <p:spPr>
          <a:xfrm>
            <a:off x="4246778" y="1152144"/>
            <a:ext cx="1371600" cy="1097280"/>
          </a:xfrm>
          <a:prstGeom prst="rect">
            <a:avLst/>
          </a:prstGeom>
          <a:noFill/>
        </p:spPr>
        <p:txBody>
          <a:bodyPr wrap="square" lIns="0" rIns="0" tIns="0" bIns="0">
            <a:spAutoFit/>
          </a:bodyPr>
          <a:lstStyle/>
          <a:p>
            <a:pPr>
              <a:lnSpc>
                <a:spcPct val="100000"/>
              </a:lnSpc>
            </a:pPr>
            <a:r>
              <a:rPr sz="7200" b="0" i="0">
                <a:solidFill>
                  <a:srgbClr val="FFFFFF"/>
                </a:solidFill>
                <a:latin typeface="Instrument Serif"/>
              </a:rPr>
              <a:t>#1</a:t>
            </a:r>
          </a:p>
        </p:txBody>
      </p:sp>
      <p:sp>
        <p:nvSpPr>
          <p:cNvPr id="19" name="TextBox 18"/>
          <p:cNvSpPr txBox="1"/>
          <p:nvPr/>
        </p:nvSpPr>
        <p:spPr>
          <a:xfrm>
            <a:off x="4246778" y="2295144"/>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ILO CARE AT WORK · 2024</a:t>
            </a:r>
          </a:p>
        </p:txBody>
      </p:sp>
      <p:sp>
        <p:nvSpPr>
          <p:cNvPr id="20" name="TextBox 19"/>
          <p:cNvSpPr txBox="1"/>
          <p:nvPr/>
        </p:nvSpPr>
        <p:spPr>
          <a:xfrm>
            <a:off x="5664098" y="1289304"/>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Mantenimiento textil es la categoría más feminizada del trabajo doméstico no remunerado.</a:t>
            </a:r>
          </a:p>
        </p:txBody>
      </p:sp>
      <p:sp>
        <p:nvSpPr>
          <p:cNvPr id="21" name="TextBox 20"/>
          <p:cNvSpPr txBox="1"/>
          <p:nvPr/>
        </p:nvSpPr>
        <p:spPr>
          <a:xfrm>
            <a:off x="4246778" y="2962656"/>
            <a:ext cx="1371600" cy="1097280"/>
          </a:xfrm>
          <a:prstGeom prst="rect">
            <a:avLst/>
          </a:prstGeom>
          <a:noFill/>
        </p:spPr>
        <p:txBody>
          <a:bodyPr wrap="square" lIns="0" rIns="0" tIns="0" bIns="0">
            <a:spAutoFit/>
          </a:bodyPr>
          <a:lstStyle/>
          <a:p>
            <a:pPr>
              <a:lnSpc>
                <a:spcPct val="100000"/>
              </a:lnSpc>
            </a:pPr>
            <a:r>
              <a:rPr sz="5400" b="0" i="0">
                <a:solidFill>
                  <a:srgbClr val="FFFFFF"/>
                </a:solidFill>
                <a:latin typeface="Instrument Serif"/>
              </a:rPr>
              <a:t>100M+</a:t>
            </a:r>
          </a:p>
        </p:txBody>
      </p:sp>
      <p:sp>
        <p:nvSpPr>
          <p:cNvPr id="22" name="TextBox 21"/>
          <p:cNvSpPr txBox="1"/>
          <p:nvPr/>
        </p:nvSpPr>
        <p:spPr>
          <a:xfrm>
            <a:off x="4246778" y="4105656"/>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TIKTOK CREATIVE CENTER · 2025</a:t>
            </a:r>
          </a:p>
        </p:txBody>
      </p:sp>
      <p:sp>
        <p:nvSpPr>
          <p:cNvPr id="23" name="TextBox 22"/>
          <p:cNvSpPr txBox="1"/>
          <p:nvPr/>
        </p:nvSpPr>
        <p:spPr>
          <a:xfrm>
            <a:off x="5664098" y="3099816"/>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Views #ironingtok y #asmrironing, casi 100% creadoras mujeres con peak 2024-2025.</a:t>
            </a:r>
          </a:p>
        </p:txBody>
      </p:sp>
      <p:sp>
        <p:nvSpPr>
          <p:cNvPr id="24" name="TextBox 23"/>
          <p:cNvSpPr txBox="1"/>
          <p:nvPr/>
        </p:nvSpPr>
        <p:spPr>
          <a:xfrm>
            <a:off x="4246778" y="4773168"/>
            <a:ext cx="1371600" cy="1097280"/>
          </a:xfrm>
          <a:prstGeom prst="rect">
            <a:avLst/>
          </a:prstGeom>
          <a:noFill/>
        </p:spPr>
        <p:txBody>
          <a:bodyPr wrap="square" lIns="0" rIns="0" tIns="0" bIns="0">
            <a:spAutoFit/>
          </a:bodyPr>
          <a:lstStyle/>
          <a:p>
            <a:pPr>
              <a:lnSpc>
                <a:spcPct val="100000"/>
              </a:lnSpc>
            </a:pPr>
            <a:r>
              <a:rPr sz="7200" b="0" i="0">
                <a:solidFill>
                  <a:srgbClr val="FFFFFF"/>
                </a:solidFill>
                <a:latin typeface="Instrument Serif"/>
              </a:rPr>
              <a:t>29%</a:t>
            </a:r>
          </a:p>
        </p:txBody>
      </p:sp>
      <p:sp>
        <p:nvSpPr>
          <p:cNvPr id="25" name="TextBox 24"/>
          <p:cNvSpPr txBox="1"/>
          <p:nvPr/>
        </p:nvSpPr>
        <p:spPr>
          <a:xfrm>
            <a:off x="4246778" y="5916168"/>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PEW RESEARCH · 2024</a:t>
            </a:r>
          </a:p>
        </p:txBody>
      </p:sp>
      <p:sp>
        <p:nvSpPr>
          <p:cNvPr id="26" name="TextBox 25"/>
          <p:cNvSpPr txBox="1"/>
          <p:nvPr/>
        </p:nvSpPr>
        <p:spPr>
          <a:xfrm>
            <a:off x="5664098" y="4910328"/>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Matrimonios USA ingresos iguales — mujer sigue haciendo más tareas domésticas.</a:t>
            </a:r>
          </a:p>
        </p:txBody>
      </p:sp>
      <p:pic>
        <p:nvPicPr>
          <p:cNvPr id="27" name="Picture 26" descr="macro-1-2-ilo-care-work.png"/>
          <p:cNvPicPr>
            <a:picLocks noChangeAspect="1"/>
          </p:cNvPicPr>
          <p:nvPr/>
        </p:nvPicPr>
        <p:blipFill>
          <a:blip r:embed="rId2"/>
          <a:stretch>
            <a:fillRect/>
          </a:stretch>
        </p:blipFill>
        <p:spPr>
          <a:xfrm>
            <a:off x="8127796" y="1152144"/>
            <a:ext cx="1397000" cy="1905000"/>
          </a:xfrm>
          <a:prstGeom prst="rect">
            <a:avLst/>
          </a:prstGeom>
        </p:spPr>
      </p:pic>
      <p:sp>
        <p:nvSpPr>
          <p:cNvPr id="28" name="Rounded Rectangle 27"/>
          <p:cNvSpPr/>
          <p:nvPr/>
        </p:nvSpPr>
        <p:spPr>
          <a:xfrm>
            <a:off x="9042196" y="1075944"/>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29" name="Rectangle 28">
            <a:hlinkClick r:id="rId3"/>
          </p:cNvPr>
          <p:cNvSpPr/>
          <p:nvPr/>
        </p:nvSpPr>
        <p:spPr>
          <a:xfrm>
            <a:off x="8127796" y="1152144"/>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97948" y="1289304"/>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Mantenimiento textil — la tarea más feminizada del planeta documentada por ILO.</a:t>
            </a:r>
          </a:p>
        </p:txBody>
      </p:sp>
      <p:sp>
        <p:nvSpPr>
          <p:cNvPr id="31" name="TextBox 30"/>
          <p:cNvSpPr txBox="1"/>
          <p:nvPr/>
        </p:nvSpPr>
        <p:spPr>
          <a:xfrm>
            <a:off x="9597948" y="1752092"/>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ILO · 2024</a:t>
            </a:r>
          </a:p>
        </p:txBody>
      </p:sp>
      <p:pic>
        <p:nvPicPr>
          <p:cNvPr id="32" name="Picture 31" descr="macro-1-1-tt-paigeturner-mentalload.png"/>
          <p:cNvPicPr>
            <a:picLocks noChangeAspect="1"/>
          </p:cNvPicPr>
          <p:nvPr/>
        </p:nvPicPr>
        <p:blipFill>
          <a:blip r:embed="rId4"/>
          <a:stretch>
            <a:fillRect/>
          </a:stretch>
        </p:blipFill>
        <p:spPr>
          <a:xfrm>
            <a:off x="8127796" y="2962656"/>
            <a:ext cx="1397000" cy="1905000"/>
          </a:xfrm>
          <a:prstGeom prst="rect">
            <a:avLst/>
          </a:prstGeom>
        </p:spPr>
      </p:pic>
      <p:sp>
        <p:nvSpPr>
          <p:cNvPr id="33" name="Rounded Rectangle 32"/>
          <p:cNvSpPr/>
          <p:nvPr/>
        </p:nvSpPr>
        <p:spPr>
          <a:xfrm>
            <a:off x="9042196" y="2886456"/>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34" name="Rectangle 33">
            <a:hlinkClick r:id="rId5"/>
          </p:cNvPr>
          <p:cNvSpPr/>
          <p:nvPr/>
        </p:nvSpPr>
        <p:spPr>
          <a:xfrm>
            <a:off x="8127796" y="2962656"/>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597948" y="3099816"/>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Vector cercano: carga doméstica feminizada como contenido viral.</a:t>
            </a:r>
          </a:p>
        </p:txBody>
      </p:sp>
      <p:sp>
        <p:nvSpPr>
          <p:cNvPr id="36" name="TextBox 35"/>
          <p:cNvSpPr txBox="1"/>
          <p:nvPr/>
        </p:nvSpPr>
        <p:spPr>
          <a:xfrm>
            <a:off x="9597948" y="3562604"/>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TIKTOK · 2024</a:t>
            </a:r>
          </a:p>
        </p:txBody>
      </p:sp>
      <p:pic>
        <p:nvPicPr>
          <p:cNvPr id="37" name="Picture 36" descr="macro-1-1-pew-egalitarian-marriages.png"/>
          <p:cNvPicPr>
            <a:picLocks noChangeAspect="1"/>
          </p:cNvPicPr>
          <p:nvPr/>
        </p:nvPicPr>
        <p:blipFill>
          <a:blip r:embed="rId6"/>
          <a:stretch>
            <a:fillRect/>
          </a:stretch>
        </p:blipFill>
        <p:spPr>
          <a:xfrm>
            <a:off x="8127796" y="4773168"/>
            <a:ext cx="1397000" cy="1905000"/>
          </a:xfrm>
          <a:prstGeom prst="rect">
            <a:avLst/>
          </a:prstGeom>
        </p:spPr>
      </p:pic>
      <p:sp>
        <p:nvSpPr>
          <p:cNvPr id="38" name="Rounded Rectangle 37"/>
          <p:cNvSpPr/>
          <p:nvPr/>
        </p:nvSpPr>
        <p:spPr>
          <a:xfrm>
            <a:off x="9042196" y="4696968"/>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39" name="Rectangle 38">
            <a:hlinkClick r:id="rId7"/>
          </p:cNvPr>
          <p:cNvSpPr/>
          <p:nvPr/>
        </p:nvSpPr>
        <p:spPr>
          <a:xfrm>
            <a:off x="8127796" y="4773168"/>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597948" y="4910328"/>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Pew 2024 confirma el domestic gap incluso con ingresos iguales.</a:t>
            </a:r>
          </a:p>
        </p:txBody>
      </p:sp>
      <p:sp>
        <p:nvSpPr>
          <p:cNvPr id="41" name="TextBox 40"/>
          <p:cNvSpPr txBox="1"/>
          <p:nvPr/>
        </p:nvSpPr>
        <p:spPr>
          <a:xfrm>
            <a:off x="9597948" y="5373116"/>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PEW RESEARCH · 2024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20040"/>
            <a:ext cx="777240" cy="201168"/>
          </a:xfrm>
          <a:prstGeom prst="rect">
            <a:avLst/>
          </a:prstGeom>
          <a:solidFill>
            <a:srgbClr val="E8E8E8"/>
          </a:solidFill>
          <a:ln w="3175">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800" b="1" i="0">
                <a:solidFill>
                  <a:srgbClr val="000000"/>
                </a:solidFill>
                <a:latin typeface="Poppins"/>
              </a:rPr>
              <a:t>MACRO 1</a:t>
            </a:r>
          </a:p>
        </p:txBody>
      </p:sp>
      <p:sp>
        <p:nvSpPr>
          <p:cNvPr id="4" name="Rectangle 3"/>
          <p:cNvSpPr/>
          <p:nvPr/>
        </p:nvSpPr>
        <p:spPr>
          <a:xfrm>
            <a:off x="1143000" y="320040"/>
            <a:ext cx="2011680" cy="201168"/>
          </a:xfrm>
          <a:prstGeom prst="rect">
            <a:avLst/>
          </a:prstGeom>
          <a:noFill/>
          <a:ln w="3175">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800" b="0" i="0">
                <a:solidFill>
                  <a:srgbClr val="A0A0A0"/>
                </a:solidFill>
                <a:latin typeface="Poppins"/>
              </a:rPr>
              <a:t>INVENTOLOGÍA</a:t>
            </a:r>
          </a:p>
        </p:txBody>
      </p:sp>
      <p:sp>
        <p:nvSpPr>
          <p:cNvPr id="5" name="TextBox 4"/>
          <p:cNvSpPr txBox="1"/>
          <p:nvPr/>
        </p:nvSpPr>
        <p:spPr>
          <a:xfrm>
            <a:off x="365760"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DEFINICIÓN</a:t>
            </a:r>
          </a:p>
        </p:txBody>
      </p:sp>
      <p:sp>
        <p:nvSpPr>
          <p:cNvPr id="6" name="TextBox 5"/>
          <p:cNvSpPr txBox="1"/>
          <p:nvPr/>
        </p:nvSpPr>
        <p:spPr>
          <a:xfrm>
            <a:off x="4246778"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TRIGGERS</a:t>
            </a:r>
          </a:p>
        </p:txBody>
      </p:sp>
      <p:sp>
        <p:nvSpPr>
          <p:cNvPr id="7" name="TextBox 6"/>
          <p:cNvSpPr txBox="1"/>
          <p:nvPr/>
        </p:nvSpPr>
        <p:spPr>
          <a:xfrm>
            <a:off x="8127796"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SEÑALES</a:t>
            </a:r>
          </a:p>
        </p:txBody>
      </p:sp>
      <p:cxnSp>
        <p:nvCxnSpPr>
          <p:cNvPr id="8" name="Connector 7"/>
          <p:cNvCxnSpPr/>
          <p:nvPr/>
        </p:nvCxnSpPr>
        <p:spPr>
          <a:xfrm>
            <a:off x="365760" y="1014984"/>
            <a:ext cx="11460175" cy="0"/>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155338" y="1152144"/>
            <a:ext cx="0" cy="5431536"/>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036356" y="1152144"/>
            <a:ext cx="0" cy="5431536"/>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65760" y="1152144"/>
            <a:ext cx="3606698" cy="2011680"/>
          </a:xfrm>
          <a:prstGeom prst="rect">
            <a:avLst/>
          </a:prstGeom>
          <a:noFill/>
        </p:spPr>
        <p:txBody>
          <a:bodyPr wrap="square" lIns="0" rIns="0" tIns="0" bIns="0">
            <a:spAutoFit/>
          </a:bodyPr>
          <a:lstStyle/>
          <a:p>
            <a:pPr>
              <a:lnSpc>
                <a:spcPct val="95000"/>
              </a:lnSpc>
            </a:pPr>
            <a:r>
              <a:rPr sz="1900" b="0" i="0">
                <a:solidFill>
                  <a:srgbClr val="FFFFFF"/>
                </a:solidFill>
                <a:latin typeface="Instrument Serif"/>
              </a:rPr>
              <a:t>EN LATAM 4 DE CADA 10 HOGARES YA TIENEN JEFA MUJER SIN PAREJA — LA "MAMÁ SOLA" DEJÓ DE SER CASO PARA VOLVERSE CATEGORÍA ECONÓMICA.</a:t>
            </a:r>
          </a:p>
        </p:txBody>
      </p:sp>
      <p:sp>
        <p:nvSpPr>
          <p:cNvPr id="12" name="TextBox 11"/>
          <p:cNvSpPr txBox="1"/>
          <p:nvPr/>
        </p:nvSpPr>
        <p:spPr>
          <a:xfrm>
            <a:off x="365760" y="325526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EL FENÓMENO</a:t>
            </a:r>
          </a:p>
        </p:txBody>
      </p:sp>
      <p:sp>
        <p:nvSpPr>
          <p:cNvPr id="13" name="TextBox 12"/>
          <p:cNvSpPr txBox="1"/>
          <p:nvPr/>
        </p:nvSpPr>
        <p:spPr>
          <a:xfrm>
            <a:off x="365760" y="3438144"/>
            <a:ext cx="3606698" cy="1371600"/>
          </a:xfrm>
          <a:prstGeom prst="rect">
            <a:avLst/>
          </a:prstGeom>
          <a:noFill/>
        </p:spPr>
        <p:txBody>
          <a:bodyPr wrap="square" lIns="0" rIns="0" tIns="0" bIns="0">
            <a:spAutoFit/>
          </a:bodyPr>
          <a:lstStyle/>
          <a:p>
            <a:pPr>
              <a:lnSpc>
                <a:spcPct val="100000"/>
              </a:lnSpc>
            </a:pPr>
            <a:r>
              <a:rPr sz="1000" b="0" i="0">
                <a:solidFill>
                  <a:srgbClr val="FFFFFF"/>
                </a:solidFill>
                <a:latin typeface="Poppins"/>
              </a:rPr>
              <a:t>Por décadas el hogar con jefatura femenina era leído como déficit — la familia rota, el caso de política social. En 2024 ya es estructural: 4 de cada 10 hogares LATAM tienen jefatura femenina sin cónyuge, según CEPAL. En TikTok la categoría se nombra a sí misma — #singlemomlife acumula 12B views — y las creadoras ya no narran tragedia: muestran presupuesto y logística como ventajas operativas.</a:t>
            </a:r>
          </a:p>
        </p:txBody>
      </p:sp>
      <p:sp>
        <p:nvSpPr>
          <p:cNvPr id="14" name="TextBox 13"/>
          <p:cNvSpPr txBox="1"/>
          <p:nvPr/>
        </p:nvSpPr>
        <p:spPr>
          <a:xfrm>
            <a:off x="365760" y="485546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HASHTAGS</a:t>
            </a:r>
          </a:p>
        </p:txBody>
      </p:sp>
      <p:sp>
        <p:nvSpPr>
          <p:cNvPr id="15" name="TextBox 14"/>
          <p:cNvSpPr txBox="1"/>
          <p:nvPr/>
        </p:nvSpPr>
        <p:spPr>
          <a:xfrm>
            <a:off x="365760" y="5038344"/>
            <a:ext cx="3606698" cy="640080"/>
          </a:xfrm>
          <a:prstGeom prst="rect">
            <a:avLst/>
          </a:prstGeom>
          <a:noFill/>
        </p:spPr>
        <p:txBody>
          <a:bodyPr wrap="square" lIns="0" rIns="0" tIns="0" bIns="0">
            <a:spAutoFit/>
          </a:bodyPr>
          <a:lstStyle/>
          <a:p>
            <a:pPr>
              <a:lnSpc>
                <a:spcPct val="110000"/>
              </a:lnSpc>
            </a:pPr>
            <a:r>
              <a:rPr sz="2300" b="0" i="0">
                <a:solidFill>
                  <a:srgbClr val="FFFFFF"/>
                </a:solidFill>
                <a:latin typeface="Instrument Serif"/>
              </a:rPr>
              <a:t>#singlemomlife  #mamasoltera  #jefadehogar  #headofhousehold</a:t>
            </a:r>
          </a:p>
        </p:txBody>
      </p:sp>
      <p:sp>
        <p:nvSpPr>
          <p:cNvPr id="16" name="TextBox 15"/>
          <p:cNvSpPr txBox="1"/>
          <p:nvPr/>
        </p:nvSpPr>
        <p:spPr>
          <a:xfrm>
            <a:off x="365760" y="572414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3 NEEDS</a:t>
            </a:r>
          </a:p>
        </p:txBody>
      </p:sp>
      <p:sp>
        <p:nvSpPr>
          <p:cNvPr id="17" name="TextBox 16"/>
          <p:cNvSpPr txBox="1"/>
          <p:nvPr/>
        </p:nvSpPr>
        <p:spPr>
          <a:xfrm>
            <a:off x="365760" y="5907024"/>
            <a:ext cx="3606698" cy="457200"/>
          </a:xfrm>
          <a:prstGeom prst="rect">
            <a:avLst/>
          </a:prstGeom>
          <a:noFill/>
        </p:spPr>
        <p:txBody>
          <a:bodyPr wrap="square" lIns="0" rIns="0" tIns="0" bIns="0">
            <a:spAutoFit/>
          </a:bodyPr>
          <a:lstStyle/>
          <a:p>
            <a:pPr>
              <a:lnSpc>
                <a:spcPct val="105000"/>
              </a:lnSpc>
            </a:pPr>
            <a:r>
              <a:rPr sz="1400" b="0" i="0">
                <a:solidFill>
                  <a:srgbClr val="FFFFFF"/>
                </a:solidFill>
                <a:latin typeface="Instrument Serif"/>
              </a:rPr>
              <a:t>AUTONOMÍA · SOLEDAD · ORGULLO</a:t>
            </a:r>
          </a:p>
        </p:txBody>
      </p:sp>
      <p:sp>
        <p:nvSpPr>
          <p:cNvPr id="18" name="TextBox 17"/>
          <p:cNvSpPr txBox="1"/>
          <p:nvPr/>
        </p:nvSpPr>
        <p:spPr>
          <a:xfrm>
            <a:off x="4246778" y="1152144"/>
            <a:ext cx="1371600" cy="1097280"/>
          </a:xfrm>
          <a:prstGeom prst="rect">
            <a:avLst/>
          </a:prstGeom>
          <a:noFill/>
        </p:spPr>
        <p:txBody>
          <a:bodyPr wrap="square" lIns="0" rIns="0" tIns="0" bIns="0">
            <a:spAutoFit/>
          </a:bodyPr>
          <a:lstStyle/>
          <a:p>
            <a:pPr>
              <a:lnSpc>
                <a:spcPct val="100000"/>
              </a:lnSpc>
            </a:pPr>
            <a:r>
              <a:rPr sz="5400" b="0" i="0">
                <a:solidFill>
                  <a:srgbClr val="FFFFFF"/>
                </a:solidFill>
                <a:latin typeface="Instrument Serif"/>
              </a:rPr>
              <a:t>4/10</a:t>
            </a:r>
          </a:p>
        </p:txBody>
      </p:sp>
      <p:sp>
        <p:nvSpPr>
          <p:cNvPr id="19" name="TextBox 18"/>
          <p:cNvSpPr txBox="1"/>
          <p:nvPr/>
        </p:nvSpPr>
        <p:spPr>
          <a:xfrm>
            <a:off x="4246778" y="2295144"/>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CEPAL OIG · 2024</a:t>
            </a:r>
          </a:p>
        </p:txBody>
      </p:sp>
      <p:sp>
        <p:nvSpPr>
          <p:cNvPr id="20" name="TextBox 19"/>
          <p:cNvSpPr txBox="1"/>
          <p:nvPr/>
        </p:nvSpPr>
        <p:spPr>
          <a:xfrm>
            <a:off x="5664098" y="1289304"/>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Hogares LATAM con jefatura femenina sin cónyuge — crecimiento sostenido.</a:t>
            </a:r>
          </a:p>
        </p:txBody>
      </p:sp>
      <p:sp>
        <p:nvSpPr>
          <p:cNvPr id="21" name="TextBox 20"/>
          <p:cNvSpPr txBox="1"/>
          <p:nvPr/>
        </p:nvSpPr>
        <p:spPr>
          <a:xfrm>
            <a:off x="4246778" y="2962656"/>
            <a:ext cx="1371600" cy="1097280"/>
          </a:xfrm>
          <a:prstGeom prst="rect">
            <a:avLst/>
          </a:prstGeom>
          <a:noFill/>
        </p:spPr>
        <p:txBody>
          <a:bodyPr wrap="square" lIns="0" rIns="0" tIns="0" bIns="0">
            <a:spAutoFit/>
          </a:bodyPr>
          <a:lstStyle/>
          <a:p>
            <a:pPr>
              <a:lnSpc>
                <a:spcPct val="100000"/>
              </a:lnSpc>
            </a:pPr>
            <a:r>
              <a:rPr sz="7200" b="0" i="0">
                <a:solidFill>
                  <a:srgbClr val="FFFFFF"/>
                </a:solidFill>
                <a:latin typeface="Instrument Serif"/>
              </a:rPr>
              <a:t>12B</a:t>
            </a:r>
          </a:p>
        </p:txBody>
      </p:sp>
      <p:sp>
        <p:nvSpPr>
          <p:cNvPr id="22" name="TextBox 21"/>
          <p:cNvSpPr txBox="1"/>
          <p:nvPr/>
        </p:nvSpPr>
        <p:spPr>
          <a:xfrm>
            <a:off x="4246778" y="4105656"/>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TIKTOK CREATIVE CENTER · 2025</a:t>
            </a:r>
          </a:p>
        </p:txBody>
      </p:sp>
      <p:sp>
        <p:nvSpPr>
          <p:cNvPr id="23" name="TextBox 22"/>
          <p:cNvSpPr txBox="1"/>
          <p:nvPr/>
        </p:nvSpPr>
        <p:spPr>
          <a:xfrm>
            <a:off x="5664098" y="3099816"/>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Views acumulados #singlemomlife con peak sostenido 2024-2025.</a:t>
            </a:r>
          </a:p>
        </p:txBody>
      </p:sp>
      <p:sp>
        <p:nvSpPr>
          <p:cNvPr id="24" name="TextBox 23"/>
          <p:cNvSpPr txBox="1"/>
          <p:nvPr/>
        </p:nvSpPr>
        <p:spPr>
          <a:xfrm>
            <a:off x="4246778" y="4773168"/>
            <a:ext cx="1371600" cy="1097280"/>
          </a:xfrm>
          <a:prstGeom prst="rect">
            <a:avLst/>
          </a:prstGeom>
          <a:noFill/>
        </p:spPr>
        <p:txBody>
          <a:bodyPr wrap="square" lIns="0" rIns="0" tIns="0" bIns="0">
            <a:spAutoFit/>
          </a:bodyPr>
          <a:lstStyle/>
          <a:p>
            <a:pPr>
              <a:lnSpc>
                <a:spcPct val="100000"/>
              </a:lnSpc>
            </a:pPr>
            <a:r>
              <a:rPr sz="7200" b="0" i="0">
                <a:solidFill>
                  <a:srgbClr val="FFFFFF"/>
                </a:solidFill>
                <a:latin typeface="Instrument Serif"/>
              </a:rPr>
              <a:t>↑</a:t>
            </a:r>
          </a:p>
        </p:txBody>
      </p:sp>
      <p:sp>
        <p:nvSpPr>
          <p:cNvPr id="25" name="TextBox 24"/>
          <p:cNvSpPr txBox="1"/>
          <p:nvPr/>
        </p:nvSpPr>
        <p:spPr>
          <a:xfrm>
            <a:off x="4246778" y="5916168"/>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ONE BOLETINES GÉNERO · 2024</a:t>
            </a:r>
          </a:p>
        </p:txBody>
      </p:sp>
      <p:sp>
        <p:nvSpPr>
          <p:cNvPr id="26" name="TextBox 25"/>
          <p:cNvSpPr txBox="1"/>
          <p:nvPr/>
        </p:nvSpPr>
        <p:spPr>
          <a:xfrm>
            <a:off x="5664098" y="4910328"/>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ENHOGAR-MICS confirma jefatura femenina creciente en hogares RD post-2020.</a:t>
            </a:r>
          </a:p>
        </p:txBody>
      </p:sp>
      <p:pic>
        <p:nvPicPr>
          <p:cNvPr id="27" name="Picture 26" descr="macro-1-1-tt-paigeturner-mentalload.png"/>
          <p:cNvPicPr>
            <a:picLocks noChangeAspect="1"/>
          </p:cNvPicPr>
          <p:nvPr/>
        </p:nvPicPr>
        <p:blipFill>
          <a:blip r:embed="rId2"/>
          <a:stretch>
            <a:fillRect/>
          </a:stretch>
        </p:blipFill>
        <p:spPr>
          <a:xfrm>
            <a:off x="8127796" y="1152144"/>
            <a:ext cx="1397000" cy="1905000"/>
          </a:xfrm>
          <a:prstGeom prst="rect">
            <a:avLst/>
          </a:prstGeom>
        </p:spPr>
      </p:pic>
      <p:sp>
        <p:nvSpPr>
          <p:cNvPr id="28" name="Rounded Rectangle 27"/>
          <p:cNvSpPr/>
          <p:nvPr/>
        </p:nvSpPr>
        <p:spPr>
          <a:xfrm>
            <a:off x="9042196" y="1075944"/>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29" name="Rectangle 28">
            <a:hlinkClick r:id="rId3"/>
          </p:cNvPr>
          <p:cNvSpPr/>
          <p:nvPr/>
        </p:nvSpPr>
        <p:spPr>
          <a:xfrm>
            <a:off x="8127796" y="1152144"/>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97948" y="1289304"/>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Madre proveedora única narrando logística sola como contenido.</a:t>
            </a:r>
          </a:p>
        </p:txBody>
      </p:sp>
      <p:sp>
        <p:nvSpPr>
          <p:cNvPr id="31" name="TextBox 30"/>
          <p:cNvSpPr txBox="1"/>
          <p:nvPr/>
        </p:nvSpPr>
        <p:spPr>
          <a:xfrm>
            <a:off x="9597948" y="1752092"/>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TIKTOK · 2024</a:t>
            </a:r>
          </a:p>
        </p:txBody>
      </p:sp>
      <p:pic>
        <p:nvPicPr>
          <p:cNvPr id="32" name="Picture 31" descr="macro-1-4-aplaceformom-sandwich.png"/>
          <p:cNvPicPr>
            <a:picLocks noChangeAspect="1"/>
          </p:cNvPicPr>
          <p:nvPr/>
        </p:nvPicPr>
        <p:blipFill>
          <a:blip r:embed="rId4"/>
          <a:stretch>
            <a:fillRect/>
          </a:stretch>
        </p:blipFill>
        <p:spPr>
          <a:xfrm>
            <a:off x="8127796" y="2962656"/>
            <a:ext cx="1397000" cy="1905000"/>
          </a:xfrm>
          <a:prstGeom prst="rect">
            <a:avLst/>
          </a:prstGeom>
        </p:spPr>
      </p:pic>
      <p:sp>
        <p:nvSpPr>
          <p:cNvPr id="33" name="Rounded Rectangle 32"/>
          <p:cNvSpPr/>
          <p:nvPr/>
        </p:nvSpPr>
        <p:spPr>
          <a:xfrm>
            <a:off x="9042196" y="2886456"/>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34" name="Rectangle 33">
            <a:hlinkClick r:id="rId5"/>
          </p:cNvPr>
          <p:cNvSpPr/>
          <p:nvPr/>
        </p:nvSpPr>
        <p:spPr>
          <a:xfrm>
            <a:off x="8127796" y="2962656"/>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597948" y="3099816"/>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La mujer adulta como pivote estructural del cuidado familiar.</a:t>
            </a:r>
          </a:p>
        </p:txBody>
      </p:sp>
      <p:sp>
        <p:nvSpPr>
          <p:cNvPr id="36" name="TextBox 35"/>
          <p:cNvSpPr txBox="1"/>
          <p:nvPr/>
        </p:nvSpPr>
        <p:spPr>
          <a:xfrm>
            <a:off x="9597948" y="3562604"/>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A PLACE FOR MOM · 2024</a:t>
            </a:r>
          </a:p>
        </p:txBody>
      </p:sp>
      <p:pic>
        <p:nvPicPr>
          <p:cNvPr id="37" name="Picture 36" descr="macro-1-0-ourfamilywizard.png"/>
          <p:cNvPicPr>
            <a:picLocks noChangeAspect="1"/>
          </p:cNvPicPr>
          <p:nvPr/>
        </p:nvPicPr>
        <p:blipFill>
          <a:blip r:embed="rId6"/>
          <a:stretch>
            <a:fillRect/>
          </a:stretch>
        </p:blipFill>
        <p:spPr>
          <a:xfrm>
            <a:off x="8127796" y="4773168"/>
            <a:ext cx="1397000" cy="1905000"/>
          </a:xfrm>
          <a:prstGeom prst="rect">
            <a:avLst/>
          </a:prstGeom>
        </p:spPr>
      </p:pic>
      <p:sp>
        <p:nvSpPr>
          <p:cNvPr id="38" name="Rounded Rectangle 37"/>
          <p:cNvSpPr/>
          <p:nvPr/>
        </p:nvSpPr>
        <p:spPr>
          <a:xfrm>
            <a:off x="9042196" y="4696968"/>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39" name="Rectangle 38">
            <a:hlinkClick r:id="rId7"/>
          </p:cNvPr>
          <p:cNvSpPr/>
          <p:nvPr/>
        </p:nvSpPr>
        <p:spPr>
          <a:xfrm>
            <a:off x="8127796" y="4773168"/>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597948" y="4910328"/>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App diseñada para la mujer post-divorcio que coadministra sola.</a:t>
            </a:r>
          </a:p>
        </p:txBody>
      </p:sp>
      <p:sp>
        <p:nvSpPr>
          <p:cNvPr id="41" name="TextBox 40"/>
          <p:cNvSpPr txBox="1"/>
          <p:nvPr/>
        </p:nvSpPr>
        <p:spPr>
          <a:xfrm>
            <a:off x="9597948" y="5373116"/>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OURFAMILYWIZARD · 2024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20040"/>
            <a:ext cx="777240" cy="201168"/>
          </a:xfrm>
          <a:prstGeom prst="rect">
            <a:avLst/>
          </a:prstGeom>
          <a:solidFill>
            <a:srgbClr val="E8E8E8"/>
          </a:solidFill>
          <a:ln w="3175">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800" b="1" i="0">
                <a:solidFill>
                  <a:srgbClr val="000000"/>
                </a:solidFill>
                <a:latin typeface="Poppins"/>
              </a:rPr>
              <a:t>MACRO 1</a:t>
            </a:r>
          </a:p>
        </p:txBody>
      </p:sp>
      <p:sp>
        <p:nvSpPr>
          <p:cNvPr id="4" name="Rectangle 3"/>
          <p:cNvSpPr/>
          <p:nvPr/>
        </p:nvSpPr>
        <p:spPr>
          <a:xfrm>
            <a:off x="1143000" y="320040"/>
            <a:ext cx="2011680" cy="201168"/>
          </a:xfrm>
          <a:prstGeom prst="rect">
            <a:avLst/>
          </a:prstGeom>
          <a:noFill/>
          <a:ln w="3175">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800" b="0" i="0">
                <a:solidFill>
                  <a:srgbClr val="A0A0A0"/>
                </a:solidFill>
                <a:latin typeface="Poppins"/>
              </a:rPr>
              <a:t>INVENTOLOGÍA</a:t>
            </a:r>
          </a:p>
        </p:txBody>
      </p:sp>
      <p:sp>
        <p:nvSpPr>
          <p:cNvPr id="5" name="TextBox 4"/>
          <p:cNvSpPr txBox="1"/>
          <p:nvPr/>
        </p:nvSpPr>
        <p:spPr>
          <a:xfrm>
            <a:off x="365760"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DEFINICIÓN</a:t>
            </a:r>
          </a:p>
        </p:txBody>
      </p:sp>
      <p:sp>
        <p:nvSpPr>
          <p:cNvPr id="6" name="TextBox 5"/>
          <p:cNvSpPr txBox="1"/>
          <p:nvPr/>
        </p:nvSpPr>
        <p:spPr>
          <a:xfrm>
            <a:off x="4246778"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TRIGGERS</a:t>
            </a:r>
          </a:p>
        </p:txBody>
      </p:sp>
      <p:sp>
        <p:nvSpPr>
          <p:cNvPr id="7" name="TextBox 6"/>
          <p:cNvSpPr txBox="1"/>
          <p:nvPr/>
        </p:nvSpPr>
        <p:spPr>
          <a:xfrm>
            <a:off x="8127796"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SEÑALES</a:t>
            </a:r>
          </a:p>
        </p:txBody>
      </p:sp>
      <p:cxnSp>
        <p:nvCxnSpPr>
          <p:cNvPr id="8" name="Connector 7"/>
          <p:cNvCxnSpPr/>
          <p:nvPr/>
        </p:nvCxnSpPr>
        <p:spPr>
          <a:xfrm>
            <a:off x="365760" y="1014984"/>
            <a:ext cx="11460175" cy="0"/>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155338" y="1152144"/>
            <a:ext cx="0" cy="5431536"/>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036356" y="1152144"/>
            <a:ext cx="0" cy="5431536"/>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65760" y="1152144"/>
            <a:ext cx="3606698" cy="2011680"/>
          </a:xfrm>
          <a:prstGeom prst="rect">
            <a:avLst/>
          </a:prstGeom>
          <a:noFill/>
        </p:spPr>
        <p:txBody>
          <a:bodyPr wrap="square" lIns="0" rIns="0" tIns="0" bIns="0">
            <a:spAutoFit/>
          </a:bodyPr>
          <a:lstStyle/>
          <a:p>
            <a:pPr>
              <a:lnSpc>
                <a:spcPct val="95000"/>
              </a:lnSpc>
            </a:pPr>
            <a:r>
              <a:rPr sz="1900" b="0" i="0">
                <a:solidFill>
                  <a:srgbClr val="FFFFFF"/>
                </a:solidFill>
                <a:latin typeface="Instrument Serif"/>
              </a:rPr>
              <a:t>LATAM ENVEJECE Y EL CUIDADO DE LOS VIEJOS CAE CASI 100% EN MUJERES ADULTAS — LA "HIJA CUIDADORA" ES LA NUEVA CARGA SIN NOMBRE.</a:t>
            </a:r>
          </a:p>
        </p:txBody>
      </p:sp>
      <p:sp>
        <p:nvSpPr>
          <p:cNvPr id="12" name="TextBox 11"/>
          <p:cNvSpPr txBox="1"/>
          <p:nvPr/>
        </p:nvSpPr>
        <p:spPr>
          <a:xfrm>
            <a:off x="365760" y="325526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EL FENÓMENO</a:t>
            </a:r>
          </a:p>
        </p:txBody>
      </p:sp>
      <p:sp>
        <p:nvSpPr>
          <p:cNvPr id="13" name="TextBox 12"/>
          <p:cNvSpPr txBox="1"/>
          <p:nvPr/>
        </p:nvSpPr>
        <p:spPr>
          <a:xfrm>
            <a:off x="365760" y="3438144"/>
            <a:ext cx="3606698" cy="1371600"/>
          </a:xfrm>
          <a:prstGeom prst="rect">
            <a:avLst/>
          </a:prstGeom>
          <a:noFill/>
        </p:spPr>
        <p:txBody>
          <a:bodyPr wrap="square" lIns="0" rIns="0" tIns="0" bIns="0">
            <a:spAutoFit/>
          </a:bodyPr>
          <a:lstStyle/>
          <a:p>
            <a:pPr>
              <a:lnSpc>
                <a:spcPct val="100000"/>
              </a:lnSpc>
            </a:pPr>
            <a:r>
              <a:rPr sz="1000" b="0" i="0">
                <a:solidFill>
                  <a:srgbClr val="FFFFFF"/>
                </a:solidFill>
                <a:latin typeface="Poppins"/>
              </a:rPr>
              <a:t>LATAM va a duplicar su población mayor de 60 al 2050. En USA, donde sí hay data fina, 61% de cuidadores familiares son mujeres y dedican 24 horas semanales sin paga. La sandwich generation — mujer adulta entre madre mayor e hijo adolescente — se volvió categoría TikTok con video diario sobre rutina dual. La hija cuidadora todavía no tiene contrato laboral, no tiene pensión, no tiene reemplazo.</a:t>
            </a:r>
          </a:p>
        </p:txBody>
      </p:sp>
      <p:sp>
        <p:nvSpPr>
          <p:cNvPr id="14" name="TextBox 13"/>
          <p:cNvSpPr txBox="1"/>
          <p:nvPr/>
        </p:nvSpPr>
        <p:spPr>
          <a:xfrm>
            <a:off x="365760" y="485546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HASHTAGS</a:t>
            </a:r>
          </a:p>
        </p:txBody>
      </p:sp>
      <p:sp>
        <p:nvSpPr>
          <p:cNvPr id="15" name="TextBox 14"/>
          <p:cNvSpPr txBox="1"/>
          <p:nvPr/>
        </p:nvSpPr>
        <p:spPr>
          <a:xfrm>
            <a:off x="365760" y="5038344"/>
            <a:ext cx="3606698" cy="640080"/>
          </a:xfrm>
          <a:prstGeom prst="rect">
            <a:avLst/>
          </a:prstGeom>
          <a:noFill/>
        </p:spPr>
        <p:txBody>
          <a:bodyPr wrap="square" lIns="0" rIns="0" tIns="0" bIns="0">
            <a:spAutoFit/>
          </a:bodyPr>
          <a:lstStyle/>
          <a:p>
            <a:pPr>
              <a:lnSpc>
                <a:spcPct val="110000"/>
              </a:lnSpc>
            </a:pPr>
            <a:r>
              <a:rPr sz="2300" b="0" i="0">
                <a:solidFill>
                  <a:srgbClr val="FFFFFF"/>
                </a:solidFill>
                <a:latin typeface="Instrument Serif"/>
              </a:rPr>
              <a:t>#sandwichgeneration  #caregivertok  #eldercare  #hijascuidadoras</a:t>
            </a:r>
          </a:p>
        </p:txBody>
      </p:sp>
      <p:sp>
        <p:nvSpPr>
          <p:cNvPr id="16" name="TextBox 15"/>
          <p:cNvSpPr txBox="1"/>
          <p:nvPr/>
        </p:nvSpPr>
        <p:spPr>
          <a:xfrm>
            <a:off x="365760" y="572414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3 NEEDS</a:t>
            </a:r>
          </a:p>
        </p:txBody>
      </p:sp>
      <p:sp>
        <p:nvSpPr>
          <p:cNvPr id="17" name="TextBox 16"/>
          <p:cNvSpPr txBox="1"/>
          <p:nvPr/>
        </p:nvSpPr>
        <p:spPr>
          <a:xfrm>
            <a:off x="365760" y="5907024"/>
            <a:ext cx="3606698" cy="457200"/>
          </a:xfrm>
          <a:prstGeom prst="rect">
            <a:avLst/>
          </a:prstGeom>
          <a:noFill/>
        </p:spPr>
        <p:txBody>
          <a:bodyPr wrap="square" lIns="0" rIns="0" tIns="0" bIns="0">
            <a:spAutoFit/>
          </a:bodyPr>
          <a:lstStyle/>
          <a:p>
            <a:pPr>
              <a:lnSpc>
                <a:spcPct val="105000"/>
              </a:lnSpc>
            </a:pPr>
            <a:r>
              <a:rPr sz="1400" b="0" i="0">
                <a:solidFill>
                  <a:srgbClr val="FFFFFF"/>
                </a:solidFill>
                <a:latin typeface="Instrument Serif"/>
              </a:rPr>
              <a:t>APOYO · INVISIBILIDAD · CULPA</a:t>
            </a:r>
          </a:p>
        </p:txBody>
      </p:sp>
      <p:sp>
        <p:nvSpPr>
          <p:cNvPr id="18" name="TextBox 17"/>
          <p:cNvSpPr txBox="1"/>
          <p:nvPr/>
        </p:nvSpPr>
        <p:spPr>
          <a:xfrm>
            <a:off x="4246778" y="1152144"/>
            <a:ext cx="1371600" cy="1097280"/>
          </a:xfrm>
          <a:prstGeom prst="rect">
            <a:avLst/>
          </a:prstGeom>
          <a:noFill/>
        </p:spPr>
        <p:txBody>
          <a:bodyPr wrap="square" lIns="0" rIns="0" tIns="0" bIns="0">
            <a:spAutoFit/>
          </a:bodyPr>
          <a:lstStyle/>
          <a:p>
            <a:pPr>
              <a:lnSpc>
                <a:spcPct val="100000"/>
              </a:lnSpc>
            </a:pPr>
            <a:r>
              <a:rPr sz="7200" b="0" i="0">
                <a:solidFill>
                  <a:srgbClr val="FFFFFF"/>
                </a:solidFill>
                <a:latin typeface="Instrument Serif"/>
              </a:rPr>
              <a:t>61%</a:t>
            </a:r>
          </a:p>
        </p:txBody>
      </p:sp>
      <p:sp>
        <p:nvSpPr>
          <p:cNvPr id="19" name="TextBox 18"/>
          <p:cNvSpPr txBox="1"/>
          <p:nvPr/>
        </p:nvSpPr>
        <p:spPr>
          <a:xfrm>
            <a:off x="4246778" y="2295144"/>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AARP · 2025</a:t>
            </a:r>
          </a:p>
        </p:txBody>
      </p:sp>
      <p:sp>
        <p:nvSpPr>
          <p:cNvPr id="20" name="TextBox 19"/>
          <p:cNvSpPr txBox="1"/>
          <p:nvPr/>
        </p:nvSpPr>
        <p:spPr>
          <a:xfrm>
            <a:off x="5664098" y="1289304"/>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Cuidadores familiares USA son mujeres, ~24 horas semanales sin paga.</a:t>
            </a:r>
          </a:p>
        </p:txBody>
      </p:sp>
      <p:sp>
        <p:nvSpPr>
          <p:cNvPr id="21" name="TextBox 20"/>
          <p:cNvSpPr txBox="1"/>
          <p:nvPr/>
        </p:nvSpPr>
        <p:spPr>
          <a:xfrm>
            <a:off x="4246778" y="2962656"/>
            <a:ext cx="1371600" cy="1097280"/>
          </a:xfrm>
          <a:prstGeom prst="rect">
            <a:avLst/>
          </a:prstGeom>
          <a:noFill/>
        </p:spPr>
        <p:txBody>
          <a:bodyPr wrap="square" lIns="0" rIns="0" tIns="0" bIns="0">
            <a:spAutoFit/>
          </a:bodyPr>
          <a:lstStyle/>
          <a:p>
            <a:pPr>
              <a:lnSpc>
                <a:spcPct val="100000"/>
              </a:lnSpc>
            </a:pPr>
            <a:r>
              <a:rPr sz="7200" b="0" i="0">
                <a:solidFill>
                  <a:srgbClr val="FFFFFF"/>
                </a:solidFill>
                <a:latin typeface="Instrument Serif"/>
              </a:rPr>
              <a:t>2x</a:t>
            </a:r>
          </a:p>
        </p:txBody>
      </p:sp>
      <p:sp>
        <p:nvSpPr>
          <p:cNvPr id="22" name="TextBox 21"/>
          <p:cNvSpPr txBox="1"/>
          <p:nvPr/>
        </p:nvSpPr>
        <p:spPr>
          <a:xfrm>
            <a:off x="4246778" y="4105656"/>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UNFPA / CELADE · 2024</a:t>
            </a:r>
          </a:p>
        </p:txBody>
      </p:sp>
      <p:sp>
        <p:nvSpPr>
          <p:cNvPr id="23" name="TextBox 22"/>
          <p:cNvSpPr txBox="1"/>
          <p:nvPr/>
        </p:nvSpPr>
        <p:spPr>
          <a:xfrm>
            <a:off x="5664098" y="3099816"/>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Población mayor de 60 en LATAM al 2050 con servicios de cuidado subdesarrollados.</a:t>
            </a:r>
          </a:p>
        </p:txBody>
      </p:sp>
      <p:sp>
        <p:nvSpPr>
          <p:cNvPr id="24" name="TextBox 23"/>
          <p:cNvSpPr txBox="1"/>
          <p:nvPr/>
        </p:nvSpPr>
        <p:spPr>
          <a:xfrm>
            <a:off x="4246778" y="4773168"/>
            <a:ext cx="1371600" cy="1097280"/>
          </a:xfrm>
          <a:prstGeom prst="rect">
            <a:avLst/>
          </a:prstGeom>
          <a:noFill/>
        </p:spPr>
        <p:txBody>
          <a:bodyPr wrap="square" lIns="0" rIns="0" tIns="0" bIns="0">
            <a:spAutoFit/>
          </a:bodyPr>
          <a:lstStyle/>
          <a:p>
            <a:pPr>
              <a:lnSpc>
                <a:spcPct val="100000"/>
              </a:lnSpc>
            </a:pPr>
            <a:r>
              <a:rPr sz="7200" b="0" i="0">
                <a:solidFill>
                  <a:srgbClr val="FFFFFF"/>
                </a:solidFill>
                <a:latin typeface="Instrument Serif"/>
              </a:rPr>
              <a:t>1B</a:t>
            </a:r>
          </a:p>
        </p:txBody>
      </p:sp>
      <p:sp>
        <p:nvSpPr>
          <p:cNvPr id="25" name="TextBox 24"/>
          <p:cNvSpPr txBox="1"/>
          <p:nvPr/>
        </p:nvSpPr>
        <p:spPr>
          <a:xfrm>
            <a:off x="4246778" y="5916168"/>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TIKTOK CREATIVE CENTER · 2025</a:t>
            </a:r>
          </a:p>
        </p:txBody>
      </p:sp>
      <p:sp>
        <p:nvSpPr>
          <p:cNvPr id="26" name="TextBox 25"/>
          <p:cNvSpPr txBox="1"/>
          <p:nvPr/>
        </p:nvSpPr>
        <p:spPr>
          <a:xfrm>
            <a:off x="5664098" y="4910328"/>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Views combinados #sandwichgeneration y #caregivertok con peak 2024-2025.</a:t>
            </a:r>
          </a:p>
        </p:txBody>
      </p:sp>
      <p:pic>
        <p:nvPicPr>
          <p:cNvPr id="27" name="Picture 26" descr="macro-1-4-aplaceformom-sandwich.png"/>
          <p:cNvPicPr>
            <a:picLocks noChangeAspect="1"/>
          </p:cNvPicPr>
          <p:nvPr/>
        </p:nvPicPr>
        <p:blipFill>
          <a:blip r:embed="rId2"/>
          <a:stretch>
            <a:fillRect/>
          </a:stretch>
        </p:blipFill>
        <p:spPr>
          <a:xfrm>
            <a:off x="8127796" y="1152144"/>
            <a:ext cx="1397000" cy="1905000"/>
          </a:xfrm>
          <a:prstGeom prst="rect">
            <a:avLst/>
          </a:prstGeom>
        </p:spPr>
      </p:pic>
      <p:sp>
        <p:nvSpPr>
          <p:cNvPr id="28" name="Rounded Rectangle 27"/>
          <p:cNvSpPr/>
          <p:nvPr/>
        </p:nvSpPr>
        <p:spPr>
          <a:xfrm>
            <a:off x="9042196" y="1075944"/>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29" name="Rectangle 28">
            <a:hlinkClick r:id="rId3"/>
          </p:cNvPr>
          <p:cNvSpPr/>
          <p:nvPr/>
        </p:nvSpPr>
        <p:spPr>
          <a:xfrm>
            <a:off x="8127796" y="1152144"/>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97948" y="1289304"/>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Sandwich generation — mujer adulta entre madre mayor e hijo, ~24h/sem sin paga.</a:t>
            </a:r>
          </a:p>
        </p:txBody>
      </p:sp>
      <p:sp>
        <p:nvSpPr>
          <p:cNvPr id="31" name="TextBox 30"/>
          <p:cNvSpPr txBox="1"/>
          <p:nvPr/>
        </p:nvSpPr>
        <p:spPr>
          <a:xfrm>
            <a:off x="9597948" y="1752092"/>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A PLACE FOR MOM · 2024</a:t>
            </a:r>
          </a:p>
        </p:txBody>
      </p:sp>
      <p:pic>
        <p:nvPicPr>
          <p:cNvPr id="32" name="Picture 31" descr="macro-1-4-aarp-caregiving-2025.png"/>
          <p:cNvPicPr>
            <a:picLocks noChangeAspect="1"/>
          </p:cNvPicPr>
          <p:nvPr/>
        </p:nvPicPr>
        <p:blipFill>
          <a:blip r:embed="rId4"/>
          <a:stretch>
            <a:fillRect/>
          </a:stretch>
        </p:blipFill>
        <p:spPr>
          <a:xfrm>
            <a:off x="8127796" y="2962656"/>
            <a:ext cx="1397000" cy="1905000"/>
          </a:xfrm>
          <a:prstGeom prst="rect">
            <a:avLst/>
          </a:prstGeom>
        </p:spPr>
      </p:pic>
      <p:sp>
        <p:nvSpPr>
          <p:cNvPr id="33" name="Rounded Rectangle 32"/>
          <p:cNvSpPr/>
          <p:nvPr/>
        </p:nvSpPr>
        <p:spPr>
          <a:xfrm>
            <a:off x="9042196" y="2886456"/>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34" name="Rectangle 33">
            <a:hlinkClick r:id="rId5"/>
          </p:cNvPr>
          <p:cNvSpPr/>
          <p:nvPr/>
        </p:nvSpPr>
        <p:spPr>
          <a:xfrm>
            <a:off x="8127796" y="2962656"/>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597948" y="3099816"/>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63M cuidadores en USA, 3 de cada 5 son mujeres — AARP 2025.</a:t>
            </a:r>
          </a:p>
        </p:txBody>
      </p:sp>
      <p:sp>
        <p:nvSpPr>
          <p:cNvPr id="36" name="TextBox 35"/>
          <p:cNvSpPr txBox="1"/>
          <p:nvPr/>
        </p:nvSpPr>
        <p:spPr>
          <a:xfrm>
            <a:off x="9597948" y="3562604"/>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AARP · 2025</a:t>
            </a:r>
          </a:p>
        </p:txBody>
      </p:sp>
      <p:pic>
        <p:nvPicPr>
          <p:cNvPr id="37" name="Picture 36" descr="macro-1-0-ourfamilywizard.png"/>
          <p:cNvPicPr>
            <a:picLocks noChangeAspect="1"/>
          </p:cNvPicPr>
          <p:nvPr/>
        </p:nvPicPr>
        <p:blipFill>
          <a:blip r:embed="rId6"/>
          <a:stretch>
            <a:fillRect/>
          </a:stretch>
        </p:blipFill>
        <p:spPr>
          <a:xfrm>
            <a:off x="8127796" y="4773168"/>
            <a:ext cx="1397000" cy="1905000"/>
          </a:xfrm>
          <a:prstGeom prst="rect">
            <a:avLst/>
          </a:prstGeom>
        </p:spPr>
      </p:pic>
      <p:sp>
        <p:nvSpPr>
          <p:cNvPr id="38" name="Rounded Rectangle 37"/>
          <p:cNvSpPr/>
          <p:nvPr/>
        </p:nvSpPr>
        <p:spPr>
          <a:xfrm>
            <a:off x="9042196" y="4696968"/>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39" name="Rectangle 38">
            <a:hlinkClick r:id="rId7"/>
          </p:cNvPr>
          <p:cNvSpPr/>
          <p:nvPr/>
        </p:nvSpPr>
        <p:spPr>
          <a:xfrm>
            <a:off x="8127796" y="4773168"/>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597948" y="4910328"/>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Primera app que formalizó coordinación post-divorcio; eldercare apenas empieza.</a:t>
            </a:r>
          </a:p>
        </p:txBody>
      </p:sp>
      <p:sp>
        <p:nvSpPr>
          <p:cNvPr id="41" name="TextBox 40"/>
          <p:cNvSpPr txBox="1"/>
          <p:nvPr/>
        </p:nvSpPr>
        <p:spPr>
          <a:xfrm>
            <a:off x="9597948" y="5373116"/>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OURFAMILYWIZARD · 2024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20040"/>
            <a:ext cx="777240" cy="201168"/>
          </a:xfrm>
          <a:prstGeom prst="rect">
            <a:avLst/>
          </a:prstGeom>
          <a:solidFill>
            <a:srgbClr val="E8E8E8"/>
          </a:solidFill>
          <a:ln w="3175">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800" b="1" i="0">
                <a:solidFill>
                  <a:srgbClr val="000000"/>
                </a:solidFill>
                <a:latin typeface="Poppins"/>
              </a:rPr>
              <a:t>MACRO 1</a:t>
            </a:r>
          </a:p>
        </p:txBody>
      </p:sp>
      <p:sp>
        <p:nvSpPr>
          <p:cNvPr id="4" name="Rectangle 3"/>
          <p:cNvSpPr/>
          <p:nvPr/>
        </p:nvSpPr>
        <p:spPr>
          <a:xfrm>
            <a:off x="1143000" y="320040"/>
            <a:ext cx="2011680" cy="201168"/>
          </a:xfrm>
          <a:prstGeom prst="rect">
            <a:avLst/>
          </a:prstGeom>
          <a:noFill/>
          <a:ln w="3175">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800" b="0" i="0">
                <a:solidFill>
                  <a:srgbClr val="A0A0A0"/>
                </a:solidFill>
                <a:latin typeface="Poppins"/>
              </a:rPr>
              <a:t>INVENTOLOGÍA</a:t>
            </a:r>
          </a:p>
        </p:txBody>
      </p:sp>
      <p:sp>
        <p:nvSpPr>
          <p:cNvPr id="5" name="TextBox 4"/>
          <p:cNvSpPr txBox="1"/>
          <p:nvPr/>
        </p:nvSpPr>
        <p:spPr>
          <a:xfrm>
            <a:off x="365760"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DEFINICIÓN</a:t>
            </a:r>
          </a:p>
        </p:txBody>
      </p:sp>
      <p:sp>
        <p:nvSpPr>
          <p:cNvPr id="6" name="TextBox 5"/>
          <p:cNvSpPr txBox="1"/>
          <p:nvPr/>
        </p:nvSpPr>
        <p:spPr>
          <a:xfrm>
            <a:off x="4246778"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TRIGGERS</a:t>
            </a:r>
          </a:p>
        </p:txBody>
      </p:sp>
      <p:sp>
        <p:nvSpPr>
          <p:cNvPr id="7" name="TextBox 6"/>
          <p:cNvSpPr txBox="1"/>
          <p:nvPr/>
        </p:nvSpPr>
        <p:spPr>
          <a:xfrm>
            <a:off x="8127796"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SEÑALES</a:t>
            </a:r>
          </a:p>
        </p:txBody>
      </p:sp>
      <p:cxnSp>
        <p:nvCxnSpPr>
          <p:cNvPr id="8" name="Connector 7"/>
          <p:cNvCxnSpPr/>
          <p:nvPr/>
        </p:nvCxnSpPr>
        <p:spPr>
          <a:xfrm>
            <a:off x="365760" y="1014984"/>
            <a:ext cx="11460175" cy="0"/>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155338" y="1152144"/>
            <a:ext cx="0" cy="5431536"/>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036356" y="1152144"/>
            <a:ext cx="0" cy="5431536"/>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65760" y="1152144"/>
            <a:ext cx="3606698" cy="2011680"/>
          </a:xfrm>
          <a:prstGeom prst="rect">
            <a:avLst/>
          </a:prstGeom>
          <a:noFill/>
        </p:spPr>
        <p:txBody>
          <a:bodyPr wrap="square" lIns="0" rIns="0" tIns="0" bIns="0">
            <a:spAutoFit/>
          </a:bodyPr>
          <a:lstStyle/>
          <a:p>
            <a:pPr>
              <a:lnSpc>
                <a:spcPct val="95000"/>
              </a:lnSpc>
            </a:pPr>
            <a:r>
              <a:rPr sz="1600" b="0" i="0">
                <a:solidFill>
                  <a:srgbClr val="FFFFFF"/>
                </a:solidFill>
                <a:latin typeface="Instrument Serif"/>
              </a:rPr>
              <a:t>EN RD SE FIRMARON 26,210 DIVORCIOS CONTRA 44,349 MATRIMONIOS EN 2024 — RATIO 59%, EL MÁS ALTO REGISTRADO, Y EL "HASTA QUE LA MUERTE" SE VOLVIÓ CLÁUSULA OPCIONAL.</a:t>
            </a:r>
          </a:p>
        </p:txBody>
      </p:sp>
      <p:sp>
        <p:nvSpPr>
          <p:cNvPr id="12" name="TextBox 11"/>
          <p:cNvSpPr txBox="1"/>
          <p:nvPr/>
        </p:nvSpPr>
        <p:spPr>
          <a:xfrm>
            <a:off x="365760" y="325526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EL FENÓMENO</a:t>
            </a:r>
          </a:p>
        </p:txBody>
      </p:sp>
      <p:sp>
        <p:nvSpPr>
          <p:cNvPr id="13" name="TextBox 12"/>
          <p:cNvSpPr txBox="1"/>
          <p:nvPr/>
        </p:nvSpPr>
        <p:spPr>
          <a:xfrm>
            <a:off x="365760" y="3438144"/>
            <a:ext cx="3606698" cy="1371600"/>
          </a:xfrm>
          <a:prstGeom prst="rect">
            <a:avLst/>
          </a:prstGeom>
          <a:noFill/>
        </p:spPr>
        <p:txBody>
          <a:bodyPr wrap="square" lIns="0" rIns="0" tIns="0" bIns="0">
            <a:spAutoFit/>
          </a:bodyPr>
          <a:lstStyle/>
          <a:p>
            <a:pPr>
              <a:lnSpc>
                <a:spcPct val="100000"/>
              </a:lnSpc>
            </a:pPr>
            <a:r>
              <a:rPr sz="1000" b="0" i="0">
                <a:solidFill>
                  <a:srgbClr val="FFFFFF"/>
                </a:solidFill>
                <a:latin typeface="Poppins"/>
              </a:rPr>
              <a:t>Durante décadas el divorcio en RD fue tabú con tasa real escondida. En 2024 la ONE publicó cifra exacta: 26,210 divorcios frente a 44,349 matrimonios — ratio 59%, sostenido desde 2021. En 2025 los matrimonios bajaron 8.7% adicional. La pregunta cultural cambió de "¿por qué se separaron?" a "¿por qué seguían juntos?". Las creadoras LATAM 30-45 narran su divorce era como rito de paso positivo.</a:t>
            </a:r>
          </a:p>
        </p:txBody>
      </p:sp>
      <p:sp>
        <p:nvSpPr>
          <p:cNvPr id="14" name="TextBox 13"/>
          <p:cNvSpPr txBox="1"/>
          <p:nvPr/>
        </p:nvSpPr>
        <p:spPr>
          <a:xfrm>
            <a:off x="365760" y="485546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HASHTAGS</a:t>
            </a:r>
          </a:p>
        </p:txBody>
      </p:sp>
      <p:sp>
        <p:nvSpPr>
          <p:cNvPr id="15" name="TextBox 14"/>
          <p:cNvSpPr txBox="1"/>
          <p:nvPr/>
        </p:nvSpPr>
        <p:spPr>
          <a:xfrm>
            <a:off x="365760" y="5038344"/>
            <a:ext cx="3606698" cy="640080"/>
          </a:xfrm>
          <a:prstGeom prst="rect">
            <a:avLst/>
          </a:prstGeom>
          <a:noFill/>
        </p:spPr>
        <p:txBody>
          <a:bodyPr wrap="square" lIns="0" rIns="0" tIns="0" bIns="0">
            <a:spAutoFit/>
          </a:bodyPr>
          <a:lstStyle/>
          <a:p>
            <a:pPr>
              <a:lnSpc>
                <a:spcPct val="110000"/>
              </a:lnSpc>
            </a:pPr>
            <a:r>
              <a:rPr sz="2300" b="0" i="0">
                <a:solidFill>
                  <a:srgbClr val="FFFFFF"/>
                </a:solidFill>
                <a:latin typeface="Instrument Serif"/>
              </a:rPr>
              <a:t>#divorcetok  #divorceera  #miseparé  #postdivorce</a:t>
            </a:r>
          </a:p>
        </p:txBody>
      </p:sp>
      <p:sp>
        <p:nvSpPr>
          <p:cNvPr id="16" name="TextBox 15"/>
          <p:cNvSpPr txBox="1"/>
          <p:nvPr/>
        </p:nvSpPr>
        <p:spPr>
          <a:xfrm>
            <a:off x="365760" y="572414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3 NEEDS</a:t>
            </a:r>
          </a:p>
        </p:txBody>
      </p:sp>
      <p:sp>
        <p:nvSpPr>
          <p:cNvPr id="17" name="TextBox 16"/>
          <p:cNvSpPr txBox="1"/>
          <p:nvPr/>
        </p:nvSpPr>
        <p:spPr>
          <a:xfrm>
            <a:off x="365760" y="5907024"/>
            <a:ext cx="3606698" cy="457200"/>
          </a:xfrm>
          <a:prstGeom prst="rect">
            <a:avLst/>
          </a:prstGeom>
          <a:noFill/>
        </p:spPr>
        <p:txBody>
          <a:bodyPr wrap="square" lIns="0" rIns="0" tIns="0" bIns="0">
            <a:spAutoFit/>
          </a:bodyPr>
          <a:lstStyle/>
          <a:p>
            <a:pPr>
              <a:lnSpc>
                <a:spcPct val="105000"/>
              </a:lnSpc>
            </a:pPr>
            <a:r>
              <a:rPr sz="1400" b="0" i="0">
                <a:solidFill>
                  <a:srgbClr val="FFFFFF"/>
                </a:solidFill>
                <a:latin typeface="Instrument Serif"/>
              </a:rPr>
              <a:t>PERMISO · LIBERACIÓN · MIEDO</a:t>
            </a:r>
          </a:p>
        </p:txBody>
      </p:sp>
      <p:sp>
        <p:nvSpPr>
          <p:cNvPr id="18" name="TextBox 17"/>
          <p:cNvSpPr txBox="1"/>
          <p:nvPr/>
        </p:nvSpPr>
        <p:spPr>
          <a:xfrm>
            <a:off x="4246778" y="1152144"/>
            <a:ext cx="1371600" cy="1097280"/>
          </a:xfrm>
          <a:prstGeom prst="rect">
            <a:avLst/>
          </a:prstGeom>
          <a:noFill/>
        </p:spPr>
        <p:txBody>
          <a:bodyPr wrap="square" lIns="0" rIns="0" tIns="0" bIns="0">
            <a:spAutoFit/>
          </a:bodyPr>
          <a:lstStyle/>
          <a:p>
            <a:pPr>
              <a:lnSpc>
                <a:spcPct val="100000"/>
              </a:lnSpc>
            </a:pPr>
            <a:r>
              <a:rPr sz="7200" b="0" i="0">
                <a:solidFill>
                  <a:srgbClr val="FFFFFF"/>
                </a:solidFill>
                <a:latin typeface="Instrument Serif"/>
              </a:rPr>
              <a:t>59%</a:t>
            </a:r>
          </a:p>
        </p:txBody>
      </p:sp>
      <p:sp>
        <p:nvSpPr>
          <p:cNvPr id="19" name="TextBox 18"/>
          <p:cNvSpPr txBox="1"/>
          <p:nvPr/>
        </p:nvSpPr>
        <p:spPr>
          <a:xfrm>
            <a:off x="4246778" y="2295144"/>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LISTÍN DIARIO / ONE · 2025</a:t>
            </a:r>
          </a:p>
        </p:txBody>
      </p:sp>
      <p:sp>
        <p:nvSpPr>
          <p:cNvPr id="20" name="TextBox 19"/>
          <p:cNvSpPr txBox="1"/>
          <p:nvPr/>
        </p:nvSpPr>
        <p:spPr>
          <a:xfrm>
            <a:off x="5664098" y="1289304"/>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Ratio divorcios/matrimonios RD 2024 — el más alto registrado, sostenido desde 2021.</a:t>
            </a:r>
          </a:p>
        </p:txBody>
      </p:sp>
      <p:sp>
        <p:nvSpPr>
          <p:cNvPr id="21" name="TextBox 20"/>
          <p:cNvSpPr txBox="1"/>
          <p:nvPr/>
        </p:nvSpPr>
        <p:spPr>
          <a:xfrm>
            <a:off x="4246778" y="2962656"/>
            <a:ext cx="1371600" cy="1097280"/>
          </a:xfrm>
          <a:prstGeom prst="rect">
            <a:avLst/>
          </a:prstGeom>
          <a:noFill/>
        </p:spPr>
        <p:txBody>
          <a:bodyPr wrap="square" lIns="0" rIns="0" tIns="0" bIns="0">
            <a:spAutoFit/>
          </a:bodyPr>
          <a:lstStyle/>
          <a:p>
            <a:pPr>
              <a:lnSpc>
                <a:spcPct val="100000"/>
              </a:lnSpc>
            </a:pPr>
            <a:r>
              <a:rPr sz="5400" b="0" i="0">
                <a:solidFill>
                  <a:srgbClr val="FFFFFF"/>
                </a:solidFill>
                <a:latin typeface="Instrument Serif"/>
              </a:rPr>
              <a:t>-8.7%</a:t>
            </a:r>
          </a:p>
        </p:txBody>
      </p:sp>
      <p:sp>
        <p:nvSpPr>
          <p:cNvPr id="22" name="TextBox 21"/>
          <p:cNvSpPr txBox="1"/>
          <p:nvPr/>
        </p:nvSpPr>
        <p:spPr>
          <a:xfrm>
            <a:off x="4246778" y="4105656"/>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DIARIO LIBRE · 2026</a:t>
            </a:r>
          </a:p>
        </p:txBody>
      </p:sp>
      <p:sp>
        <p:nvSpPr>
          <p:cNvPr id="23" name="TextBox 22"/>
          <p:cNvSpPr txBox="1"/>
          <p:nvPr/>
        </p:nvSpPr>
        <p:spPr>
          <a:xfrm>
            <a:off x="5664098" y="3099816"/>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Matrimonios en RD bajaron adicional 8.7% en 2025 vs año anterior.</a:t>
            </a:r>
          </a:p>
        </p:txBody>
      </p:sp>
      <p:sp>
        <p:nvSpPr>
          <p:cNvPr id="24" name="TextBox 23"/>
          <p:cNvSpPr txBox="1"/>
          <p:nvPr/>
        </p:nvSpPr>
        <p:spPr>
          <a:xfrm>
            <a:off x="4246778" y="4773168"/>
            <a:ext cx="1371600" cy="1097280"/>
          </a:xfrm>
          <a:prstGeom prst="rect">
            <a:avLst/>
          </a:prstGeom>
          <a:noFill/>
        </p:spPr>
        <p:txBody>
          <a:bodyPr wrap="square" lIns="0" rIns="0" tIns="0" bIns="0">
            <a:spAutoFit/>
          </a:bodyPr>
          <a:lstStyle/>
          <a:p>
            <a:pPr>
              <a:lnSpc>
                <a:spcPct val="100000"/>
              </a:lnSpc>
            </a:pPr>
            <a:r>
              <a:rPr sz="7200" b="0" i="0">
                <a:solidFill>
                  <a:srgbClr val="FFFFFF"/>
                </a:solidFill>
                <a:latin typeface="Instrument Serif"/>
              </a:rPr>
              <a:t>5B</a:t>
            </a:r>
          </a:p>
        </p:txBody>
      </p:sp>
      <p:sp>
        <p:nvSpPr>
          <p:cNvPr id="25" name="TextBox 24"/>
          <p:cNvSpPr txBox="1"/>
          <p:nvPr/>
        </p:nvSpPr>
        <p:spPr>
          <a:xfrm>
            <a:off x="4246778" y="5916168"/>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TIKTOK CREATIVE CENTER · 2025</a:t>
            </a:r>
          </a:p>
        </p:txBody>
      </p:sp>
      <p:sp>
        <p:nvSpPr>
          <p:cNvPr id="26" name="TextBox 25"/>
          <p:cNvSpPr txBox="1"/>
          <p:nvPr/>
        </p:nvSpPr>
        <p:spPr>
          <a:xfrm>
            <a:off x="5664098" y="4910328"/>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Views combinados #divorcetok y #divorceera con peak 2024-2026.</a:t>
            </a:r>
          </a:p>
        </p:txBody>
      </p:sp>
      <p:pic>
        <p:nvPicPr>
          <p:cNvPr id="27" name="Picture 26" descr="macro-1-5-listin-divorcios-2024.png"/>
          <p:cNvPicPr>
            <a:picLocks noChangeAspect="1"/>
          </p:cNvPicPr>
          <p:nvPr/>
        </p:nvPicPr>
        <p:blipFill>
          <a:blip r:embed="rId2"/>
          <a:stretch>
            <a:fillRect/>
          </a:stretch>
        </p:blipFill>
        <p:spPr>
          <a:xfrm>
            <a:off x="8127796" y="1152144"/>
            <a:ext cx="1397000" cy="1905000"/>
          </a:xfrm>
          <a:prstGeom prst="rect">
            <a:avLst/>
          </a:prstGeom>
        </p:spPr>
      </p:pic>
      <p:sp>
        <p:nvSpPr>
          <p:cNvPr id="28" name="Rounded Rectangle 27"/>
          <p:cNvSpPr/>
          <p:nvPr/>
        </p:nvSpPr>
        <p:spPr>
          <a:xfrm>
            <a:off x="9042196" y="1075944"/>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29" name="Rectangle 28">
            <a:hlinkClick r:id="rId3"/>
          </p:cNvPr>
          <p:cNvSpPr/>
          <p:nvPr/>
        </p:nvSpPr>
        <p:spPr>
          <a:xfrm>
            <a:off x="8127796" y="1152144"/>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97948" y="1289304"/>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RD 2024: 44,349 matrimonios vs 26,210 divorcios — ratio 59% confirmado por ONE.</a:t>
            </a:r>
          </a:p>
        </p:txBody>
      </p:sp>
      <p:sp>
        <p:nvSpPr>
          <p:cNvPr id="31" name="TextBox 30"/>
          <p:cNvSpPr txBox="1"/>
          <p:nvPr/>
        </p:nvSpPr>
        <p:spPr>
          <a:xfrm>
            <a:off x="9597948" y="1752092"/>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LISTÍN DIARIO · 2025</a:t>
            </a:r>
          </a:p>
        </p:txBody>
      </p:sp>
      <p:pic>
        <p:nvPicPr>
          <p:cNvPr id="32" name="Picture 31" descr="macro-1-5-diariolibre-divorcios.png"/>
          <p:cNvPicPr>
            <a:picLocks noChangeAspect="1"/>
          </p:cNvPicPr>
          <p:nvPr/>
        </p:nvPicPr>
        <p:blipFill>
          <a:blip r:embed="rId4"/>
          <a:stretch>
            <a:fillRect/>
          </a:stretch>
        </p:blipFill>
        <p:spPr>
          <a:xfrm>
            <a:off x="8127796" y="2962656"/>
            <a:ext cx="1397000" cy="1905000"/>
          </a:xfrm>
          <a:prstGeom prst="rect">
            <a:avLst/>
          </a:prstGeom>
        </p:spPr>
      </p:pic>
      <p:sp>
        <p:nvSpPr>
          <p:cNvPr id="33" name="Rounded Rectangle 32"/>
          <p:cNvSpPr/>
          <p:nvPr/>
        </p:nvSpPr>
        <p:spPr>
          <a:xfrm>
            <a:off x="9042196" y="2886456"/>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34" name="Rectangle 33">
            <a:hlinkClick r:id="rId5"/>
          </p:cNvPr>
          <p:cNvSpPr/>
          <p:nvPr/>
        </p:nvSpPr>
        <p:spPr>
          <a:xfrm>
            <a:off x="8127796" y="2962656"/>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597948" y="3099816"/>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2025: matrimonios bajan 8.7% más en RD; divorcio se vuelve desenlace estadístico esperable.</a:t>
            </a:r>
          </a:p>
        </p:txBody>
      </p:sp>
      <p:sp>
        <p:nvSpPr>
          <p:cNvPr id="36" name="TextBox 35"/>
          <p:cNvSpPr txBox="1"/>
          <p:nvPr/>
        </p:nvSpPr>
        <p:spPr>
          <a:xfrm>
            <a:off x="9597948" y="3562604"/>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DIARIO LIBRE · 2026</a:t>
            </a:r>
          </a:p>
        </p:txBody>
      </p:sp>
      <p:pic>
        <p:nvPicPr>
          <p:cNvPr id="37" name="Picture 36" descr="macro-1-5-eldia-matrimonios.png"/>
          <p:cNvPicPr>
            <a:picLocks noChangeAspect="1"/>
          </p:cNvPicPr>
          <p:nvPr/>
        </p:nvPicPr>
        <p:blipFill>
          <a:blip r:embed="rId6"/>
          <a:stretch>
            <a:fillRect/>
          </a:stretch>
        </p:blipFill>
        <p:spPr>
          <a:xfrm>
            <a:off x="8127796" y="4773168"/>
            <a:ext cx="1397000" cy="1905000"/>
          </a:xfrm>
          <a:prstGeom prst="rect">
            <a:avLst/>
          </a:prstGeom>
        </p:spPr>
      </p:pic>
      <p:sp>
        <p:nvSpPr>
          <p:cNvPr id="38" name="Rounded Rectangle 37"/>
          <p:cNvSpPr/>
          <p:nvPr/>
        </p:nvSpPr>
        <p:spPr>
          <a:xfrm>
            <a:off x="9042196" y="4696968"/>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39" name="Rectangle 38">
            <a:hlinkClick r:id="rId7"/>
          </p:cNvPr>
          <p:cNvSpPr/>
          <p:nvPr/>
        </p:nvSpPr>
        <p:spPr>
          <a:xfrm>
            <a:off x="8127796" y="4773168"/>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597948" y="4910328"/>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Mujer dominicana se casa más joven y se divorcia más joven que el hombre.</a:t>
            </a:r>
          </a:p>
        </p:txBody>
      </p:sp>
      <p:sp>
        <p:nvSpPr>
          <p:cNvPr id="41" name="TextBox 40"/>
          <p:cNvSpPr txBox="1"/>
          <p:nvPr/>
        </p:nvSpPr>
        <p:spPr>
          <a:xfrm>
            <a:off x="9597948" y="5373116"/>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EL DÍA · 2025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67047" y="1783080"/>
            <a:ext cx="3657600" cy="365760"/>
          </a:xfrm>
          <a:prstGeom prst="rect">
            <a:avLst/>
          </a:prstGeom>
          <a:noFill/>
        </p:spPr>
        <p:txBody>
          <a:bodyPr wrap="square" lIns="0" rIns="0" tIns="0" bIns="0" anchor="t">
            <a:spAutoFit/>
          </a:bodyPr>
          <a:lstStyle/>
          <a:p>
            <a:pPr algn="ctr">
              <a:lnSpc>
                <a:spcPct val="100000"/>
              </a:lnSpc>
            </a:pPr>
            <a:r>
              <a:rPr sz="1400" b="1" i="0">
                <a:solidFill>
                  <a:srgbClr val="A0A0A0"/>
                </a:solidFill>
                <a:latin typeface="Poppins"/>
              </a:rPr>
              <a:t>MACRO 2</a:t>
            </a:r>
          </a:p>
        </p:txBody>
      </p:sp>
      <p:sp>
        <p:nvSpPr>
          <p:cNvPr id="4" name="TextBox 3"/>
          <p:cNvSpPr txBox="1"/>
          <p:nvPr/>
        </p:nvSpPr>
        <p:spPr>
          <a:xfrm>
            <a:off x="380847" y="2453640"/>
            <a:ext cx="11430000" cy="2286000"/>
          </a:xfrm>
          <a:prstGeom prst="rect">
            <a:avLst/>
          </a:prstGeom>
          <a:noFill/>
        </p:spPr>
        <p:txBody>
          <a:bodyPr wrap="square" lIns="0" rIns="0" tIns="0" bIns="0" anchor="t">
            <a:spAutoFit/>
          </a:bodyPr>
          <a:lstStyle/>
          <a:p>
            <a:pPr algn="ctr">
              <a:lnSpc>
                <a:spcPct val="95000"/>
              </a:lnSpc>
            </a:pPr>
            <a:r>
              <a:rPr sz="10000" b="0" i="0">
                <a:solidFill>
                  <a:srgbClr val="FFFFFF"/>
                </a:solidFill>
                <a:latin typeface="Instrument Serif"/>
              </a:rPr>
              <a:t>LOS HERNÁNDEZ ARE PROMPTED</a:t>
            </a:r>
          </a:p>
        </p:txBody>
      </p:sp>
      <p:sp>
        <p:nvSpPr>
          <p:cNvPr id="5" name="TextBox 4"/>
          <p:cNvSpPr txBox="1"/>
          <p:nvPr/>
        </p:nvSpPr>
        <p:spPr>
          <a:xfrm>
            <a:off x="1066647" y="4942840"/>
            <a:ext cx="10058400" cy="548640"/>
          </a:xfrm>
          <a:prstGeom prst="rect">
            <a:avLst/>
          </a:prstGeom>
          <a:noFill/>
        </p:spPr>
        <p:txBody>
          <a:bodyPr wrap="square" lIns="0" rIns="0" tIns="0" bIns="0" anchor="t">
            <a:spAutoFit/>
          </a:bodyPr>
          <a:lstStyle/>
          <a:p>
            <a:pPr algn="ctr">
              <a:lnSpc>
                <a:spcPct val="100000"/>
              </a:lnSpc>
            </a:pPr>
            <a:r>
              <a:rPr sz="2400" b="0" i="1">
                <a:solidFill>
                  <a:srgbClr val="A0A0A0"/>
                </a:solidFill>
                <a:latin typeface="Instrument Serif"/>
              </a:rPr>
              <a:t>“El dominicano ya entró al mundo prompteado. Solo no lo nombra así.”</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20040"/>
            <a:ext cx="777240" cy="201168"/>
          </a:xfrm>
          <a:prstGeom prst="rect">
            <a:avLst/>
          </a:prstGeom>
          <a:solidFill>
            <a:srgbClr val="E8E8E8"/>
          </a:solidFill>
          <a:ln w="3175">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800" b="1" i="0">
                <a:solidFill>
                  <a:srgbClr val="000000"/>
                </a:solidFill>
                <a:latin typeface="Poppins"/>
              </a:rPr>
              <a:t>MACRO 2</a:t>
            </a:r>
          </a:p>
        </p:txBody>
      </p:sp>
      <p:sp>
        <p:nvSpPr>
          <p:cNvPr id="4" name="Rectangle 3"/>
          <p:cNvSpPr/>
          <p:nvPr/>
        </p:nvSpPr>
        <p:spPr>
          <a:xfrm>
            <a:off x="1143000" y="320040"/>
            <a:ext cx="2011680" cy="201168"/>
          </a:xfrm>
          <a:prstGeom prst="rect">
            <a:avLst/>
          </a:prstGeom>
          <a:noFill/>
          <a:ln w="3175">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800" b="0" i="0">
                <a:solidFill>
                  <a:srgbClr val="A0A0A0"/>
                </a:solidFill>
                <a:latin typeface="Poppins"/>
              </a:rPr>
              <a:t>HERNÁNDEZ PROMPTED</a:t>
            </a:r>
          </a:p>
        </p:txBody>
      </p:sp>
      <p:sp>
        <p:nvSpPr>
          <p:cNvPr id="5" name="TextBox 4"/>
          <p:cNvSpPr txBox="1"/>
          <p:nvPr/>
        </p:nvSpPr>
        <p:spPr>
          <a:xfrm>
            <a:off x="365760"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DEFINICIÓN</a:t>
            </a:r>
          </a:p>
        </p:txBody>
      </p:sp>
      <p:sp>
        <p:nvSpPr>
          <p:cNvPr id="6" name="TextBox 5"/>
          <p:cNvSpPr txBox="1"/>
          <p:nvPr/>
        </p:nvSpPr>
        <p:spPr>
          <a:xfrm>
            <a:off x="4246778"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TRIGGERS</a:t>
            </a:r>
          </a:p>
        </p:txBody>
      </p:sp>
      <p:sp>
        <p:nvSpPr>
          <p:cNvPr id="7" name="TextBox 6"/>
          <p:cNvSpPr txBox="1"/>
          <p:nvPr/>
        </p:nvSpPr>
        <p:spPr>
          <a:xfrm>
            <a:off x="8127796"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SEÑALES</a:t>
            </a:r>
          </a:p>
        </p:txBody>
      </p:sp>
      <p:cxnSp>
        <p:nvCxnSpPr>
          <p:cNvPr id="8" name="Connector 7"/>
          <p:cNvCxnSpPr/>
          <p:nvPr/>
        </p:nvCxnSpPr>
        <p:spPr>
          <a:xfrm>
            <a:off x="365760" y="1014984"/>
            <a:ext cx="11460175" cy="0"/>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155338" y="1152144"/>
            <a:ext cx="0" cy="5431536"/>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036356" y="1152144"/>
            <a:ext cx="0" cy="5431536"/>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65760" y="1152144"/>
            <a:ext cx="3606698" cy="2011680"/>
          </a:xfrm>
          <a:prstGeom prst="rect">
            <a:avLst/>
          </a:prstGeom>
          <a:noFill/>
        </p:spPr>
        <p:txBody>
          <a:bodyPr wrap="square" lIns="0" rIns="0" tIns="0" bIns="0">
            <a:spAutoFit/>
          </a:bodyPr>
          <a:lstStyle/>
          <a:p>
            <a:pPr>
              <a:lnSpc>
                <a:spcPct val="95000"/>
              </a:lnSpc>
            </a:pPr>
            <a:r>
              <a:rPr sz="1900" b="0" i="0">
                <a:solidFill>
                  <a:srgbClr val="FFFFFF"/>
                </a:solidFill>
                <a:latin typeface="Instrument Serif"/>
              </a:rPr>
              <a:t>APPLE WATCH Y OURA RING 4 CONVIRTIERON EL CUERPO FEMENINO EN DATA CONTINUO — LA MUJER LEE SU CICLO EN LA MUÑECA ANTES QUE EN LA CONSULTA.</a:t>
            </a:r>
          </a:p>
        </p:txBody>
      </p:sp>
      <p:sp>
        <p:nvSpPr>
          <p:cNvPr id="12" name="TextBox 11"/>
          <p:cNvSpPr txBox="1"/>
          <p:nvPr/>
        </p:nvSpPr>
        <p:spPr>
          <a:xfrm>
            <a:off x="365760" y="325526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EL FENÓMENO</a:t>
            </a:r>
          </a:p>
        </p:txBody>
      </p:sp>
      <p:sp>
        <p:nvSpPr>
          <p:cNvPr id="13" name="TextBox 12"/>
          <p:cNvSpPr txBox="1"/>
          <p:nvPr/>
        </p:nvSpPr>
        <p:spPr>
          <a:xfrm>
            <a:off x="365760" y="3438144"/>
            <a:ext cx="3606698" cy="1371600"/>
          </a:xfrm>
          <a:prstGeom prst="rect">
            <a:avLst/>
          </a:prstGeom>
          <a:noFill/>
        </p:spPr>
        <p:txBody>
          <a:bodyPr wrap="square" lIns="0" rIns="0" tIns="0" bIns="0">
            <a:spAutoFit/>
          </a:bodyPr>
          <a:lstStyle/>
          <a:p>
            <a:pPr>
              <a:lnSpc>
                <a:spcPct val="100000"/>
              </a:lnSpc>
            </a:pPr>
            <a:r>
              <a:rPr sz="1000" b="0" i="0">
                <a:solidFill>
                  <a:srgbClr val="FFFFFF"/>
                </a:solidFill>
                <a:latin typeface="Poppins"/>
              </a:rPr>
              <a:t>Por generaciones la mujer dependió del ginecólogo para descifrar qué pasaba con su cuerpo. Oura Ring 4 (US$349, Oct 2024) y Apple Cycle Tracking le pusieron sensores 24/7 que tracking ciclo, ventana fértil, fase luteal, sueño y estrés. En TikTok la luteal phase se volvió excusa social legible — "hoy no, estoy en luteal" — y screenshots de Apple Health o Oura aparecen como prueba contra una pareja que pide explicaciones. La autoridad médica se descentralizó hacia un anillo.</a:t>
            </a:r>
          </a:p>
        </p:txBody>
      </p:sp>
      <p:sp>
        <p:nvSpPr>
          <p:cNvPr id="14" name="TextBox 13"/>
          <p:cNvSpPr txBox="1"/>
          <p:nvPr/>
        </p:nvSpPr>
        <p:spPr>
          <a:xfrm>
            <a:off x="365760" y="485546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HASHTAGS</a:t>
            </a:r>
          </a:p>
        </p:txBody>
      </p:sp>
      <p:sp>
        <p:nvSpPr>
          <p:cNvPr id="15" name="TextBox 14"/>
          <p:cNvSpPr txBox="1"/>
          <p:nvPr/>
        </p:nvSpPr>
        <p:spPr>
          <a:xfrm>
            <a:off x="365760" y="5038344"/>
            <a:ext cx="3606698" cy="640080"/>
          </a:xfrm>
          <a:prstGeom prst="rect">
            <a:avLst/>
          </a:prstGeom>
          <a:noFill/>
        </p:spPr>
        <p:txBody>
          <a:bodyPr wrap="square" lIns="0" rIns="0" tIns="0" bIns="0">
            <a:spAutoFit/>
          </a:bodyPr>
          <a:lstStyle/>
          <a:p>
            <a:pPr>
              <a:lnSpc>
                <a:spcPct val="110000"/>
              </a:lnSpc>
            </a:pPr>
            <a:r>
              <a:rPr sz="2300" b="0" i="0">
                <a:solidFill>
                  <a:srgbClr val="FFFFFF"/>
                </a:solidFill>
                <a:latin typeface="Instrument Serif"/>
              </a:rPr>
              <a:t>#cycletracking  #lutealphase  #ourabring  #femtech</a:t>
            </a:r>
          </a:p>
        </p:txBody>
      </p:sp>
      <p:sp>
        <p:nvSpPr>
          <p:cNvPr id="16" name="TextBox 15"/>
          <p:cNvSpPr txBox="1"/>
          <p:nvPr/>
        </p:nvSpPr>
        <p:spPr>
          <a:xfrm>
            <a:off x="365760" y="572414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3 NEEDS</a:t>
            </a:r>
          </a:p>
        </p:txBody>
      </p:sp>
      <p:sp>
        <p:nvSpPr>
          <p:cNvPr id="17" name="TextBox 16"/>
          <p:cNvSpPr txBox="1"/>
          <p:nvPr/>
        </p:nvSpPr>
        <p:spPr>
          <a:xfrm>
            <a:off x="365760" y="5907024"/>
            <a:ext cx="3606698" cy="457200"/>
          </a:xfrm>
          <a:prstGeom prst="rect">
            <a:avLst/>
          </a:prstGeom>
          <a:noFill/>
        </p:spPr>
        <p:txBody>
          <a:bodyPr wrap="square" lIns="0" rIns="0" tIns="0" bIns="0">
            <a:spAutoFit/>
          </a:bodyPr>
          <a:lstStyle/>
          <a:p>
            <a:pPr>
              <a:lnSpc>
                <a:spcPct val="105000"/>
              </a:lnSpc>
            </a:pPr>
            <a:r>
              <a:rPr sz="1400" b="0" i="0">
                <a:solidFill>
                  <a:srgbClr val="FFFFFF"/>
                </a:solidFill>
                <a:latin typeface="Instrument Serif"/>
              </a:rPr>
              <a:t>AUTONOMÍA · VIGILANCIA · CONTROL</a:t>
            </a:r>
          </a:p>
        </p:txBody>
      </p:sp>
      <p:sp>
        <p:nvSpPr>
          <p:cNvPr id="18" name="TextBox 17"/>
          <p:cNvSpPr txBox="1"/>
          <p:nvPr/>
        </p:nvSpPr>
        <p:spPr>
          <a:xfrm>
            <a:off x="4246778" y="1152144"/>
            <a:ext cx="1371600" cy="1097280"/>
          </a:xfrm>
          <a:prstGeom prst="rect">
            <a:avLst/>
          </a:prstGeom>
          <a:noFill/>
        </p:spPr>
        <p:txBody>
          <a:bodyPr wrap="square" lIns="0" rIns="0" tIns="0" bIns="0">
            <a:spAutoFit/>
          </a:bodyPr>
          <a:lstStyle/>
          <a:p>
            <a:pPr>
              <a:lnSpc>
                <a:spcPct val="100000"/>
              </a:lnSpc>
            </a:pPr>
            <a:r>
              <a:rPr sz="4200" b="0" i="0">
                <a:solidFill>
                  <a:srgbClr val="FFFFFF"/>
                </a:solidFill>
                <a:latin typeface="Instrument Serif"/>
              </a:rPr>
              <a:t>US$80B</a:t>
            </a:r>
          </a:p>
        </p:txBody>
      </p:sp>
      <p:sp>
        <p:nvSpPr>
          <p:cNvPr id="19" name="TextBox 18"/>
          <p:cNvSpPr txBox="1"/>
          <p:nvPr/>
        </p:nvSpPr>
        <p:spPr>
          <a:xfrm>
            <a:off x="4246778" y="2295144"/>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STATISTA · 2025</a:t>
            </a:r>
          </a:p>
        </p:txBody>
      </p:sp>
      <p:sp>
        <p:nvSpPr>
          <p:cNvPr id="20" name="TextBox 19"/>
          <p:cNvSpPr txBox="1"/>
          <p:nvPr/>
        </p:nvSpPr>
        <p:spPr>
          <a:xfrm>
            <a:off x="5664098" y="1289304"/>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Mercado wearables 2024 con FemTech wearables liderando adopción femenina.</a:t>
            </a:r>
          </a:p>
        </p:txBody>
      </p:sp>
      <p:sp>
        <p:nvSpPr>
          <p:cNvPr id="21" name="TextBox 20"/>
          <p:cNvSpPr txBox="1"/>
          <p:nvPr/>
        </p:nvSpPr>
        <p:spPr>
          <a:xfrm>
            <a:off x="4246778" y="2962656"/>
            <a:ext cx="1371600" cy="1097280"/>
          </a:xfrm>
          <a:prstGeom prst="rect">
            <a:avLst/>
          </a:prstGeom>
          <a:noFill/>
        </p:spPr>
        <p:txBody>
          <a:bodyPr wrap="square" lIns="0" rIns="0" tIns="0" bIns="0">
            <a:spAutoFit/>
          </a:bodyPr>
          <a:lstStyle/>
          <a:p>
            <a:pPr>
              <a:lnSpc>
                <a:spcPct val="100000"/>
              </a:lnSpc>
            </a:pPr>
            <a:r>
              <a:rPr sz="4200" b="0" i="0">
                <a:solidFill>
                  <a:srgbClr val="FFFFFF"/>
                </a:solidFill>
                <a:latin typeface="Instrument Serif"/>
              </a:rPr>
              <a:t>US$349</a:t>
            </a:r>
          </a:p>
        </p:txBody>
      </p:sp>
      <p:sp>
        <p:nvSpPr>
          <p:cNvPr id="22" name="TextBox 21"/>
          <p:cNvSpPr txBox="1"/>
          <p:nvPr/>
        </p:nvSpPr>
        <p:spPr>
          <a:xfrm>
            <a:off x="4246778" y="4105656"/>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CNBC / OURA · 2024</a:t>
            </a:r>
          </a:p>
        </p:txBody>
      </p:sp>
      <p:sp>
        <p:nvSpPr>
          <p:cNvPr id="23" name="TextBox 22"/>
          <p:cNvSpPr txBox="1"/>
          <p:nvPr/>
        </p:nvSpPr>
        <p:spPr>
          <a:xfrm>
            <a:off x="5664098" y="3099816"/>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Precio Oura Ring 4 lanzado Oct 2024 con smart sensing 24/7.</a:t>
            </a:r>
          </a:p>
        </p:txBody>
      </p:sp>
      <p:sp>
        <p:nvSpPr>
          <p:cNvPr id="24" name="TextBox 23"/>
          <p:cNvSpPr txBox="1"/>
          <p:nvPr/>
        </p:nvSpPr>
        <p:spPr>
          <a:xfrm>
            <a:off x="4246778" y="4773168"/>
            <a:ext cx="1371600" cy="1097280"/>
          </a:xfrm>
          <a:prstGeom prst="rect">
            <a:avLst/>
          </a:prstGeom>
          <a:noFill/>
        </p:spPr>
        <p:txBody>
          <a:bodyPr wrap="square" lIns="0" rIns="0" tIns="0" bIns="0">
            <a:spAutoFit/>
          </a:bodyPr>
          <a:lstStyle/>
          <a:p>
            <a:pPr>
              <a:lnSpc>
                <a:spcPct val="100000"/>
              </a:lnSpc>
            </a:pPr>
            <a:r>
              <a:rPr sz="7200" b="0" i="0">
                <a:solidFill>
                  <a:srgbClr val="FFFFFF"/>
                </a:solidFill>
                <a:latin typeface="Instrument Serif"/>
              </a:rPr>
              <a:t>2B</a:t>
            </a:r>
          </a:p>
        </p:txBody>
      </p:sp>
      <p:sp>
        <p:nvSpPr>
          <p:cNvPr id="25" name="TextBox 24"/>
          <p:cNvSpPr txBox="1"/>
          <p:nvPr/>
        </p:nvSpPr>
        <p:spPr>
          <a:xfrm>
            <a:off x="4246778" y="5916168"/>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TIKTOK CREATIVE CENTER · 2025</a:t>
            </a:r>
          </a:p>
        </p:txBody>
      </p:sp>
      <p:sp>
        <p:nvSpPr>
          <p:cNvPr id="26" name="TextBox 25"/>
          <p:cNvSpPr txBox="1"/>
          <p:nvPr/>
        </p:nvSpPr>
        <p:spPr>
          <a:xfrm>
            <a:off x="5664098" y="4910328"/>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Views combinados #cycletracking y #lutealphase con peak 2024-2025.</a:t>
            </a:r>
          </a:p>
        </p:txBody>
      </p:sp>
      <p:pic>
        <p:nvPicPr>
          <p:cNvPr id="27" name="Picture 26" descr="macro-2-1-cnbc-oura-ring4.png"/>
          <p:cNvPicPr>
            <a:picLocks noChangeAspect="1"/>
          </p:cNvPicPr>
          <p:nvPr/>
        </p:nvPicPr>
        <p:blipFill>
          <a:blip r:embed="rId2"/>
          <a:stretch>
            <a:fillRect/>
          </a:stretch>
        </p:blipFill>
        <p:spPr>
          <a:xfrm>
            <a:off x="8127796" y="1152144"/>
            <a:ext cx="1397000" cy="1905000"/>
          </a:xfrm>
          <a:prstGeom prst="rect">
            <a:avLst/>
          </a:prstGeom>
        </p:spPr>
      </p:pic>
      <p:sp>
        <p:nvSpPr>
          <p:cNvPr id="28" name="Rounded Rectangle 27"/>
          <p:cNvSpPr/>
          <p:nvPr/>
        </p:nvSpPr>
        <p:spPr>
          <a:xfrm>
            <a:off x="9042196" y="1075944"/>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29" name="Rectangle 28">
            <a:hlinkClick r:id="rId3"/>
          </p:cNvPr>
          <p:cNvSpPr/>
          <p:nvPr/>
        </p:nvSpPr>
        <p:spPr>
          <a:xfrm>
            <a:off x="8127796" y="1152144"/>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97948" y="1289304"/>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Oura Ring 4 (US$349, Oct 2024) — smart sensing 24/7, lidera FemTech.</a:t>
            </a:r>
          </a:p>
        </p:txBody>
      </p:sp>
      <p:sp>
        <p:nvSpPr>
          <p:cNvPr id="31" name="TextBox 30"/>
          <p:cNvSpPr txBox="1"/>
          <p:nvPr/>
        </p:nvSpPr>
        <p:spPr>
          <a:xfrm>
            <a:off x="9597948" y="1752092"/>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CNBC · 2024</a:t>
            </a:r>
          </a:p>
        </p:txBody>
      </p:sp>
      <p:pic>
        <p:nvPicPr>
          <p:cNvPr id="32" name="Picture 31" descr="macro-2-1-oura-ring-4.png"/>
          <p:cNvPicPr>
            <a:picLocks noChangeAspect="1"/>
          </p:cNvPicPr>
          <p:nvPr/>
        </p:nvPicPr>
        <p:blipFill>
          <a:blip r:embed="rId4"/>
          <a:stretch>
            <a:fillRect/>
          </a:stretch>
        </p:blipFill>
        <p:spPr>
          <a:xfrm>
            <a:off x="8127796" y="2962656"/>
            <a:ext cx="1397000" cy="1905000"/>
          </a:xfrm>
          <a:prstGeom prst="rect">
            <a:avLst/>
          </a:prstGeom>
        </p:spPr>
      </p:pic>
      <p:sp>
        <p:nvSpPr>
          <p:cNvPr id="33" name="Rounded Rectangle 32"/>
          <p:cNvSpPr/>
          <p:nvPr/>
        </p:nvSpPr>
        <p:spPr>
          <a:xfrm>
            <a:off x="9042196" y="2886456"/>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34" name="Rectangle 33">
            <a:hlinkClick r:id="rId5"/>
          </p:cNvPr>
          <p:cNvSpPr/>
          <p:nvPr/>
        </p:nvSpPr>
        <p:spPr>
          <a:xfrm>
            <a:off x="8127796" y="2962656"/>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597948" y="3099816"/>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Brand product photography close-up titanium ring oficial Oura.</a:t>
            </a:r>
          </a:p>
        </p:txBody>
      </p:sp>
      <p:sp>
        <p:nvSpPr>
          <p:cNvPr id="36" name="TextBox 35"/>
          <p:cNvSpPr txBox="1"/>
          <p:nvPr/>
        </p:nvSpPr>
        <p:spPr>
          <a:xfrm>
            <a:off x="9597948" y="3562604"/>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OURA · 2024</a:t>
            </a:r>
          </a:p>
        </p:txBody>
      </p:sp>
      <p:pic>
        <p:nvPicPr>
          <p:cNvPr id="37" name="Picture 36" descr="macro-2-2-tt-irobot-asmr-roomba.png"/>
          <p:cNvPicPr>
            <a:picLocks noChangeAspect="1"/>
          </p:cNvPicPr>
          <p:nvPr/>
        </p:nvPicPr>
        <p:blipFill>
          <a:blip r:embed="rId6"/>
          <a:stretch>
            <a:fillRect/>
          </a:stretch>
        </p:blipFill>
        <p:spPr>
          <a:xfrm>
            <a:off x="8127796" y="4773168"/>
            <a:ext cx="1397000" cy="1905000"/>
          </a:xfrm>
          <a:prstGeom prst="rect">
            <a:avLst/>
          </a:prstGeom>
        </p:spPr>
      </p:pic>
      <p:sp>
        <p:nvSpPr>
          <p:cNvPr id="38" name="Rounded Rectangle 37"/>
          <p:cNvSpPr/>
          <p:nvPr/>
        </p:nvSpPr>
        <p:spPr>
          <a:xfrm>
            <a:off x="9042196" y="4696968"/>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39" name="Rectangle 38">
            <a:hlinkClick r:id="rId7"/>
          </p:cNvPr>
          <p:cNvSpPr/>
          <p:nvPr/>
        </p:nvSpPr>
        <p:spPr>
          <a:xfrm>
            <a:off x="8127796" y="4773168"/>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597948" y="4910328"/>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Cluster cercano: tech doméstica posicionada como aliada femenina.</a:t>
            </a:r>
          </a:p>
        </p:txBody>
      </p:sp>
      <p:sp>
        <p:nvSpPr>
          <p:cNvPr id="41" name="TextBox 40"/>
          <p:cNvSpPr txBox="1"/>
          <p:nvPr/>
        </p:nvSpPr>
        <p:spPr>
          <a:xfrm>
            <a:off x="9597948" y="5373116"/>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TIKTOK @IROBOT · 2024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20040"/>
            <a:ext cx="777240" cy="201168"/>
          </a:xfrm>
          <a:prstGeom prst="rect">
            <a:avLst/>
          </a:prstGeom>
          <a:solidFill>
            <a:srgbClr val="E8E8E8"/>
          </a:solidFill>
          <a:ln w="3175">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800" b="1" i="0">
                <a:solidFill>
                  <a:srgbClr val="000000"/>
                </a:solidFill>
                <a:latin typeface="Poppins"/>
              </a:rPr>
              <a:t>MACRO 2</a:t>
            </a:r>
          </a:p>
        </p:txBody>
      </p:sp>
      <p:sp>
        <p:nvSpPr>
          <p:cNvPr id="4" name="Rectangle 3"/>
          <p:cNvSpPr/>
          <p:nvPr/>
        </p:nvSpPr>
        <p:spPr>
          <a:xfrm>
            <a:off x="1143000" y="320040"/>
            <a:ext cx="2011680" cy="201168"/>
          </a:xfrm>
          <a:prstGeom prst="rect">
            <a:avLst/>
          </a:prstGeom>
          <a:noFill/>
          <a:ln w="3175">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800" b="0" i="0">
                <a:solidFill>
                  <a:srgbClr val="A0A0A0"/>
                </a:solidFill>
                <a:latin typeface="Poppins"/>
              </a:rPr>
              <a:t>HERNÁNDEZ PROMPTED</a:t>
            </a:r>
          </a:p>
        </p:txBody>
      </p:sp>
      <p:sp>
        <p:nvSpPr>
          <p:cNvPr id="5" name="TextBox 4"/>
          <p:cNvSpPr txBox="1"/>
          <p:nvPr/>
        </p:nvSpPr>
        <p:spPr>
          <a:xfrm>
            <a:off x="365760"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DEFINICIÓN</a:t>
            </a:r>
          </a:p>
        </p:txBody>
      </p:sp>
      <p:sp>
        <p:nvSpPr>
          <p:cNvPr id="6" name="TextBox 5"/>
          <p:cNvSpPr txBox="1"/>
          <p:nvPr/>
        </p:nvSpPr>
        <p:spPr>
          <a:xfrm>
            <a:off x="4246778"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TRIGGERS</a:t>
            </a:r>
          </a:p>
        </p:txBody>
      </p:sp>
      <p:sp>
        <p:nvSpPr>
          <p:cNvPr id="7" name="TextBox 6"/>
          <p:cNvSpPr txBox="1"/>
          <p:nvPr/>
        </p:nvSpPr>
        <p:spPr>
          <a:xfrm>
            <a:off x="8127796"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SEÑALES</a:t>
            </a:r>
          </a:p>
        </p:txBody>
      </p:sp>
      <p:cxnSp>
        <p:nvCxnSpPr>
          <p:cNvPr id="8" name="Connector 7"/>
          <p:cNvCxnSpPr/>
          <p:nvPr/>
        </p:nvCxnSpPr>
        <p:spPr>
          <a:xfrm>
            <a:off x="365760" y="1014984"/>
            <a:ext cx="11460175" cy="0"/>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155338" y="1152144"/>
            <a:ext cx="0" cy="5431536"/>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036356" y="1152144"/>
            <a:ext cx="0" cy="5431536"/>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65760" y="1152144"/>
            <a:ext cx="3606698" cy="2011680"/>
          </a:xfrm>
          <a:prstGeom prst="rect">
            <a:avLst/>
          </a:prstGeom>
          <a:noFill/>
        </p:spPr>
        <p:txBody>
          <a:bodyPr wrap="square" lIns="0" rIns="0" tIns="0" bIns="0">
            <a:spAutoFit/>
          </a:bodyPr>
          <a:lstStyle/>
          <a:p>
            <a:pPr>
              <a:lnSpc>
                <a:spcPct val="95000"/>
              </a:lnSpc>
            </a:pPr>
            <a:r>
              <a:rPr sz="1900" b="0" i="0">
                <a:solidFill>
                  <a:srgbClr val="FFFFFF"/>
                </a:solidFill>
                <a:latin typeface="Instrument Serif"/>
              </a:rPr>
              <a:t>EL ROOMBA NO LIBERÓ A LA MUJER, LA TRIANGULA — LA MARCA POSICIONA EL ROBOT COMO ALIADA DE ELLA, NO COMO TAREA PENDIENTE DE ÉL.</a:t>
            </a:r>
          </a:p>
        </p:txBody>
      </p:sp>
      <p:sp>
        <p:nvSpPr>
          <p:cNvPr id="12" name="TextBox 11"/>
          <p:cNvSpPr txBox="1"/>
          <p:nvPr/>
        </p:nvSpPr>
        <p:spPr>
          <a:xfrm>
            <a:off x="365760" y="325526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EL FENÓMENO</a:t>
            </a:r>
          </a:p>
        </p:txBody>
      </p:sp>
      <p:sp>
        <p:nvSpPr>
          <p:cNvPr id="13" name="TextBox 12"/>
          <p:cNvSpPr txBox="1"/>
          <p:nvPr/>
        </p:nvSpPr>
        <p:spPr>
          <a:xfrm>
            <a:off x="365760" y="3438144"/>
            <a:ext cx="3606698" cy="1371600"/>
          </a:xfrm>
          <a:prstGeom prst="rect">
            <a:avLst/>
          </a:prstGeom>
          <a:noFill/>
        </p:spPr>
        <p:txBody>
          <a:bodyPr wrap="square" lIns="0" rIns="0" tIns="0" bIns="0">
            <a:spAutoFit/>
          </a:bodyPr>
          <a:lstStyle/>
          <a:p>
            <a:pPr>
              <a:lnSpc>
                <a:spcPct val="100000"/>
              </a:lnSpc>
            </a:pPr>
            <a:r>
              <a:rPr sz="1000" b="0" i="0">
                <a:solidFill>
                  <a:srgbClr val="FFFFFF"/>
                </a:solidFill>
                <a:latin typeface="Poppins"/>
              </a:rPr>
              <a:t>El smart home se vendió como liberación, pero la lectura cultural fina es otra: triangulación. La cuenta oficial @irobot en TikTok produce activamente el imaginario "Roomba como aliada de la mujer, no de la pareja, no del trabajador doméstico". La automatización doméstica se monta encima de una desigualdad de clase histórica — en LATAM, donde la muchacha sigue siendo infraestructura del hogar de clase media, el Roomba no reemplaza al hombre que no plancha. Reemplaza a otra mujer.</a:t>
            </a:r>
          </a:p>
        </p:txBody>
      </p:sp>
      <p:sp>
        <p:nvSpPr>
          <p:cNvPr id="14" name="TextBox 13"/>
          <p:cNvSpPr txBox="1"/>
          <p:nvPr/>
        </p:nvSpPr>
        <p:spPr>
          <a:xfrm>
            <a:off x="365760" y="485546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HASHTAGS</a:t>
            </a:r>
          </a:p>
        </p:txBody>
      </p:sp>
      <p:sp>
        <p:nvSpPr>
          <p:cNvPr id="15" name="TextBox 14"/>
          <p:cNvSpPr txBox="1"/>
          <p:nvPr/>
        </p:nvSpPr>
        <p:spPr>
          <a:xfrm>
            <a:off x="365760" y="5038344"/>
            <a:ext cx="3606698" cy="640080"/>
          </a:xfrm>
          <a:prstGeom prst="rect">
            <a:avLst/>
          </a:prstGeom>
          <a:noFill/>
        </p:spPr>
        <p:txBody>
          <a:bodyPr wrap="square" lIns="0" rIns="0" tIns="0" bIns="0">
            <a:spAutoFit/>
          </a:bodyPr>
          <a:lstStyle/>
          <a:p>
            <a:pPr>
              <a:lnSpc>
                <a:spcPct val="110000"/>
              </a:lnSpc>
            </a:pPr>
            <a:r>
              <a:rPr sz="2300" b="0" i="0">
                <a:solidFill>
                  <a:srgbClr val="FFFFFF"/>
                </a:solidFill>
                <a:latin typeface="Instrument Serif"/>
              </a:rPr>
              <a:t>#smarthome  #cleantok  #roomba  #hogarinteligente</a:t>
            </a:r>
          </a:p>
        </p:txBody>
      </p:sp>
      <p:sp>
        <p:nvSpPr>
          <p:cNvPr id="16" name="TextBox 15"/>
          <p:cNvSpPr txBox="1"/>
          <p:nvPr/>
        </p:nvSpPr>
        <p:spPr>
          <a:xfrm>
            <a:off x="365760" y="572414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3 NEEDS</a:t>
            </a:r>
          </a:p>
        </p:txBody>
      </p:sp>
      <p:sp>
        <p:nvSpPr>
          <p:cNvPr id="17" name="TextBox 16"/>
          <p:cNvSpPr txBox="1"/>
          <p:nvPr/>
        </p:nvSpPr>
        <p:spPr>
          <a:xfrm>
            <a:off x="365760" y="5907024"/>
            <a:ext cx="3606698" cy="457200"/>
          </a:xfrm>
          <a:prstGeom prst="rect">
            <a:avLst/>
          </a:prstGeom>
          <a:noFill/>
        </p:spPr>
        <p:txBody>
          <a:bodyPr wrap="square" lIns="0" rIns="0" tIns="0" bIns="0">
            <a:spAutoFit/>
          </a:bodyPr>
          <a:lstStyle/>
          <a:p>
            <a:pPr>
              <a:lnSpc>
                <a:spcPct val="105000"/>
              </a:lnSpc>
            </a:pPr>
            <a:r>
              <a:rPr sz="1400" b="0" i="0">
                <a:solidFill>
                  <a:srgbClr val="FFFFFF"/>
                </a:solidFill>
                <a:latin typeface="Instrument Serif"/>
              </a:rPr>
              <a:t>LIBERAR TIEMPO · CULPA DE CLASE · EVASIÓN</a:t>
            </a:r>
          </a:p>
        </p:txBody>
      </p:sp>
      <p:sp>
        <p:nvSpPr>
          <p:cNvPr id="18" name="TextBox 17"/>
          <p:cNvSpPr txBox="1"/>
          <p:nvPr/>
        </p:nvSpPr>
        <p:spPr>
          <a:xfrm>
            <a:off x="4246778" y="1152144"/>
            <a:ext cx="1371600" cy="1097280"/>
          </a:xfrm>
          <a:prstGeom prst="rect">
            <a:avLst/>
          </a:prstGeom>
          <a:noFill/>
        </p:spPr>
        <p:txBody>
          <a:bodyPr wrap="square" lIns="0" rIns="0" tIns="0" bIns="0">
            <a:spAutoFit/>
          </a:bodyPr>
          <a:lstStyle/>
          <a:p>
            <a:pPr>
              <a:lnSpc>
                <a:spcPct val="100000"/>
              </a:lnSpc>
            </a:pPr>
            <a:r>
              <a:rPr sz="4200" b="0" i="0">
                <a:solidFill>
                  <a:srgbClr val="FFFFFF"/>
                </a:solidFill>
                <a:latin typeface="Instrument Serif"/>
              </a:rPr>
              <a:t>US$150B</a:t>
            </a:r>
          </a:p>
        </p:txBody>
      </p:sp>
      <p:sp>
        <p:nvSpPr>
          <p:cNvPr id="19" name="TextBox 18"/>
          <p:cNvSpPr txBox="1"/>
          <p:nvPr/>
        </p:nvSpPr>
        <p:spPr>
          <a:xfrm>
            <a:off x="4246778" y="2295144"/>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STATISTA · 2024</a:t>
            </a:r>
          </a:p>
        </p:txBody>
      </p:sp>
      <p:sp>
        <p:nvSpPr>
          <p:cNvPr id="20" name="TextBox 19"/>
          <p:cNvSpPr txBox="1"/>
          <p:nvPr/>
        </p:nvSpPr>
        <p:spPr>
          <a:xfrm>
            <a:off x="5664098" y="1289304"/>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Mercado global smart home appliances 2024 con LATAM creciendo a doble dígito.</a:t>
            </a:r>
          </a:p>
        </p:txBody>
      </p:sp>
      <p:sp>
        <p:nvSpPr>
          <p:cNvPr id="21" name="TextBox 20"/>
          <p:cNvSpPr txBox="1"/>
          <p:nvPr/>
        </p:nvSpPr>
        <p:spPr>
          <a:xfrm>
            <a:off x="4246778" y="2962656"/>
            <a:ext cx="1371600" cy="1097280"/>
          </a:xfrm>
          <a:prstGeom prst="rect">
            <a:avLst/>
          </a:prstGeom>
          <a:noFill/>
        </p:spPr>
        <p:txBody>
          <a:bodyPr wrap="square" lIns="0" rIns="0" tIns="0" bIns="0">
            <a:spAutoFit/>
          </a:bodyPr>
          <a:lstStyle/>
          <a:p>
            <a:pPr>
              <a:lnSpc>
                <a:spcPct val="100000"/>
              </a:lnSpc>
            </a:pPr>
            <a:r>
              <a:rPr sz="4200" b="0" i="0">
                <a:solidFill>
                  <a:srgbClr val="FFFFFF"/>
                </a:solidFill>
                <a:latin typeface="Instrument Serif"/>
              </a:rPr>
              <a:t>US$10B</a:t>
            </a:r>
          </a:p>
        </p:txBody>
      </p:sp>
      <p:sp>
        <p:nvSpPr>
          <p:cNvPr id="22" name="TextBox 21"/>
          <p:cNvSpPr txBox="1"/>
          <p:nvPr/>
        </p:nvSpPr>
        <p:spPr>
          <a:xfrm>
            <a:off x="4246778" y="4105656"/>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GRAND VIEW RESEARCH · 2024</a:t>
            </a:r>
          </a:p>
        </p:txBody>
      </p:sp>
      <p:sp>
        <p:nvSpPr>
          <p:cNvPr id="23" name="TextBox 22"/>
          <p:cNvSpPr txBox="1"/>
          <p:nvPr/>
        </p:nvSpPr>
        <p:spPr>
          <a:xfrm>
            <a:off x="5664098" y="3099816"/>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Robot vacuum market 2024 con penetración acelerada en hogares dual-income.</a:t>
            </a:r>
          </a:p>
        </p:txBody>
      </p:sp>
      <p:sp>
        <p:nvSpPr>
          <p:cNvPr id="24" name="TextBox 23"/>
          <p:cNvSpPr txBox="1"/>
          <p:nvPr/>
        </p:nvSpPr>
        <p:spPr>
          <a:xfrm>
            <a:off x="4246778" y="4773168"/>
            <a:ext cx="1371600" cy="1097280"/>
          </a:xfrm>
          <a:prstGeom prst="rect">
            <a:avLst/>
          </a:prstGeom>
          <a:noFill/>
        </p:spPr>
        <p:txBody>
          <a:bodyPr wrap="square" lIns="0" rIns="0" tIns="0" bIns="0">
            <a:spAutoFit/>
          </a:bodyPr>
          <a:lstStyle/>
          <a:p>
            <a:pPr>
              <a:lnSpc>
                <a:spcPct val="100000"/>
              </a:lnSpc>
            </a:pPr>
            <a:r>
              <a:rPr sz="7200" b="0" i="0">
                <a:solidFill>
                  <a:srgbClr val="FFFFFF"/>
                </a:solidFill>
                <a:latin typeface="Instrument Serif"/>
              </a:rPr>
              <a:t>30B</a:t>
            </a:r>
          </a:p>
        </p:txBody>
      </p:sp>
      <p:sp>
        <p:nvSpPr>
          <p:cNvPr id="25" name="TextBox 24"/>
          <p:cNvSpPr txBox="1"/>
          <p:nvPr/>
        </p:nvSpPr>
        <p:spPr>
          <a:xfrm>
            <a:off x="4246778" y="5916168"/>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TIKTOK CREATIVE CENTER · 2025</a:t>
            </a:r>
          </a:p>
        </p:txBody>
      </p:sp>
      <p:sp>
        <p:nvSpPr>
          <p:cNvPr id="26" name="TextBox 25"/>
          <p:cNvSpPr txBox="1"/>
          <p:nvPr/>
        </p:nvSpPr>
        <p:spPr>
          <a:xfrm>
            <a:off x="5664098" y="4910328"/>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Views combinados #smarthome y #cleantok con robot vacuum, peak 2024-2025.</a:t>
            </a:r>
          </a:p>
        </p:txBody>
      </p:sp>
      <p:pic>
        <p:nvPicPr>
          <p:cNvPr id="27" name="Picture 26" descr="macro-2-2-tt-irobot-asmr-roomba.png"/>
          <p:cNvPicPr>
            <a:picLocks noChangeAspect="1"/>
          </p:cNvPicPr>
          <p:nvPr/>
        </p:nvPicPr>
        <p:blipFill>
          <a:blip r:embed="rId2"/>
          <a:stretch>
            <a:fillRect/>
          </a:stretch>
        </p:blipFill>
        <p:spPr>
          <a:xfrm>
            <a:off x="8127796" y="1152144"/>
            <a:ext cx="1397000" cy="1905000"/>
          </a:xfrm>
          <a:prstGeom prst="rect">
            <a:avLst/>
          </a:prstGeom>
        </p:spPr>
      </p:pic>
      <p:sp>
        <p:nvSpPr>
          <p:cNvPr id="28" name="Rounded Rectangle 27"/>
          <p:cNvSpPr/>
          <p:nvPr/>
        </p:nvSpPr>
        <p:spPr>
          <a:xfrm>
            <a:off x="9042196" y="1075944"/>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29" name="Rectangle 28">
            <a:hlinkClick r:id="rId3"/>
          </p:cNvPr>
          <p:cNvSpPr/>
          <p:nvPr/>
        </p:nvSpPr>
        <p:spPr>
          <a:xfrm>
            <a:off x="8127796" y="1152144"/>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97948" y="1289304"/>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"Satisfying clean" — iRobot construye el imaginario Roomba como sustituto de la ayuda.</a:t>
            </a:r>
          </a:p>
        </p:txBody>
      </p:sp>
      <p:sp>
        <p:nvSpPr>
          <p:cNvPr id="31" name="TextBox 30"/>
          <p:cNvSpPr txBox="1"/>
          <p:nvPr/>
        </p:nvSpPr>
        <p:spPr>
          <a:xfrm>
            <a:off x="9597948" y="1752092"/>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TIKTOK @IROBOT · 2024</a:t>
            </a:r>
          </a:p>
        </p:txBody>
      </p:sp>
      <p:pic>
        <p:nvPicPr>
          <p:cNvPr id="32" name="Picture 31" descr="macro-2-2-tt-sevda-roomba-mom.png"/>
          <p:cNvPicPr>
            <a:picLocks noChangeAspect="1"/>
          </p:cNvPicPr>
          <p:nvPr/>
        </p:nvPicPr>
        <p:blipFill>
          <a:blip r:embed="rId4"/>
          <a:stretch>
            <a:fillRect/>
          </a:stretch>
        </p:blipFill>
        <p:spPr>
          <a:xfrm>
            <a:off x="8127796" y="2962656"/>
            <a:ext cx="1397000" cy="1905000"/>
          </a:xfrm>
          <a:prstGeom prst="rect">
            <a:avLst/>
          </a:prstGeom>
        </p:spPr>
      </p:pic>
      <p:sp>
        <p:nvSpPr>
          <p:cNvPr id="33" name="Rounded Rectangle 32"/>
          <p:cNvSpPr/>
          <p:nvPr/>
        </p:nvSpPr>
        <p:spPr>
          <a:xfrm>
            <a:off x="9042196" y="2886456"/>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34" name="Rectangle 33">
            <a:hlinkClick r:id="rId5"/>
          </p:cNvPr>
          <p:cNvSpPr/>
          <p:nvPr/>
        </p:nvSpPr>
        <p:spPr>
          <a:xfrm>
            <a:off x="8127796" y="2962656"/>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597948" y="3099816"/>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Mamá real explicando setup Roomba post-cocina con hija.</a:t>
            </a:r>
          </a:p>
        </p:txBody>
      </p:sp>
      <p:sp>
        <p:nvSpPr>
          <p:cNvPr id="36" name="TextBox 35"/>
          <p:cNvSpPr txBox="1"/>
          <p:nvPr/>
        </p:nvSpPr>
        <p:spPr>
          <a:xfrm>
            <a:off x="9597948" y="3562604"/>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TIKTOK @SEVDA.ELA · 2024</a:t>
            </a:r>
          </a:p>
        </p:txBody>
      </p:sp>
      <p:pic>
        <p:nvPicPr>
          <p:cNvPr id="37" name="Picture 36" descr="macro-2-2-tt-irobot-cleantok.png"/>
          <p:cNvPicPr>
            <a:picLocks noChangeAspect="1"/>
          </p:cNvPicPr>
          <p:nvPr/>
        </p:nvPicPr>
        <p:blipFill>
          <a:blip r:embed="rId6"/>
          <a:stretch>
            <a:fillRect/>
          </a:stretch>
        </p:blipFill>
        <p:spPr>
          <a:xfrm>
            <a:off x="8127796" y="4773168"/>
            <a:ext cx="1397000" cy="1905000"/>
          </a:xfrm>
          <a:prstGeom prst="rect">
            <a:avLst/>
          </a:prstGeom>
        </p:spPr>
      </p:pic>
      <p:sp>
        <p:nvSpPr>
          <p:cNvPr id="38" name="Rounded Rectangle 37"/>
          <p:cNvSpPr/>
          <p:nvPr/>
        </p:nvSpPr>
        <p:spPr>
          <a:xfrm>
            <a:off x="9042196" y="4696968"/>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39" name="Rectangle 38">
            <a:hlinkClick r:id="rId7"/>
          </p:cNvPr>
          <p:cNvSpPr/>
          <p:nvPr/>
        </p:nvSpPr>
        <p:spPr>
          <a:xfrm>
            <a:off x="8127796" y="4773168"/>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597948" y="4910328"/>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La marca como productora cultural del imaginario doméstico.</a:t>
            </a:r>
          </a:p>
        </p:txBody>
      </p:sp>
      <p:sp>
        <p:nvSpPr>
          <p:cNvPr id="41" name="TextBox 40"/>
          <p:cNvSpPr txBox="1"/>
          <p:nvPr/>
        </p:nvSpPr>
        <p:spPr>
          <a:xfrm>
            <a:off x="9597948" y="5373116"/>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TIKTOK @IROBOT · 2024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20040"/>
            <a:ext cx="777240" cy="201168"/>
          </a:xfrm>
          <a:prstGeom prst="rect">
            <a:avLst/>
          </a:prstGeom>
          <a:solidFill>
            <a:srgbClr val="E8E8E8"/>
          </a:solidFill>
          <a:ln w="3175">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800" b="1" i="0">
                <a:solidFill>
                  <a:srgbClr val="000000"/>
                </a:solidFill>
                <a:latin typeface="Poppins"/>
              </a:rPr>
              <a:t>MACRO 2</a:t>
            </a:r>
          </a:p>
        </p:txBody>
      </p:sp>
      <p:sp>
        <p:nvSpPr>
          <p:cNvPr id="4" name="Rectangle 3"/>
          <p:cNvSpPr/>
          <p:nvPr/>
        </p:nvSpPr>
        <p:spPr>
          <a:xfrm>
            <a:off x="1143000" y="320040"/>
            <a:ext cx="2011680" cy="201168"/>
          </a:xfrm>
          <a:prstGeom prst="rect">
            <a:avLst/>
          </a:prstGeom>
          <a:noFill/>
          <a:ln w="3175">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800" b="0" i="0">
                <a:solidFill>
                  <a:srgbClr val="A0A0A0"/>
                </a:solidFill>
                <a:latin typeface="Poppins"/>
              </a:rPr>
              <a:t>HERNÁNDEZ PROMPTED</a:t>
            </a:r>
          </a:p>
        </p:txBody>
      </p:sp>
      <p:sp>
        <p:nvSpPr>
          <p:cNvPr id="5" name="TextBox 4"/>
          <p:cNvSpPr txBox="1"/>
          <p:nvPr/>
        </p:nvSpPr>
        <p:spPr>
          <a:xfrm>
            <a:off x="365760"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DEFINICIÓN</a:t>
            </a:r>
          </a:p>
        </p:txBody>
      </p:sp>
      <p:sp>
        <p:nvSpPr>
          <p:cNvPr id="6" name="TextBox 5"/>
          <p:cNvSpPr txBox="1"/>
          <p:nvPr/>
        </p:nvSpPr>
        <p:spPr>
          <a:xfrm>
            <a:off x="4246778"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TRIGGERS</a:t>
            </a:r>
          </a:p>
        </p:txBody>
      </p:sp>
      <p:sp>
        <p:nvSpPr>
          <p:cNvPr id="7" name="TextBox 6"/>
          <p:cNvSpPr txBox="1"/>
          <p:nvPr/>
        </p:nvSpPr>
        <p:spPr>
          <a:xfrm>
            <a:off x="8127796"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SEÑALES</a:t>
            </a:r>
          </a:p>
        </p:txBody>
      </p:sp>
      <p:cxnSp>
        <p:nvCxnSpPr>
          <p:cNvPr id="8" name="Connector 7"/>
          <p:cNvCxnSpPr/>
          <p:nvPr/>
        </p:nvCxnSpPr>
        <p:spPr>
          <a:xfrm>
            <a:off x="365760" y="1014984"/>
            <a:ext cx="11460175" cy="0"/>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155338" y="1152144"/>
            <a:ext cx="0" cy="5431536"/>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036356" y="1152144"/>
            <a:ext cx="0" cy="5431536"/>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65760" y="1152144"/>
            <a:ext cx="3606698" cy="2011680"/>
          </a:xfrm>
          <a:prstGeom prst="rect">
            <a:avLst/>
          </a:prstGeom>
          <a:noFill/>
        </p:spPr>
        <p:txBody>
          <a:bodyPr wrap="square" lIns="0" rIns="0" tIns="0" bIns="0">
            <a:spAutoFit/>
          </a:bodyPr>
          <a:lstStyle/>
          <a:p>
            <a:pPr>
              <a:lnSpc>
                <a:spcPct val="95000"/>
              </a:lnSpc>
            </a:pPr>
            <a:r>
              <a:rPr sz="1900" b="0" i="0">
                <a:solidFill>
                  <a:srgbClr val="FFFFFF"/>
                </a:solidFill>
                <a:latin typeface="Instrument Serif"/>
              </a:rPr>
              <a:t>NUBANK CRUZÓ 100M CLIENTES LATAM Y SPLITWISE CONVIRTIÓ A LA PAREJA EN DASHBOARD — EL DINERO YA NO ES SECRETO, ES SPREADSHEET COMPARTIDO.</a:t>
            </a:r>
          </a:p>
        </p:txBody>
      </p:sp>
      <p:sp>
        <p:nvSpPr>
          <p:cNvPr id="12" name="TextBox 11"/>
          <p:cNvSpPr txBox="1"/>
          <p:nvPr/>
        </p:nvSpPr>
        <p:spPr>
          <a:xfrm>
            <a:off x="365760" y="325526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EL FENÓMENO</a:t>
            </a:r>
          </a:p>
        </p:txBody>
      </p:sp>
      <p:sp>
        <p:nvSpPr>
          <p:cNvPr id="13" name="TextBox 12"/>
          <p:cNvSpPr txBox="1"/>
          <p:nvPr/>
        </p:nvSpPr>
        <p:spPr>
          <a:xfrm>
            <a:off x="365760" y="3438144"/>
            <a:ext cx="3606698" cy="1371600"/>
          </a:xfrm>
          <a:prstGeom prst="rect">
            <a:avLst/>
          </a:prstGeom>
          <a:noFill/>
        </p:spPr>
        <p:txBody>
          <a:bodyPr wrap="square" lIns="0" rIns="0" tIns="0" bIns="0">
            <a:spAutoFit/>
          </a:bodyPr>
          <a:lstStyle/>
          <a:p>
            <a:pPr>
              <a:lnSpc>
                <a:spcPct val="100000"/>
              </a:lnSpc>
            </a:pPr>
            <a:r>
              <a:rPr sz="1000" b="0" i="0">
                <a:solidFill>
                  <a:srgbClr val="FFFFFF"/>
                </a:solidFill>
                <a:latin typeface="Poppins"/>
              </a:rPr>
              <a:t>Nubank cerró mayo 2024 con 100M clientes — primer banco digital fuera de Asia. En paralelo, apps como Splitwise y Settle Up se infiltraron en parejas heterosexuales jóvenes: cada Uber, cada delivery, cada vacación queda registrado al milímetro. Lo que parecía transparencia económica empieza a leerse en clave doble: por un lado destapa décadas de "él la mantiene/ella aporta lo invisible", por otro convierte la pareja en relación de cuentas.</a:t>
            </a:r>
          </a:p>
        </p:txBody>
      </p:sp>
      <p:sp>
        <p:nvSpPr>
          <p:cNvPr id="14" name="TextBox 13"/>
          <p:cNvSpPr txBox="1"/>
          <p:nvPr/>
        </p:nvSpPr>
        <p:spPr>
          <a:xfrm>
            <a:off x="365760" y="485546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HASHTAGS</a:t>
            </a:r>
          </a:p>
        </p:txBody>
      </p:sp>
      <p:sp>
        <p:nvSpPr>
          <p:cNvPr id="15" name="TextBox 14"/>
          <p:cNvSpPr txBox="1"/>
          <p:nvPr/>
        </p:nvSpPr>
        <p:spPr>
          <a:xfrm>
            <a:off x="365760" y="5038344"/>
            <a:ext cx="3606698" cy="640080"/>
          </a:xfrm>
          <a:prstGeom prst="rect">
            <a:avLst/>
          </a:prstGeom>
          <a:noFill/>
        </p:spPr>
        <p:txBody>
          <a:bodyPr wrap="square" lIns="0" rIns="0" tIns="0" bIns="0">
            <a:spAutoFit/>
          </a:bodyPr>
          <a:lstStyle/>
          <a:p>
            <a:pPr>
              <a:lnSpc>
                <a:spcPct val="110000"/>
              </a:lnSpc>
            </a:pPr>
            <a:r>
              <a:rPr sz="2300" b="0" i="0">
                <a:solidFill>
                  <a:srgbClr val="FFFFFF"/>
                </a:solidFill>
                <a:latin typeface="Instrument Serif"/>
              </a:rPr>
              <a:t>#couplebudget  #splitwise  #financespareja  #qikrd</a:t>
            </a:r>
          </a:p>
        </p:txBody>
      </p:sp>
      <p:sp>
        <p:nvSpPr>
          <p:cNvPr id="16" name="TextBox 15"/>
          <p:cNvSpPr txBox="1"/>
          <p:nvPr/>
        </p:nvSpPr>
        <p:spPr>
          <a:xfrm>
            <a:off x="365760" y="572414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3 NEEDS</a:t>
            </a:r>
          </a:p>
        </p:txBody>
      </p:sp>
      <p:sp>
        <p:nvSpPr>
          <p:cNvPr id="17" name="TextBox 16"/>
          <p:cNvSpPr txBox="1"/>
          <p:nvPr/>
        </p:nvSpPr>
        <p:spPr>
          <a:xfrm>
            <a:off x="365760" y="5907024"/>
            <a:ext cx="3606698" cy="457200"/>
          </a:xfrm>
          <a:prstGeom prst="rect">
            <a:avLst/>
          </a:prstGeom>
          <a:noFill/>
        </p:spPr>
        <p:txBody>
          <a:bodyPr wrap="square" lIns="0" rIns="0" tIns="0" bIns="0">
            <a:spAutoFit/>
          </a:bodyPr>
          <a:lstStyle/>
          <a:p>
            <a:pPr>
              <a:lnSpc>
                <a:spcPct val="105000"/>
              </a:lnSpc>
            </a:pPr>
            <a:r>
              <a:rPr sz="1400" b="0" i="0">
                <a:solidFill>
                  <a:srgbClr val="FFFFFF"/>
                </a:solidFill>
                <a:latin typeface="Instrument Serif"/>
              </a:rPr>
              <a:t>TRANSPARENCIA · CONTROL · INTIMIDAD</a:t>
            </a:r>
          </a:p>
        </p:txBody>
      </p:sp>
      <p:sp>
        <p:nvSpPr>
          <p:cNvPr id="18" name="TextBox 17"/>
          <p:cNvSpPr txBox="1"/>
          <p:nvPr/>
        </p:nvSpPr>
        <p:spPr>
          <a:xfrm>
            <a:off x="4246778" y="1152144"/>
            <a:ext cx="1371600" cy="1097280"/>
          </a:xfrm>
          <a:prstGeom prst="rect">
            <a:avLst/>
          </a:prstGeom>
          <a:noFill/>
        </p:spPr>
        <p:txBody>
          <a:bodyPr wrap="square" lIns="0" rIns="0" tIns="0" bIns="0">
            <a:spAutoFit/>
          </a:bodyPr>
          <a:lstStyle/>
          <a:p>
            <a:pPr>
              <a:lnSpc>
                <a:spcPct val="100000"/>
              </a:lnSpc>
            </a:pPr>
            <a:r>
              <a:rPr sz="5400" b="0" i="0">
                <a:solidFill>
                  <a:srgbClr val="FFFFFF"/>
                </a:solidFill>
                <a:latin typeface="Instrument Serif"/>
              </a:rPr>
              <a:t>100M</a:t>
            </a:r>
          </a:p>
        </p:txBody>
      </p:sp>
      <p:sp>
        <p:nvSpPr>
          <p:cNvPr id="19" name="TextBox 18"/>
          <p:cNvSpPr txBox="1"/>
          <p:nvPr/>
        </p:nvSpPr>
        <p:spPr>
          <a:xfrm>
            <a:off x="4246778" y="2295144"/>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BLOOMBERG · 2024</a:t>
            </a:r>
          </a:p>
        </p:txBody>
      </p:sp>
      <p:sp>
        <p:nvSpPr>
          <p:cNvPr id="20" name="TextBox 19"/>
          <p:cNvSpPr txBox="1"/>
          <p:nvPr/>
        </p:nvSpPr>
        <p:spPr>
          <a:xfrm>
            <a:off x="5664098" y="1289304"/>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Clientes Nubank LATAM mayo 2024 — primer banco digital fuera de Asia.</a:t>
            </a:r>
          </a:p>
        </p:txBody>
      </p:sp>
      <p:sp>
        <p:nvSpPr>
          <p:cNvPr id="21" name="TextBox 20"/>
          <p:cNvSpPr txBox="1"/>
          <p:nvPr/>
        </p:nvSpPr>
        <p:spPr>
          <a:xfrm>
            <a:off x="4246778" y="2962656"/>
            <a:ext cx="1371600" cy="1097280"/>
          </a:xfrm>
          <a:prstGeom prst="rect">
            <a:avLst/>
          </a:prstGeom>
          <a:noFill/>
        </p:spPr>
        <p:txBody>
          <a:bodyPr wrap="square" lIns="0" rIns="0" tIns="0" bIns="0">
            <a:spAutoFit/>
          </a:bodyPr>
          <a:lstStyle/>
          <a:p>
            <a:pPr>
              <a:lnSpc>
                <a:spcPct val="100000"/>
              </a:lnSpc>
            </a:pPr>
            <a:r>
              <a:rPr sz="7200" b="0" i="0">
                <a:solidFill>
                  <a:srgbClr val="FFFFFF"/>
                </a:solidFill>
                <a:latin typeface="Instrument Serif"/>
              </a:rPr>
              <a:t>3B</a:t>
            </a:r>
          </a:p>
        </p:txBody>
      </p:sp>
      <p:sp>
        <p:nvSpPr>
          <p:cNvPr id="22" name="TextBox 21"/>
          <p:cNvSpPr txBox="1"/>
          <p:nvPr/>
        </p:nvSpPr>
        <p:spPr>
          <a:xfrm>
            <a:off x="4246778" y="4105656"/>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TIKTOK CREATIVE CENTER · 2025</a:t>
            </a:r>
          </a:p>
        </p:txBody>
      </p:sp>
      <p:sp>
        <p:nvSpPr>
          <p:cNvPr id="23" name="TextBox 22"/>
          <p:cNvSpPr txBox="1"/>
          <p:nvPr/>
        </p:nvSpPr>
        <p:spPr>
          <a:xfrm>
            <a:off x="5664098" y="3099816"/>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Views combinados #couplebudget y #financespareja con peak 2024-2025.</a:t>
            </a:r>
          </a:p>
        </p:txBody>
      </p:sp>
      <p:sp>
        <p:nvSpPr>
          <p:cNvPr id="24" name="TextBox 23"/>
          <p:cNvSpPr txBox="1"/>
          <p:nvPr/>
        </p:nvSpPr>
        <p:spPr>
          <a:xfrm>
            <a:off x="4246778" y="4773168"/>
            <a:ext cx="1371600" cy="1097280"/>
          </a:xfrm>
          <a:prstGeom prst="rect">
            <a:avLst/>
          </a:prstGeom>
          <a:noFill/>
        </p:spPr>
        <p:txBody>
          <a:bodyPr wrap="square" lIns="0" rIns="0" tIns="0" bIns="0">
            <a:spAutoFit/>
          </a:bodyPr>
          <a:lstStyle/>
          <a:p>
            <a:pPr>
              <a:lnSpc>
                <a:spcPct val="100000"/>
              </a:lnSpc>
            </a:pPr>
            <a:r>
              <a:rPr sz="7200" b="0" i="0">
                <a:solidFill>
                  <a:srgbClr val="FFFFFF"/>
                </a:solidFill>
                <a:latin typeface="Instrument Serif"/>
              </a:rPr>
              <a:t>↑</a:t>
            </a:r>
          </a:p>
        </p:txBody>
      </p:sp>
      <p:sp>
        <p:nvSpPr>
          <p:cNvPr id="25" name="TextBox 24"/>
          <p:cNvSpPr txBox="1"/>
          <p:nvPr/>
        </p:nvSpPr>
        <p:spPr>
          <a:xfrm>
            <a:off x="4246778" y="5916168"/>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BCRD · 2024</a:t>
            </a:r>
          </a:p>
        </p:txBody>
      </p:sp>
      <p:sp>
        <p:nvSpPr>
          <p:cNvPr id="26" name="TextBox 25"/>
          <p:cNvSpPr txBox="1"/>
          <p:nvPr/>
        </p:nvSpPr>
        <p:spPr>
          <a:xfrm>
            <a:off x="5664098" y="4910328"/>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BCRD reporta crecimiento sostenido pagos digitales y billeteras móviles RD post-2023.</a:t>
            </a:r>
          </a:p>
        </p:txBody>
      </p:sp>
      <p:pic>
        <p:nvPicPr>
          <p:cNvPr id="27" name="Picture 26" descr="macro-2-3-bloomberg-nubank-100m.png"/>
          <p:cNvPicPr>
            <a:picLocks noChangeAspect="1"/>
          </p:cNvPicPr>
          <p:nvPr/>
        </p:nvPicPr>
        <p:blipFill>
          <a:blip r:embed="rId2"/>
          <a:stretch>
            <a:fillRect/>
          </a:stretch>
        </p:blipFill>
        <p:spPr>
          <a:xfrm>
            <a:off x="8127796" y="1152144"/>
            <a:ext cx="1397000" cy="1905000"/>
          </a:xfrm>
          <a:prstGeom prst="rect">
            <a:avLst/>
          </a:prstGeom>
        </p:spPr>
      </p:pic>
      <p:sp>
        <p:nvSpPr>
          <p:cNvPr id="28" name="Rounded Rectangle 27"/>
          <p:cNvSpPr/>
          <p:nvPr/>
        </p:nvSpPr>
        <p:spPr>
          <a:xfrm>
            <a:off x="9042196" y="1075944"/>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29" name="Rectangle 28">
            <a:hlinkClick r:id="rId3"/>
          </p:cNvPr>
          <p:cNvSpPr/>
          <p:nvPr/>
        </p:nvSpPr>
        <p:spPr>
          <a:xfrm>
            <a:off x="8127796" y="1152144"/>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97948" y="1289304"/>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Nubank cruzó 100M clientes LATAM mayo 2024 — primer banco digital fuera de Asia.</a:t>
            </a:r>
          </a:p>
        </p:txBody>
      </p:sp>
      <p:sp>
        <p:nvSpPr>
          <p:cNvPr id="31" name="TextBox 30"/>
          <p:cNvSpPr txBox="1"/>
          <p:nvPr/>
        </p:nvSpPr>
        <p:spPr>
          <a:xfrm>
            <a:off x="9597948" y="1752092"/>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BLOOMBERG · 2024</a:t>
            </a:r>
          </a:p>
        </p:txBody>
      </p:sp>
      <p:pic>
        <p:nvPicPr>
          <p:cNvPr id="32" name="Picture 31" descr="macro-2-3-splitwise-app.png"/>
          <p:cNvPicPr>
            <a:picLocks noChangeAspect="1"/>
          </p:cNvPicPr>
          <p:nvPr/>
        </p:nvPicPr>
        <p:blipFill>
          <a:blip r:embed="rId4"/>
          <a:stretch>
            <a:fillRect/>
          </a:stretch>
        </p:blipFill>
        <p:spPr>
          <a:xfrm>
            <a:off x="8127796" y="2962656"/>
            <a:ext cx="1397000" cy="1905000"/>
          </a:xfrm>
          <a:prstGeom prst="rect">
            <a:avLst/>
          </a:prstGeom>
        </p:spPr>
      </p:pic>
      <p:sp>
        <p:nvSpPr>
          <p:cNvPr id="33" name="Rounded Rectangle 32"/>
          <p:cNvSpPr/>
          <p:nvPr/>
        </p:nvSpPr>
        <p:spPr>
          <a:xfrm>
            <a:off x="9042196" y="2886456"/>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34" name="Rectangle 33">
            <a:hlinkClick r:id="rId5"/>
          </p:cNvPr>
          <p:cNvSpPr/>
          <p:nvPr/>
        </p:nvSpPr>
        <p:spPr>
          <a:xfrm>
            <a:off x="8127796" y="2962656"/>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597948" y="3099816"/>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Splitwise expone al milímetro quién pone qué en la pareja — dashboard o disputa.</a:t>
            </a:r>
          </a:p>
        </p:txBody>
      </p:sp>
      <p:sp>
        <p:nvSpPr>
          <p:cNvPr id="36" name="TextBox 35"/>
          <p:cNvSpPr txBox="1"/>
          <p:nvPr/>
        </p:nvSpPr>
        <p:spPr>
          <a:xfrm>
            <a:off x="9597948" y="3562604"/>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SPLITWISE · 2024</a:t>
            </a:r>
          </a:p>
        </p:txBody>
      </p:sp>
      <p:pic>
        <p:nvPicPr>
          <p:cNvPr id="37" name="Picture 36" descr="macro-2-3-americaeconomia-nubank.png"/>
          <p:cNvPicPr>
            <a:picLocks noChangeAspect="1"/>
          </p:cNvPicPr>
          <p:nvPr/>
        </p:nvPicPr>
        <p:blipFill>
          <a:blip r:embed="rId6"/>
          <a:stretch>
            <a:fillRect/>
          </a:stretch>
        </p:blipFill>
        <p:spPr>
          <a:xfrm>
            <a:off x="8127796" y="4773168"/>
            <a:ext cx="1397000" cy="1905000"/>
          </a:xfrm>
          <a:prstGeom prst="rect">
            <a:avLst/>
          </a:prstGeom>
        </p:spPr>
      </p:pic>
      <p:sp>
        <p:nvSpPr>
          <p:cNvPr id="38" name="Rounded Rectangle 37"/>
          <p:cNvSpPr/>
          <p:nvPr/>
        </p:nvSpPr>
        <p:spPr>
          <a:xfrm>
            <a:off x="9042196" y="4696968"/>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39" name="Rectangle 38">
            <a:hlinkClick r:id="rId7"/>
          </p:cNvPr>
          <p:cNvSpPr/>
          <p:nvPr/>
        </p:nvSpPr>
        <p:spPr>
          <a:xfrm>
            <a:off x="8127796" y="4773168"/>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597948" y="4910328"/>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Hero corporate Nubank LATAM milestone — expansión continental confirmada.</a:t>
            </a:r>
          </a:p>
        </p:txBody>
      </p:sp>
      <p:sp>
        <p:nvSpPr>
          <p:cNvPr id="41" name="TextBox 40"/>
          <p:cNvSpPr txBox="1"/>
          <p:nvPr/>
        </p:nvSpPr>
        <p:spPr>
          <a:xfrm>
            <a:off x="9597948" y="5373116"/>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AMÉRICA ECONOMÍA · 2024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20040"/>
            <a:ext cx="777240" cy="201168"/>
          </a:xfrm>
          <a:prstGeom prst="rect">
            <a:avLst/>
          </a:prstGeom>
          <a:solidFill>
            <a:srgbClr val="E8E8E8"/>
          </a:solidFill>
          <a:ln w="3175">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800" b="1" i="0">
                <a:solidFill>
                  <a:srgbClr val="000000"/>
                </a:solidFill>
                <a:latin typeface="Poppins"/>
              </a:rPr>
              <a:t>MACRO 2</a:t>
            </a:r>
          </a:p>
        </p:txBody>
      </p:sp>
      <p:sp>
        <p:nvSpPr>
          <p:cNvPr id="4" name="Rectangle 3"/>
          <p:cNvSpPr/>
          <p:nvPr/>
        </p:nvSpPr>
        <p:spPr>
          <a:xfrm>
            <a:off x="1143000" y="320040"/>
            <a:ext cx="2011680" cy="201168"/>
          </a:xfrm>
          <a:prstGeom prst="rect">
            <a:avLst/>
          </a:prstGeom>
          <a:noFill/>
          <a:ln w="3175">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800" b="0" i="0">
                <a:solidFill>
                  <a:srgbClr val="A0A0A0"/>
                </a:solidFill>
                <a:latin typeface="Poppins"/>
              </a:rPr>
              <a:t>HERNÁNDEZ PROMPTED</a:t>
            </a:r>
          </a:p>
        </p:txBody>
      </p:sp>
      <p:sp>
        <p:nvSpPr>
          <p:cNvPr id="5" name="TextBox 4"/>
          <p:cNvSpPr txBox="1"/>
          <p:nvPr/>
        </p:nvSpPr>
        <p:spPr>
          <a:xfrm>
            <a:off x="365760"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DEFINICIÓN</a:t>
            </a:r>
          </a:p>
        </p:txBody>
      </p:sp>
      <p:sp>
        <p:nvSpPr>
          <p:cNvPr id="6" name="TextBox 5"/>
          <p:cNvSpPr txBox="1"/>
          <p:nvPr/>
        </p:nvSpPr>
        <p:spPr>
          <a:xfrm>
            <a:off x="4246778"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TRIGGERS</a:t>
            </a:r>
          </a:p>
        </p:txBody>
      </p:sp>
      <p:sp>
        <p:nvSpPr>
          <p:cNvPr id="7" name="TextBox 6"/>
          <p:cNvSpPr txBox="1"/>
          <p:nvPr/>
        </p:nvSpPr>
        <p:spPr>
          <a:xfrm>
            <a:off x="8127796"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SEÑALES</a:t>
            </a:r>
          </a:p>
        </p:txBody>
      </p:sp>
      <p:cxnSp>
        <p:nvCxnSpPr>
          <p:cNvPr id="8" name="Connector 7"/>
          <p:cNvCxnSpPr/>
          <p:nvPr/>
        </p:nvCxnSpPr>
        <p:spPr>
          <a:xfrm>
            <a:off x="365760" y="1014984"/>
            <a:ext cx="11460175" cy="0"/>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155338" y="1152144"/>
            <a:ext cx="0" cy="5431536"/>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036356" y="1152144"/>
            <a:ext cx="0" cy="5431536"/>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65760" y="1152144"/>
            <a:ext cx="3606698" cy="2011680"/>
          </a:xfrm>
          <a:prstGeom prst="rect">
            <a:avLst/>
          </a:prstGeom>
          <a:noFill/>
        </p:spPr>
        <p:txBody>
          <a:bodyPr wrap="square" lIns="0" rIns="0" tIns="0" bIns="0">
            <a:spAutoFit/>
          </a:bodyPr>
          <a:lstStyle/>
          <a:p>
            <a:pPr>
              <a:lnSpc>
                <a:spcPct val="95000"/>
              </a:lnSpc>
            </a:pPr>
            <a:r>
              <a:rPr sz="1900" b="0" i="0">
                <a:solidFill>
                  <a:srgbClr val="FFFFFF"/>
                </a:solidFill>
                <a:latin typeface="Instrument Serif"/>
              </a:rPr>
              <a:t>MAVEN CLINIC CERRÓ SERIES F A US$1.7B EN OCTUBRE 2024 — LA GINECÓLOGA AHORA VIVE EN UNA APP Y NADIE EN LA FAMILIA SE ENTERA.</a:t>
            </a:r>
          </a:p>
        </p:txBody>
      </p:sp>
      <p:sp>
        <p:nvSpPr>
          <p:cNvPr id="12" name="TextBox 11"/>
          <p:cNvSpPr txBox="1"/>
          <p:nvPr/>
        </p:nvSpPr>
        <p:spPr>
          <a:xfrm>
            <a:off x="365760" y="325526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EL FENÓMENO</a:t>
            </a:r>
          </a:p>
        </p:txBody>
      </p:sp>
      <p:sp>
        <p:nvSpPr>
          <p:cNvPr id="13" name="TextBox 12"/>
          <p:cNvSpPr txBox="1"/>
          <p:nvPr/>
        </p:nvSpPr>
        <p:spPr>
          <a:xfrm>
            <a:off x="365760" y="3438144"/>
            <a:ext cx="3606698" cy="1371600"/>
          </a:xfrm>
          <a:prstGeom prst="rect">
            <a:avLst/>
          </a:prstGeom>
          <a:noFill/>
        </p:spPr>
        <p:txBody>
          <a:bodyPr wrap="square" lIns="0" rIns="0" tIns="0" bIns="0">
            <a:spAutoFit/>
          </a:bodyPr>
          <a:lstStyle/>
          <a:p>
            <a:pPr>
              <a:lnSpc>
                <a:spcPct val="100000"/>
              </a:lnSpc>
            </a:pPr>
            <a:r>
              <a:rPr sz="1000" b="0" i="0">
                <a:solidFill>
                  <a:srgbClr val="FFFFFF"/>
                </a:solidFill>
                <a:latin typeface="Poppins"/>
              </a:rPr>
              <a:t>Maven Clinic se volvió primer unicornio women's health en octubre 2024 con valuation US$1.7B. Junto con Tia, Allara y otras, ofrecen ginecología, fertilidad, perimenopausia y salud hormonal vía app — onboarding totalmente digital, segunda opinión sin agendar presencial. Lo que cambia no es la consulta médica — cambia el filtro social. Antes la salud reproductiva pasaba por la madre, la suegra, la vecina enfermera; hoy pasa por una doctora en pantalla que nadie en casa ve.</a:t>
            </a:r>
          </a:p>
        </p:txBody>
      </p:sp>
      <p:sp>
        <p:nvSpPr>
          <p:cNvPr id="14" name="TextBox 13"/>
          <p:cNvSpPr txBox="1"/>
          <p:nvPr/>
        </p:nvSpPr>
        <p:spPr>
          <a:xfrm>
            <a:off x="365760" y="485546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HASHTAGS</a:t>
            </a:r>
          </a:p>
        </p:txBody>
      </p:sp>
      <p:sp>
        <p:nvSpPr>
          <p:cNvPr id="15" name="TextBox 14"/>
          <p:cNvSpPr txBox="1"/>
          <p:nvPr/>
        </p:nvSpPr>
        <p:spPr>
          <a:xfrm>
            <a:off x="365760" y="5038344"/>
            <a:ext cx="3606698" cy="640080"/>
          </a:xfrm>
          <a:prstGeom prst="rect">
            <a:avLst/>
          </a:prstGeom>
          <a:noFill/>
        </p:spPr>
        <p:txBody>
          <a:bodyPr wrap="square" lIns="0" rIns="0" tIns="0" bIns="0">
            <a:spAutoFit/>
          </a:bodyPr>
          <a:lstStyle/>
          <a:p>
            <a:pPr>
              <a:lnSpc>
                <a:spcPct val="110000"/>
              </a:lnSpc>
            </a:pPr>
            <a:r>
              <a:rPr sz="2300" b="0" i="0">
                <a:solidFill>
                  <a:srgbClr val="FFFFFF"/>
                </a:solidFill>
                <a:latin typeface="Instrument Serif"/>
              </a:rPr>
              <a:t>#telesalud  #femtech  #perimenopause  #ginecologiaonline</a:t>
            </a:r>
          </a:p>
        </p:txBody>
      </p:sp>
      <p:sp>
        <p:nvSpPr>
          <p:cNvPr id="16" name="TextBox 15"/>
          <p:cNvSpPr txBox="1"/>
          <p:nvPr/>
        </p:nvSpPr>
        <p:spPr>
          <a:xfrm>
            <a:off x="365760" y="572414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3 NEEDS</a:t>
            </a:r>
          </a:p>
        </p:txBody>
      </p:sp>
      <p:sp>
        <p:nvSpPr>
          <p:cNvPr id="17" name="TextBox 16"/>
          <p:cNvSpPr txBox="1"/>
          <p:nvPr/>
        </p:nvSpPr>
        <p:spPr>
          <a:xfrm>
            <a:off x="365760" y="5907024"/>
            <a:ext cx="3606698" cy="457200"/>
          </a:xfrm>
          <a:prstGeom prst="rect">
            <a:avLst/>
          </a:prstGeom>
          <a:noFill/>
        </p:spPr>
        <p:txBody>
          <a:bodyPr wrap="square" lIns="0" rIns="0" tIns="0" bIns="0">
            <a:spAutoFit/>
          </a:bodyPr>
          <a:lstStyle/>
          <a:p>
            <a:pPr>
              <a:lnSpc>
                <a:spcPct val="105000"/>
              </a:lnSpc>
            </a:pPr>
            <a:r>
              <a:rPr sz="1400" b="0" i="0">
                <a:solidFill>
                  <a:srgbClr val="FFFFFF"/>
                </a:solidFill>
                <a:latin typeface="Instrument Serif"/>
              </a:rPr>
              <a:t>PRIVACIDAD · AGENCIA · SOLEDAD</a:t>
            </a:r>
          </a:p>
        </p:txBody>
      </p:sp>
      <p:sp>
        <p:nvSpPr>
          <p:cNvPr id="18" name="TextBox 17"/>
          <p:cNvSpPr txBox="1"/>
          <p:nvPr/>
        </p:nvSpPr>
        <p:spPr>
          <a:xfrm>
            <a:off x="4246778" y="1152144"/>
            <a:ext cx="1371600" cy="1097280"/>
          </a:xfrm>
          <a:prstGeom prst="rect">
            <a:avLst/>
          </a:prstGeom>
          <a:noFill/>
        </p:spPr>
        <p:txBody>
          <a:bodyPr wrap="square" lIns="0" rIns="0" tIns="0" bIns="0">
            <a:spAutoFit/>
          </a:bodyPr>
          <a:lstStyle/>
          <a:p>
            <a:pPr>
              <a:lnSpc>
                <a:spcPct val="100000"/>
              </a:lnSpc>
            </a:pPr>
            <a:r>
              <a:rPr sz="4200" b="0" i="0">
                <a:solidFill>
                  <a:srgbClr val="FFFFFF"/>
                </a:solidFill>
                <a:latin typeface="Instrument Serif"/>
              </a:rPr>
              <a:t>US$1.7B</a:t>
            </a:r>
          </a:p>
        </p:txBody>
      </p:sp>
      <p:sp>
        <p:nvSpPr>
          <p:cNvPr id="19" name="TextBox 18"/>
          <p:cNvSpPr txBox="1"/>
          <p:nvPr/>
        </p:nvSpPr>
        <p:spPr>
          <a:xfrm>
            <a:off x="4246778" y="2295144"/>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FORTUNE / CNBC · 2024</a:t>
            </a:r>
          </a:p>
        </p:txBody>
      </p:sp>
      <p:sp>
        <p:nvSpPr>
          <p:cNvPr id="20" name="TextBox 19"/>
          <p:cNvSpPr txBox="1"/>
          <p:nvPr/>
        </p:nvSpPr>
        <p:spPr>
          <a:xfrm>
            <a:off x="5664098" y="1289304"/>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Valuation Maven Clinic Series F Oct 2024 — primer unicornio women's health.</a:t>
            </a:r>
          </a:p>
        </p:txBody>
      </p:sp>
      <p:sp>
        <p:nvSpPr>
          <p:cNvPr id="21" name="TextBox 20"/>
          <p:cNvSpPr txBox="1"/>
          <p:nvPr/>
        </p:nvSpPr>
        <p:spPr>
          <a:xfrm>
            <a:off x="4246778" y="2962656"/>
            <a:ext cx="1371600" cy="1097280"/>
          </a:xfrm>
          <a:prstGeom prst="rect">
            <a:avLst/>
          </a:prstGeom>
          <a:noFill/>
        </p:spPr>
        <p:txBody>
          <a:bodyPr wrap="square" lIns="0" rIns="0" tIns="0" bIns="0">
            <a:spAutoFit/>
          </a:bodyPr>
          <a:lstStyle/>
          <a:p>
            <a:pPr>
              <a:lnSpc>
                <a:spcPct val="100000"/>
              </a:lnSpc>
            </a:pPr>
            <a:r>
              <a:rPr sz="5400" b="0" i="0">
                <a:solidFill>
                  <a:srgbClr val="FFFFFF"/>
                </a:solidFill>
                <a:latin typeface="Instrument Serif"/>
              </a:rPr>
              <a:t>1.5B</a:t>
            </a:r>
          </a:p>
        </p:txBody>
      </p:sp>
      <p:sp>
        <p:nvSpPr>
          <p:cNvPr id="22" name="TextBox 21"/>
          <p:cNvSpPr txBox="1"/>
          <p:nvPr/>
        </p:nvSpPr>
        <p:spPr>
          <a:xfrm>
            <a:off x="4246778" y="4105656"/>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TIKTOK CREATIVE CENTER · 2025</a:t>
            </a:r>
          </a:p>
        </p:txBody>
      </p:sp>
      <p:sp>
        <p:nvSpPr>
          <p:cNvPr id="23" name="TextBox 22"/>
          <p:cNvSpPr txBox="1"/>
          <p:nvPr/>
        </p:nvSpPr>
        <p:spPr>
          <a:xfrm>
            <a:off x="5664098" y="3099816"/>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Views combinados #perimenopause y #endotok con peak 2024-2025.</a:t>
            </a:r>
          </a:p>
        </p:txBody>
      </p:sp>
      <p:sp>
        <p:nvSpPr>
          <p:cNvPr id="24" name="TextBox 23"/>
          <p:cNvSpPr txBox="1"/>
          <p:nvPr/>
        </p:nvSpPr>
        <p:spPr>
          <a:xfrm>
            <a:off x="4246778" y="4773168"/>
            <a:ext cx="1371600" cy="1097280"/>
          </a:xfrm>
          <a:prstGeom prst="rect">
            <a:avLst/>
          </a:prstGeom>
          <a:noFill/>
        </p:spPr>
        <p:txBody>
          <a:bodyPr wrap="square" lIns="0" rIns="0" tIns="0" bIns="0">
            <a:spAutoFit/>
          </a:bodyPr>
          <a:lstStyle/>
          <a:p>
            <a:pPr>
              <a:lnSpc>
                <a:spcPct val="100000"/>
              </a:lnSpc>
            </a:pPr>
            <a:r>
              <a:rPr sz="7200" b="0" i="0">
                <a:solidFill>
                  <a:srgbClr val="FFFFFF"/>
                </a:solidFill>
                <a:latin typeface="Instrument Serif"/>
              </a:rPr>
              <a:t>♀</a:t>
            </a:r>
          </a:p>
        </p:txBody>
      </p:sp>
      <p:sp>
        <p:nvSpPr>
          <p:cNvPr id="25" name="TextBox 24"/>
          <p:cNvSpPr txBox="1"/>
          <p:nvPr/>
        </p:nvSpPr>
        <p:spPr>
          <a:xfrm>
            <a:off x="4246778" y="5916168"/>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ROCK HEALTH · 2024</a:t>
            </a:r>
          </a:p>
        </p:txBody>
      </p:sp>
      <p:sp>
        <p:nvSpPr>
          <p:cNvPr id="26" name="TextBox 25"/>
          <p:cNvSpPr txBox="1"/>
          <p:nvPr/>
        </p:nvSpPr>
        <p:spPr>
          <a:xfrm>
            <a:off x="5664098" y="4910328"/>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Mujeres lideran uso de telesalud para salud reproductiva, mental y hormonal.</a:t>
            </a:r>
          </a:p>
        </p:txBody>
      </p:sp>
      <p:pic>
        <p:nvPicPr>
          <p:cNvPr id="27" name="Picture 26" descr="macro-2-4-fortune-maven-1-7b.png"/>
          <p:cNvPicPr>
            <a:picLocks noChangeAspect="1"/>
          </p:cNvPicPr>
          <p:nvPr/>
        </p:nvPicPr>
        <p:blipFill>
          <a:blip r:embed="rId2"/>
          <a:stretch>
            <a:fillRect/>
          </a:stretch>
        </p:blipFill>
        <p:spPr>
          <a:xfrm>
            <a:off x="8127796" y="1152144"/>
            <a:ext cx="1397000" cy="1905000"/>
          </a:xfrm>
          <a:prstGeom prst="rect">
            <a:avLst/>
          </a:prstGeom>
        </p:spPr>
      </p:pic>
      <p:sp>
        <p:nvSpPr>
          <p:cNvPr id="28" name="Rounded Rectangle 27"/>
          <p:cNvSpPr/>
          <p:nvPr/>
        </p:nvSpPr>
        <p:spPr>
          <a:xfrm>
            <a:off x="9042196" y="1075944"/>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29" name="Rectangle 28">
            <a:hlinkClick r:id="rId3"/>
          </p:cNvPr>
          <p:cNvSpPr/>
          <p:nvPr/>
        </p:nvSpPr>
        <p:spPr>
          <a:xfrm>
            <a:off x="8127796" y="1152144"/>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97948" y="1289304"/>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Maven Clinic valuada US$1.7B (Oct 2024) — primera unicornio women's health.</a:t>
            </a:r>
          </a:p>
        </p:txBody>
      </p:sp>
      <p:sp>
        <p:nvSpPr>
          <p:cNvPr id="31" name="TextBox 30"/>
          <p:cNvSpPr txBox="1"/>
          <p:nvPr/>
        </p:nvSpPr>
        <p:spPr>
          <a:xfrm>
            <a:off x="9597948" y="1752092"/>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FORTUNE · 2024</a:t>
            </a:r>
          </a:p>
        </p:txBody>
      </p:sp>
      <p:pic>
        <p:nvPicPr>
          <p:cNvPr id="32" name="Picture 31" descr="macro-2-4-cnbc-maven-clinic.png"/>
          <p:cNvPicPr>
            <a:picLocks noChangeAspect="1"/>
          </p:cNvPicPr>
          <p:nvPr/>
        </p:nvPicPr>
        <p:blipFill>
          <a:blip r:embed="rId4"/>
          <a:stretch>
            <a:fillRect/>
          </a:stretch>
        </p:blipFill>
        <p:spPr>
          <a:xfrm>
            <a:off x="8127796" y="2962656"/>
            <a:ext cx="1397000" cy="1905000"/>
          </a:xfrm>
          <a:prstGeom prst="rect">
            <a:avLst/>
          </a:prstGeom>
        </p:spPr>
      </p:pic>
      <p:sp>
        <p:nvSpPr>
          <p:cNvPr id="33" name="Rounded Rectangle 32"/>
          <p:cNvSpPr/>
          <p:nvPr/>
        </p:nvSpPr>
        <p:spPr>
          <a:xfrm>
            <a:off x="9042196" y="2886456"/>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34" name="Rectangle 33">
            <a:hlinkClick r:id="rId5"/>
          </p:cNvPr>
          <p:cNvSpPr/>
          <p:nvPr/>
        </p:nvSpPr>
        <p:spPr>
          <a:xfrm>
            <a:off x="8127796" y="2962656"/>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597948" y="3099816"/>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CNBC confirma Series F US$1.7B — milestone de la categoría.</a:t>
            </a:r>
          </a:p>
        </p:txBody>
      </p:sp>
      <p:sp>
        <p:nvSpPr>
          <p:cNvPr id="36" name="TextBox 35"/>
          <p:cNvSpPr txBox="1"/>
          <p:nvPr/>
        </p:nvSpPr>
        <p:spPr>
          <a:xfrm>
            <a:off x="9597948" y="3562604"/>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CNBC · 2024</a:t>
            </a:r>
          </a:p>
        </p:txBody>
      </p:sp>
      <p:pic>
        <p:nvPicPr>
          <p:cNvPr id="37" name="Picture 36" descr="macro-2-4-maven-clinic-landing.png"/>
          <p:cNvPicPr>
            <a:picLocks noChangeAspect="1"/>
          </p:cNvPicPr>
          <p:nvPr/>
        </p:nvPicPr>
        <p:blipFill>
          <a:blip r:embed="rId6"/>
          <a:stretch>
            <a:fillRect/>
          </a:stretch>
        </p:blipFill>
        <p:spPr>
          <a:xfrm>
            <a:off x="8127796" y="4773168"/>
            <a:ext cx="1397000" cy="1905000"/>
          </a:xfrm>
          <a:prstGeom prst="rect">
            <a:avLst/>
          </a:prstGeom>
        </p:spPr>
      </p:pic>
      <p:sp>
        <p:nvSpPr>
          <p:cNvPr id="38" name="Rounded Rectangle 37"/>
          <p:cNvSpPr/>
          <p:nvPr/>
        </p:nvSpPr>
        <p:spPr>
          <a:xfrm>
            <a:off x="9042196" y="4696968"/>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39" name="Rectangle 38">
            <a:hlinkClick r:id="rId7"/>
          </p:cNvPr>
          <p:cNvSpPr/>
          <p:nvPr/>
        </p:nvSpPr>
        <p:spPr>
          <a:xfrm>
            <a:off x="8127796" y="4773168"/>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597948" y="4910328"/>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Brand-issued social card Maven 2026 — ginecóloga en pantalla.</a:t>
            </a:r>
          </a:p>
        </p:txBody>
      </p:sp>
      <p:sp>
        <p:nvSpPr>
          <p:cNvPr id="41" name="TextBox 40"/>
          <p:cNvSpPr txBox="1"/>
          <p:nvPr/>
        </p:nvSpPr>
        <p:spPr>
          <a:xfrm>
            <a:off x="9597948" y="5373116"/>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MAVEN ·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20040"/>
            <a:ext cx="777240" cy="201168"/>
          </a:xfrm>
          <a:prstGeom prst="rect">
            <a:avLst/>
          </a:prstGeom>
          <a:solidFill>
            <a:srgbClr val="E8E8E8"/>
          </a:solidFill>
          <a:ln w="3175">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800" b="1" i="0">
                <a:solidFill>
                  <a:srgbClr val="000000"/>
                </a:solidFill>
                <a:latin typeface="Poppins"/>
              </a:rPr>
              <a:t>MACRO 2</a:t>
            </a:r>
          </a:p>
        </p:txBody>
      </p:sp>
      <p:sp>
        <p:nvSpPr>
          <p:cNvPr id="4" name="Rectangle 3"/>
          <p:cNvSpPr/>
          <p:nvPr/>
        </p:nvSpPr>
        <p:spPr>
          <a:xfrm>
            <a:off x="1143000" y="320040"/>
            <a:ext cx="2011680" cy="201168"/>
          </a:xfrm>
          <a:prstGeom prst="rect">
            <a:avLst/>
          </a:prstGeom>
          <a:noFill/>
          <a:ln w="3175">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800" b="0" i="0">
                <a:solidFill>
                  <a:srgbClr val="A0A0A0"/>
                </a:solidFill>
                <a:latin typeface="Poppins"/>
              </a:rPr>
              <a:t>HERNÁNDEZ PROMPTED</a:t>
            </a:r>
          </a:p>
        </p:txBody>
      </p:sp>
      <p:sp>
        <p:nvSpPr>
          <p:cNvPr id="5" name="TextBox 4"/>
          <p:cNvSpPr txBox="1"/>
          <p:nvPr/>
        </p:nvSpPr>
        <p:spPr>
          <a:xfrm>
            <a:off x="365760"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DEFINICIÓN</a:t>
            </a:r>
          </a:p>
        </p:txBody>
      </p:sp>
      <p:sp>
        <p:nvSpPr>
          <p:cNvPr id="6" name="TextBox 5"/>
          <p:cNvSpPr txBox="1"/>
          <p:nvPr/>
        </p:nvSpPr>
        <p:spPr>
          <a:xfrm>
            <a:off x="4246778"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TRIGGERS</a:t>
            </a:r>
          </a:p>
        </p:txBody>
      </p:sp>
      <p:sp>
        <p:nvSpPr>
          <p:cNvPr id="7" name="TextBox 6"/>
          <p:cNvSpPr txBox="1"/>
          <p:nvPr/>
        </p:nvSpPr>
        <p:spPr>
          <a:xfrm>
            <a:off x="8127796"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SEÑALES</a:t>
            </a:r>
          </a:p>
        </p:txBody>
      </p:sp>
      <p:cxnSp>
        <p:nvCxnSpPr>
          <p:cNvPr id="8" name="Connector 7"/>
          <p:cNvCxnSpPr/>
          <p:nvPr/>
        </p:nvCxnSpPr>
        <p:spPr>
          <a:xfrm>
            <a:off x="365760" y="1014984"/>
            <a:ext cx="11460175" cy="0"/>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155338" y="1152144"/>
            <a:ext cx="0" cy="5431536"/>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036356" y="1152144"/>
            <a:ext cx="0" cy="5431536"/>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65760" y="1152144"/>
            <a:ext cx="3606698" cy="2011680"/>
          </a:xfrm>
          <a:prstGeom prst="rect">
            <a:avLst/>
          </a:prstGeom>
          <a:noFill/>
        </p:spPr>
        <p:txBody>
          <a:bodyPr wrap="square" lIns="0" rIns="0" tIns="0" bIns="0">
            <a:spAutoFit/>
          </a:bodyPr>
          <a:lstStyle/>
          <a:p>
            <a:pPr>
              <a:lnSpc>
                <a:spcPct val="95000"/>
              </a:lnSpc>
            </a:pPr>
            <a:r>
              <a:rPr sz="1900" b="0" i="0">
                <a:solidFill>
                  <a:srgbClr val="FFFFFF"/>
                </a:solidFill>
                <a:latin typeface="Instrument Serif"/>
              </a:rPr>
              <a:t>AMAZON RUFUS Y OPENAI OPERATOR EMPEZARON A HACER LAS COMPRAS DEL HOGAR — LA CARGA MENTAL FEMENINA MIGRA DEL CEREBRO AL PROMPT.</a:t>
            </a:r>
          </a:p>
        </p:txBody>
      </p:sp>
      <p:sp>
        <p:nvSpPr>
          <p:cNvPr id="12" name="TextBox 11"/>
          <p:cNvSpPr txBox="1"/>
          <p:nvPr/>
        </p:nvSpPr>
        <p:spPr>
          <a:xfrm>
            <a:off x="365760" y="325526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EL FENÓMENO</a:t>
            </a:r>
          </a:p>
        </p:txBody>
      </p:sp>
      <p:sp>
        <p:nvSpPr>
          <p:cNvPr id="13" name="TextBox 12"/>
          <p:cNvSpPr txBox="1"/>
          <p:nvPr/>
        </p:nvSpPr>
        <p:spPr>
          <a:xfrm>
            <a:off x="365760" y="3438144"/>
            <a:ext cx="3606698" cy="1371600"/>
          </a:xfrm>
          <a:prstGeom prst="rect">
            <a:avLst/>
          </a:prstGeom>
          <a:noFill/>
        </p:spPr>
        <p:txBody>
          <a:bodyPr wrap="square" lIns="0" rIns="0" tIns="0" bIns="0">
            <a:spAutoFit/>
          </a:bodyPr>
          <a:lstStyle/>
          <a:p>
            <a:pPr>
              <a:lnSpc>
                <a:spcPct val="100000"/>
              </a:lnSpc>
            </a:pPr>
            <a:r>
              <a:rPr sz="1000" b="0" i="0">
                <a:solidFill>
                  <a:srgbClr val="FFFFFF"/>
                </a:solidFill>
                <a:latin typeface="Poppins"/>
              </a:rPr>
              <a:t>Amazon lanzó Rufus en febrero 2024; OpenAI lanzó Operator en enero 2025 como agente que opera el navegador entero. El mercado Agentic AI se proyecta de US$5.1B (2024) a US$47B (2030), CAGR sobre 45%. Lo concreto en hogares dual-income: lista del supermercado, cita del pediatra, comparador de precios, agendado del mantenimiento — todo eso que históricamente cargaba ella mentalmente, empieza a delegarse. La pregunta nueva ya no es "¿quién hace?". Es "¿quién promptea?".</a:t>
            </a:r>
          </a:p>
        </p:txBody>
      </p:sp>
      <p:sp>
        <p:nvSpPr>
          <p:cNvPr id="14" name="TextBox 13"/>
          <p:cNvSpPr txBox="1"/>
          <p:nvPr/>
        </p:nvSpPr>
        <p:spPr>
          <a:xfrm>
            <a:off x="365760" y="485546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HASHTAGS</a:t>
            </a:r>
          </a:p>
        </p:txBody>
      </p:sp>
      <p:sp>
        <p:nvSpPr>
          <p:cNvPr id="15" name="TextBox 14"/>
          <p:cNvSpPr txBox="1"/>
          <p:nvPr/>
        </p:nvSpPr>
        <p:spPr>
          <a:xfrm>
            <a:off x="365760" y="5038344"/>
            <a:ext cx="3606698" cy="640080"/>
          </a:xfrm>
          <a:prstGeom prst="rect">
            <a:avLst/>
          </a:prstGeom>
          <a:noFill/>
        </p:spPr>
        <p:txBody>
          <a:bodyPr wrap="square" lIns="0" rIns="0" tIns="0" bIns="0">
            <a:spAutoFit/>
          </a:bodyPr>
          <a:lstStyle/>
          <a:p>
            <a:pPr>
              <a:lnSpc>
                <a:spcPct val="110000"/>
              </a:lnSpc>
            </a:pPr>
            <a:r>
              <a:rPr sz="2300" b="0" i="0">
                <a:solidFill>
                  <a:srgbClr val="FFFFFF"/>
                </a:solidFill>
                <a:latin typeface="Instrument Serif"/>
              </a:rPr>
              <a:t>#agenticai  #aiagents  #rufus  #cargamentalIA</a:t>
            </a:r>
          </a:p>
        </p:txBody>
      </p:sp>
      <p:sp>
        <p:nvSpPr>
          <p:cNvPr id="16" name="TextBox 15"/>
          <p:cNvSpPr txBox="1"/>
          <p:nvPr/>
        </p:nvSpPr>
        <p:spPr>
          <a:xfrm>
            <a:off x="365760" y="572414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3 NEEDS</a:t>
            </a:r>
          </a:p>
        </p:txBody>
      </p:sp>
      <p:sp>
        <p:nvSpPr>
          <p:cNvPr id="17" name="TextBox 16"/>
          <p:cNvSpPr txBox="1"/>
          <p:nvPr/>
        </p:nvSpPr>
        <p:spPr>
          <a:xfrm>
            <a:off x="365760" y="5907024"/>
            <a:ext cx="3606698" cy="457200"/>
          </a:xfrm>
          <a:prstGeom prst="rect">
            <a:avLst/>
          </a:prstGeom>
          <a:noFill/>
        </p:spPr>
        <p:txBody>
          <a:bodyPr wrap="square" lIns="0" rIns="0" tIns="0" bIns="0">
            <a:spAutoFit/>
          </a:bodyPr>
          <a:lstStyle/>
          <a:p>
            <a:pPr>
              <a:lnSpc>
                <a:spcPct val="105000"/>
              </a:lnSpc>
            </a:pPr>
            <a:r>
              <a:rPr sz="1400" b="0" i="0">
                <a:solidFill>
                  <a:srgbClr val="FFFFFF"/>
                </a:solidFill>
                <a:latin typeface="Instrument Serif"/>
              </a:rPr>
              <a:t>DELEGAR · AGOTAMIENTO · CONFIGURACIÓN</a:t>
            </a:r>
          </a:p>
        </p:txBody>
      </p:sp>
      <p:sp>
        <p:nvSpPr>
          <p:cNvPr id="18" name="TextBox 17"/>
          <p:cNvSpPr txBox="1"/>
          <p:nvPr/>
        </p:nvSpPr>
        <p:spPr>
          <a:xfrm>
            <a:off x="4246778" y="1152144"/>
            <a:ext cx="1371600" cy="1097280"/>
          </a:xfrm>
          <a:prstGeom prst="rect">
            <a:avLst/>
          </a:prstGeom>
          <a:noFill/>
        </p:spPr>
        <p:txBody>
          <a:bodyPr wrap="square" lIns="0" rIns="0" tIns="0" bIns="0">
            <a:spAutoFit/>
          </a:bodyPr>
          <a:lstStyle/>
          <a:p>
            <a:pPr>
              <a:lnSpc>
                <a:spcPct val="100000"/>
              </a:lnSpc>
            </a:pPr>
            <a:r>
              <a:rPr sz="4200" b="0" i="0">
                <a:solidFill>
                  <a:srgbClr val="FFFFFF"/>
                </a:solidFill>
                <a:latin typeface="Instrument Serif"/>
              </a:rPr>
              <a:t>US$47B</a:t>
            </a:r>
          </a:p>
        </p:txBody>
      </p:sp>
      <p:sp>
        <p:nvSpPr>
          <p:cNvPr id="19" name="TextBox 18"/>
          <p:cNvSpPr txBox="1"/>
          <p:nvPr/>
        </p:nvSpPr>
        <p:spPr>
          <a:xfrm>
            <a:off x="4246778" y="2295144"/>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GRAND VIEW RESEARCH · 2025</a:t>
            </a:r>
          </a:p>
        </p:txBody>
      </p:sp>
      <p:sp>
        <p:nvSpPr>
          <p:cNvPr id="20" name="TextBox 19"/>
          <p:cNvSpPr txBox="1"/>
          <p:nvPr/>
        </p:nvSpPr>
        <p:spPr>
          <a:xfrm>
            <a:off x="5664098" y="1289304"/>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Proyección mercado Agentic AI al 2030 desde US$5.1B en 2024, CAGR &gt;45%.</a:t>
            </a:r>
          </a:p>
        </p:txBody>
      </p:sp>
      <p:sp>
        <p:nvSpPr>
          <p:cNvPr id="21" name="TextBox 20"/>
          <p:cNvSpPr txBox="1"/>
          <p:nvPr/>
        </p:nvSpPr>
        <p:spPr>
          <a:xfrm>
            <a:off x="4246778" y="2962656"/>
            <a:ext cx="1371600" cy="1097280"/>
          </a:xfrm>
          <a:prstGeom prst="rect">
            <a:avLst/>
          </a:prstGeom>
          <a:noFill/>
        </p:spPr>
        <p:txBody>
          <a:bodyPr wrap="square" lIns="0" rIns="0" tIns="0" bIns="0">
            <a:spAutoFit/>
          </a:bodyPr>
          <a:lstStyle/>
          <a:p>
            <a:pPr>
              <a:lnSpc>
                <a:spcPct val="100000"/>
              </a:lnSpc>
            </a:pPr>
            <a:r>
              <a:rPr sz="4200" b="0" i="0">
                <a:solidFill>
                  <a:srgbClr val="FFFFFF"/>
                </a:solidFill>
                <a:latin typeface="Instrument Serif"/>
              </a:rPr>
              <a:t>Feb 24</a:t>
            </a:r>
          </a:p>
        </p:txBody>
      </p:sp>
      <p:sp>
        <p:nvSpPr>
          <p:cNvPr id="22" name="TextBox 21"/>
          <p:cNvSpPr txBox="1"/>
          <p:nvPr/>
        </p:nvSpPr>
        <p:spPr>
          <a:xfrm>
            <a:off x="4246778" y="4105656"/>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CNBC · 2024</a:t>
            </a:r>
          </a:p>
        </p:txBody>
      </p:sp>
      <p:sp>
        <p:nvSpPr>
          <p:cNvPr id="23" name="TextBox 22"/>
          <p:cNvSpPr txBox="1"/>
          <p:nvPr/>
        </p:nvSpPr>
        <p:spPr>
          <a:xfrm>
            <a:off x="5664098" y="3099816"/>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Amazon lanzó Rufus AI shopping assistant con expansión LATAM 2024-2025.</a:t>
            </a:r>
          </a:p>
        </p:txBody>
      </p:sp>
      <p:sp>
        <p:nvSpPr>
          <p:cNvPr id="24" name="TextBox 23"/>
          <p:cNvSpPr txBox="1"/>
          <p:nvPr/>
        </p:nvSpPr>
        <p:spPr>
          <a:xfrm>
            <a:off x="4246778" y="4773168"/>
            <a:ext cx="1371600" cy="1097280"/>
          </a:xfrm>
          <a:prstGeom prst="rect">
            <a:avLst/>
          </a:prstGeom>
          <a:noFill/>
        </p:spPr>
        <p:txBody>
          <a:bodyPr wrap="square" lIns="0" rIns="0" tIns="0" bIns="0">
            <a:spAutoFit/>
          </a:bodyPr>
          <a:lstStyle/>
          <a:p>
            <a:pPr>
              <a:lnSpc>
                <a:spcPct val="100000"/>
              </a:lnSpc>
            </a:pPr>
            <a:r>
              <a:rPr sz="4200" b="0" i="0">
                <a:solidFill>
                  <a:srgbClr val="FFFFFF"/>
                </a:solidFill>
                <a:latin typeface="Instrument Serif"/>
              </a:rPr>
              <a:t>Ene 25</a:t>
            </a:r>
          </a:p>
        </p:txBody>
      </p:sp>
      <p:sp>
        <p:nvSpPr>
          <p:cNvPr id="25" name="TextBox 24"/>
          <p:cNvSpPr txBox="1"/>
          <p:nvPr/>
        </p:nvSpPr>
        <p:spPr>
          <a:xfrm>
            <a:off x="4246778" y="5916168"/>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MIT TECH REVIEW · 2025</a:t>
            </a:r>
          </a:p>
        </p:txBody>
      </p:sp>
      <p:sp>
        <p:nvSpPr>
          <p:cNvPr id="26" name="TextBox 25"/>
          <p:cNvSpPr txBox="1"/>
          <p:nvPr/>
        </p:nvSpPr>
        <p:spPr>
          <a:xfrm>
            <a:off x="5664098" y="4910328"/>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OpenAI lanzó Operator — agente que opera browser y compra por ti.</a:t>
            </a:r>
          </a:p>
        </p:txBody>
      </p:sp>
      <p:pic>
        <p:nvPicPr>
          <p:cNvPr id="27" name="Picture 26" descr="macro-2-5-cnbc-amazon-rufus.png"/>
          <p:cNvPicPr>
            <a:picLocks noChangeAspect="1"/>
          </p:cNvPicPr>
          <p:nvPr/>
        </p:nvPicPr>
        <p:blipFill>
          <a:blip r:embed="rId2"/>
          <a:stretch>
            <a:fillRect/>
          </a:stretch>
        </p:blipFill>
        <p:spPr>
          <a:xfrm>
            <a:off x="8127796" y="1152144"/>
            <a:ext cx="1397000" cy="1905000"/>
          </a:xfrm>
          <a:prstGeom prst="rect">
            <a:avLst/>
          </a:prstGeom>
        </p:spPr>
      </p:pic>
      <p:sp>
        <p:nvSpPr>
          <p:cNvPr id="28" name="Rounded Rectangle 27"/>
          <p:cNvSpPr/>
          <p:nvPr/>
        </p:nvSpPr>
        <p:spPr>
          <a:xfrm>
            <a:off x="9042196" y="1075944"/>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29" name="Rectangle 28">
            <a:hlinkClick r:id="rId3"/>
          </p:cNvPr>
          <p:cNvSpPr/>
          <p:nvPr/>
        </p:nvSpPr>
        <p:spPr>
          <a:xfrm>
            <a:off x="8127796" y="1152144"/>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97948" y="1289304"/>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Amazon Rufus (Feb 2024) — AI shopping assistant haciendo las compras del hogar.</a:t>
            </a:r>
          </a:p>
        </p:txBody>
      </p:sp>
      <p:sp>
        <p:nvSpPr>
          <p:cNvPr id="31" name="TextBox 30"/>
          <p:cNvSpPr txBox="1"/>
          <p:nvPr/>
        </p:nvSpPr>
        <p:spPr>
          <a:xfrm>
            <a:off x="9597948" y="1752092"/>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CNBC · 2024</a:t>
            </a:r>
          </a:p>
        </p:txBody>
      </p:sp>
      <p:pic>
        <p:nvPicPr>
          <p:cNvPr id="32" name="Picture 31" descr="macro-2-5-mit-operator-demo.png"/>
          <p:cNvPicPr>
            <a:picLocks noChangeAspect="1"/>
          </p:cNvPicPr>
          <p:nvPr/>
        </p:nvPicPr>
        <p:blipFill>
          <a:blip r:embed="rId4"/>
          <a:stretch>
            <a:fillRect/>
          </a:stretch>
        </p:blipFill>
        <p:spPr>
          <a:xfrm>
            <a:off x="8127796" y="2962656"/>
            <a:ext cx="1397000" cy="1905000"/>
          </a:xfrm>
          <a:prstGeom prst="rect">
            <a:avLst/>
          </a:prstGeom>
        </p:spPr>
      </p:pic>
      <p:sp>
        <p:nvSpPr>
          <p:cNvPr id="33" name="Rounded Rectangle 32"/>
          <p:cNvSpPr/>
          <p:nvPr/>
        </p:nvSpPr>
        <p:spPr>
          <a:xfrm>
            <a:off x="9042196" y="2886456"/>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34" name="Rectangle 33">
            <a:hlinkClick r:id="rId5"/>
          </p:cNvPr>
          <p:cNvSpPr/>
          <p:nvPr/>
        </p:nvSpPr>
        <p:spPr>
          <a:xfrm>
            <a:off x="8127796" y="2962656"/>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597948" y="3099816"/>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OpenAI Operator (Ene 2025) — agente que opera browser y compra por ti.</a:t>
            </a:r>
          </a:p>
        </p:txBody>
      </p:sp>
      <p:sp>
        <p:nvSpPr>
          <p:cNvPr id="36" name="TextBox 35"/>
          <p:cNvSpPr txBox="1"/>
          <p:nvPr/>
        </p:nvSpPr>
        <p:spPr>
          <a:xfrm>
            <a:off x="9597948" y="3562604"/>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MIT TECH REVIEW · 2025</a:t>
            </a:r>
          </a:p>
        </p:txBody>
      </p:sp>
      <p:pic>
        <p:nvPicPr>
          <p:cNvPr id="37" name="Picture 36" descr="macro-2-5-tc-openai-operator.png"/>
          <p:cNvPicPr>
            <a:picLocks noChangeAspect="1"/>
          </p:cNvPicPr>
          <p:nvPr/>
        </p:nvPicPr>
        <p:blipFill>
          <a:blip r:embed="rId6"/>
          <a:stretch>
            <a:fillRect/>
          </a:stretch>
        </p:blipFill>
        <p:spPr>
          <a:xfrm>
            <a:off x="8127796" y="4773168"/>
            <a:ext cx="1397000" cy="1905000"/>
          </a:xfrm>
          <a:prstGeom prst="rect">
            <a:avLst/>
          </a:prstGeom>
        </p:spPr>
      </p:pic>
      <p:sp>
        <p:nvSpPr>
          <p:cNvPr id="38" name="Rounded Rectangle 37"/>
          <p:cNvSpPr/>
          <p:nvPr/>
        </p:nvSpPr>
        <p:spPr>
          <a:xfrm>
            <a:off x="9042196" y="4696968"/>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39" name="Rectangle 38">
            <a:hlinkClick r:id="rId7"/>
          </p:cNvPr>
          <p:cNvSpPr/>
          <p:nvPr/>
        </p:nvSpPr>
        <p:spPr>
          <a:xfrm>
            <a:off x="8127796" y="4773168"/>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597948" y="4910328"/>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TechCrunch confirma Operator como agente autónomo de tareas.</a:t>
            </a:r>
          </a:p>
        </p:txBody>
      </p:sp>
      <p:sp>
        <p:nvSpPr>
          <p:cNvPr id="41" name="TextBox 40"/>
          <p:cNvSpPr txBox="1"/>
          <p:nvPr/>
        </p:nvSpPr>
        <p:spPr>
          <a:xfrm>
            <a:off x="9597948" y="5373116"/>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TECHCRUNCH · 2025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67047" y="1783080"/>
            <a:ext cx="3657600" cy="365760"/>
          </a:xfrm>
          <a:prstGeom prst="rect">
            <a:avLst/>
          </a:prstGeom>
          <a:noFill/>
        </p:spPr>
        <p:txBody>
          <a:bodyPr wrap="square" lIns="0" rIns="0" tIns="0" bIns="0" anchor="t">
            <a:spAutoFit/>
          </a:bodyPr>
          <a:lstStyle/>
          <a:p>
            <a:pPr algn="ctr">
              <a:lnSpc>
                <a:spcPct val="100000"/>
              </a:lnSpc>
            </a:pPr>
            <a:r>
              <a:rPr sz="1400" b="1" i="0">
                <a:solidFill>
                  <a:srgbClr val="A0A0A0"/>
                </a:solidFill>
                <a:latin typeface="Poppins"/>
              </a:rPr>
              <a:t>MACRO 3</a:t>
            </a:r>
          </a:p>
        </p:txBody>
      </p:sp>
      <p:sp>
        <p:nvSpPr>
          <p:cNvPr id="4" name="TextBox 3"/>
          <p:cNvSpPr txBox="1"/>
          <p:nvPr/>
        </p:nvSpPr>
        <p:spPr>
          <a:xfrm>
            <a:off x="380847" y="2453640"/>
            <a:ext cx="11430000" cy="2286000"/>
          </a:xfrm>
          <a:prstGeom prst="rect">
            <a:avLst/>
          </a:prstGeom>
          <a:noFill/>
        </p:spPr>
        <p:txBody>
          <a:bodyPr wrap="square" lIns="0" rIns="0" tIns="0" bIns="0" anchor="t">
            <a:spAutoFit/>
          </a:bodyPr>
          <a:lstStyle/>
          <a:p>
            <a:pPr algn="ctr">
              <a:lnSpc>
                <a:spcPct val="95000"/>
              </a:lnSpc>
            </a:pPr>
            <a:r>
              <a:rPr sz="10000" b="0" i="0">
                <a:solidFill>
                  <a:srgbClr val="FFFFFF"/>
                </a:solidFill>
                <a:latin typeface="Instrument Serif"/>
              </a:rPr>
              <a:t>ALGORITMO DEL HOGAR</a:t>
            </a:r>
          </a:p>
        </p:txBody>
      </p:sp>
      <p:sp>
        <p:nvSpPr>
          <p:cNvPr id="5" name="TextBox 4"/>
          <p:cNvSpPr txBox="1"/>
          <p:nvPr/>
        </p:nvSpPr>
        <p:spPr>
          <a:xfrm>
            <a:off x="1066647" y="4942840"/>
            <a:ext cx="10058400" cy="548640"/>
          </a:xfrm>
          <a:prstGeom prst="rect">
            <a:avLst/>
          </a:prstGeom>
          <a:noFill/>
        </p:spPr>
        <p:txBody>
          <a:bodyPr wrap="square" lIns="0" rIns="0" tIns="0" bIns="0" anchor="t">
            <a:spAutoFit/>
          </a:bodyPr>
          <a:lstStyle/>
          <a:p>
            <a:pPr algn="ctr">
              <a:lnSpc>
                <a:spcPct val="100000"/>
              </a:lnSpc>
            </a:pPr>
            <a:r>
              <a:rPr sz="2400" b="0" i="1">
                <a:solidFill>
                  <a:srgbClr val="A0A0A0"/>
                </a:solidFill>
                <a:latin typeface="Instrument Serif"/>
              </a:rPr>
              <a:t>“El feed se sentó en la mesa y nadie le ofreció silla.”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20040"/>
            <a:ext cx="777240" cy="201168"/>
          </a:xfrm>
          <a:prstGeom prst="rect">
            <a:avLst/>
          </a:prstGeom>
          <a:solidFill>
            <a:srgbClr val="E8E8E8"/>
          </a:solidFill>
          <a:ln w="3175">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800" b="1" i="0">
                <a:solidFill>
                  <a:srgbClr val="000000"/>
                </a:solidFill>
                <a:latin typeface="Poppins"/>
              </a:rPr>
              <a:t>MACRO 3</a:t>
            </a:r>
          </a:p>
        </p:txBody>
      </p:sp>
      <p:sp>
        <p:nvSpPr>
          <p:cNvPr id="4" name="Rectangle 3"/>
          <p:cNvSpPr/>
          <p:nvPr/>
        </p:nvSpPr>
        <p:spPr>
          <a:xfrm>
            <a:off x="1143000" y="320040"/>
            <a:ext cx="2011680" cy="201168"/>
          </a:xfrm>
          <a:prstGeom prst="rect">
            <a:avLst/>
          </a:prstGeom>
          <a:noFill/>
          <a:ln w="3175">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800" b="0" i="0">
                <a:solidFill>
                  <a:srgbClr val="A0A0A0"/>
                </a:solidFill>
                <a:latin typeface="Poppins"/>
              </a:rPr>
              <a:t>ALGORITMO DEL HOGAR</a:t>
            </a:r>
          </a:p>
        </p:txBody>
      </p:sp>
      <p:sp>
        <p:nvSpPr>
          <p:cNvPr id="5" name="TextBox 4"/>
          <p:cNvSpPr txBox="1"/>
          <p:nvPr/>
        </p:nvSpPr>
        <p:spPr>
          <a:xfrm>
            <a:off x="365760"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DEFINICIÓN</a:t>
            </a:r>
          </a:p>
        </p:txBody>
      </p:sp>
      <p:sp>
        <p:nvSpPr>
          <p:cNvPr id="6" name="TextBox 5"/>
          <p:cNvSpPr txBox="1"/>
          <p:nvPr/>
        </p:nvSpPr>
        <p:spPr>
          <a:xfrm>
            <a:off x="4246778"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TRIGGERS</a:t>
            </a:r>
          </a:p>
        </p:txBody>
      </p:sp>
      <p:sp>
        <p:nvSpPr>
          <p:cNvPr id="7" name="TextBox 6"/>
          <p:cNvSpPr txBox="1"/>
          <p:nvPr/>
        </p:nvSpPr>
        <p:spPr>
          <a:xfrm>
            <a:off x="8127796"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SEÑALES</a:t>
            </a:r>
          </a:p>
        </p:txBody>
      </p:sp>
      <p:cxnSp>
        <p:nvCxnSpPr>
          <p:cNvPr id="8" name="Connector 7"/>
          <p:cNvCxnSpPr/>
          <p:nvPr/>
        </p:nvCxnSpPr>
        <p:spPr>
          <a:xfrm>
            <a:off x="365760" y="1014984"/>
            <a:ext cx="11460175" cy="0"/>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155338" y="1152144"/>
            <a:ext cx="0" cy="5431536"/>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036356" y="1152144"/>
            <a:ext cx="0" cy="5431536"/>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65760" y="1152144"/>
            <a:ext cx="3606698" cy="2011680"/>
          </a:xfrm>
          <a:prstGeom prst="rect">
            <a:avLst/>
          </a:prstGeom>
          <a:noFill/>
        </p:spPr>
        <p:txBody>
          <a:bodyPr wrap="square" lIns="0" rIns="0" tIns="0" bIns="0">
            <a:spAutoFit/>
          </a:bodyPr>
          <a:lstStyle/>
          <a:p>
            <a:pPr>
              <a:lnSpc>
                <a:spcPct val="95000"/>
              </a:lnSpc>
            </a:pPr>
            <a:r>
              <a:rPr sz="1900" b="0" i="0">
                <a:solidFill>
                  <a:srgbClr val="FFFFFF"/>
                </a:solidFill>
                <a:latin typeface="Instrument Serif"/>
              </a:rPr>
              <a:t>LA TRADWIFE RUBIA DE UTAH SE TROPICALIZÓ EN VERSIÓN EVANGÉLICA HISPANA — LA "ESPOSA VIRTUOSA" DE PROVERBIOS 31 REEMPLAZÓ A LA GIRLBOSS EN EL FEED CRISTIANO.</a:t>
            </a:r>
          </a:p>
        </p:txBody>
      </p:sp>
      <p:sp>
        <p:nvSpPr>
          <p:cNvPr id="12" name="TextBox 11"/>
          <p:cNvSpPr txBox="1"/>
          <p:nvPr/>
        </p:nvSpPr>
        <p:spPr>
          <a:xfrm>
            <a:off x="365760" y="325526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EL FENÓMENO</a:t>
            </a:r>
          </a:p>
        </p:txBody>
      </p:sp>
      <p:sp>
        <p:nvSpPr>
          <p:cNvPr id="13" name="TextBox 12"/>
          <p:cNvSpPr txBox="1"/>
          <p:nvPr/>
        </p:nvSpPr>
        <p:spPr>
          <a:xfrm>
            <a:off x="365760" y="3438144"/>
            <a:ext cx="3606698" cy="1371600"/>
          </a:xfrm>
          <a:prstGeom prst="rect">
            <a:avLst/>
          </a:prstGeom>
          <a:noFill/>
        </p:spPr>
        <p:txBody>
          <a:bodyPr wrap="square" lIns="0" rIns="0" tIns="0" bIns="0">
            <a:spAutoFit/>
          </a:bodyPr>
          <a:lstStyle/>
          <a:p>
            <a:pPr>
              <a:lnSpc>
                <a:spcPct val="100000"/>
              </a:lnSpc>
            </a:pPr>
            <a:r>
              <a:rPr sz="1000" b="0" i="0">
                <a:solidFill>
                  <a:srgbClr val="FFFFFF"/>
                </a:solidFill>
                <a:latin typeface="Poppins"/>
              </a:rPr>
              <a:t>La tradwife dejó de ser nicho rural americano. #tradwife supera 4B views y #proverbs31wife cruza 500M. La versión hispana evangélica le agregó base bíblica: la esposa virtuosa como aspiracional, con tipografía editorial y voice over de versículos. Hannah Neeleman (@ballerinafarm), 18M followers, 9 hijos en Utah, se volvió "queen of the trad wives" según Rolling Stone. NYT y The Atlantic documentan crecimiento sostenido del movimiento post-2023.</a:t>
            </a:r>
          </a:p>
        </p:txBody>
      </p:sp>
      <p:sp>
        <p:nvSpPr>
          <p:cNvPr id="14" name="TextBox 13"/>
          <p:cNvSpPr txBox="1"/>
          <p:nvPr/>
        </p:nvSpPr>
        <p:spPr>
          <a:xfrm>
            <a:off x="365760" y="485546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HASHTAGS</a:t>
            </a:r>
          </a:p>
        </p:txBody>
      </p:sp>
      <p:sp>
        <p:nvSpPr>
          <p:cNvPr id="15" name="TextBox 14"/>
          <p:cNvSpPr txBox="1"/>
          <p:nvPr/>
        </p:nvSpPr>
        <p:spPr>
          <a:xfrm>
            <a:off x="365760" y="5038344"/>
            <a:ext cx="3606698" cy="640080"/>
          </a:xfrm>
          <a:prstGeom prst="rect">
            <a:avLst/>
          </a:prstGeom>
          <a:noFill/>
        </p:spPr>
        <p:txBody>
          <a:bodyPr wrap="square" lIns="0" rIns="0" tIns="0" bIns="0">
            <a:spAutoFit/>
          </a:bodyPr>
          <a:lstStyle/>
          <a:p>
            <a:pPr>
              <a:lnSpc>
                <a:spcPct val="110000"/>
              </a:lnSpc>
            </a:pPr>
            <a:r>
              <a:rPr sz="2300" b="0" i="0">
                <a:solidFill>
                  <a:srgbClr val="FFFFFF"/>
                </a:solidFill>
                <a:latin typeface="Instrument Serif"/>
              </a:rPr>
              <a:t>#tradwife  #proverbs31wife  #esposavirtuosa  #christianwife</a:t>
            </a:r>
          </a:p>
        </p:txBody>
      </p:sp>
      <p:sp>
        <p:nvSpPr>
          <p:cNvPr id="16" name="TextBox 15"/>
          <p:cNvSpPr txBox="1"/>
          <p:nvPr/>
        </p:nvSpPr>
        <p:spPr>
          <a:xfrm>
            <a:off x="365760" y="572414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3 NEEDS</a:t>
            </a:r>
          </a:p>
        </p:txBody>
      </p:sp>
      <p:sp>
        <p:nvSpPr>
          <p:cNvPr id="17" name="TextBox 16"/>
          <p:cNvSpPr txBox="1"/>
          <p:nvPr/>
        </p:nvSpPr>
        <p:spPr>
          <a:xfrm>
            <a:off x="365760" y="5907024"/>
            <a:ext cx="3606698" cy="457200"/>
          </a:xfrm>
          <a:prstGeom prst="rect">
            <a:avLst/>
          </a:prstGeom>
          <a:noFill/>
        </p:spPr>
        <p:txBody>
          <a:bodyPr wrap="square" lIns="0" rIns="0" tIns="0" bIns="0">
            <a:spAutoFit/>
          </a:bodyPr>
          <a:lstStyle/>
          <a:p>
            <a:pPr>
              <a:lnSpc>
                <a:spcPct val="105000"/>
              </a:lnSpc>
            </a:pPr>
            <a:r>
              <a:rPr sz="1400" b="0" i="0">
                <a:solidFill>
                  <a:srgbClr val="FFFFFF"/>
                </a:solidFill>
                <a:latin typeface="Instrument Serif"/>
              </a:rPr>
              <a:t>PERTENENCIA ESPIRITUAL · RENDICIÓN · BELLEZA</a:t>
            </a:r>
          </a:p>
        </p:txBody>
      </p:sp>
      <p:sp>
        <p:nvSpPr>
          <p:cNvPr id="18" name="TextBox 17"/>
          <p:cNvSpPr txBox="1"/>
          <p:nvPr/>
        </p:nvSpPr>
        <p:spPr>
          <a:xfrm>
            <a:off x="4246778" y="1152144"/>
            <a:ext cx="1371600" cy="1097280"/>
          </a:xfrm>
          <a:prstGeom prst="rect">
            <a:avLst/>
          </a:prstGeom>
          <a:noFill/>
        </p:spPr>
        <p:txBody>
          <a:bodyPr wrap="square" lIns="0" rIns="0" tIns="0" bIns="0">
            <a:spAutoFit/>
          </a:bodyPr>
          <a:lstStyle/>
          <a:p>
            <a:pPr>
              <a:lnSpc>
                <a:spcPct val="100000"/>
              </a:lnSpc>
            </a:pPr>
            <a:r>
              <a:rPr sz="7200" b="0" i="0">
                <a:solidFill>
                  <a:srgbClr val="FFFFFF"/>
                </a:solidFill>
                <a:latin typeface="Instrument Serif"/>
              </a:rPr>
              <a:t>4B</a:t>
            </a:r>
          </a:p>
        </p:txBody>
      </p:sp>
      <p:sp>
        <p:nvSpPr>
          <p:cNvPr id="19" name="TextBox 18"/>
          <p:cNvSpPr txBox="1"/>
          <p:nvPr/>
        </p:nvSpPr>
        <p:spPr>
          <a:xfrm>
            <a:off x="4246778" y="2295144"/>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TIKTOK CREATIVE CENTER · 2025</a:t>
            </a:r>
          </a:p>
        </p:txBody>
      </p:sp>
      <p:sp>
        <p:nvSpPr>
          <p:cNvPr id="20" name="TextBox 19"/>
          <p:cNvSpPr txBox="1"/>
          <p:nvPr/>
        </p:nvSpPr>
        <p:spPr>
          <a:xfrm>
            <a:off x="5664098" y="1289304"/>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Views #tradwife en TikTok con peak sostenido 2024-2025.</a:t>
            </a:r>
          </a:p>
        </p:txBody>
      </p:sp>
      <p:sp>
        <p:nvSpPr>
          <p:cNvPr id="21" name="TextBox 20"/>
          <p:cNvSpPr txBox="1"/>
          <p:nvPr/>
        </p:nvSpPr>
        <p:spPr>
          <a:xfrm>
            <a:off x="4246778" y="2962656"/>
            <a:ext cx="1371600" cy="1097280"/>
          </a:xfrm>
          <a:prstGeom prst="rect">
            <a:avLst/>
          </a:prstGeom>
          <a:noFill/>
        </p:spPr>
        <p:txBody>
          <a:bodyPr wrap="square" lIns="0" rIns="0" tIns="0" bIns="0">
            <a:spAutoFit/>
          </a:bodyPr>
          <a:lstStyle/>
          <a:p>
            <a:pPr>
              <a:lnSpc>
                <a:spcPct val="100000"/>
              </a:lnSpc>
            </a:pPr>
            <a:r>
              <a:rPr sz="7200" b="0" i="0">
                <a:solidFill>
                  <a:srgbClr val="FFFFFF"/>
                </a:solidFill>
                <a:latin typeface="Instrument Serif"/>
              </a:rPr>
              <a:t>18M</a:t>
            </a:r>
          </a:p>
        </p:txBody>
      </p:sp>
      <p:sp>
        <p:nvSpPr>
          <p:cNvPr id="22" name="TextBox 21"/>
          <p:cNvSpPr txBox="1"/>
          <p:nvPr/>
        </p:nvSpPr>
        <p:spPr>
          <a:xfrm>
            <a:off x="4246778" y="4105656"/>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ROLLING STONE · 2024</a:t>
            </a:r>
          </a:p>
        </p:txBody>
      </p:sp>
      <p:sp>
        <p:nvSpPr>
          <p:cNvPr id="23" name="TextBox 22"/>
          <p:cNvSpPr txBox="1"/>
          <p:nvPr/>
        </p:nvSpPr>
        <p:spPr>
          <a:xfrm>
            <a:off x="5664098" y="3099816"/>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Followers de Hannah Neeleman (@ballerinafarm) — queen of the trad wives.</a:t>
            </a:r>
          </a:p>
        </p:txBody>
      </p:sp>
      <p:sp>
        <p:nvSpPr>
          <p:cNvPr id="24" name="TextBox 23"/>
          <p:cNvSpPr txBox="1"/>
          <p:nvPr/>
        </p:nvSpPr>
        <p:spPr>
          <a:xfrm>
            <a:off x="4246778" y="4773168"/>
            <a:ext cx="1371600" cy="1097280"/>
          </a:xfrm>
          <a:prstGeom prst="rect">
            <a:avLst/>
          </a:prstGeom>
          <a:noFill/>
        </p:spPr>
        <p:txBody>
          <a:bodyPr wrap="square" lIns="0" rIns="0" tIns="0" bIns="0">
            <a:spAutoFit/>
          </a:bodyPr>
          <a:lstStyle/>
          <a:p>
            <a:pPr>
              <a:lnSpc>
                <a:spcPct val="100000"/>
              </a:lnSpc>
            </a:pPr>
            <a:r>
              <a:rPr sz="5400" b="0" i="0">
                <a:solidFill>
                  <a:srgbClr val="FFFFFF"/>
                </a:solidFill>
                <a:latin typeface="Instrument Serif"/>
              </a:rPr>
              <a:t>500M</a:t>
            </a:r>
          </a:p>
        </p:txBody>
      </p:sp>
      <p:sp>
        <p:nvSpPr>
          <p:cNvPr id="25" name="TextBox 24"/>
          <p:cNvSpPr txBox="1"/>
          <p:nvPr/>
        </p:nvSpPr>
        <p:spPr>
          <a:xfrm>
            <a:off x="4246778" y="5916168"/>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TIKTOK CREATIVE CENTER · 2025</a:t>
            </a:r>
          </a:p>
        </p:txBody>
      </p:sp>
      <p:sp>
        <p:nvSpPr>
          <p:cNvPr id="26" name="TextBox 25"/>
          <p:cNvSpPr txBox="1"/>
          <p:nvPr/>
        </p:nvSpPr>
        <p:spPr>
          <a:xfrm>
            <a:off x="5664098" y="4910328"/>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Views #proverbs31wife con vertiente cristiana evangélica liderando.</a:t>
            </a:r>
          </a:p>
        </p:txBody>
      </p:sp>
      <p:pic>
        <p:nvPicPr>
          <p:cNvPr id="27" name="Picture 26" descr="macro-3-1-rollingstone-ballerinafarm.png"/>
          <p:cNvPicPr>
            <a:picLocks noChangeAspect="1"/>
          </p:cNvPicPr>
          <p:nvPr/>
        </p:nvPicPr>
        <p:blipFill>
          <a:blip r:embed="rId2"/>
          <a:stretch>
            <a:fillRect/>
          </a:stretch>
        </p:blipFill>
        <p:spPr>
          <a:xfrm>
            <a:off x="8127796" y="1152144"/>
            <a:ext cx="1397000" cy="1905000"/>
          </a:xfrm>
          <a:prstGeom prst="rect">
            <a:avLst/>
          </a:prstGeom>
        </p:spPr>
      </p:pic>
      <p:sp>
        <p:nvSpPr>
          <p:cNvPr id="28" name="Rounded Rectangle 27"/>
          <p:cNvSpPr/>
          <p:nvPr/>
        </p:nvSpPr>
        <p:spPr>
          <a:xfrm>
            <a:off x="9042196" y="1075944"/>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29" name="Rectangle 28">
            <a:hlinkClick r:id="rId3"/>
          </p:cNvPr>
          <p:cNvSpPr/>
          <p:nvPr/>
        </p:nvSpPr>
        <p:spPr>
          <a:xfrm>
            <a:off x="8127796" y="1152144"/>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97948" y="1289304"/>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Hannah Neeleman (@ballerinafarm) — 18M followers, queen of the trad wives, 9 hijos.</a:t>
            </a:r>
          </a:p>
        </p:txBody>
      </p:sp>
      <p:sp>
        <p:nvSpPr>
          <p:cNvPr id="31" name="TextBox 30"/>
          <p:cNvSpPr txBox="1"/>
          <p:nvPr/>
        </p:nvSpPr>
        <p:spPr>
          <a:xfrm>
            <a:off x="9597948" y="1752092"/>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ROLLING STONE · 2024</a:t>
            </a:r>
          </a:p>
        </p:txBody>
      </p:sp>
      <p:pic>
        <p:nvPicPr>
          <p:cNvPr id="32" name="Picture 31" descr="macro-3-1-deseret-ballerinafarm.png"/>
          <p:cNvPicPr>
            <a:picLocks noChangeAspect="1"/>
          </p:cNvPicPr>
          <p:nvPr/>
        </p:nvPicPr>
        <p:blipFill>
          <a:blip r:embed="rId4"/>
          <a:stretch>
            <a:fillRect/>
          </a:stretch>
        </p:blipFill>
        <p:spPr>
          <a:xfrm>
            <a:off x="8127796" y="2962656"/>
            <a:ext cx="1397000" cy="1905000"/>
          </a:xfrm>
          <a:prstGeom prst="rect">
            <a:avLst/>
          </a:prstGeom>
        </p:spPr>
      </p:pic>
      <p:sp>
        <p:nvSpPr>
          <p:cNvPr id="33" name="Rounded Rectangle 32"/>
          <p:cNvSpPr/>
          <p:nvPr/>
        </p:nvSpPr>
        <p:spPr>
          <a:xfrm>
            <a:off x="9042196" y="2886456"/>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34" name="Rectangle 33">
            <a:hlinkClick r:id="rId5"/>
          </p:cNvPr>
          <p:cNvSpPr/>
          <p:nvPr/>
        </p:nvSpPr>
        <p:spPr>
          <a:xfrm>
            <a:off x="8127796" y="2962656"/>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597948" y="3099816"/>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La controversia editorial que cementó la categoría tradwife.</a:t>
            </a:r>
          </a:p>
        </p:txBody>
      </p:sp>
      <p:sp>
        <p:nvSpPr>
          <p:cNvPr id="36" name="TextBox 35"/>
          <p:cNvSpPr txBox="1"/>
          <p:nvPr/>
        </p:nvSpPr>
        <p:spPr>
          <a:xfrm>
            <a:off x="9597948" y="3562604"/>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DESERET NEWS · 2024</a:t>
            </a:r>
          </a:p>
        </p:txBody>
      </p:sp>
      <p:pic>
        <p:nvPicPr>
          <p:cNvPr id="37" name="Picture 36" descr="macro-3-0-tiktok-whats-next.png"/>
          <p:cNvPicPr>
            <a:picLocks noChangeAspect="1"/>
          </p:cNvPicPr>
          <p:nvPr/>
        </p:nvPicPr>
        <p:blipFill>
          <a:blip r:embed="rId6"/>
          <a:stretch>
            <a:fillRect/>
          </a:stretch>
        </p:blipFill>
        <p:spPr>
          <a:xfrm>
            <a:off x="8127796" y="4773168"/>
            <a:ext cx="1397000" cy="1905000"/>
          </a:xfrm>
          <a:prstGeom prst="rect">
            <a:avLst/>
          </a:prstGeom>
        </p:spPr>
      </p:pic>
      <p:sp>
        <p:nvSpPr>
          <p:cNvPr id="38" name="Rounded Rectangle 37"/>
          <p:cNvSpPr/>
          <p:nvPr/>
        </p:nvSpPr>
        <p:spPr>
          <a:xfrm>
            <a:off x="9042196" y="4696968"/>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39" name="Rectangle 38">
            <a:hlinkClick r:id="rId7"/>
          </p:cNvPr>
          <p:cNvSpPr/>
          <p:nvPr/>
        </p:nvSpPr>
        <p:spPr>
          <a:xfrm>
            <a:off x="8127796" y="4773168"/>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597948" y="4910328"/>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TikTok como infraestructura cultural 2024 donde la tradwife escaló.</a:t>
            </a:r>
          </a:p>
        </p:txBody>
      </p:sp>
      <p:sp>
        <p:nvSpPr>
          <p:cNvPr id="41" name="TextBox 40"/>
          <p:cNvSpPr txBox="1"/>
          <p:nvPr/>
        </p:nvSpPr>
        <p:spPr>
          <a:xfrm>
            <a:off x="9597948" y="5373116"/>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TIKTOK NEWSROOM · 2024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20040"/>
            <a:ext cx="777240" cy="201168"/>
          </a:xfrm>
          <a:prstGeom prst="rect">
            <a:avLst/>
          </a:prstGeom>
          <a:solidFill>
            <a:srgbClr val="E8E8E8"/>
          </a:solidFill>
          <a:ln w="3175">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800" b="1" i="0">
                <a:solidFill>
                  <a:srgbClr val="000000"/>
                </a:solidFill>
                <a:latin typeface="Poppins"/>
              </a:rPr>
              <a:t>MACRO 3</a:t>
            </a:r>
          </a:p>
        </p:txBody>
      </p:sp>
      <p:sp>
        <p:nvSpPr>
          <p:cNvPr id="4" name="Rectangle 3"/>
          <p:cNvSpPr/>
          <p:nvPr/>
        </p:nvSpPr>
        <p:spPr>
          <a:xfrm>
            <a:off x="1143000" y="320040"/>
            <a:ext cx="2011680" cy="201168"/>
          </a:xfrm>
          <a:prstGeom prst="rect">
            <a:avLst/>
          </a:prstGeom>
          <a:noFill/>
          <a:ln w="3175">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800" b="0" i="0">
                <a:solidFill>
                  <a:srgbClr val="A0A0A0"/>
                </a:solidFill>
                <a:latin typeface="Poppins"/>
              </a:rPr>
              <a:t>ALGORITMO DEL HOGAR</a:t>
            </a:r>
          </a:p>
        </p:txBody>
      </p:sp>
      <p:sp>
        <p:nvSpPr>
          <p:cNvPr id="5" name="TextBox 4"/>
          <p:cNvSpPr txBox="1"/>
          <p:nvPr/>
        </p:nvSpPr>
        <p:spPr>
          <a:xfrm>
            <a:off x="365760"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DEFINICIÓN</a:t>
            </a:r>
          </a:p>
        </p:txBody>
      </p:sp>
      <p:sp>
        <p:nvSpPr>
          <p:cNvPr id="6" name="TextBox 5"/>
          <p:cNvSpPr txBox="1"/>
          <p:nvPr/>
        </p:nvSpPr>
        <p:spPr>
          <a:xfrm>
            <a:off x="4246778"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TRIGGERS</a:t>
            </a:r>
          </a:p>
        </p:txBody>
      </p:sp>
      <p:sp>
        <p:nvSpPr>
          <p:cNvPr id="7" name="TextBox 6"/>
          <p:cNvSpPr txBox="1"/>
          <p:nvPr/>
        </p:nvSpPr>
        <p:spPr>
          <a:xfrm>
            <a:off x="8127796"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SEÑALES</a:t>
            </a:r>
          </a:p>
        </p:txBody>
      </p:sp>
      <p:cxnSp>
        <p:nvCxnSpPr>
          <p:cNvPr id="8" name="Connector 7"/>
          <p:cNvCxnSpPr/>
          <p:nvPr/>
        </p:nvCxnSpPr>
        <p:spPr>
          <a:xfrm>
            <a:off x="365760" y="1014984"/>
            <a:ext cx="11460175" cy="0"/>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155338" y="1152144"/>
            <a:ext cx="0" cy="5431536"/>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036356" y="1152144"/>
            <a:ext cx="0" cy="5431536"/>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65760" y="1152144"/>
            <a:ext cx="3606698" cy="2011680"/>
          </a:xfrm>
          <a:prstGeom prst="rect">
            <a:avLst/>
          </a:prstGeom>
          <a:noFill/>
        </p:spPr>
        <p:txBody>
          <a:bodyPr wrap="square" lIns="0" rIns="0" tIns="0" bIns="0">
            <a:spAutoFit/>
          </a:bodyPr>
          <a:lstStyle/>
          <a:p>
            <a:pPr>
              <a:lnSpc>
                <a:spcPct val="95000"/>
              </a:lnSpc>
            </a:pPr>
            <a:r>
              <a:rPr sz="1900" b="0" i="0">
                <a:solidFill>
                  <a:srgbClr val="FFFFFF"/>
                </a:solidFill>
                <a:latin typeface="Instrument Serif"/>
              </a:rPr>
              <a:t>NETFLIX'S ADOLESCENCE (MAR 2025) PUSO A KEIR STARMER A HABLAR DE TATE EN ESCUELAS — LA MANOSPHERE YA NO ES NICHO DE INTERNET, ES AGENDA PÚBLICA.</a:t>
            </a:r>
          </a:p>
        </p:txBody>
      </p:sp>
      <p:sp>
        <p:nvSpPr>
          <p:cNvPr id="12" name="TextBox 11"/>
          <p:cNvSpPr txBox="1"/>
          <p:nvPr/>
        </p:nvSpPr>
        <p:spPr>
          <a:xfrm>
            <a:off x="365760" y="325526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EL FENÓMENO</a:t>
            </a:r>
          </a:p>
        </p:txBody>
      </p:sp>
      <p:sp>
        <p:nvSpPr>
          <p:cNvPr id="13" name="TextBox 12"/>
          <p:cNvSpPr txBox="1"/>
          <p:nvPr/>
        </p:nvSpPr>
        <p:spPr>
          <a:xfrm>
            <a:off x="365760" y="3438144"/>
            <a:ext cx="3606698" cy="1371600"/>
          </a:xfrm>
          <a:prstGeom prst="rect">
            <a:avLst/>
          </a:prstGeom>
          <a:noFill/>
        </p:spPr>
        <p:txBody>
          <a:bodyPr wrap="square" lIns="0" rIns="0" tIns="0" bIns="0">
            <a:spAutoFit/>
          </a:bodyPr>
          <a:lstStyle/>
          <a:p>
            <a:pPr>
              <a:lnSpc>
                <a:spcPct val="100000"/>
              </a:lnSpc>
            </a:pPr>
            <a:r>
              <a:rPr sz="1000" b="0" i="0">
                <a:solidFill>
                  <a:srgbClr val="FFFFFF"/>
                </a:solidFill>
                <a:latin typeface="Poppins"/>
              </a:rPr>
              <a:t>"Adolescence" salió en Netflix en marzo 2025 y se volvió evento cultural global en semanas. Cuatro capítulos sobre un chico de 13 años que mata a una compañera tras radicalización digital. El primer ministro británico Keir Starmer la convocó a discusión pública y el gobierno UK negoció acceso libre en escuelas. NBC News la cubrió nombrando Tate y manosphere explícitamente como radicalizadores. Pew confirma: chicos adolescentes consumen significativamente más manosphere que las chicas.</a:t>
            </a:r>
          </a:p>
        </p:txBody>
      </p:sp>
      <p:sp>
        <p:nvSpPr>
          <p:cNvPr id="14" name="TextBox 13"/>
          <p:cNvSpPr txBox="1"/>
          <p:nvPr/>
        </p:nvSpPr>
        <p:spPr>
          <a:xfrm>
            <a:off x="365760" y="485546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HASHTAGS</a:t>
            </a:r>
          </a:p>
        </p:txBody>
      </p:sp>
      <p:sp>
        <p:nvSpPr>
          <p:cNvPr id="15" name="TextBox 14"/>
          <p:cNvSpPr txBox="1"/>
          <p:nvPr/>
        </p:nvSpPr>
        <p:spPr>
          <a:xfrm>
            <a:off x="365760" y="5038344"/>
            <a:ext cx="3606698" cy="640080"/>
          </a:xfrm>
          <a:prstGeom prst="rect">
            <a:avLst/>
          </a:prstGeom>
          <a:noFill/>
        </p:spPr>
        <p:txBody>
          <a:bodyPr wrap="square" lIns="0" rIns="0" tIns="0" bIns="0">
            <a:spAutoFit/>
          </a:bodyPr>
          <a:lstStyle/>
          <a:p>
            <a:pPr>
              <a:lnSpc>
                <a:spcPct val="110000"/>
              </a:lnSpc>
            </a:pPr>
            <a:r>
              <a:rPr sz="2300" b="0" i="0">
                <a:solidFill>
                  <a:srgbClr val="FFFFFF"/>
                </a:solidFill>
                <a:latin typeface="Instrument Serif"/>
              </a:rPr>
              <a:t>#sigma  #alphamale  #redpill  #tatespanish</a:t>
            </a:r>
          </a:p>
        </p:txBody>
      </p:sp>
      <p:sp>
        <p:nvSpPr>
          <p:cNvPr id="16" name="TextBox 15"/>
          <p:cNvSpPr txBox="1"/>
          <p:nvPr/>
        </p:nvSpPr>
        <p:spPr>
          <a:xfrm>
            <a:off x="365760" y="572414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3 NEEDS</a:t>
            </a:r>
          </a:p>
        </p:txBody>
      </p:sp>
      <p:sp>
        <p:nvSpPr>
          <p:cNvPr id="17" name="TextBox 16"/>
          <p:cNvSpPr txBox="1"/>
          <p:nvPr/>
        </p:nvSpPr>
        <p:spPr>
          <a:xfrm>
            <a:off x="365760" y="5907024"/>
            <a:ext cx="3606698" cy="457200"/>
          </a:xfrm>
          <a:prstGeom prst="rect">
            <a:avLst/>
          </a:prstGeom>
          <a:noFill/>
        </p:spPr>
        <p:txBody>
          <a:bodyPr wrap="square" lIns="0" rIns="0" tIns="0" bIns="0">
            <a:spAutoFit/>
          </a:bodyPr>
          <a:lstStyle/>
          <a:p>
            <a:pPr>
              <a:lnSpc>
                <a:spcPct val="105000"/>
              </a:lnSpc>
            </a:pPr>
            <a:r>
              <a:rPr sz="1400" b="0" i="0">
                <a:solidFill>
                  <a:srgbClr val="FFFFFF"/>
                </a:solidFill>
                <a:latin typeface="Instrument Serif"/>
              </a:rPr>
              <a:t>PERTENENCIA MASCULINA · MIEDO · RABIA</a:t>
            </a:r>
          </a:p>
        </p:txBody>
      </p:sp>
      <p:sp>
        <p:nvSpPr>
          <p:cNvPr id="18" name="TextBox 17"/>
          <p:cNvSpPr txBox="1"/>
          <p:nvPr/>
        </p:nvSpPr>
        <p:spPr>
          <a:xfrm>
            <a:off x="4246778" y="1152144"/>
            <a:ext cx="1371600" cy="1097280"/>
          </a:xfrm>
          <a:prstGeom prst="rect">
            <a:avLst/>
          </a:prstGeom>
          <a:noFill/>
        </p:spPr>
        <p:txBody>
          <a:bodyPr wrap="square" lIns="0" rIns="0" tIns="0" bIns="0">
            <a:spAutoFit/>
          </a:bodyPr>
          <a:lstStyle/>
          <a:p>
            <a:pPr>
              <a:lnSpc>
                <a:spcPct val="100000"/>
              </a:lnSpc>
            </a:pPr>
            <a:r>
              <a:rPr sz="7200" b="0" i="0">
                <a:solidFill>
                  <a:srgbClr val="FFFFFF"/>
                </a:solidFill>
                <a:latin typeface="Instrument Serif"/>
              </a:rPr>
              <a:t>50B</a:t>
            </a:r>
          </a:p>
        </p:txBody>
      </p:sp>
      <p:sp>
        <p:nvSpPr>
          <p:cNvPr id="19" name="TextBox 18"/>
          <p:cNvSpPr txBox="1"/>
          <p:nvPr/>
        </p:nvSpPr>
        <p:spPr>
          <a:xfrm>
            <a:off x="4246778" y="2295144"/>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TIKTOK CREATIVE CENTER · 2025</a:t>
            </a:r>
          </a:p>
        </p:txBody>
      </p:sp>
      <p:sp>
        <p:nvSpPr>
          <p:cNvPr id="20" name="TextBox 19"/>
          <p:cNvSpPr txBox="1"/>
          <p:nvPr/>
        </p:nvSpPr>
        <p:spPr>
          <a:xfrm>
            <a:off x="5664098" y="1289304"/>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Views combinados #sigma, #alphamale, #redpill con crecimiento en español 2024-2025.</a:t>
            </a:r>
          </a:p>
        </p:txBody>
      </p:sp>
      <p:sp>
        <p:nvSpPr>
          <p:cNvPr id="21" name="TextBox 20"/>
          <p:cNvSpPr txBox="1"/>
          <p:nvPr/>
        </p:nvSpPr>
        <p:spPr>
          <a:xfrm>
            <a:off x="4246778" y="2962656"/>
            <a:ext cx="1371600" cy="1097280"/>
          </a:xfrm>
          <a:prstGeom prst="rect">
            <a:avLst/>
          </a:prstGeom>
          <a:noFill/>
        </p:spPr>
        <p:txBody>
          <a:bodyPr wrap="square" lIns="0" rIns="0" tIns="0" bIns="0">
            <a:spAutoFit/>
          </a:bodyPr>
          <a:lstStyle/>
          <a:p>
            <a:pPr>
              <a:lnSpc>
                <a:spcPct val="100000"/>
              </a:lnSpc>
            </a:pPr>
            <a:r>
              <a:rPr sz="4200" b="0" i="0">
                <a:solidFill>
                  <a:srgbClr val="FFFFFF"/>
                </a:solidFill>
                <a:latin typeface="Instrument Serif"/>
              </a:rPr>
              <a:t>Mar 25</a:t>
            </a:r>
          </a:p>
        </p:txBody>
      </p:sp>
      <p:sp>
        <p:nvSpPr>
          <p:cNvPr id="22" name="TextBox 21"/>
          <p:cNvSpPr txBox="1"/>
          <p:nvPr/>
        </p:nvSpPr>
        <p:spPr>
          <a:xfrm>
            <a:off x="4246778" y="4105656"/>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NBC NEWS · 2025</a:t>
            </a:r>
          </a:p>
        </p:txBody>
      </p:sp>
      <p:sp>
        <p:nvSpPr>
          <p:cNvPr id="23" name="TextBox 22"/>
          <p:cNvSpPr txBox="1"/>
          <p:nvPr/>
        </p:nvSpPr>
        <p:spPr>
          <a:xfrm>
            <a:off x="5664098" y="3099816"/>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Adolescence Netflix — Tate y manosphere nombrados explícitamente como radicalizadores.</a:t>
            </a:r>
          </a:p>
        </p:txBody>
      </p:sp>
      <p:sp>
        <p:nvSpPr>
          <p:cNvPr id="24" name="TextBox 23"/>
          <p:cNvSpPr txBox="1"/>
          <p:nvPr/>
        </p:nvSpPr>
        <p:spPr>
          <a:xfrm>
            <a:off x="4246778" y="4773168"/>
            <a:ext cx="1371600" cy="1097280"/>
          </a:xfrm>
          <a:prstGeom prst="rect">
            <a:avLst/>
          </a:prstGeom>
          <a:noFill/>
        </p:spPr>
        <p:txBody>
          <a:bodyPr wrap="square" lIns="0" rIns="0" tIns="0" bIns="0">
            <a:spAutoFit/>
          </a:bodyPr>
          <a:lstStyle/>
          <a:p>
            <a:pPr>
              <a:lnSpc>
                <a:spcPct val="100000"/>
              </a:lnSpc>
            </a:pPr>
            <a:r>
              <a:rPr sz="7200" b="0" i="0">
                <a:solidFill>
                  <a:srgbClr val="FFFFFF"/>
                </a:solidFill>
                <a:latin typeface="Instrument Serif"/>
              </a:rPr>
              <a:t>♂</a:t>
            </a:r>
          </a:p>
        </p:txBody>
      </p:sp>
      <p:sp>
        <p:nvSpPr>
          <p:cNvPr id="25" name="TextBox 24"/>
          <p:cNvSpPr txBox="1"/>
          <p:nvPr/>
        </p:nvSpPr>
        <p:spPr>
          <a:xfrm>
            <a:off x="4246778" y="5916168"/>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PEW RESEARCH · 2024</a:t>
            </a:r>
          </a:p>
        </p:txBody>
      </p:sp>
      <p:sp>
        <p:nvSpPr>
          <p:cNvPr id="26" name="TextBox 25"/>
          <p:cNvSpPr txBox="1"/>
          <p:nvPr/>
        </p:nvSpPr>
        <p:spPr>
          <a:xfrm>
            <a:off x="5664098" y="4910328"/>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Chicos adolescentes consumen significativamente más manosphere que chicas.</a:t>
            </a:r>
          </a:p>
        </p:txBody>
      </p:sp>
      <p:pic>
        <p:nvPicPr>
          <p:cNvPr id="27" name="Picture 26" descr="macro-3-2-nbc-adolescence-manosphere.png"/>
          <p:cNvPicPr>
            <a:picLocks noChangeAspect="1"/>
          </p:cNvPicPr>
          <p:nvPr/>
        </p:nvPicPr>
        <p:blipFill>
          <a:blip r:embed="rId2"/>
          <a:stretch>
            <a:fillRect/>
          </a:stretch>
        </p:blipFill>
        <p:spPr>
          <a:xfrm>
            <a:off x="8127796" y="1152144"/>
            <a:ext cx="1397000" cy="1905000"/>
          </a:xfrm>
          <a:prstGeom prst="rect">
            <a:avLst/>
          </a:prstGeom>
        </p:spPr>
      </p:pic>
      <p:sp>
        <p:nvSpPr>
          <p:cNvPr id="28" name="Rounded Rectangle 27"/>
          <p:cNvSpPr/>
          <p:nvPr/>
        </p:nvSpPr>
        <p:spPr>
          <a:xfrm>
            <a:off x="9042196" y="1075944"/>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29" name="Rectangle 28">
            <a:hlinkClick r:id="rId3"/>
          </p:cNvPr>
          <p:cNvSpPr/>
          <p:nvPr/>
        </p:nvSpPr>
        <p:spPr>
          <a:xfrm>
            <a:off x="8127796" y="1152144"/>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97948" y="1289304"/>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Adolescence (Netflix Mar 2025) — Tate y manosphere nombrados como radicalizadores.</a:t>
            </a:r>
          </a:p>
        </p:txBody>
      </p:sp>
      <p:sp>
        <p:nvSpPr>
          <p:cNvPr id="31" name="TextBox 30"/>
          <p:cNvSpPr txBox="1"/>
          <p:nvPr/>
        </p:nvSpPr>
        <p:spPr>
          <a:xfrm>
            <a:off x="9597948" y="1752092"/>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NBC NEWS · 2025</a:t>
            </a:r>
          </a:p>
        </p:txBody>
      </p:sp>
      <p:pic>
        <p:nvPicPr>
          <p:cNvPr id="32" name="Picture 31" descr="macro-3-2-nbc-adolescence-manosphere.png"/>
          <p:cNvPicPr>
            <a:picLocks noChangeAspect="1"/>
          </p:cNvPicPr>
          <p:nvPr/>
        </p:nvPicPr>
        <p:blipFill>
          <a:blip r:embed="rId2"/>
          <a:stretch>
            <a:fillRect/>
          </a:stretch>
        </p:blipFill>
        <p:spPr>
          <a:xfrm>
            <a:off x="8127796" y="2962656"/>
            <a:ext cx="1397000" cy="1905000"/>
          </a:xfrm>
          <a:prstGeom prst="rect">
            <a:avLst/>
          </a:prstGeom>
        </p:spPr>
      </p:pic>
      <p:sp>
        <p:nvSpPr>
          <p:cNvPr id="33" name="Rounded Rectangle 32"/>
          <p:cNvSpPr/>
          <p:nvPr/>
        </p:nvSpPr>
        <p:spPr>
          <a:xfrm>
            <a:off x="9042196" y="2886456"/>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34" name="Rectangle 33">
            <a:hlinkClick r:id="rId3"/>
          </p:cNvPr>
          <p:cNvSpPr/>
          <p:nvPr/>
        </p:nvSpPr>
        <p:spPr>
          <a:xfrm>
            <a:off x="8127796" y="2962656"/>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597948" y="3099816"/>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Variante hero del reportaje NBC sobre radicalización adolescente.</a:t>
            </a:r>
          </a:p>
        </p:txBody>
      </p:sp>
      <p:sp>
        <p:nvSpPr>
          <p:cNvPr id="36" name="TextBox 35"/>
          <p:cNvSpPr txBox="1"/>
          <p:nvPr/>
        </p:nvSpPr>
        <p:spPr>
          <a:xfrm>
            <a:off x="9597948" y="3562604"/>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NBC NEWS · 2025</a:t>
            </a:r>
          </a:p>
        </p:txBody>
      </p:sp>
      <p:pic>
        <p:nvPicPr>
          <p:cNvPr id="37" name="Picture 36" descr="macro-3-0-tiktok-whats-next.png"/>
          <p:cNvPicPr>
            <a:picLocks noChangeAspect="1"/>
          </p:cNvPicPr>
          <p:nvPr/>
        </p:nvPicPr>
        <p:blipFill>
          <a:blip r:embed="rId4"/>
          <a:stretch>
            <a:fillRect/>
          </a:stretch>
        </p:blipFill>
        <p:spPr>
          <a:xfrm>
            <a:off x="8127796" y="4773168"/>
            <a:ext cx="1397000" cy="1905000"/>
          </a:xfrm>
          <a:prstGeom prst="rect">
            <a:avLst/>
          </a:prstGeom>
        </p:spPr>
      </p:pic>
      <p:sp>
        <p:nvSpPr>
          <p:cNvPr id="38" name="Rounded Rectangle 37"/>
          <p:cNvSpPr/>
          <p:nvPr/>
        </p:nvSpPr>
        <p:spPr>
          <a:xfrm>
            <a:off x="9042196" y="4696968"/>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39" name="Rectangle 38">
            <a:hlinkClick r:id="rId5"/>
          </p:cNvPr>
          <p:cNvSpPr/>
          <p:nvPr/>
        </p:nvSpPr>
        <p:spPr>
          <a:xfrm>
            <a:off x="8127796" y="4773168"/>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597948" y="4910328"/>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La infraestructura cultural que sirve los clips manosphere al feed adolescente.</a:t>
            </a:r>
          </a:p>
        </p:txBody>
      </p:sp>
      <p:sp>
        <p:nvSpPr>
          <p:cNvPr id="41" name="TextBox 40"/>
          <p:cNvSpPr txBox="1"/>
          <p:nvPr/>
        </p:nvSpPr>
        <p:spPr>
          <a:xfrm>
            <a:off x="9597948" y="5373116"/>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TIKTOK NEWSROOM · 2024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20040"/>
            <a:ext cx="777240" cy="201168"/>
          </a:xfrm>
          <a:prstGeom prst="rect">
            <a:avLst/>
          </a:prstGeom>
          <a:solidFill>
            <a:srgbClr val="E8E8E8"/>
          </a:solidFill>
          <a:ln w="3175">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800" b="1" i="0">
                <a:solidFill>
                  <a:srgbClr val="000000"/>
                </a:solidFill>
                <a:latin typeface="Poppins"/>
              </a:rPr>
              <a:t>MACRO 3</a:t>
            </a:r>
          </a:p>
        </p:txBody>
      </p:sp>
      <p:sp>
        <p:nvSpPr>
          <p:cNvPr id="4" name="Rectangle 3"/>
          <p:cNvSpPr/>
          <p:nvPr/>
        </p:nvSpPr>
        <p:spPr>
          <a:xfrm>
            <a:off x="1143000" y="320040"/>
            <a:ext cx="2011680" cy="201168"/>
          </a:xfrm>
          <a:prstGeom prst="rect">
            <a:avLst/>
          </a:prstGeom>
          <a:noFill/>
          <a:ln w="3175">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800" b="0" i="0">
                <a:solidFill>
                  <a:srgbClr val="A0A0A0"/>
                </a:solidFill>
                <a:latin typeface="Poppins"/>
              </a:rPr>
              <a:t>ALGORITMO DEL HOGAR</a:t>
            </a:r>
          </a:p>
        </p:txBody>
      </p:sp>
      <p:sp>
        <p:nvSpPr>
          <p:cNvPr id="5" name="TextBox 4"/>
          <p:cNvSpPr txBox="1"/>
          <p:nvPr/>
        </p:nvSpPr>
        <p:spPr>
          <a:xfrm>
            <a:off x="365760"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DEFINICIÓN</a:t>
            </a:r>
          </a:p>
        </p:txBody>
      </p:sp>
      <p:sp>
        <p:nvSpPr>
          <p:cNvPr id="6" name="TextBox 5"/>
          <p:cNvSpPr txBox="1"/>
          <p:nvPr/>
        </p:nvSpPr>
        <p:spPr>
          <a:xfrm>
            <a:off x="4246778"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TRIGGERS</a:t>
            </a:r>
          </a:p>
        </p:txBody>
      </p:sp>
      <p:sp>
        <p:nvSpPr>
          <p:cNvPr id="7" name="TextBox 6"/>
          <p:cNvSpPr txBox="1"/>
          <p:nvPr/>
        </p:nvSpPr>
        <p:spPr>
          <a:xfrm>
            <a:off x="8127796"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SEÑALES</a:t>
            </a:r>
          </a:p>
        </p:txBody>
      </p:sp>
      <p:cxnSp>
        <p:nvCxnSpPr>
          <p:cNvPr id="8" name="Connector 7"/>
          <p:cNvCxnSpPr/>
          <p:nvPr/>
        </p:nvCxnSpPr>
        <p:spPr>
          <a:xfrm>
            <a:off x="365760" y="1014984"/>
            <a:ext cx="11460175" cy="0"/>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155338" y="1152144"/>
            <a:ext cx="0" cy="5431536"/>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036356" y="1152144"/>
            <a:ext cx="0" cy="5431536"/>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65760" y="1152144"/>
            <a:ext cx="3606698" cy="2011680"/>
          </a:xfrm>
          <a:prstGeom prst="rect">
            <a:avLst/>
          </a:prstGeom>
          <a:noFill/>
        </p:spPr>
        <p:txBody>
          <a:bodyPr wrap="square" lIns="0" rIns="0" tIns="0" bIns="0">
            <a:spAutoFit/>
          </a:bodyPr>
          <a:lstStyle/>
          <a:p>
            <a:pPr>
              <a:lnSpc>
                <a:spcPct val="95000"/>
              </a:lnSpc>
            </a:pPr>
            <a:r>
              <a:rPr sz="1900" b="0" i="0">
                <a:solidFill>
                  <a:srgbClr val="FFFFFF"/>
                </a:solidFill>
                <a:latin typeface="Instrument Serif"/>
              </a:rPr>
              <a:t>LA "STAY-AT-HOME GIRLFRIEND" PERFORMA DOMESTICIDAD PREMIUM SIN ACTA DE MATRIMONIO — TRADWIFE SIN BIBLIA NI ANILLO, CONTRACTUALMENTE FRÁGIL.</a:t>
            </a:r>
          </a:p>
        </p:txBody>
      </p:sp>
      <p:sp>
        <p:nvSpPr>
          <p:cNvPr id="12" name="TextBox 11"/>
          <p:cNvSpPr txBox="1"/>
          <p:nvPr/>
        </p:nvSpPr>
        <p:spPr>
          <a:xfrm>
            <a:off x="365760" y="325526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EL FENÓMENO</a:t>
            </a:r>
          </a:p>
        </p:txBody>
      </p:sp>
      <p:sp>
        <p:nvSpPr>
          <p:cNvPr id="13" name="TextBox 12"/>
          <p:cNvSpPr txBox="1"/>
          <p:nvPr/>
        </p:nvSpPr>
        <p:spPr>
          <a:xfrm>
            <a:off x="365760" y="3438144"/>
            <a:ext cx="3606698" cy="1371600"/>
          </a:xfrm>
          <a:prstGeom prst="rect">
            <a:avLst/>
          </a:prstGeom>
          <a:noFill/>
        </p:spPr>
        <p:txBody>
          <a:bodyPr wrap="square" lIns="0" rIns="0" tIns="0" bIns="0">
            <a:spAutoFit/>
          </a:bodyPr>
          <a:lstStyle/>
          <a:p>
            <a:pPr>
              <a:lnSpc>
                <a:spcPct val="100000"/>
              </a:lnSpc>
            </a:pPr>
            <a:r>
              <a:rPr sz="1000" b="0" i="0">
                <a:solidFill>
                  <a:srgbClr val="FFFFFF"/>
                </a:solidFill>
                <a:latin typeface="Poppins"/>
              </a:rPr>
              <a:t>#stayathomegirlfriend supera 1.5B views. La fórmula: matcha de mañana, gym, pilates, hacer cena para él, todo en aesthetic suave. NYT, Vogue y BBC cubrieron el fenómeno post-2023 con foco en la precarización: sin matrimonio no hay protección legal de bienes ni pensión alimentaria si la relación termina. The Week reporta que Gen Z rechaza explícitamente girlboss culture como aspiracional. La diferencia con la tradwife es que aquí no hay base religiosa ni proyecto familiar — solo estética y dependencia económica.</a:t>
            </a:r>
          </a:p>
        </p:txBody>
      </p:sp>
      <p:sp>
        <p:nvSpPr>
          <p:cNvPr id="14" name="TextBox 13"/>
          <p:cNvSpPr txBox="1"/>
          <p:nvPr/>
        </p:nvSpPr>
        <p:spPr>
          <a:xfrm>
            <a:off x="365760" y="485546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HASHTAGS</a:t>
            </a:r>
          </a:p>
        </p:txBody>
      </p:sp>
      <p:sp>
        <p:nvSpPr>
          <p:cNvPr id="15" name="TextBox 14"/>
          <p:cNvSpPr txBox="1"/>
          <p:nvPr/>
        </p:nvSpPr>
        <p:spPr>
          <a:xfrm>
            <a:off x="365760" y="5038344"/>
            <a:ext cx="3606698" cy="640080"/>
          </a:xfrm>
          <a:prstGeom prst="rect">
            <a:avLst/>
          </a:prstGeom>
          <a:noFill/>
        </p:spPr>
        <p:txBody>
          <a:bodyPr wrap="square" lIns="0" rIns="0" tIns="0" bIns="0">
            <a:spAutoFit/>
          </a:bodyPr>
          <a:lstStyle/>
          <a:p>
            <a:pPr>
              <a:lnSpc>
                <a:spcPct val="110000"/>
              </a:lnSpc>
            </a:pPr>
            <a:r>
              <a:rPr sz="2300" b="0" i="0">
                <a:solidFill>
                  <a:srgbClr val="FFFFFF"/>
                </a:solidFill>
                <a:latin typeface="Instrument Serif"/>
              </a:rPr>
              <a:t>#stayathomegirlfriend  #softlife  #girlfriendera  #providerera</a:t>
            </a:r>
          </a:p>
        </p:txBody>
      </p:sp>
      <p:sp>
        <p:nvSpPr>
          <p:cNvPr id="16" name="TextBox 15"/>
          <p:cNvSpPr txBox="1"/>
          <p:nvPr/>
        </p:nvSpPr>
        <p:spPr>
          <a:xfrm>
            <a:off x="365760" y="572414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3 NEEDS</a:t>
            </a:r>
          </a:p>
        </p:txBody>
      </p:sp>
      <p:sp>
        <p:nvSpPr>
          <p:cNvPr id="17" name="TextBox 16"/>
          <p:cNvSpPr txBox="1"/>
          <p:nvPr/>
        </p:nvSpPr>
        <p:spPr>
          <a:xfrm>
            <a:off x="365760" y="5907024"/>
            <a:ext cx="3606698" cy="457200"/>
          </a:xfrm>
          <a:prstGeom prst="rect">
            <a:avLst/>
          </a:prstGeom>
          <a:noFill/>
        </p:spPr>
        <p:txBody>
          <a:bodyPr wrap="square" lIns="0" rIns="0" tIns="0" bIns="0">
            <a:spAutoFit/>
          </a:bodyPr>
          <a:lstStyle/>
          <a:p>
            <a:pPr>
              <a:lnSpc>
                <a:spcPct val="105000"/>
              </a:lnSpc>
            </a:pPr>
            <a:r>
              <a:rPr sz="1400" b="0" i="0">
                <a:solidFill>
                  <a:srgbClr val="FFFFFF"/>
                </a:solidFill>
                <a:latin typeface="Instrument Serif"/>
              </a:rPr>
              <a:t>ASPIRACIÓN ESTÉTICA · DEPENDENCIA · FRAGILIDAD</a:t>
            </a:r>
          </a:p>
        </p:txBody>
      </p:sp>
      <p:sp>
        <p:nvSpPr>
          <p:cNvPr id="18" name="TextBox 17"/>
          <p:cNvSpPr txBox="1"/>
          <p:nvPr/>
        </p:nvSpPr>
        <p:spPr>
          <a:xfrm>
            <a:off x="4246778" y="1152144"/>
            <a:ext cx="1371600" cy="1097280"/>
          </a:xfrm>
          <a:prstGeom prst="rect">
            <a:avLst/>
          </a:prstGeom>
          <a:noFill/>
        </p:spPr>
        <p:txBody>
          <a:bodyPr wrap="square" lIns="0" rIns="0" tIns="0" bIns="0">
            <a:spAutoFit/>
          </a:bodyPr>
          <a:lstStyle/>
          <a:p>
            <a:pPr>
              <a:lnSpc>
                <a:spcPct val="100000"/>
              </a:lnSpc>
            </a:pPr>
            <a:r>
              <a:rPr sz="5400" b="0" i="0">
                <a:solidFill>
                  <a:srgbClr val="FFFFFF"/>
                </a:solidFill>
                <a:latin typeface="Instrument Serif"/>
              </a:rPr>
              <a:t>1.5B</a:t>
            </a:r>
          </a:p>
        </p:txBody>
      </p:sp>
      <p:sp>
        <p:nvSpPr>
          <p:cNvPr id="19" name="TextBox 18"/>
          <p:cNvSpPr txBox="1"/>
          <p:nvPr/>
        </p:nvSpPr>
        <p:spPr>
          <a:xfrm>
            <a:off x="4246778" y="2295144"/>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TIKTOK CREATIVE CENTER · 2025</a:t>
            </a:r>
          </a:p>
        </p:txBody>
      </p:sp>
      <p:sp>
        <p:nvSpPr>
          <p:cNvPr id="20" name="TextBox 19"/>
          <p:cNvSpPr txBox="1"/>
          <p:nvPr/>
        </p:nvSpPr>
        <p:spPr>
          <a:xfrm>
            <a:off x="5664098" y="1289304"/>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Views #stayathomegirlfriend con peak 2024-2025 — aesthetic premium sin acta.</a:t>
            </a:r>
          </a:p>
        </p:txBody>
      </p:sp>
      <p:sp>
        <p:nvSpPr>
          <p:cNvPr id="21" name="TextBox 20"/>
          <p:cNvSpPr txBox="1"/>
          <p:nvPr/>
        </p:nvSpPr>
        <p:spPr>
          <a:xfrm>
            <a:off x="4246778" y="2962656"/>
            <a:ext cx="1371600" cy="1097280"/>
          </a:xfrm>
          <a:prstGeom prst="rect">
            <a:avLst/>
          </a:prstGeom>
          <a:noFill/>
        </p:spPr>
        <p:txBody>
          <a:bodyPr wrap="square" lIns="0" rIns="0" tIns="0" bIns="0">
            <a:spAutoFit/>
          </a:bodyPr>
          <a:lstStyle/>
          <a:p>
            <a:pPr>
              <a:lnSpc>
                <a:spcPct val="100000"/>
              </a:lnSpc>
            </a:pPr>
            <a:r>
              <a:rPr sz="5400" b="0" i="0">
                <a:solidFill>
                  <a:srgbClr val="FFFFFF"/>
                </a:solidFill>
                <a:latin typeface="Instrument Serif"/>
              </a:rPr>
              <a:t>Gen Z</a:t>
            </a:r>
          </a:p>
        </p:txBody>
      </p:sp>
      <p:sp>
        <p:nvSpPr>
          <p:cNvPr id="22" name="TextBox 21"/>
          <p:cNvSpPr txBox="1"/>
          <p:nvPr/>
        </p:nvSpPr>
        <p:spPr>
          <a:xfrm>
            <a:off x="4246778" y="4105656"/>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THE WEEK · 2024</a:t>
            </a:r>
          </a:p>
        </p:txBody>
      </p:sp>
      <p:sp>
        <p:nvSpPr>
          <p:cNvPr id="23" name="TextBox 22"/>
          <p:cNvSpPr txBox="1"/>
          <p:nvPr/>
        </p:nvSpPr>
        <p:spPr>
          <a:xfrm>
            <a:off x="5664098" y="3099816"/>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Rechazo explícito a girlboss culture; SAHG como aspiracional sin matrimonio.</a:t>
            </a:r>
          </a:p>
        </p:txBody>
      </p:sp>
      <p:sp>
        <p:nvSpPr>
          <p:cNvPr id="24" name="TextBox 23"/>
          <p:cNvSpPr txBox="1"/>
          <p:nvPr/>
        </p:nvSpPr>
        <p:spPr>
          <a:xfrm>
            <a:off x="4246778" y="4773168"/>
            <a:ext cx="1371600" cy="1097280"/>
          </a:xfrm>
          <a:prstGeom prst="rect">
            <a:avLst/>
          </a:prstGeom>
          <a:noFill/>
        </p:spPr>
        <p:txBody>
          <a:bodyPr wrap="square" lIns="0" rIns="0" tIns="0" bIns="0">
            <a:spAutoFit/>
          </a:bodyPr>
          <a:lstStyle/>
          <a:p>
            <a:pPr>
              <a:lnSpc>
                <a:spcPct val="100000"/>
              </a:lnSpc>
            </a:pPr>
            <a:r>
              <a:rPr sz="7200" b="0" i="0">
                <a:solidFill>
                  <a:srgbClr val="FFFFFF"/>
                </a:solidFill>
                <a:latin typeface="Instrument Serif"/>
              </a:rPr>
              <a:t>↑</a:t>
            </a:r>
          </a:p>
        </p:txBody>
      </p:sp>
      <p:sp>
        <p:nvSpPr>
          <p:cNvPr id="25" name="TextBox 24"/>
          <p:cNvSpPr txBox="1"/>
          <p:nvPr/>
        </p:nvSpPr>
        <p:spPr>
          <a:xfrm>
            <a:off x="4246778" y="5916168"/>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PEW RESEARCH · 2024</a:t>
            </a:r>
          </a:p>
        </p:txBody>
      </p:sp>
      <p:sp>
        <p:nvSpPr>
          <p:cNvPr id="26" name="TextBox 25"/>
          <p:cNvSpPr txBox="1"/>
          <p:nvPr/>
        </p:nvSpPr>
        <p:spPr>
          <a:xfrm>
            <a:off x="5664098" y="4910328"/>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Retorno de actitudes de proveedor masculino entre Gen Z USA.</a:t>
            </a:r>
          </a:p>
        </p:txBody>
      </p:sp>
      <p:pic>
        <p:nvPicPr>
          <p:cNvPr id="27" name="Picture 26" descr="macro-3-3-theweek-sahg.png"/>
          <p:cNvPicPr>
            <a:picLocks noChangeAspect="1"/>
          </p:cNvPicPr>
          <p:nvPr/>
        </p:nvPicPr>
        <p:blipFill>
          <a:blip r:embed="rId2"/>
          <a:stretch>
            <a:fillRect/>
          </a:stretch>
        </p:blipFill>
        <p:spPr>
          <a:xfrm>
            <a:off x="8127796" y="1152144"/>
            <a:ext cx="1397000" cy="1905000"/>
          </a:xfrm>
          <a:prstGeom prst="rect">
            <a:avLst/>
          </a:prstGeom>
        </p:spPr>
      </p:pic>
      <p:sp>
        <p:nvSpPr>
          <p:cNvPr id="28" name="Rounded Rectangle 27"/>
          <p:cNvSpPr/>
          <p:nvPr/>
        </p:nvSpPr>
        <p:spPr>
          <a:xfrm>
            <a:off x="9042196" y="1075944"/>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29" name="Rectangle 28">
            <a:hlinkClick r:id="rId3"/>
          </p:cNvPr>
          <p:cNvSpPr/>
          <p:nvPr/>
        </p:nvSpPr>
        <p:spPr>
          <a:xfrm>
            <a:off x="8127796" y="1152144"/>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97948" y="1289304"/>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Gen Z rechaza girlboss — stay-at-home girlfriend como aspiracional sin acta.</a:t>
            </a:r>
          </a:p>
        </p:txBody>
      </p:sp>
      <p:sp>
        <p:nvSpPr>
          <p:cNvPr id="31" name="TextBox 30"/>
          <p:cNvSpPr txBox="1"/>
          <p:nvPr/>
        </p:nvSpPr>
        <p:spPr>
          <a:xfrm>
            <a:off x="9597948" y="1752092"/>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THE WEEK · 2024</a:t>
            </a:r>
          </a:p>
        </p:txBody>
      </p:sp>
      <p:pic>
        <p:nvPicPr>
          <p:cNvPr id="32" name="Picture 31" descr="macro-3-1-rollingstone-ballerinafarm.png"/>
          <p:cNvPicPr>
            <a:picLocks noChangeAspect="1"/>
          </p:cNvPicPr>
          <p:nvPr/>
        </p:nvPicPr>
        <p:blipFill>
          <a:blip r:embed="rId4"/>
          <a:stretch>
            <a:fillRect/>
          </a:stretch>
        </p:blipFill>
        <p:spPr>
          <a:xfrm>
            <a:off x="8127796" y="2962656"/>
            <a:ext cx="1397000" cy="1905000"/>
          </a:xfrm>
          <a:prstGeom prst="rect">
            <a:avLst/>
          </a:prstGeom>
        </p:spPr>
      </p:pic>
      <p:sp>
        <p:nvSpPr>
          <p:cNvPr id="33" name="Rounded Rectangle 32"/>
          <p:cNvSpPr/>
          <p:nvPr/>
        </p:nvSpPr>
        <p:spPr>
          <a:xfrm>
            <a:off x="9042196" y="2886456"/>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34" name="Rectangle 33">
            <a:hlinkClick r:id="rId5"/>
          </p:cNvPr>
          <p:cNvSpPr/>
          <p:nvPr/>
        </p:nvSpPr>
        <p:spPr>
          <a:xfrm>
            <a:off x="8127796" y="2962656"/>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597948" y="3099816"/>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Vector adyacente con base religiosa que la SAHG no tiene.</a:t>
            </a:r>
          </a:p>
        </p:txBody>
      </p:sp>
      <p:sp>
        <p:nvSpPr>
          <p:cNvPr id="36" name="TextBox 35"/>
          <p:cNvSpPr txBox="1"/>
          <p:nvPr/>
        </p:nvSpPr>
        <p:spPr>
          <a:xfrm>
            <a:off x="9597948" y="3562604"/>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ROLLING STONE · 2024</a:t>
            </a:r>
          </a:p>
        </p:txBody>
      </p:sp>
      <p:pic>
        <p:nvPicPr>
          <p:cNvPr id="37" name="Picture 36" descr="macro-3-0-tiktok-whats-next.png"/>
          <p:cNvPicPr>
            <a:picLocks noChangeAspect="1"/>
          </p:cNvPicPr>
          <p:nvPr/>
        </p:nvPicPr>
        <p:blipFill>
          <a:blip r:embed="rId6"/>
          <a:stretch>
            <a:fillRect/>
          </a:stretch>
        </p:blipFill>
        <p:spPr>
          <a:xfrm>
            <a:off x="8127796" y="4773168"/>
            <a:ext cx="1397000" cy="1905000"/>
          </a:xfrm>
          <a:prstGeom prst="rect">
            <a:avLst/>
          </a:prstGeom>
        </p:spPr>
      </p:pic>
      <p:sp>
        <p:nvSpPr>
          <p:cNvPr id="38" name="Rounded Rectangle 37"/>
          <p:cNvSpPr/>
          <p:nvPr/>
        </p:nvSpPr>
        <p:spPr>
          <a:xfrm>
            <a:off x="9042196" y="4696968"/>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39" name="Rectangle 38">
            <a:hlinkClick r:id="rId7"/>
          </p:cNvPr>
          <p:cNvSpPr/>
          <p:nvPr/>
        </p:nvSpPr>
        <p:spPr>
          <a:xfrm>
            <a:off x="8127796" y="4773168"/>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597948" y="4910328"/>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Infraestructura cultural donde escaló el aesthetic soft life.</a:t>
            </a:r>
          </a:p>
        </p:txBody>
      </p:sp>
      <p:sp>
        <p:nvSpPr>
          <p:cNvPr id="41" name="TextBox 40"/>
          <p:cNvSpPr txBox="1"/>
          <p:nvPr/>
        </p:nvSpPr>
        <p:spPr>
          <a:xfrm>
            <a:off x="9597948" y="5373116"/>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TIKTOK NEWSROOM · 2024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20040"/>
            <a:ext cx="777240" cy="201168"/>
          </a:xfrm>
          <a:prstGeom prst="rect">
            <a:avLst/>
          </a:prstGeom>
          <a:solidFill>
            <a:srgbClr val="E8E8E8"/>
          </a:solidFill>
          <a:ln w="3175">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800" b="1" i="0">
                <a:solidFill>
                  <a:srgbClr val="000000"/>
                </a:solidFill>
                <a:latin typeface="Poppins"/>
              </a:rPr>
              <a:t>MACRO 3</a:t>
            </a:r>
          </a:p>
        </p:txBody>
      </p:sp>
      <p:sp>
        <p:nvSpPr>
          <p:cNvPr id="4" name="Rectangle 3"/>
          <p:cNvSpPr/>
          <p:nvPr/>
        </p:nvSpPr>
        <p:spPr>
          <a:xfrm>
            <a:off x="1143000" y="320040"/>
            <a:ext cx="2011680" cy="201168"/>
          </a:xfrm>
          <a:prstGeom prst="rect">
            <a:avLst/>
          </a:prstGeom>
          <a:noFill/>
          <a:ln w="3175">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800" b="0" i="0">
                <a:solidFill>
                  <a:srgbClr val="A0A0A0"/>
                </a:solidFill>
                <a:latin typeface="Poppins"/>
              </a:rPr>
              <a:t>ALGORITMO DEL HOGAR</a:t>
            </a:r>
          </a:p>
        </p:txBody>
      </p:sp>
      <p:sp>
        <p:nvSpPr>
          <p:cNvPr id="5" name="TextBox 4"/>
          <p:cNvSpPr txBox="1"/>
          <p:nvPr/>
        </p:nvSpPr>
        <p:spPr>
          <a:xfrm>
            <a:off x="365760"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DEFINICIÓN</a:t>
            </a:r>
          </a:p>
        </p:txBody>
      </p:sp>
      <p:sp>
        <p:nvSpPr>
          <p:cNvPr id="6" name="TextBox 5"/>
          <p:cNvSpPr txBox="1"/>
          <p:nvPr/>
        </p:nvSpPr>
        <p:spPr>
          <a:xfrm>
            <a:off x="4246778"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TRIGGERS</a:t>
            </a:r>
          </a:p>
        </p:txBody>
      </p:sp>
      <p:sp>
        <p:nvSpPr>
          <p:cNvPr id="7" name="TextBox 6"/>
          <p:cNvSpPr txBox="1"/>
          <p:nvPr/>
        </p:nvSpPr>
        <p:spPr>
          <a:xfrm>
            <a:off x="8127796"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SEÑALES</a:t>
            </a:r>
          </a:p>
        </p:txBody>
      </p:sp>
      <p:cxnSp>
        <p:nvCxnSpPr>
          <p:cNvPr id="8" name="Connector 7"/>
          <p:cNvCxnSpPr/>
          <p:nvPr/>
        </p:nvCxnSpPr>
        <p:spPr>
          <a:xfrm>
            <a:off x="365760" y="1014984"/>
            <a:ext cx="11460175" cy="0"/>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155338" y="1152144"/>
            <a:ext cx="0" cy="5431536"/>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036356" y="1152144"/>
            <a:ext cx="0" cy="5431536"/>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65760" y="1152144"/>
            <a:ext cx="3606698" cy="2011680"/>
          </a:xfrm>
          <a:prstGeom prst="rect">
            <a:avLst/>
          </a:prstGeom>
          <a:noFill/>
        </p:spPr>
        <p:txBody>
          <a:bodyPr wrap="square" lIns="0" rIns="0" tIns="0" bIns="0">
            <a:spAutoFit/>
          </a:bodyPr>
          <a:lstStyle/>
          <a:p>
            <a:pPr>
              <a:lnSpc>
                <a:spcPct val="95000"/>
              </a:lnSpc>
            </a:pPr>
            <a:r>
              <a:rPr sz="1900" b="0" i="0">
                <a:solidFill>
                  <a:srgbClr val="FFFFFF"/>
                </a:solidFill>
                <a:latin typeface="Instrument Serif"/>
              </a:rPr>
              <a:t>#PAPÁTOK EN ESPAÑOL LO LIDERA MÉXICO CON CREADORES DE MILLONES DE SEGUIDORES — RD APENAS PRODUCE SU PROPIO REPERTORIO AUDIOVISUAL DE PATERNIDAD ACTIVA.</a:t>
            </a:r>
          </a:p>
        </p:txBody>
      </p:sp>
      <p:sp>
        <p:nvSpPr>
          <p:cNvPr id="12" name="TextBox 11"/>
          <p:cNvSpPr txBox="1"/>
          <p:nvPr/>
        </p:nvSpPr>
        <p:spPr>
          <a:xfrm>
            <a:off x="365760" y="325526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EL FENÓMENO</a:t>
            </a:r>
          </a:p>
        </p:txBody>
      </p:sp>
      <p:sp>
        <p:nvSpPr>
          <p:cNvPr id="13" name="TextBox 12"/>
          <p:cNvSpPr txBox="1"/>
          <p:nvPr/>
        </p:nvSpPr>
        <p:spPr>
          <a:xfrm>
            <a:off x="365760" y="3438144"/>
            <a:ext cx="3606698" cy="1371600"/>
          </a:xfrm>
          <a:prstGeom prst="rect">
            <a:avLst/>
          </a:prstGeom>
          <a:noFill/>
        </p:spPr>
        <p:txBody>
          <a:bodyPr wrap="square" lIns="0" rIns="0" tIns="0" bIns="0">
            <a:spAutoFit/>
          </a:bodyPr>
          <a:lstStyle/>
          <a:p>
            <a:pPr>
              <a:lnSpc>
                <a:spcPct val="100000"/>
              </a:lnSpc>
            </a:pPr>
            <a:r>
              <a:rPr sz="1000" b="0" i="0">
                <a:solidFill>
                  <a:srgbClr val="FFFFFF"/>
                </a:solidFill>
                <a:latin typeface="Poppins"/>
              </a:rPr>
              <a:t>#dadtok supera 30B views globales, #girldad cruza 20B. En español la categoría existe — Pepe &amp; Teo, Quique Rosas, Luisito Comunica family — pero la producción es mexicana o española peninsular. Cuando se busca #papátok filtrado por DO en TikTok aparecen resultados escasos. La consecuencia: el padre dominicano que quiere modelar paternidad activa para sus hijos consume papás mexicanos como referencia [porque no hay otros]. El gap no es de paternidad real — es de paternidad publicada.</a:t>
            </a:r>
          </a:p>
        </p:txBody>
      </p:sp>
      <p:sp>
        <p:nvSpPr>
          <p:cNvPr id="14" name="TextBox 13"/>
          <p:cNvSpPr txBox="1"/>
          <p:nvPr/>
        </p:nvSpPr>
        <p:spPr>
          <a:xfrm>
            <a:off x="365760" y="485546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HASHTAGS</a:t>
            </a:r>
          </a:p>
        </p:txBody>
      </p:sp>
      <p:sp>
        <p:nvSpPr>
          <p:cNvPr id="15" name="TextBox 14"/>
          <p:cNvSpPr txBox="1"/>
          <p:nvPr/>
        </p:nvSpPr>
        <p:spPr>
          <a:xfrm>
            <a:off x="365760" y="5038344"/>
            <a:ext cx="3606698" cy="640080"/>
          </a:xfrm>
          <a:prstGeom prst="rect">
            <a:avLst/>
          </a:prstGeom>
          <a:noFill/>
        </p:spPr>
        <p:txBody>
          <a:bodyPr wrap="square" lIns="0" rIns="0" tIns="0" bIns="0">
            <a:spAutoFit/>
          </a:bodyPr>
          <a:lstStyle/>
          <a:p>
            <a:pPr>
              <a:lnSpc>
                <a:spcPct val="110000"/>
              </a:lnSpc>
            </a:pPr>
            <a:r>
              <a:rPr sz="2300" b="0" i="0">
                <a:solidFill>
                  <a:srgbClr val="FFFFFF"/>
                </a:solidFill>
                <a:latin typeface="Instrument Serif"/>
              </a:rPr>
              <a:t>#dadtok  #girldad  #papátok  #padresLATAM</a:t>
            </a:r>
          </a:p>
        </p:txBody>
      </p:sp>
      <p:sp>
        <p:nvSpPr>
          <p:cNvPr id="16" name="TextBox 15"/>
          <p:cNvSpPr txBox="1"/>
          <p:nvPr/>
        </p:nvSpPr>
        <p:spPr>
          <a:xfrm>
            <a:off x="365760" y="572414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3 NEEDS</a:t>
            </a:r>
          </a:p>
        </p:txBody>
      </p:sp>
      <p:sp>
        <p:nvSpPr>
          <p:cNvPr id="17" name="TextBox 16"/>
          <p:cNvSpPr txBox="1"/>
          <p:nvPr/>
        </p:nvSpPr>
        <p:spPr>
          <a:xfrm>
            <a:off x="365760" y="5907024"/>
            <a:ext cx="3606698" cy="457200"/>
          </a:xfrm>
          <a:prstGeom prst="rect">
            <a:avLst/>
          </a:prstGeom>
          <a:noFill/>
        </p:spPr>
        <p:txBody>
          <a:bodyPr wrap="square" lIns="0" rIns="0" tIns="0" bIns="0">
            <a:spAutoFit/>
          </a:bodyPr>
          <a:lstStyle/>
          <a:p>
            <a:pPr>
              <a:lnSpc>
                <a:spcPct val="105000"/>
              </a:lnSpc>
            </a:pPr>
            <a:r>
              <a:rPr sz="1400" b="0" i="0">
                <a:solidFill>
                  <a:srgbClr val="FFFFFF"/>
                </a:solidFill>
                <a:latin typeface="Instrument Serif"/>
              </a:rPr>
              <a:t>MODELADO MASCULINO · INVISIBILIDAD · VERGÜENZA</a:t>
            </a:r>
          </a:p>
        </p:txBody>
      </p:sp>
      <p:sp>
        <p:nvSpPr>
          <p:cNvPr id="18" name="TextBox 17"/>
          <p:cNvSpPr txBox="1"/>
          <p:nvPr/>
        </p:nvSpPr>
        <p:spPr>
          <a:xfrm>
            <a:off x="4246778" y="1152144"/>
            <a:ext cx="1371600" cy="1097280"/>
          </a:xfrm>
          <a:prstGeom prst="rect">
            <a:avLst/>
          </a:prstGeom>
          <a:noFill/>
        </p:spPr>
        <p:txBody>
          <a:bodyPr wrap="square" lIns="0" rIns="0" tIns="0" bIns="0">
            <a:spAutoFit/>
          </a:bodyPr>
          <a:lstStyle/>
          <a:p>
            <a:pPr>
              <a:lnSpc>
                <a:spcPct val="100000"/>
              </a:lnSpc>
            </a:pPr>
            <a:r>
              <a:rPr sz="7200" b="0" i="0">
                <a:solidFill>
                  <a:srgbClr val="FFFFFF"/>
                </a:solidFill>
                <a:latin typeface="Instrument Serif"/>
              </a:rPr>
              <a:t>30B</a:t>
            </a:r>
          </a:p>
        </p:txBody>
      </p:sp>
      <p:sp>
        <p:nvSpPr>
          <p:cNvPr id="19" name="TextBox 18"/>
          <p:cNvSpPr txBox="1"/>
          <p:nvPr/>
        </p:nvSpPr>
        <p:spPr>
          <a:xfrm>
            <a:off x="4246778" y="2295144"/>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TIKTOK CREATIVE CENTER · 2025</a:t>
            </a:r>
          </a:p>
        </p:txBody>
      </p:sp>
      <p:sp>
        <p:nvSpPr>
          <p:cNvPr id="20" name="TextBox 19"/>
          <p:cNvSpPr txBox="1"/>
          <p:nvPr/>
        </p:nvSpPr>
        <p:spPr>
          <a:xfrm>
            <a:off x="5664098" y="1289304"/>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Views #dadtok globales con peak sostenido 2024-2025.</a:t>
            </a:r>
          </a:p>
        </p:txBody>
      </p:sp>
      <p:sp>
        <p:nvSpPr>
          <p:cNvPr id="21" name="TextBox 20"/>
          <p:cNvSpPr txBox="1"/>
          <p:nvPr/>
        </p:nvSpPr>
        <p:spPr>
          <a:xfrm>
            <a:off x="4246778" y="2962656"/>
            <a:ext cx="1371600" cy="1097280"/>
          </a:xfrm>
          <a:prstGeom prst="rect">
            <a:avLst/>
          </a:prstGeom>
          <a:noFill/>
        </p:spPr>
        <p:txBody>
          <a:bodyPr wrap="square" lIns="0" rIns="0" tIns="0" bIns="0">
            <a:spAutoFit/>
          </a:bodyPr>
          <a:lstStyle/>
          <a:p>
            <a:pPr>
              <a:lnSpc>
                <a:spcPct val="100000"/>
              </a:lnSpc>
            </a:pPr>
            <a:r>
              <a:rPr sz="7200" b="0" i="0">
                <a:solidFill>
                  <a:srgbClr val="FFFFFF"/>
                </a:solidFill>
                <a:latin typeface="Instrument Serif"/>
              </a:rPr>
              <a:t>MX</a:t>
            </a:r>
          </a:p>
        </p:txBody>
      </p:sp>
      <p:sp>
        <p:nvSpPr>
          <p:cNvPr id="22" name="TextBox 21"/>
          <p:cNvSpPr txBox="1"/>
          <p:nvPr/>
        </p:nvSpPr>
        <p:spPr>
          <a:xfrm>
            <a:off x="4246778" y="4105656"/>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ADLATINA / ADWEEK · 2025</a:t>
            </a:r>
          </a:p>
        </p:txBody>
      </p:sp>
      <p:sp>
        <p:nvSpPr>
          <p:cNvPr id="23" name="TextBox 22"/>
          <p:cNvSpPr txBox="1"/>
          <p:nvPr/>
        </p:nvSpPr>
        <p:spPr>
          <a:xfrm>
            <a:off x="5664098" y="3099816"/>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Family creators mexicanos lideran ranking hispanoparlante; RD ausente.</a:t>
            </a:r>
          </a:p>
        </p:txBody>
      </p:sp>
      <p:sp>
        <p:nvSpPr>
          <p:cNvPr id="24" name="TextBox 23"/>
          <p:cNvSpPr txBox="1"/>
          <p:nvPr/>
        </p:nvSpPr>
        <p:spPr>
          <a:xfrm>
            <a:off x="4246778" y="4773168"/>
            <a:ext cx="1371600" cy="1097280"/>
          </a:xfrm>
          <a:prstGeom prst="rect">
            <a:avLst/>
          </a:prstGeom>
          <a:noFill/>
        </p:spPr>
        <p:txBody>
          <a:bodyPr wrap="square" lIns="0" rIns="0" tIns="0" bIns="0">
            <a:spAutoFit/>
          </a:bodyPr>
          <a:lstStyle/>
          <a:p>
            <a:pPr>
              <a:lnSpc>
                <a:spcPct val="100000"/>
              </a:lnSpc>
            </a:pPr>
            <a:r>
              <a:rPr sz="7200" b="0" i="0">
                <a:solidFill>
                  <a:srgbClr val="FFFFFF"/>
                </a:solidFill>
                <a:latin typeface="Instrument Serif"/>
              </a:rPr>
              <a:t>20B</a:t>
            </a:r>
          </a:p>
        </p:txBody>
      </p:sp>
      <p:sp>
        <p:nvSpPr>
          <p:cNvPr id="25" name="TextBox 24"/>
          <p:cNvSpPr txBox="1"/>
          <p:nvPr/>
        </p:nvSpPr>
        <p:spPr>
          <a:xfrm>
            <a:off x="4246778" y="5916168"/>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INFLUENCER MARKETING HUB · 2025</a:t>
            </a:r>
          </a:p>
        </p:txBody>
      </p:sp>
      <p:sp>
        <p:nvSpPr>
          <p:cNvPr id="26" name="TextBox 25"/>
          <p:cNvSpPr txBox="1"/>
          <p:nvPr/>
        </p:nvSpPr>
        <p:spPr>
          <a:xfrm>
            <a:off x="5664098" y="4910328"/>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Views #girldad cruza 20B — categoría top de crecimiento en parenting.</a:t>
            </a:r>
          </a:p>
        </p:txBody>
      </p:sp>
      <p:pic>
        <p:nvPicPr>
          <p:cNvPr id="27" name="Picture 26" descr="macro-3-4-abc-dadtok.png"/>
          <p:cNvPicPr>
            <a:picLocks noChangeAspect="1"/>
          </p:cNvPicPr>
          <p:nvPr/>
        </p:nvPicPr>
        <p:blipFill>
          <a:blip r:embed="rId2"/>
          <a:stretch>
            <a:fillRect/>
          </a:stretch>
        </p:blipFill>
        <p:spPr>
          <a:xfrm>
            <a:off x="8127796" y="1152144"/>
            <a:ext cx="1397000" cy="1905000"/>
          </a:xfrm>
          <a:prstGeom prst="rect">
            <a:avLst/>
          </a:prstGeom>
        </p:spPr>
      </p:pic>
      <p:sp>
        <p:nvSpPr>
          <p:cNvPr id="28" name="Rounded Rectangle 27"/>
          <p:cNvSpPr/>
          <p:nvPr/>
        </p:nvSpPr>
        <p:spPr>
          <a:xfrm>
            <a:off x="9042196" y="1075944"/>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29" name="Rectangle 28">
            <a:hlinkClick r:id="rId3"/>
          </p:cNvPr>
          <p:cNvSpPr/>
          <p:nvPr/>
        </p:nvSpPr>
        <p:spPr>
          <a:xfrm>
            <a:off x="8127796" y="1152144"/>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97948" y="1289304"/>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Dad creators con 1M+ followers en USA — categoría que en RD apenas se produce.</a:t>
            </a:r>
          </a:p>
        </p:txBody>
      </p:sp>
      <p:sp>
        <p:nvSpPr>
          <p:cNvPr id="31" name="TextBox 30"/>
          <p:cNvSpPr txBox="1"/>
          <p:nvPr/>
        </p:nvSpPr>
        <p:spPr>
          <a:xfrm>
            <a:off x="9597948" y="1752092"/>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ABC NEWS · 2024</a:t>
            </a:r>
          </a:p>
        </p:txBody>
      </p:sp>
      <p:pic>
        <p:nvPicPr>
          <p:cNvPr id="32" name="Picture 31" descr="macro-3-0-tiktok-whats-next.png"/>
          <p:cNvPicPr>
            <a:picLocks noChangeAspect="1"/>
          </p:cNvPicPr>
          <p:nvPr/>
        </p:nvPicPr>
        <p:blipFill>
          <a:blip r:embed="rId4"/>
          <a:stretch>
            <a:fillRect/>
          </a:stretch>
        </p:blipFill>
        <p:spPr>
          <a:xfrm>
            <a:off x="8127796" y="2962656"/>
            <a:ext cx="1397000" cy="1905000"/>
          </a:xfrm>
          <a:prstGeom prst="rect">
            <a:avLst/>
          </a:prstGeom>
        </p:spPr>
      </p:pic>
      <p:sp>
        <p:nvSpPr>
          <p:cNvPr id="33" name="Rounded Rectangle 32"/>
          <p:cNvSpPr/>
          <p:nvPr/>
        </p:nvSpPr>
        <p:spPr>
          <a:xfrm>
            <a:off x="9042196" y="2886456"/>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34" name="Rectangle 33">
            <a:hlinkClick r:id="rId5"/>
          </p:cNvPr>
          <p:cNvSpPr/>
          <p:nvPr/>
        </p:nvSpPr>
        <p:spPr>
          <a:xfrm>
            <a:off x="8127796" y="2962656"/>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597948" y="3099816"/>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La plataforma que escala la categoría family content hispanoparlante.</a:t>
            </a:r>
          </a:p>
        </p:txBody>
      </p:sp>
      <p:sp>
        <p:nvSpPr>
          <p:cNvPr id="36" name="TextBox 35"/>
          <p:cNvSpPr txBox="1"/>
          <p:nvPr/>
        </p:nvSpPr>
        <p:spPr>
          <a:xfrm>
            <a:off x="9597948" y="3562604"/>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TIKTOK NEWSROOM · 2024</a:t>
            </a:r>
          </a:p>
        </p:txBody>
      </p:sp>
      <p:pic>
        <p:nvPicPr>
          <p:cNvPr id="37" name="Picture 36" descr="macro-3-1-rollingstone-ballerinafarm.png"/>
          <p:cNvPicPr>
            <a:picLocks noChangeAspect="1"/>
          </p:cNvPicPr>
          <p:nvPr/>
        </p:nvPicPr>
        <p:blipFill>
          <a:blip r:embed="rId6"/>
          <a:stretch>
            <a:fillRect/>
          </a:stretch>
        </p:blipFill>
        <p:spPr>
          <a:xfrm>
            <a:off x="8127796" y="4773168"/>
            <a:ext cx="1397000" cy="1905000"/>
          </a:xfrm>
          <a:prstGeom prst="rect">
            <a:avLst/>
          </a:prstGeom>
        </p:spPr>
      </p:pic>
      <p:sp>
        <p:nvSpPr>
          <p:cNvPr id="38" name="Rounded Rectangle 37"/>
          <p:cNvSpPr/>
          <p:nvPr/>
        </p:nvSpPr>
        <p:spPr>
          <a:xfrm>
            <a:off x="9042196" y="4696968"/>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39" name="Rectangle 38">
            <a:hlinkClick r:id="rId7"/>
          </p:cNvPr>
          <p:cNvSpPr/>
          <p:nvPr/>
        </p:nvSpPr>
        <p:spPr>
          <a:xfrm>
            <a:off x="8127796" y="4773168"/>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597948" y="4910328"/>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Vector cercano: el rol parental se publica como producto cultural.</a:t>
            </a:r>
          </a:p>
        </p:txBody>
      </p:sp>
      <p:sp>
        <p:nvSpPr>
          <p:cNvPr id="41" name="TextBox 40"/>
          <p:cNvSpPr txBox="1"/>
          <p:nvPr/>
        </p:nvSpPr>
        <p:spPr>
          <a:xfrm>
            <a:off x="9597948" y="5373116"/>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ROLLING STONE · 2024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20040"/>
            <a:ext cx="777240" cy="201168"/>
          </a:xfrm>
          <a:prstGeom prst="rect">
            <a:avLst/>
          </a:prstGeom>
          <a:solidFill>
            <a:srgbClr val="E8E8E8"/>
          </a:solidFill>
          <a:ln w="3175">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800" b="1" i="0">
                <a:solidFill>
                  <a:srgbClr val="000000"/>
                </a:solidFill>
                <a:latin typeface="Poppins"/>
              </a:rPr>
              <a:t>MACRO 3</a:t>
            </a:r>
          </a:p>
        </p:txBody>
      </p:sp>
      <p:sp>
        <p:nvSpPr>
          <p:cNvPr id="4" name="Rectangle 3"/>
          <p:cNvSpPr/>
          <p:nvPr/>
        </p:nvSpPr>
        <p:spPr>
          <a:xfrm>
            <a:off x="1143000" y="320040"/>
            <a:ext cx="2011680" cy="201168"/>
          </a:xfrm>
          <a:prstGeom prst="rect">
            <a:avLst/>
          </a:prstGeom>
          <a:noFill/>
          <a:ln w="3175">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800" b="0" i="0">
                <a:solidFill>
                  <a:srgbClr val="A0A0A0"/>
                </a:solidFill>
                <a:latin typeface="Poppins"/>
              </a:rPr>
              <a:t>ALGORITMO DEL HOGAR</a:t>
            </a:r>
          </a:p>
        </p:txBody>
      </p:sp>
      <p:sp>
        <p:nvSpPr>
          <p:cNvPr id="5" name="TextBox 4"/>
          <p:cNvSpPr txBox="1"/>
          <p:nvPr/>
        </p:nvSpPr>
        <p:spPr>
          <a:xfrm>
            <a:off x="365760"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DEFINICIÓN</a:t>
            </a:r>
          </a:p>
        </p:txBody>
      </p:sp>
      <p:sp>
        <p:nvSpPr>
          <p:cNvPr id="6" name="TextBox 5"/>
          <p:cNvSpPr txBox="1"/>
          <p:nvPr/>
        </p:nvSpPr>
        <p:spPr>
          <a:xfrm>
            <a:off x="4246778"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TRIGGERS</a:t>
            </a:r>
          </a:p>
        </p:txBody>
      </p:sp>
      <p:sp>
        <p:nvSpPr>
          <p:cNvPr id="7" name="TextBox 6"/>
          <p:cNvSpPr txBox="1"/>
          <p:nvPr/>
        </p:nvSpPr>
        <p:spPr>
          <a:xfrm>
            <a:off x="8127796" y="749808"/>
            <a:ext cx="3698138" cy="228600"/>
          </a:xfrm>
          <a:prstGeom prst="rect">
            <a:avLst/>
          </a:prstGeom>
          <a:noFill/>
        </p:spPr>
        <p:txBody>
          <a:bodyPr wrap="square" lIns="0" rIns="0" tIns="0" bIns="0" anchor="t">
            <a:spAutoFit/>
          </a:bodyPr>
          <a:lstStyle/>
          <a:p>
            <a:pPr algn="l">
              <a:lnSpc>
                <a:spcPct val="100000"/>
              </a:lnSpc>
            </a:pPr>
            <a:r>
              <a:rPr sz="800" b="1" i="0">
                <a:solidFill>
                  <a:srgbClr val="A0A0A0"/>
                </a:solidFill>
                <a:latin typeface="Poppins"/>
              </a:rPr>
              <a:t>SEÑALES</a:t>
            </a:r>
          </a:p>
        </p:txBody>
      </p:sp>
      <p:cxnSp>
        <p:nvCxnSpPr>
          <p:cNvPr id="8" name="Connector 7"/>
          <p:cNvCxnSpPr/>
          <p:nvPr/>
        </p:nvCxnSpPr>
        <p:spPr>
          <a:xfrm>
            <a:off x="365760" y="1014984"/>
            <a:ext cx="11460175" cy="0"/>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155338" y="1152144"/>
            <a:ext cx="0" cy="5431536"/>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036356" y="1152144"/>
            <a:ext cx="0" cy="5431536"/>
          </a:xfrm>
          <a:prstGeom prst="line">
            <a:avLst/>
          </a:prstGeom>
          <a:ln w="9525">
            <a:solidFill>
              <a:srgbClr val="FFFFFF">
                <a:alpha val="6000"/>
              </a:srgbClr>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65760" y="1152144"/>
            <a:ext cx="3606698" cy="2011680"/>
          </a:xfrm>
          <a:prstGeom prst="rect">
            <a:avLst/>
          </a:prstGeom>
          <a:noFill/>
        </p:spPr>
        <p:txBody>
          <a:bodyPr wrap="square" lIns="0" rIns="0" tIns="0" bIns="0">
            <a:spAutoFit/>
          </a:bodyPr>
          <a:lstStyle/>
          <a:p>
            <a:pPr>
              <a:lnSpc>
                <a:spcPct val="95000"/>
              </a:lnSpc>
            </a:pPr>
            <a:r>
              <a:rPr sz="1900" b="0" i="0">
                <a:solidFill>
                  <a:srgbClr val="FFFFFF"/>
                </a:solidFill>
                <a:latin typeface="Instrument Serif"/>
              </a:rPr>
              <a:t>LA SUEGRA FUE REEMPLAZADA POR LA FAMILY CREATOR CERTIFICADA — MADRES JÓVENES CONSULTAN MÁS A BIG LITTLE FEELINGS QUE A SU PROPIA MAMÁ.</a:t>
            </a:r>
          </a:p>
        </p:txBody>
      </p:sp>
      <p:sp>
        <p:nvSpPr>
          <p:cNvPr id="12" name="TextBox 11"/>
          <p:cNvSpPr txBox="1"/>
          <p:nvPr/>
        </p:nvSpPr>
        <p:spPr>
          <a:xfrm>
            <a:off x="365760" y="325526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EL FENÓMENO</a:t>
            </a:r>
          </a:p>
        </p:txBody>
      </p:sp>
      <p:sp>
        <p:nvSpPr>
          <p:cNvPr id="13" name="TextBox 12"/>
          <p:cNvSpPr txBox="1"/>
          <p:nvPr/>
        </p:nvSpPr>
        <p:spPr>
          <a:xfrm>
            <a:off x="365760" y="3438144"/>
            <a:ext cx="3606698" cy="1371600"/>
          </a:xfrm>
          <a:prstGeom prst="rect">
            <a:avLst/>
          </a:prstGeom>
          <a:noFill/>
        </p:spPr>
        <p:txBody>
          <a:bodyPr wrap="square" lIns="0" rIns="0" tIns="0" bIns="0">
            <a:spAutoFit/>
          </a:bodyPr>
          <a:lstStyle/>
          <a:p>
            <a:pPr>
              <a:lnSpc>
                <a:spcPct val="100000"/>
              </a:lnSpc>
            </a:pPr>
            <a:r>
              <a:rPr sz="1000" b="0" i="0">
                <a:solidFill>
                  <a:srgbClr val="FFFFFF"/>
                </a:solidFill>
                <a:latin typeface="Poppins"/>
              </a:rPr>
              <a:t>@biglittlefeelings tiene 4M de followers en Instagram y se volvió referente principal de gentle parenting global. Adweek 2024 cubrió el rise de momtok como primer canal de consejo parental para mujeres millennials y Gen Z. #momtok supera 35B views, #gentleparenting cruza 6B. La consecuencia operativa: la madre joven que duda sobre cómo manejar una rabieta no llama a su mamá — abre TikTok. La autoridad parental se descentralizó de la suegra al For You Page.</a:t>
            </a:r>
          </a:p>
        </p:txBody>
      </p:sp>
      <p:sp>
        <p:nvSpPr>
          <p:cNvPr id="14" name="TextBox 13"/>
          <p:cNvSpPr txBox="1"/>
          <p:nvPr/>
        </p:nvSpPr>
        <p:spPr>
          <a:xfrm>
            <a:off x="365760" y="485546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HASHTAGS</a:t>
            </a:r>
          </a:p>
        </p:txBody>
      </p:sp>
      <p:sp>
        <p:nvSpPr>
          <p:cNvPr id="15" name="TextBox 14"/>
          <p:cNvSpPr txBox="1"/>
          <p:nvPr/>
        </p:nvSpPr>
        <p:spPr>
          <a:xfrm>
            <a:off x="365760" y="5038344"/>
            <a:ext cx="3606698" cy="640080"/>
          </a:xfrm>
          <a:prstGeom prst="rect">
            <a:avLst/>
          </a:prstGeom>
          <a:noFill/>
        </p:spPr>
        <p:txBody>
          <a:bodyPr wrap="square" lIns="0" rIns="0" tIns="0" bIns="0">
            <a:spAutoFit/>
          </a:bodyPr>
          <a:lstStyle/>
          <a:p>
            <a:pPr>
              <a:lnSpc>
                <a:spcPct val="110000"/>
              </a:lnSpc>
            </a:pPr>
            <a:r>
              <a:rPr sz="2300" b="0" i="0">
                <a:solidFill>
                  <a:srgbClr val="FFFFFF"/>
                </a:solidFill>
                <a:latin typeface="Instrument Serif"/>
              </a:rPr>
              <a:t>#momtok  #gentleparenting  #crianzarespetuosa  #mamáprimeriza</a:t>
            </a:r>
          </a:p>
        </p:txBody>
      </p:sp>
      <p:sp>
        <p:nvSpPr>
          <p:cNvPr id="16" name="TextBox 15"/>
          <p:cNvSpPr txBox="1"/>
          <p:nvPr/>
        </p:nvSpPr>
        <p:spPr>
          <a:xfrm>
            <a:off x="365760" y="5724144"/>
            <a:ext cx="3698138" cy="164592"/>
          </a:xfrm>
          <a:prstGeom prst="rect">
            <a:avLst/>
          </a:prstGeom>
          <a:noFill/>
        </p:spPr>
        <p:txBody>
          <a:bodyPr wrap="square" lIns="0" rIns="0" tIns="0" bIns="0" anchor="t">
            <a:spAutoFit/>
          </a:bodyPr>
          <a:lstStyle/>
          <a:p>
            <a:pPr algn="l">
              <a:lnSpc>
                <a:spcPct val="100000"/>
              </a:lnSpc>
            </a:pPr>
            <a:r>
              <a:rPr sz="700" b="1" i="0">
                <a:solidFill>
                  <a:srgbClr val="A0A0A0"/>
                </a:solidFill>
                <a:latin typeface="Poppins"/>
              </a:rPr>
              <a:t>3 NEEDS</a:t>
            </a:r>
          </a:p>
        </p:txBody>
      </p:sp>
      <p:sp>
        <p:nvSpPr>
          <p:cNvPr id="17" name="TextBox 16"/>
          <p:cNvSpPr txBox="1"/>
          <p:nvPr/>
        </p:nvSpPr>
        <p:spPr>
          <a:xfrm>
            <a:off x="365760" y="5907024"/>
            <a:ext cx="3606698" cy="457200"/>
          </a:xfrm>
          <a:prstGeom prst="rect">
            <a:avLst/>
          </a:prstGeom>
          <a:noFill/>
        </p:spPr>
        <p:txBody>
          <a:bodyPr wrap="square" lIns="0" rIns="0" tIns="0" bIns="0">
            <a:spAutoFit/>
          </a:bodyPr>
          <a:lstStyle/>
          <a:p>
            <a:pPr>
              <a:lnSpc>
                <a:spcPct val="105000"/>
              </a:lnSpc>
            </a:pPr>
            <a:r>
              <a:rPr sz="1400" b="0" i="0">
                <a:solidFill>
                  <a:srgbClr val="FFFFFF"/>
                </a:solidFill>
                <a:latin typeface="Instrument Serif"/>
              </a:rPr>
              <a:t>ORIENTACIÓN PRÁCTICA · CULPA · RUPTURA INTERGENERACIONAL</a:t>
            </a:r>
          </a:p>
        </p:txBody>
      </p:sp>
      <p:sp>
        <p:nvSpPr>
          <p:cNvPr id="18" name="TextBox 17"/>
          <p:cNvSpPr txBox="1"/>
          <p:nvPr/>
        </p:nvSpPr>
        <p:spPr>
          <a:xfrm>
            <a:off x="4246778" y="1152144"/>
            <a:ext cx="1371600" cy="1097280"/>
          </a:xfrm>
          <a:prstGeom prst="rect">
            <a:avLst/>
          </a:prstGeom>
          <a:noFill/>
        </p:spPr>
        <p:txBody>
          <a:bodyPr wrap="square" lIns="0" rIns="0" tIns="0" bIns="0">
            <a:spAutoFit/>
          </a:bodyPr>
          <a:lstStyle/>
          <a:p>
            <a:pPr>
              <a:lnSpc>
                <a:spcPct val="100000"/>
              </a:lnSpc>
            </a:pPr>
            <a:r>
              <a:rPr sz="7200" b="0" i="0">
                <a:solidFill>
                  <a:srgbClr val="FFFFFF"/>
                </a:solidFill>
                <a:latin typeface="Instrument Serif"/>
              </a:rPr>
              <a:t>4M</a:t>
            </a:r>
          </a:p>
        </p:txBody>
      </p:sp>
      <p:sp>
        <p:nvSpPr>
          <p:cNvPr id="19" name="TextBox 18"/>
          <p:cNvSpPr txBox="1"/>
          <p:nvPr/>
        </p:nvSpPr>
        <p:spPr>
          <a:xfrm>
            <a:off x="4246778" y="2295144"/>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INSTAGRAM · 2024</a:t>
            </a:r>
          </a:p>
        </p:txBody>
      </p:sp>
      <p:sp>
        <p:nvSpPr>
          <p:cNvPr id="20" name="TextBox 19"/>
          <p:cNvSpPr txBox="1"/>
          <p:nvPr/>
        </p:nvSpPr>
        <p:spPr>
          <a:xfrm>
            <a:off x="5664098" y="1289304"/>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Followers @biglittlefeelings en Instagram — referente gentle parenting global.</a:t>
            </a:r>
          </a:p>
        </p:txBody>
      </p:sp>
      <p:sp>
        <p:nvSpPr>
          <p:cNvPr id="21" name="TextBox 20"/>
          <p:cNvSpPr txBox="1"/>
          <p:nvPr/>
        </p:nvSpPr>
        <p:spPr>
          <a:xfrm>
            <a:off x="4246778" y="2962656"/>
            <a:ext cx="1371600" cy="1097280"/>
          </a:xfrm>
          <a:prstGeom prst="rect">
            <a:avLst/>
          </a:prstGeom>
          <a:noFill/>
        </p:spPr>
        <p:txBody>
          <a:bodyPr wrap="square" lIns="0" rIns="0" tIns="0" bIns="0">
            <a:spAutoFit/>
          </a:bodyPr>
          <a:lstStyle/>
          <a:p>
            <a:pPr>
              <a:lnSpc>
                <a:spcPct val="100000"/>
              </a:lnSpc>
            </a:pPr>
            <a:r>
              <a:rPr sz="7200" b="0" i="0">
                <a:solidFill>
                  <a:srgbClr val="FFFFFF"/>
                </a:solidFill>
                <a:latin typeface="Instrument Serif"/>
              </a:rPr>
              <a:t>35B</a:t>
            </a:r>
          </a:p>
        </p:txBody>
      </p:sp>
      <p:sp>
        <p:nvSpPr>
          <p:cNvPr id="22" name="TextBox 21"/>
          <p:cNvSpPr txBox="1"/>
          <p:nvPr/>
        </p:nvSpPr>
        <p:spPr>
          <a:xfrm>
            <a:off x="4246778" y="4105656"/>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TIKTOK CREATIVE CENTER · 2025</a:t>
            </a:r>
          </a:p>
        </p:txBody>
      </p:sp>
      <p:sp>
        <p:nvSpPr>
          <p:cNvPr id="23" name="TextBox 22"/>
          <p:cNvSpPr txBox="1"/>
          <p:nvPr/>
        </p:nvSpPr>
        <p:spPr>
          <a:xfrm>
            <a:off x="5664098" y="3099816"/>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Views #momtok con peak 2024-2025 — primer canal de consejo parental.</a:t>
            </a:r>
          </a:p>
        </p:txBody>
      </p:sp>
      <p:sp>
        <p:nvSpPr>
          <p:cNvPr id="24" name="TextBox 23"/>
          <p:cNvSpPr txBox="1"/>
          <p:nvPr/>
        </p:nvSpPr>
        <p:spPr>
          <a:xfrm>
            <a:off x="4246778" y="4773168"/>
            <a:ext cx="1371600" cy="1097280"/>
          </a:xfrm>
          <a:prstGeom prst="rect">
            <a:avLst/>
          </a:prstGeom>
          <a:noFill/>
        </p:spPr>
        <p:txBody>
          <a:bodyPr wrap="square" lIns="0" rIns="0" tIns="0" bIns="0">
            <a:spAutoFit/>
          </a:bodyPr>
          <a:lstStyle/>
          <a:p>
            <a:pPr>
              <a:lnSpc>
                <a:spcPct val="100000"/>
              </a:lnSpc>
            </a:pPr>
            <a:r>
              <a:rPr sz="7200" b="0" i="0">
                <a:solidFill>
                  <a:srgbClr val="FFFFFF"/>
                </a:solidFill>
                <a:latin typeface="Instrument Serif"/>
              </a:rPr>
              <a:t>6B</a:t>
            </a:r>
          </a:p>
        </p:txBody>
      </p:sp>
      <p:sp>
        <p:nvSpPr>
          <p:cNvPr id="25" name="TextBox 24"/>
          <p:cNvSpPr txBox="1"/>
          <p:nvPr/>
        </p:nvSpPr>
        <p:spPr>
          <a:xfrm>
            <a:off x="4246778" y="5916168"/>
            <a:ext cx="13716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TIKTOK CREATIVE CENTER · 2025</a:t>
            </a:r>
          </a:p>
        </p:txBody>
      </p:sp>
      <p:sp>
        <p:nvSpPr>
          <p:cNvPr id="26" name="TextBox 25"/>
          <p:cNvSpPr txBox="1"/>
          <p:nvPr/>
        </p:nvSpPr>
        <p:spPr>
          <a:xfrm>
            <a:off x="5664098" y="4910328"/>
            <a:ext cx="2159000" cy="444500"/>
          </a:xfrm>
          <a:prstGeom prst="rect">
            <a:avLst/>
          </a:prstGeom>
          <a:noFill/>
        </p:spPr>
        <p:txBody>
          <a:bodyPr wrap="square" lIns="0" rIns="0" tIns="0" bIns="0">
            <a:spAutoFit/>
          </a:bodyPr>
          <a:lstStyle/>
          <a:p>
            <a:pPr>
              <a:lnSpc>
                <a:spcPct val="100000"/>
              </a:lnSpc>
            </a:pPr>
            <a:r>
              <a:rPr sz="1000" b="0" i="0">
                <a:solidFill>
                  <a:srgbClr val="FFFFFF"/>
                </a:solidFill>
                <a:latin typeface="Poppins"/>
              </a:rPr>
              <a:t>Views #gentleparenting cruza 6B con crecimiento sostenido en español.</a:t>
            </a:r>
          </a:p>
        </p:txBody>
      </p:sp>
      <p:pic>
        <p:nvPicPr>
          <p:cNvPr id="27" name="Picture 26" descr="macro-3-5-biglittlefeelings-ig.png"/>
          <p:cNvPicPr>
            <a:picLocks noChangeAspect="1"/>
          </p:cNvPicPr>
          <p:nvPr/>
        </p:nvPicPr>
        <p:blipFill>
          <a:blip r:embed="rId2"/>
          <a:stretch>
            <a:fillRect/>
          </a:stretch>
        </p:blipFill>
        <p:spPr>
          <a:xfrm>
            <a:off x="8127796" y="1152144"/>
            <a:ext cx="1397000" cy="1905000"/>
          </a:xfrm>
          <a:prstGeom prst="rect">
            <a:avLst/>
          </a:prstGeom>
        </p:spPr>
      </p:pic>
      <p:sp>
        <p:nvSpPr>
          <p:cNvPr id="28" name="Rounded Rectangle 27"/>
          <p:cNvSpPr/>
          <p:nvPr/>
        </p:nvSpPr>
        <p:spPr>
          <a:xfrm>
            <a:off x="9042196" y="1075944"/>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29" name="Rectangle 28">
            <a:hlinkClick r:id="rId3"/>
          </p:cNvPr>
          <p:cNvSpPr/>
          <p:nvPr/>
        </p:nvSpPr>
        <p:spPr>
          <a:xfrm>
            <a:off x="8127796" y="1152144"/>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97948" y="1289304"/>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4M followers — la suegra fue reemplazada por la family creator certificada.</a:t>
            </a:r>
          </a:p>
        </p:txBody>
      </p:sp>
      <p:sp>
        <p:nvSpPr>
          <p:cNvPr id="31" name="TextBox 30"/>
          <p:cNvSpPr txBox="1"/>
          <p:nvPr/>
        </p:nvSpPr>
        <p:spPr>
          <a:xfrm>
            <a:off x="9597948" y="1752092"/>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INSTAGRAM @BIGLITTLEFEELINGS · 2024</a:t>
            </a:r>
          </a:p>
        </p:txBody>
      </p:sp>
      <p:pic>
        <p:nvPicPr>
          <p:cNvPr id="32" name="Picture 31" descr="macro-3-5-biglittlefeelings-web.png"/>
          <p:cNvPicPr>
            <a:picLocks noChangeAspect="1"/>
          </p:cNvPicPr>
          <p:nvPr/>
        </p:nvPicPr>
        <p:blipFill>
          <a:blip r:embed="rId4"/>
          <a:stretch>
            <a:fillRect/>
          </a:stretch>
        </p:blipFill>
        <p:spPr>
          <a:xfrm>
            <a:off x="8127796" y="2962656"/>
            <a:ext cx="1397000" cy="1905000"/>
          </a:xfrm>
          <a:prstGeom prst="rect">
            <a:avLst/>
          </a:prstGeom>
        </p:spPr>
      </p:pic>
      <p:sp>
        <p:nvSpPr>
          <p:cNvPr id="33" name="Rounded Rectangle 32"/>
          <p:cNvSpPr/>
          <p:nvPr/>
        </p:nvSpPr>
        <p:spPr>
          <a:xfrm>
            <a:off x="9042196" y="2886456"/>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34" name="Rectangle 33">
            <a:hlinkClick r:id="rId5"/>
          </p:cNvPr>
          <p:cNvSpPr/>
          <p:nvPr/>
        </p:nvSpPr>
        <p:spPr>
          <a:xfrm>
            <a:off x="8127796" y="2962656"/>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597948" y="3099816"/>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La creadora como producto educativo completo — gentle parenting infraestructurado.</a:t>
            </a:r>
          </a:p>
        </p:txBody>
      </p:sp>
      <p:sp>
        <p:nvSpPr>
          <p:cNvPr id="36" name="TextBox 35"/>
          <p:cNvSpPr txBox="1"/>
          <p:nvPr/>
        </p:nvSpPr>
        <p:spPr>
          <a:xfrm>
            <a:off x="9597948" y="3562604"/>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BIGLITTLEFEELINGS.COM · 2024</a:t>
            </a:r>
          </a:p>
        </p:txBody>
      </p:sp>
      <p:pic>
        <p:nvPicPr>
          <p:cNvPr id="37" name="Picture 36" descr="macro-3-0-tiktok-whats-next.png"/>
          <p:cNvPicPr>
            <a:picLocks noChangeAspect="1"/>
          </p:cNvPicPr>
          <p:nvPr/>
        </p:nvPicPr>
        <p:blipFill>
          <a:blip r:embed="rId6"/>
          <a:stretch>
            <a:fillRect/>
          </a:stretch>
        </p:blipFill>
        <p:spPr>
          <a:xfrm>
            <a:off x="8127796" y="4773168"/>
            <a:ext cx="1397000" cy="1905000"/>
          </a:xfrm>
          <a:prstGeom prst="rect">
            <a:avLst/>
          </a:prstGeom>
        </p:spPr>
      </p:pic>
      <p:sp>
        <p:nvSpPr>
          <p:cNvPr id="38" name="Rounded Rectangle 37"/>
          <p:cNvSpPr/>
          <p:nvPr/>
        </p:nvSpPr>
        <p:spPr>
          <a:xfrm>
            <a:off x="9042196" y="4696968"/>
            <a:ext cx="584200" cy="1778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i="0">
                <a:solidFill>
                  <a:srgbClr val="FFFFFF"/>
                </a:solidFill>
                <a:latin typeface="Poppins"/>
              </a:rPr>
              <a:t>CLICK ME</a:t>
            </a:r>
          </a:p>
        </p:txBody>
      </p:sp>
      <p:sp>
        <p:nvSpPr>
          <p:cNvPr id="39" name="Rectangle 38">
            <a:hlinkClick r:id="rId7"/>
          </p:cNvPr>
          <p:cNvSpPr/>
          <p:nvPr/>
        </p:nvSpPr>
        <p:spPr>
          <a:xfrm>
            <a:off x="8127796" y="4773168"/>
            <a:ext cx="1397000" cy="190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597948" y="4910328"/>
            <a:ext cx="1397000" cy="444500"/>
          </a:xfrm>
          <a:prstGeom prst="rect">
            <a:avLst/>
          </a:prstGeom>
          <a:noFill/>
        </p:spPr>
        <p:txBody>
          <a:bodyPr wrap="square" lIns="0" rIns="0" tIns="0" bIns="0">
            <a:spAutoFit/>
          </a:bodyPr>
          <a:lstStyle/>
          <a:p>
            <a:pPr>
              <a:lnSpc>
                <a:spcPct val="100000"/>
              </a:lnSpc>
            </a:pPr>
            <a:r>
              <a:rPr sz="900" b="0" i="0">
                <a:solidFill>
                  <a:srgbClr val="FFFFFF"/>
                </a:solidFill>
                <a:latin typeface="Poppins"/>
              </a:rPr>
              <a:t>Infraestructura cultural donde momtok escaló a autoridad parental.</a:t>
            </a:r>
          </a:p>
        </p:txBody>
      </p:sp>
      <p:sp>
        <p:nvSpPr>
          <p:cNvPr id="41" name="TextBox 40"/>
          <p:cNvSpPr txBox="1"/>
          <p:nvPr/>
        </p:nvSpPr>
        <p:spPr>
          <a:xfrm>
            <a:off x="9597948" y="5373116"/>
            <a:ext cx="1397000" cy="164592"/>
          </a:xfrm>
          <a:prstGeom prst="rect">
            <a:avLst/>
          </a:prstGeom>
          <a:noFill/>
        </p:spPr>
        <p:txBody>
          <a:bodyPr wrap="square" lIns="0" rIns="0" tIns="0" bIns="0" anchor="t">
            <a:spAutoFit/>
          </a:bodyPr>
          <a:lstStyle/>
          <a:p>
            <a:pPr algn="l">
              <a:lnSpc>
                <a:spcPct val="100000"/>
              </a:lnSpc>
            </a:pPr>
            <a:r>
              <a:rPr sz="700" b="0" i="0">
                <a:solidFill>
                  <a:srgbClr val="666666"/>
                </a:solidFill>
                <a:latin typeface="Poppins"/>
              </a:rPr>
              <a:t>TIKTOK NEWSROOM · 2024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